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3"/>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oboto"/>
      <p:regular r:id="rId41"/>
      <p:bold r:id="rId42"/>
      <p:italic r:id="rId43"/>
      <p:boldItalic r:id="rId44"/>
    </p:embeddedFont>
    <p:embeddedFont>
      <p:font typeface="Merriweather"/>
      <p:regular r:id="rId45"/>
      <p:bold r:id="rId46"/>
      <p:italic r:id="rId47"/>
      <p:boldItalic r:id="rId48"/>
    </p:embeddedFont>
    <p:embeddedFont>
      <p:font typeface="DM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Merriweather-bold.fntdata"/><Relationship Id="rId45" Type="http://schemas.openxmlformats.org/officeDocument/2006/relationships/font" Target="fonts/Merriweather-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Merriweather-boldItalic.fntdata"/><Relationship Id="rId47" Type="http://schemas.openxmlformats.org/officeDocument/2006/relationships/font" Target="fonts/Merriweather-italic.fntdata"/><Relationship Id="rId49"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DMSans-italic.fntdata"/><Relationship Id="rId50" Type="http://schemas.openxmlformats.org/officeDocument/2006/relationships/font" Target="fonts/DMSans-bold.fntdata"/><Relationship Id="rId52"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845bffa6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5" name="Google Shape;125;g32845bffa6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b19a7e6ad_0_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b19a7e6a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c6f9544c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c6f9544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6abaf15a9_0_5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6abaf15a9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6f9544c1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6f9544c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6abaf15a9_0_7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6abaf15a9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26abaf15a9_0_5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26abaf15a9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838b73f6b_3_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2838b73f6b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838b73f6b_3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2838b73f6b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6abaf15a9_0_7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26abaf15a9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907585631_1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2907585631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2907585631_1_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2907585631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907585631_1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907585631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2b19a7e6a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2b19a7e6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26abaf15a9_0_5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26abaf15a9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6abaf15a9_0_7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26abaf15a9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2838b73f6b_3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2838b73f6b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2838b73f6b_3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2838b73f6b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2838b73f6b_3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2838b73f6b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26abaf15a9_0_7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26abaf15a9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26abaf15a9_0_60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26abaf15a9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26abaf15a9_0_6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26abaf15a9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26abaf15a9_0_7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26abaf15a9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2838b73f6b_3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2838b73f6b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2838b73f6b_3_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2838b73f6b_3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2838b73f6b_3_1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2838b73f6b_3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2b19a7e6ad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2b19a7e6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26abaf15a9_0_77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26abaf15a9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26abaf15a9_0_6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26abaf15a9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26abaf15a9_0_6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26abaf15a9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26abaf15a9_0_7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26abaf15a9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2838b73f6b_3_1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2838b73f6b_3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2838b73f6b_3_1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2838b73f6b_3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26abaf15a9_0_7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26abaf15a9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26abaf15a9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64" name="Google Shape;464;g326abaf15a9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algn="ctr">
              <a:lnSpc>
                <a:spcPct val="90000"/>
              </a:lnSpc>
              <a:spcBef>
                <a:spcPts val="0"/>
              </a:spcBef>
              <a:spcAft>
                <a:spcPts val="0"/>
              </a:spcAft>
              <a:buSzPts val="1100"/>
              <a:buNone/>
              <a:defRPr sz="4500"/>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68" name="Google Shape;68;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Autofit/>
          </a:bodyPr>
          <a:lstStyle>
            <a:lvl1pPr lvl="0" algn="ctr">
              <a:lnSpc>
                <a:spcPct val="90000"/>
              </a:lnSpc>
              <a:spcBef>
                <a:spcPts val="800"/>
              </a:spcBef>
              <a:spcAft>
                <a:spcPts val="0"/>
              </a:spcAft>
              <a:buSzPts val="2100"/>
              <a:buNone/>
              <a:defRPr sz="1800"/>
            </a:lvl1pPr>
            <a:lvl2pPr lvl="1" algn="ctr">
              <a:lnSpc>
                <a:spcPct val="90000"/>
              </a:lnSpc>
              <a:spcBef>
                <a:spcPts val="400"/>
              </a:spcBef>
              <a:spcAft>
                <a:spcPts val="0"/>
              </a:spcAft>
              <a:buSzPts val="1800"/>
              <a:buNone/>
              <a:defRPr sz="1500"/>
            </a:lvl2pPr>
            <a:lvl3pPr lvl="2" algn="ctr">
              <a:lnSpc>
                <a:spcPct val="90000"/>
              </a:lnSpc>
              <a:spcBef>
                <a:spcPts val="400"/>
              </a:spcBef>
              <a:spcAft>
                <a:spcPts val="0"/>
              </a:spcAft>
              <a:buSzPts val="1500"/>
              <a:buNone/>
              <a:defRPr sz="1400"/>
            </a:lvl3pPr>
            <a:lvl4pPr lvl="3" algn="ctr">
              <a:lnSpc>
                <a:spcPct val="90000"/>
              </a:lnSpc>
              <a:spcBef>
                <a:spcPts val="400"/>
              </a:spcBef>
              <a:spcAft>
                <a:spcPts val="0"/>
              </a:spcAft>
              <a:buSzPts val="1400"/>
              <a:buNone/>
              <a:defRPr sz="1200"/>
            </a:lvl4pPr>
            <a:lvl5pPr lvl="4" algn="ctr">
              <a:lnSpc>
                <a:spcPct val="90000"/>
              </a:lnSpc>
              <a:spcBef>
                <a:spcPts val="400"/>
              </a:spcBef>
              <a:spcAft>
                <a:spcPts val="0"/>
              </a:spcAft>
              <a:buSzPts val="1400"/>
              <a:buNone/>
              <a:defRPr sz="1200"/>
            </a:lvl5pPr>
            <a:lvl6pPr lvl="5" algn="ctr">
              <a:lnSpc>
                <a:spcPct val="90000"/>
              </a:lnSpc>
              <a:spcBef>
                <a:spcPts val="400"/>
              </a:spcBef>
              <a:spcAft>
                <a:spcPts val="0"/>
              </a:spcAft>
              <a:buSzPts val="1400"/>
              <a:buNone/>
              <a:defRPr sz="1200"/>
            </a:lvl6pPr>
            <a:lvl7pPr lvl="6" algn="ctr">
              <a:lnSpc>
                <a:spcPct val="90000"/>
              </a:lnSpc>
              <a:spcBef>
                <a:spcPts val="400"/>
              </a:spcBef>
              <a:spcAft>
                <a:spcPts val="0"/>
              </a:spcAft>
              <a:buSzPts val="1400"/>
              <a:buNone/>
              <a:defRPr sz="1200"/>
            </a:lvl7pPr>
            <a:lvl8pPr lvl="7" algn="ctr">
              <a:lnSpc>
                <a:spcPct val="90000"/>
              </a:lnSpc>
              <a:spcBef>
                <a:spcPts val="400"/>
              </a:spcBef>
              <a:spcAft>
                <a:spcPts val="0"/>
              </a:spcAft>
              <a:buSzPts val="1400"/>
              <a:buNone/>
              <a:defRPr sz="1200"/>
            </a:lvl8pPr>
            <a:lvl9pPr lvl="8" algn="ctr">
              <a:lnSpc>
                <a:spcPct val="90000"/>
              </a:lnSpc>
              <a:spcBef>
                <a:spcPts val="400"/>
              </a:spcBef>
              <a:spcAft>
                <a:spcPts val="0"/>
              </a:spcAft>
              <a:buSzPts val="1400"/>
              <a:buNone/>
              <a:defRPr sz="1200"/>
            </a:lvl9pPr>
          </a:lstStyle>
          <a:p/>
        </p:txBody>
      </p:sp>
      <p:sp>
        <p:nvSpPr>
          <p:cNvPr id="69" name="Google Shape;6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SzPts val="1100"/>
              <a:buNone/>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74" name="Google Shape;7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SzPts val="2100"/>
              <a:buChar char="•"/>
              <a:defRPr/>
            </a:lvl1pPr>
            <a:lvl2pPr indent="-342900" lvl="1" marL="914400" algn="l">
              <a:lnSpc>
                <a:spcPct val="90000"/>
              </a:lnSpc>
              <a:spcBef>
                <a:spcPts val="400"/>
              </a:spcBef>
              <a:spcAft>
                <a:spcPts val="0"/>
              </a:spcAft>
              <a:buSzPts val="1800"/>
              <a:buChar char="•"/>
              <a:defRPr/>
            </a:lvl2pPr>
            <a:lvl3pPr indent="-323850" lvl="2" marL="1371600" algn="l">
              <a:lnSpc>
                <a:spcPct val="90000"/>
              </a:lnSpc>
              <a:spcBef>
                <a:spcPts val="400"/>
              </a:spcBef>
              <a:spcAft>
                <a:spcPts val="0"/>
              </a:spcAft>
              <a:buSzPts val="1500"/>
              <a:buChar char="•"/>
              <a:defRPr/>
            </a:lvl3pPr>
            <a:lvl4pPr indent="-317500" lvl="3" marL="1828800" algn="l">
              <a:lnSpc>
                <a:spcPct val="90000"/>
              </a:lnSpc>
              <a:spcBef>
                <a:spcPts val="400"/>
              </a:spcBef>
              <a:spcAft>
                <a:spcPts val="0"/>
              </a:spcAft>
              <a:buSzPts val="1400"/>
              <a:buChar char="•"/>
              <a:defRPr/>
            </a:lvl4pPr>
            <a:lvl5pPr indent="-317500" lvl="4" marL="2286000" algn="l">
              <a:lnSpc>
                <a:spcPct val="90000"/>
              </a:lnSpc>
              <a:spcBef>
                <a:spcPts val="400"/>
              </a:spcBef>
              <a:spcAft>
                <a:spcPts val="0"/>
              </a:spcAft>
              <a:buSzPts val="14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75" name="Google Shape;7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ulo e conteúdo 2">
  <p:cSld name="Titulo e conteúdo 2">
    <p:spTree>
      <p:nvGrpSpPr>
        <p:cNvPr id="78" name="Shape 78"/>
        <p:cNvGrpSpPr/>
        <p:nvPr/>
      </p:nvGrpSpPr>
      <p:grpSpPr>
        <a:xfrm>
          <a:off x="0" y="0"/>
          <a:ext cx="0" cy="0"/>
          <a:chOff x="0" y="0"/>
          <a:chExt cx="0" cy="0"/>
        </a:xfrm>
      </p:grpSpPr>
      <p:pic>
        <p:nvPicPr>
          <p:cNvPr id="79" name="Google Shape;79;p16"/>
          <p:cNvPicPr preferRelativeResize="0"/>
          <p:nvPr/>
        </p:nvPicPr>
        <p:blipFill rotWithShape="1">
          <a:blip r:embed="rId2">
            <a:alphaModFix/>
          </a:blip>
          <a:srcRect b="0" l="0" r="0" t="0"/>
          <a:stretch/>
        </p:blipFill>
        <p:spPr>
          <a:xfrm>
            <a:off x="623888" y="4697016"/>
            <a:ext cx="879872" cy="153590"/>
          </a:xfrm>
          <a:prstGeom prst="rect">
            <a:avLst/>
          </a:prstGeom>
          <a:noFill/>
          <a:ln>
            <a:noFill/>
          </a:ln>
        </p:spPr>
      </p:pic>
      <p:sp>
        <p:nvSpPr>
          <p:cNvPr id="80" name="Google Shape;80;p16"/>
          <p:cNvSpPr txBox="1"/>
          <p:nvPr>
            <p:ph type="title"/>
          </p:nvPr>
        </p:nvSpPr>
        <p:spPr>
          <a:xfrm>
            <a:off x="541682" y="815593"/>
            <a:ext cx="8069100" cy="13674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SzPts val="1100"/>
              <a:buNone/>
              <a:defRPr sz="2700">
                <a:solidFill>
                  <a:schemeClr val="accent1"/>
                </a:solidFill>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81" name="Google Shape;81;p16"/>
          <p:cNvSpPr txBox="1"/>
          <p:nvPr>
            <p:ph idx="1" type="body"/>
          </p:nvPr>
        </p:nvSpPr>
        <p:spPr>
          <a:xfrm>
            <a:off x="533268" y="252825"/>
            <a:ext cx="8069100" cy="228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000"/>
              <a:buFont typeface="Arial"/>
              <a:buNone/>
              <a:defRPr sz="1000">
                <a:solidFill>
                  <a:schemeClr val="accent1"/>
                </a:solidFill>
              </a:defRPr>
            </a:lvl1pPr>
            <a:lvl2pPr indent="-228600" lvl="1" marL="914400" algn="l">
              <a:lnSpc>
                <a:spcPct val="90000"/>
              </a:lnSpc>
              <a:spcBef>
                <a:spcPts val="400"/>
              </a:spcBef>
              <a:spcAft>
                <a:spcPts val="0"/>
              </a:spcAft>
              <a:buClr>
                <a:schemeClr val="dk1"/>
              </a:buClr>
              <a:buSzPts val="800"/>
              <a:buFont typeface="Arial"/>
              <a:buNone/>
              <a:defRPr sz="800"/>
            </a:lvl2pPr>
            <a:lvl3pPr indent="-228600" lvl="2" marL="1371600" algn="l">
              <a:lnSpc>
                <a:spcPct val="90000"/>
              </a:lnSpc>
              <a:spcBef>
                <a:spcPts val="400"/>
              </a:spcBef>
              <a:spcAft>
                <a:spcPts val="0"/>
              </a:spcAft>
              <a:buClr>
                <a:schemeClr val="dk1"/>
              </a:buClr>
              <a:buSzPts val="800"/>
              <a:buFont typeface="Arial"/>
              <a:buNone/>
              <a:defRPr sz="800"/>
            </a:lvl3pPr>
            <a:lvl4pPr indent="-228600" lvl="3" marL="1828800" algn="l">
              <a:lnSpc>
                <a:spcPct val="90000"/>
              </a:lnSpc>
              <a:spcBef>
                <a:spcPts val="400"/>
              </a:spcBef>
              <a:spcAft>
                <a:spcPts val="0"/>
              </a:spcAft>
              <a:buClr>
                <a:schemeClr val="dk1"/>
              </a:buClr>
              <a:buSzPts val="800"/>
              <a:buFont typeface="Arial"/>
              <a:buNone/>
              <a:defRPr sz="800"/>
            </a:lvl4pPr>
            <a:lvl5pPr indent="-228600" lvl="4" marL="2286000" algn="l">
              <a:lnSpc>
                <a:spcPct val="90000"/>
              </a:lnSpc>
              <a:spcBef>
                <a:spcPts val="400"/>
              </a:spcBef>
              <a:spcAft>
                <a:spcPts val="0"/>
              </a:spcAft>
              <a:buClr>
                <a:schemeClr val="dk1"/>
              </a:buClr>
              <a:buSzPts val="800"/>
              <a:buFont typeface="Arial"/>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6"/>
          <p:cNvSpPr txBox="1"/>
          <p:nvPr>
            <p:ph idx="2" type="body"/>
          </p:nvPr>
        </p:nvSpPr>
        <p:spPr>
          <a:xfrm>
            <a:off x="533268" y="2320171"/>
            <a:ext cx="8069100" cy="2312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6"/>
          <p:cNvSpPr txBox="1"/>
          <p:nvPr>
            <p:ph idx="12" type="sldNum"/>
          </p:nvPr>
        </p:nvSpPr>
        <p:spPr>
          <a:xfrm>
            <a:off x="6548438" y="4657725"/>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taque">
  <p:cSld name="Destaque">
    <p:spTree>
      <p:nvGrpSpPr>
        <p:cNvPr id="84" name="Shape 84"/>
        <p:cNvGrpSpPr/>
        <p:nvPr/>
      </p:nvGrpSpPr>
      <p:grpSpPr>
        <a:xfrm>
          <a:off x="0" y="0"/>
          <a:ext cx="0" cy="0"/>
          <a:chOff x="0" y="0"/>
          <a:chExt cx="0" cy="0"/>
        </a:xfrm>
      </p:grpSpPr>
      <p:pic>
        <p:nvPicPr>
          <p:cNvPr id="85" name="Google Shape;85;p17"/>
          <p:cNvPicPr preferRelativeResize="0"/>
          <p:nvPr/>
        </p:nvPicPr>
        <p:blipFill rotWithShape="1">
          <a:blip r:embed="rId2">
            <a:alphaModFix/>
          </a:blip>
          <a:srcRect b="0" l="0" r="0" t="0"/>
          <a:stretch/>
        </p:blipFill>
        <p:spPr>
          <a:xfrm>
            <a:off x="623888" y="4697016"/>
            <a:ext cx="879872" cy="153590"/>
          </a:xfrm>
          <a:prstGeom prst="rect">
            <a:avLst/>
          </a:prstGeom>
          <a:noFill/>
          <a:ln>
            <a:noFill/>
          </a:ln>
        </p:spPr>
      </p:pic>
      <p:sp>
        <p:nvSpPr>
          <p:cNvPr id="86" name="Google Shape;86;p17"/>
          <p:cNvSpPr txBox="1"/>
          <p:nvPr>
            <p:ph type="title"/>
          </p:nvPr>
        </p:nvSpPr>
        <p:spPr>
          <a:xfrm>
            <a:off x="548978" y="832319"/>
            <a:ext cx="2850900" cy="37881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SzPts val="1100"/>
              <a:buNone/>
              <a:defRPr b="1" sz="1900">
                <a:solidFill>
                  <a:schemeClr val="accent3"/>
                </a:solidFill>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87" name="Google Shape;87;p17"/>
          <p:cNvSpPr txBox="1"/>
          <p:nvPr>
            <p:ph idx="1" type="body"/>
          </p:nvPr>
        </p:nvSpPr>
        <p:spPr>
          <a:xfrm>
            <a:off x="533268" y="252825"/>
            <a:ext cx="8069100" cy="228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000"/>
              <a:buFont typeface="Arial"/>
              <a:buNone/>
              <a:defRPr sz="1000">
                <a:solidFill>
                  <a:schemeClr val="accent1"/>
                </a:solidFill>
              </a:defRPr>
            </a:lvl1pPr>
            <a:lvl2pPr indent="-228600" lvl="1" marL="914400" algn="l">
              <a:lnSpc>
                <a:spcPct val="90000"/>
              </a:lnSpc>
              <a:spcBef>
                <a:spcPts val="400"/>
              </a:spcBef>
              <a:spcAft>
                <a:spcPts val="0"/>
              </a:spcAft>
              <a:buClr>
                <a:schemeClr val="dk1"/>
              </a:buClr>
              <a:buSzPts val="800"/>
              <a:buFont typeface="Arial"/>
              <a:buNone/>
              <a:defRPr sz="800"/>
            </a:lvl2pPr>
            <a:lvl3pPr indent="-228600" lvl="2" marL="1371600" algn="l">
              <a:lnSpc>
                <a:spcPct val="90000"/>
              </a:lnSpc>
              <a:spcBef>
                <a:spcPts val="400"/>
              </a:spcBef>
              <a:spcAft>
                <a:spcPts val="0"/>
              </a:spcAft>
              <a:buClr>
                <a:schemeClr val="dk1"/>
              </a:buClr>
              <a:buSzPts val="800"/>
              <a:buFont typeface="Arial"/>
              <a:buNone/>
              <a:defRPr sz="800"/>
            </a:lvl3pPr>
            <a:lvl4pPr indent="-228600" lvl="3" marL="1828800" algn="l">
              <a:lnSpc>
                <a:spcPct val="90000"/>
              </a:lnSpc>
              <a:spcBef>
                <a:spcPts val="400"/>
              </a:spcBef>
              <a:spcAft>
                <a:spcPts val="0"/>
              </a:spcAft>
              <a:buClr>
                <a:schemeClr val="dk1"/>
              </a:buClr>
              <a:buSzPts val="800"/>
              <a:buFont typeface="Arial"/>
              <a:buNone/>
              <a:defRPr sz="800"/>
            </a:lvl4pPr>
            <a:lvl5pPr indent="-228600" lvl="4" marL="2286000" algn="l">
              <a:lnSpc>
                <a:spcPct val="90000"/>
              </a:lnSpc>
              <a:spcBef>
                <a:spcPts val="400"/>
              </a:spcBef>
              <a:spcAft>
                <a:spcPts val="0"/>
              </a:spcAft>
              <a:buClr>
                <a:schemeClr val="dk1"/>
              </a:buClr>
              <a:buSzPts val="800"/>
              <a:buFont typeface="Arial"/>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7"/>
          <p:cNvSpPr txBox="1"/>
          <p:nvPr>
            <p:ph idx="2" type="body"/>
          </p:nvPr>
        </p:nvSpPr>
        <p:spPr>
          <a:xfrm>
            <a:off x="3579541" y="844706"/>
            <a:ext cx="5022600" cy="37881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7"/>
          <p:cNvSpPr txBox="1"/>
          <p:nvPr>
            <p:ph idx="12" type="sldNum"/>
          </p:nvPr>
        </p:nvSpPr>
        <p:spPr>
          <a:xfrm>
            <a:off x="6548438" y="4657725"/>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e gráfico">
  <p:cSld name="Conteúdo e gráfico">
    <p:spTree>
      <p:nvGrpSpPr>
        <p:cNvPr id="90" name="Shape 90"/>
        <p:cNvGrpSpPr/>
        <p:nvPr/>
      </p:nvGrpSpPr>
      <p:grpSpPr>
        <a:xfrm>
          <a:off x="0" y="0"/>
          <a:ext cx="0" cy="0"/>
          <a:chOff x="0" y="0"/>
          <a:chExt cx="0" cy="0"/>
        </a:xfrm>
      </p:grpSpPr>
      <p:pic>
        <p:nvPicPr>
          <p:cNvPr id="91" name="Google Shape;91;p18"/>
          <p:cNvPicPr preferRelativeResize="0"/>
          <p:nvPr/>
        </p:nvPicPr>
        <p:blipFill rotWithShape="1">
          <a:blip r:embed="rId2">
            <a:alphaModFix/>
          </a:blip>
          <a:srcRect b="0" l="0" r="0" t="0"/>
          <a:stretch/>
        </p:blipFill>
        <p:spPr>
          <a:xfrm>
            <a:off x="623888" y="4697016"/>
            <a:ext cx="879872" cy="153590"/>
          </a:xfrm>
          <a:prstGeom prst="rect">
            <a:avLst/>
          </a:prstGeom>
          <a:noFill/>
          <a:ln>
            <a:noFill/>
          </a:ln>
        </p:spPr>
      </p:pic>
      <p:sp>
        <p:nvSpPr>
          <p:cNvPr id="92" name="Google Shape;92;p18"/>
          <p:cNvSpPr txBox="1"/>
          <p:nvPr>
            <p:ph idx="1" type="body"/>
          </p:nvPr>
        </p:nvSpPr>
        <p:spPr>
          <a:xfrm>
            <a:off x="533268" y="252825"/>
            <a:ext cx="8069100" cy="228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000"/>
              <a:buFont typeface="Arial"/>
              <a:buNone/>
              <a:defRPr sz="1000">
                <a:solidFill>
                  <a:schemeClr val="accent1"/>
                </a:solidFill>
              </a:defRPr>
            </a:lvl1pPr>
            <a:lvl2pPr indent="-228600" lvl="1" marL="914400" algn="l">
              <a:lnSpc>
                <a:spcPct val="90000"/>
              </a:lnSpc>
              <a:spcBef>
                <a:spcPts val="400"/>
              </a:spcBef>
              <a:spcAft>
                <a:spcPts val="0"/>
              </a:spcAft>
              <a:buClr>
                <a:schemeClr val="dk1"/>
              </a:buClr>
              <a:buSzPts val="800"/>
              <a:buFont typeface="Arial"/>
              <a:buNone/>
              <a:defRPr sz="800"/>
            </a:lvl2pPr>
            <a:lvl3pPr indent="-228600" lvl="2" marL="1371600" algn="l">
              <a:lnSpc>
                <a:spcPct val="90000"/>
              </a:lnSpc>
              <a:spcBef>
                <a:spcPts val="400"/>
              </a:spcBef>
              <a:spcAft>
                <a:spcPts val="0"/>
              </a:spcAft>
              <a:buClr>
                <a:schemeClr val="dk1"/>
              </a:buClr>
              <a:buSzPts val="800"/>
              <a:buFont typeface="Arial"/>
              <a:buNone/>
              <a:defRPr sz="800"/>
            </a:lvl3pPr>
            <a:lvl4pPr indent="-228600" lvl="3" marL="1828800" algn="l">
              <a:lnSpc>
                <a:spcPct val="90000"/>
              </a:lnSpc>
              <a:spcBef>
                <a:spcPts val="400"/>
              </a:spcBef>
              <a:spcAft>
                <a:spcPts val="0"/>
              </a:spcAft>
              <a:buClr>
                <a:schemeClr val="dk1"/>
              </a:buClr>
              <a:buSzPts val="800"/>
              <a:buFont typeface="Arial"/>
              <a:buNone/>
              <a:defRPr sz="800"/>
            </a:lvl4pPr>
            <a:lvl5pPr indent="-228600" lvl="4" marL="2286000" algn="l">
              <a:lnSpc>
                <a:spcPct val="90000"/>
              </a:lnSpc>
              <a:spcBef>
                <a:spcPts val="400"/>
              </a:spcBef>
              <a:spcAft>
                <a:spcPts val="0"/>
              </a:spcAft>
              <a:buClr>
                <a:schemeClr val="dk1"/>
              </a:buClr>
              <a:buSzPts val="800"/>
              <a:buFont typeface="Arial"/>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8"/>
          <p:cNvSpPr txBox="1"/>
          <p:nvPr>
            <p:ph type="title"/>
          </p:nvPr>
        </p:nvSpPr>
        <p:spPr>
          <a:xfrm>
            <a:off x="541682" y="815594"/>
            <a:ext cx="2933700" cy="887400"/>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SzPts val="1100"/>
              <a:buNone/>
              <a:defRPr sz="2700">
                <a:solidFill>
                  <a:schemeClr val="accent1"/>
                </a:solidFill>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94" name="Google Shape;94;p18"/>
          <p:cNvSpPr txBox="1"/>
          <p:nvPr>
            <p:ph idx="2" type="body"/>
          </p:nvPr>
        </p:nvSpPr>
        <p:spPr>
          <a:xfrm>
            <a:off x="533269" y="1887878"/>
            <a:ext cx="2933700" cy="2744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18"/>
          <p:cNvSpPr/>
          <p:nvPr>
            <p:ph idx="3" type="chart"/>
          </p:nvPr>
        </p:nvSpPr>
        <p:spPr>
          <a:xfrm>
            <a:off x="3598069" y="815579"/>
            <a:ext cx="5012700" cy="38421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80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96" name="Google Shape;96;p18"/>
          <p:cNvSpPr txBox="1"/>
          <p:nvPr>
            <p:ph idx="12" type="sldNum"/>
          </p:nvPr>
        </p:nvSpPr>
        <p:spPr>
          <a:xfrm>
            <a:off x="6548438" y="4657725"/>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e gráfico 2">
  <p:cSld name="Conteúdo e gráfico 2">
    <p:spTree>
      <p:nvGrpSpPr>
        <p:cNvPr id="97" name="Shape 97"/>
        <p:cNvGrpSpPr/>
        <p:nvPr/>
      </p:nvGrpSpPr>
      <p:grpSpPr>
        <a:xfrm>
          <a:off x="0" y="0"/>
          <a:ext cx="0" cy="0"/>
          <a:chOff x="0" y="0"/>
          <a:chExt cx="0" cy="0"/>
        </a:xfrm>
      </p:grpSpPr>
      <p:pic>
        <p:nvPicPr>
          <p:cNvPr id="98" name="Google Shape;98;p19"/>
          <p:cNvPicPr preferRelativeResize="0"/>
          <p:nvPr/>
        </p:nvPicPr>
        <p:blipFill rotWithShape="1">
          <a:blip r:embed="rId2">
            <a:alphaModFix/>
          </a:blip>
          <a:srcRect b="0" l="0" r="0" t="0"/>
          <a:stretch/>
        </p:blipFill>
        <p:spPr>
          <a:xfrm>
            <a:off x="623888" y="4697016"/>
            <a:ext cx="879872" cy="153590"/>
          </a:xfrm>
          <a:prstGeom prst="rect">
            <a:avLst/>
          </a:prstGeom>
          <a:noFill/>
          <a:ln>
            <a:noFill/>
          </a:ln>
        </p:spPr>
      </p:pic>
      <p:sp>
        <p:nvSpPr>
          <p:cNvPr id="99" name="Google Shape;99;p19"/>
          <p:cNvSpPr txBox="1"/>
          <p:nvPr>
            <p:ph idx="1" type="body"/>
          </p:nvPr>
        </p:nvSpPr>
        <p:spPr>
          <a:xfrm>
            <a:off x="533268" y="252825"/>
            <a:ext cx="8069100" cy="228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000"/>
              <a:buFont typeface="Arial"/>
              <a:buNone/>
              <a:defRPr sz="1000">
                <a:solidFill>
                  <a:schemeClr val="accent1"/>
                </a:solidFill>
              </a:defRPr>
            </a:lvl1pPr>
            <a:lvl2pPr indent="-228600" lvl="1" marL="914400" algn="l">
              <a:lnSpc>
                <a:spcPct val="90000"/>
              </a:lnSpc>
              <a:spcBef>
                <a:spcPts val="400"/>
              </a:spcBef>
              <a:spcAft>
                <a:spcPts val="0"/>
              </a:spcAft>
              <a:buClr>
                <a:schemeClr val="dk1"/>
              </a:buClr>
              <a:buSzPts val="800"/>
              <a:buFont typeface="Arial"/>
              <a:buNone/>
              <a:defRPr sz="800"/>
            </a:lvl2pPr>
            <a:lvl3pPr indent="-228600" lvl="2" marL="1371600" algn="l">
              <a:lnSpc>
                <a:spcPct val="90000"/>
              </a:lnSpc>
              <a:spcBef>
                <a:spcPts val="400"/>
              </a:spcBef>
              <a:spcAft>
                <a:spcPts val="0"/>
              </a:spcAft>
              <a:buClr>
                <a:schemeClr val="dk1"/>
              </a:buClr>
              <a:buSzPts val="800"/>
              <a:buFont typeface="Arial"/>
              <a:buNone/>
              <a:defRPr sz="800"/>
            </a:lvl3pPr>
            <a:lvl4pPr indent="-228600" lvl="3" marL="1828800" algn="l">
              <a:lnSpc>
                <a:spcPct val="90000"/>
              </a:lnSpc>
              <a:spcBef>
                <a:spcPts val="400"/>
              </a:spcBef>
              <a:spcAft>
                <a:spcPts val="0"/>
              </a:spcAft>
              <a:buClr>
                <a:schemeClr val="dk1"/>
              </a:buClr>
              <a:buSzPts val="800"/>
              <a:buFont typeface="Arial"/>
              <a:buNone/>
              <a:defRPr sz="800"/>
            </a:lvl4pPr>
            <a:lvl5pPr indent="-228600" lvl="4" marL="2286000" algn="l">
              <a:lnSpc>
                <a:spcPct val="90000"/>
              </a:lnSpc>
              <a:spcBef>
                <a:spcPts val="400"/>
              </a:spcBef>
              <a:spcAft>
                <a:spcPts val="0"/>
              </a:spcAft>
              <a:buClr>
                <a:schemeClr val="dk1"/>
              </a:buClr>
              <a:buSzPts val="800"/>
              <a:buFont typeface="Arial"/>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19"/>
          <p:cNvSpPr txBox="1"/>
          <p:nvPr>
            <p:ph idx="2" type="body"/>
          </p:nvPr>
        </p:nvSpPr>
        <p:spPr>
          <a:xfrm>
            <a:off x="533269" y="893851"/>
            <a:ext cx="2933700" cy="37389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19"/>
          <p:cNvSpPr txBox="1"/>
          <p:nvPr>
            <p:ph idx="3" type="body"/>
          </p:nvPr>
        </p:nvSpPr>
        <p:spPr>
          <a:xfrm>
            <a:off x="3650876" y="893851"/>
            <a:ext cx="4940700" cy="286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9"/>
          <p:cNvSpPr txBox="1"/>
          <p:nvPr>
            <p:ph idx="12" type="sldNum"/>
          </p:nvPr>
        </p:nvSpPr>
        <p:spPr>
          <a:xfrm>
            <a:off x="6548438" y="4657725"/>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e gráfico 3 ">
  <p:cSld name="Conteúdo e gráfico 3 ">
    <p:spTree>
      <p:nvGrpSpPr>
        <p:cNvPr id="103" name="Shape 103"/>
        <p:cNvGrpSpPr/>
        <p:nvPr/>
      </p:nvGrpSpPr>
      <p:grpSpPr>
        <a:xfrm>
          <a:off x="0" y="0"/>
          <a:ext cx="0" cy="0"/>
          <a:chOff x="0" y="0"/>
          <a:chExt cx="0" cy="0"/>
        </a:xfrm>
      </p:grpSpPr>
      <p:pic>
        <p:nvPicPr>
          <p:cNvPr id="104" name="Google Shape;104;p20"/>
          <p:cNvPicPr preferRelativeResize="0"/>
          <p:nvPr/>
        </p:nvPicPr>
        <p:blipFill rotWithShape="1">
          <a:blip r:embed="rId2">
            <a:alphaModFix/>
          </a:blip>
          <a:srcRect b="0" l="0" r="0" t="0"/>
          <a:stretch/>
        </p:blipFill>
        <p:spPr>
          <a:xfrm>
            <a:off x="623888" y="4697016"/>
            <a:ext cx="879872" cy="153590"/>
          </a:xfrm>
          <a:prstGeom prst="rect">
            <a:avLst/>
          </a:prstGeom>
          <a:noFill/>
          <a:ln>
            <a:noFill/>
          </a:ln>
        </p:spPr>
      </p:pic>
      <p:sp>
        <p:nvSpPr>
          <p:cNvPr id="105" name="Google Shape;105;p20"/>
          <p:cNvSpPr/>
          <p:nvPr/>
        </p:nvSpPr>
        <p:spPr>
          <a:xfrm>
            <a:off x="3556397" y="2763441"/>
            <a:ext cx="140363" cy="156328"/>
          </a:xfrm>
          <a:custGeom>
            <a:rect b="b" l="l" r="r" t="t"/>
            <a:pathLst>
              <a:path extrusionOk="0" h="207057" w="187151">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 name="Google Shape;106;p20"/>
          <p:cNvSpPr txBox="1"/>
          <p:nvPr>
            <p:ph idx="1" type="body"/>
          </p:nvPr>
        </p:nvSpPr>
        <p:spPr>
          <a:xfrm>
            <a:off x="533268" y="252825"/>
            <a:ext cx="8069100" cy="228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000"/>
              <a:buFont typeface="Arial"/>
              <a:buNone/>
              <a:defRPr sz="1000">
                <a:solidFill>
                  <a:schemeClr val="accent1"/>
                </a:solidFill>
              </a:defRPr>
            </a:lvl1pPr>
            <a:lvl2pPr indent="-228600" lvl="1" marL="914400" algn="l">
              <a:lnSpc>
                <a:spcPct val="90000"/>
              </a:lnSpc>
              <a:spcBef>
                <a:spcPts val="400"/>
              </a:spcBef>
              <a:spcAft>
                <a:spcPts val="0"/>
              </a:spcAft>
              <a:buClr>
                <a:schemeClr val="dk1"/>
              </a:buClr>
              <a:buSzPts val="800"/>
              <a:buFont typeface="Arial"/>
              <a:buNone/>
              <a:defRPr sz="800"/>
            </a:lvl2pPr>
            <a:lvl3pPr indent="-228600" lvl="2" marL="1371600" algn="l">
              <a:lnSpc>
                <a:spcPct val="90000"/>
              </a:lnSpc>
              <a:spcBef>
                <a:spcPts val="400"/>
              </a:spcBef>
              <a:spcAft>
                <a:spcPts val="0"/>
              </a:spcAft>
              <a:buClr>
                <a:schemeClr val="dk1"/>
              </a:buClr>
              <a:buSzPts val="800"/>
              <a:buFont typeface="Arial"/>
              <a:buNone/>
              <a:defRPr sz="800"/>
            </a:lvl3pPr>
            <a:lvl4pPr indent="-228600" lvl="3" marL="1828800" algn="l">
              <a:lnSpc>
                <a:spcPct val="90000"/>
              </a:lnSpc>
              <a:spcBef>
                <a:spcPts val="400"/>
              </a:spcBef>
              <a:spcAft>
                <a:spcPts val="0"/>
              </a:spcAft>
              <a:buClr>
                <a:schemeClr val="dk1"/>
              </a:buClr>
              <a:buSzPts val="800"/>
              <a:buFont typeface="Arial"/>
              <a:buNone/>
              <a:defRPr sz="800"/>
            </a:lvl4pPr>
            <a:lvl5pPr indent="-228600" lvl="4" marL="2286000" algn="l">
              <a:lnSpc>
                <a:spcPct val="90000"/>
              </a:lnSpc>
              <a:spcBef>
                <a:spcPts val="400"/>
              </a:spcBef>
              <a:spcAft>
                <a:spcPts val="0"/>
              </a:spcAft>
              <a:buClr>
                <a:schemeClr val="dk1"/>
              </a:buClr>
              <a:buSzPts val="800"/>
              <a:buFont typeface="Arial"/>
              <a:buNone/>
              <a:defRPr sz="8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20"/>
          <p:cNvSpPr txBox="1"/>
          <p:nvPr>
            <p:ph idx="2" type="body"/>
          </p:nvPr>
        </p:nvSpPr>
        <p:spPr>
          <a:xfrm>
            <a:off x="533269" y="893851"/>
            <a:ext cx="2933700" cy="493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8" name="Google Shape;108;p20"/>
          <p:cNvSpPr txBox="1"/>
          <p:nvPr>
            <p:ph idx="3" type="body"/>
          </p:nvPr>
        </p:nvSpPr>
        <p:spPr>
          <a:xfrm>
            <a:off x="3768047" y="893851"/>
            <a:ext cx="4842600" cy="493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900"/>
              <a:buFont typeface="Arial"/>
              <a:buNone/>
              <a:defRPr sz="900">
                <a:solidFill>
                  <a:schemeClr val="dk2"/>
                </a:solidFill>
                <a:latin typeface="Arial"/>
                <a:ea typeface="Arial"/>
                <a:cs typeface="Arial"/>
                <a:sym typeface="Arial"/>
              </a:defRPr>
            </a:lvl1pPr>
            <a:lvl2pPr indent="-228600" lvl="1" marL="914400" algn="l">
              <a:lnSpc>
                <a:spcPct val="90000"/>
              </a:lnSpc>
              <a:spcBef>
                <a:spcPts val="1700"/>
              </a:spcBef>
              <a:spcAft>
                <a:spcPts val="0"/>
              </a:spcAft>
              <a:buClr>
                <a:schemeClr val="dk2"/>
              </a:buClr>
              <a:buSzPts val="900"/>
              <a:buFont typeface="Arial"/>
              <a:buNone/>
              <a:defRPr sz="900">
                <a:solidFill>
                  <a:schemeClr val="dk2"/>
                </a:solidFill>
                <a:latin typeface="Arial"/>
                <a:ea typeface="Arial"/>
                <a:cs typeface="Arial"/>
                <a:sym typeface="Arial"/>
              </a:defRPr>
            </a:lvl2pPr>
            <a:lvl3pPr indent="-228600" lvl="2" marL="13716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3pPr>
            <a:lvl4pPr indent="-228600" lvl="3" marL="18288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4pPr>
            <a:lvl5pPr indent="-228600" lvl="4" marL="2286000" algn="l">
              <a:lnSpc>
                <a:spcPct val="90000"/>
              </a:lnSpc>
              <a:spcBef>
                <a:spcPts val="400"/>
              </a:spcBef>
              <a:spcAft>
                <a:spcPts val="0"/>
              </a:spcAft>
              <a:buClr>
                <a:schemeClr val="dk2"/>
              </a:buClr>
              <a:buSzPts val="900"/>
              <a:buFont typeface="Arial"/>
              <a:buNone/>
              <a:defRPr sz="900">
                <a:solidFill>
                  <a:schemeClr val="dk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20"/>
          <p:cNvSpPr/>
          <p:nvPr>
            <p:ph idx="4" type="chart"/>
          </p:nvPr>
        </p:nvSpPr>
        <p:spPr>
          <a:xfrm>
            <a:off x="533400" y="1495425"/>
            <a:ext cx="2933700" cy="270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800"/>
              </a:spcBef>
              <a:spcAft>
                <a:spcPts val="0"/>
              </a:spcAft>
              <a:buClr>
                <a:schemeClr val="dk2"/>
              </a:buClr>
              <a:buSzPts val="1100"/>
              <a:buFont typeface="Arial"/>
              <a:buNone/>
              <a:defRPr b="0" i="0" sz="1100" u="none" cap="none" strike="noStrike">
                <a:solidFill>
                  <a:schemeClr val="dk2"/>
                </a:solidFill>
                <a:latin typeface="Arial"/>
                <a:ea typeface="Arial"/>
                <a:cs typeface="Arial"/>
                <a:sym typeface="Arial"/>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10" name="Google Shape;110;p20"/>
          <p:cNvSpPr/>
          <p:nvPr>
            <p:ph idx="5" type="chart"/>
          </p:nvPr>
        </p:nvSpPr>
        <p:spPr>
          <a:xfrm>
            <a:off x="3768047" y="1495425"/>
            <a:ext cx="4854600" cy="270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800"/>
              </a:spcBef>
              <a:spcAft>
                <a:spcPts val="0"/>
              </a:spcAft>
              <a:buClr>
                <a:schemeClr val="dk2"/>
              </a:buClr>
              <a:buSzPts val="1100"/>
              <a:buFont typeface="Arial"/>
              <a:buNone/>
              <a:defRPr b="0" i="0" sz="1100" u="none" cap="none" strike="noStrike">
                <a:solidFill>
                  <a:schemeClr val="dk2"/>
                </a:solidFill>
                <a:latin typeface="Arial"/>
                <a:ea typeface="Arial"/>
                <a:cs typeface="Arial"/>
                <a:sym typeface="Arial"/>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11" name="Google Shape;111;p20"/>
          <p:cNvSpPr txBox="1"/>
          <p:nvPr>
            <p:ph idx="12" type="sldNum"/>
          </p:nvPr>
        </p:nvSpPr>
        <p:spPr>
          <a:xfrm>
            <a:off x="6548438" y="4657725"/>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rigado - Contato">
  <p:cSld name="Obrigado - Contato">
    <p:spTree>
      <p:nvGrpSpPr>
        <p:cNvPr id="112" name="Shape 112"/>
        <p:cNvGrpSpPr/>
        <p:nvPr/>
      </p:nvGrpSpPr>
      <p:grpSpPr>
        <a:xfrm>
          <a:off x="0" y="0"/>
          <a:ext cx="0" cy="0"/>
          <a:chOff x="0" y="0"/>
          <a:chExt cx="0" cy="0"/>
        </a:xfrm>
      </p:grpSpPr>
      <p:sp>
        <p:nvSpPr>
          <p:cNvPr id="113" name="Google Shape;113;p21"/>
          <p:cNvSpPr/>
          <p:nvPr/>
        </p:nvSpPr>
        <p:spPr>
          <a:xfrm>
            <a:off x="0" y="3921919"/>
            <a:ext cx="9144000" cy="1221059"/>
          </a:xfrm>
          <a:custGeom>
            <a:rect b="b" l="l" r="r" t="t"/>
            <a:pathLst>
              <a:path extrusionOk="0" h="1628078" w="12192000">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4" name="Google Shape;114;p21"/>
          <p:cNvPicPr preferRelativeResize="0"/>
          <p:nvPr/>
        </p:nvPicPr>
        <p:blipFill rotWithShape="1">
          <a:blip r:embed="rId2">
            <a:alphaModFix/>
          </a:blip>
          <a:srcRect b="0" l="0" r="0" t="0"/>
          <a:stretch/>
        </p:blipFill>
        <p:spPr>
          <a:xfrm>
            <a:off x="616744" y="4295775"/>
            <a:ext cx="1421606" cy="248841"/>
          </a:xfrm>
          <a:prstGeom prst="rect">
            <a:avLst/>
          </a:prstGeom>
          <a:noFill/>
          <a:ln>
            <a:noFill/>
          </a:ln>
        </p:spPr>
      </p:pic>
      <p:pic>
        <p:nvPicPr>
          <p:cNvPr descr="Resultado de imagen de DJSI Member Log" id="115" name="Google Shape;115;p21"/>
          <p:cNvPicPr preferRelativeResize="0"/>
          <p:nvPr/>
        </p:nvPicPr>
        <p:blipFill rotWithShape="1">
          <a:blip r:embed="rId3">
            <a:alphaModFix/>
          </a:blip>
          <a:srcRect b="0" l="0" r="0" t="0"/>
          <a:stretch/>
        </p:blipFill>
        <p:spPr>
          <a:xfrm>
            <a:off x="4348163" y="4180285"/>
            <a:ext cx="1009650" cy="341709"/>
          </a:xfrm>
          <a:prstGeom prst="rect">
            <a:avLst/>
          </a:prstGeom>
          <a:noFill/>
          <a:ln>
            <a:noFill/>
          </a:ln>
        </p:spPr>
      </p:pic>
      <p:grpSp>
        <p:nvGrpSpPr>
          <p:cNvPr id="116" name="Google Shape;116;p21"/>
          <p:cNvGrpSpPr/>
          <p:nvPr/>
        </p:nvGrpSpPr>
        <p:grpSpPr>
          <a:xfrm>
            <a:off x="5709008" y="4180373"/>
            <a:ext cx="434454" cy="341596"/>
            <a:chOff x="2203451" y="-4230356"/>
            <a:chExt cx="6896100" cy="5422158"/>
          </a:xfrm>
        </p:grpSpPr>
        <p:pic>
          <p:nvPicPr>
            <p:cNvPr descr="Imagen relacionada" id="117" name="Google Shape;117;p21"/>
            <p:cNvPicPr preferRelativeResize="0"/>
            <p:nvPr/>
          </p:nvPicPr>
          <p:blipFill rotWithShape="1">
            <a:blip r:embed="rId4">
              <a:alphaModFix/>
            </a:blip>
            <a:srcRect b="28224" l="22543" r="22378" t="3352"/>
            <a:stretch/>
          </p:blipFill>
          <p:spPr>
            <a:xfrm>
              <a:off x="3758085" y="-4230356"/>
              <a:ext cx="3798276" cy="3838472"/>
            </a:xfrm>
            <a:custGeom>
              <a:rect b="b" l="l" r="r" t="t"/>
              <a:pathLst>
                <a:path extrusionOk="0" h="3838472" w="3798276">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ln>
              <a:noFill/>
            </a:ln>
          </p:spPr>
        </p:pic>
        <p:pic>
          <p:nvPicPr>
            <p:cNvPr descr="Imagen relacionada" id="118" name="Google Shape;118;p21"/>
            <p:cNvPicPr preferRelativeResize="0"/>
            <p:nvPr/>
          </p:nvPicPr>
          <p:blipFill rotWithShape="1">
            <a:blip r:embed="rId4">
              <a:alphaModFix/>
            </a:blip>
            <a:srcRect b="0" l="0" r="0" t="78756"/>
            <a:stretch/>
          </p:blipFill>
          <p:spPr>
            <a:xfrm>
              <a:off x="2203451" y="0"/>
              <a:ext cx="6896100" cy="1191802"/>
            </a:xfrm>
            <a:custGeom>
              <a:rect b="b" l="l" r="r" t="t"/>
              <a:pathLst>
                <a:path extrusionOk="0" h="1191802" w="6896100">
                  <a:moveTo>
                    <a:pt x="0" y="0"/>
                  </a:moveTo>
                  <a:lnTo>
                    <a:pt x="6896100" y="0"/>
                  </a:lnTo>
                  <a:lnTo>
                    <a:pt x="6896100" y="1191802"/>
                  </a:lnTo>
                  <a:lnTo>
                    <a:pt x="0" y="1191802"/>
                  </a:lnTo>
                  <a:close/>
                </a:path>
              </a:pathLst>
            </a:custGeom>
            <a:noFill/>
            <a:ln>
              <a:noFill/>
            </a:ln>
          </p:spPr>
        </p:pic>
      </p:grpSp>
      <p:sp>
        <p:nvSpPr>
          <p:cNvPr id="119" name="Google Shape;119;p21"/>
          <p:cNvSpPr txBox="1"/>
          <p:nvPr/>
        </p:nvSpPr>
        <p:spPr>
          <a:xfrm>
            <a:off x="539354" y="1459706"/>
            <a:ext cx="2524200" cy="876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pt-BR" sz="1100" u="none" cap="none" strike="noStrike">
                <a:solidFill>
                  <a:schemeClr val="dk2"/>
                </a:solidFill>
                <a:latin typeface="Arial"/>
                <a:ea typeface="Arial"/>
                <a:cs typeface="Arial"/>
                <a:sym typeface="Arial"/>
              </a:rPr>
              <a:t>Nosso propósito é contribuir para que as pessoas e as empresas prosperem.</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pt-BR" sz="1100" u="none" cap="none" strike="noStrike">
                <a:solidFill>
                  <a:schemeClr val="dk2"/>
                </a:solidFill>
                <a:latin typeface="Arial"/>
                <a:ea typeface="Arial"/>
                <a:cs typeface="Arial"/>
                <a:sym typeface="Arial"/>
              </a:rPr>
              <a:t>Nossa cultura se baseia na crença de que tudo que fazemos deve ser </a:t>
            </a:r>
            <a:endParaRPr b="0" i="0" sz="1100" u="none" cap="none" strike="noStrike">
              <a:solidFill>
                <a:srgbClr val="000000"/>
              </a:solidFill>
              <a:latin typeface="Arial"/>
              <a:ea typeface="Arial"/>
              <a:cs typeface="Arial"/>
              <a:sym typeface="Arial"/>
            </a:endParaRPr>
          </a:p>
        </p:txBody>
      </p:sp>
      <p:sp>
        <p:nvSpPr>
          <p:cNvPr id="120" name="Google Shape;120;p21"/>
          <p:cNvSpPr txBox="1"/>
          <p:nvPr/>
        </p:nvSpPr>
        <p:spPr>
          <a:xfrm>
            <a:off x="540544" y="471488"/>
            <a:ext cx="2524200" cy="53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3000"/>
              <a:buFont typeface="Arial"/>
              <a:buNone/>
            </a:pPr>
            <a:r>
              <a:rPr b="0" i="0" lang="pt-BR" sz="3000" u="none" cap="none" strike="noStrike">
                <a:solidFill>
                  <a:schemeClr val="accent1"/>
                </a:solidFill>
                <a:latin typeface="Arial"/>
                <a:ea typeface="Arial"/>
                <a:cs typeface="Arial"/>
                <a:sym typeface="Arial"/>
              </a:rPr>
              <a:t>Obrigada.</a:t>
            </a:r>
            <a:endParaRPr b="0" i="0" sz="1100" u="none" cap="none" strike="noStrike">
              <a:solidFill>
                <a:srgbClr val="000000"/>
              </a:solidFill>
              <a:latin typeface="Arial"/>
              <a:ea typeface="Arial"/>
              <a:cs typeface="Arial"/>
              <a:sym typeface="Arial"/>
            </a:endParaRPr>
          </a:p>
        </p:txBody>
      </p:sp>
      <p:sp>
        <p:nvSpPr>
          <p:cNvPr id="121" name="Google Shape;121;p21"/>
          <p:cNvSpPr/>
          <p:nvPr/>
        </p:nvSpPr>
        <p:spPr>
          <a:xfrm>
            <a:off x="0" y="3921919"/>
            <a:ext cx="9147517" cy="1221059"/>
          </a:xfrm>
          <a:custGeom>
            <a:rect b="b" l="l" r="r" t="t"/>
            <a:pathLst>
              <a:path extrusionOk="0" h="1628078" w="12196689">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2" name="Google Shape;122;p21"/>
          <p:cNvSpPr/>
          <p:nvPr/>
        </p:nvSpPr>
        <p:spPr>
          <a:xfrm>
            <a:off x="616744" y="2602706"/>
            <a:ext cx="1948537" cy="185831"/>
          </a:xfrm>
          <a:custGeom>
            <a:rect b="b" l="l" r="r" t="t"/>
            <a:pathLst>
              <a:path extrusionOk="0" h="248603" w="2598049">
                <a:moveTo>
                  <a:pt x="2526783" y="75686"/>
                </a:moveTo>
                <a:cubicBezTo>
                  <a:pt x="2512741" y="75859"/>
                  <a:pt x="2502360" y="80210"/>
                  <a:pt x="2495638" y="88738"/>
                </a:cubicBezTo>
                <a:cubicBezTo>
                  <a:pt x="2488917" y="97267"/>
                  <a:pt x="2485579" y="108937"/>
                  <a:pt x="2485625" y="123750"/>
                </a:cubicBezTo>
                <a:cubicBezTo>
                  <a:pt x="2485735" y="140663"/>
                  <a:pt x="2489383" y="153104"/>
                  <a:pt x="2496571" y="161075"/>
                </a:cubicBezTo>
                <a:cubicBezTo>
                  <a:pt x="2503758" y="169045"/>
                  <a:pt x="2513829" y="172993"/>
                  <a:pt x="2526783" y="172918"/>
                </a:cubicBezTo>
                <a:cubicBezTo>
                  <a:pt x="2540306" y="172762"/>
                  <a:pt x="2550411" y="168446"/>
                  <a:pt x="2557098" y="159970"/>
                </a:cubicBezTo>
                <a:cubicBezTo>
                  <a:pt x="2563785" y="151493"/>
                  <a:pt x="2567123" y="139788"/>
                  <a:pt x="2567112" y="124855"/>
                </a:cubicBezTo>
                <a:cubicBezTo>
                  <a:pt x="2566985" y="108062"/>
                  <a:pt x="2563371" y="95655"/>
                  <a:pt x="2556270" y="87633"/>
                </a:cubicBezTo>
                <a:cubicBezTo>
                  <a:pt x="2549168" y="79611"/>
                  <a:pt x="2539339" y="75629"/>
                  <a:pt x="2526783"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621908" y="75686"/>
                </a:moveTo>
                <a:cubicBezTo>
                  <a:pt x="1607866" y="75859"/>
                  <a:pt x="1597485" y="80210"/>
                  <a:pt x="1590763" y="88738"/>
                </a:cubicBezTo>
                <a:cubicBezTo>
                  <a:pt x="1584042" y="97267"/>
                  <a:pt x="1580704" y="108937"/>
                  <a:pt x="1580750" y="123750"/>
                </a:cubicBezTo>
                <a:cubicBezTo>
                  <a:pt x="1580859" y="140663"/>
                  <a:pt x="1584508" y="153104"/>
                  <a:pt x="1591696" y="161075"/>
                </a:cubicBezTo>
                <a:cubicBezTo>
                  <a:pt x="1598883" y="169045"/>
                  <a:pt x="1608954" y="172993"/>
                  <a:pt x="1621908" y="172918"/>
                </a:cubicBezTo>
                <a:cubicBezTo>
                  <a:pt x="1635431" y="172762"/>
                  <a:pt x="1645536" y="168446"/>
                  <a:pt x="1652223" y="159970"/>
                </a:cubicBezTo>
                <a:cubicBezTo>
                  <a:pt x="1658910" y="151493"/>
                  <a:pt x="1662248" y="139788"/>
                  <a:pt x="1662236" y="124855"/>
                </a:cubicBezTo>
                <a:cubicBezTo>
                  <a:pt x="1662110" y="108062"/>
                  <a:pt x="1658496" y="95655"/>
                  <a:pt x="1651395" y="87633"/>
                </a:cubicBezTo>
                <a:cubicBezTo>
                  <a:pt x="1644293" y="79611"/>
                  <a:pt x="1634464" y="75629"/>
                  <a:pt x="16219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0" y="140225"/>
                  <a:pt x="570862" y="124302"/>
                </a:cubicBezTo>
                <a:cubicBezTo>
                  <a:pt x="571012" y="109346"/>
                  <a:pt x="567329" y="97549"/>
                  <a:pt x="559813" y="88911"/>
                </a:cubicBezTo>
                <a:cubicBezTo>
                  <a:pt x="552297" y="80273"/>
                  <a:pt x="540051" y="75865"/>
                  <a:pt x="523075" y="75686"/>
                </a:cubicBezTo>
                <a:close/>
                <a:moveTo>
                  <a:pt x="1225029" y="75134"/>
                </a:moveTo>
                <a:cubicBezTo>
                  <a:pt x="1214285" y="75163"/>
                  <a:pt x="1206010" y="78213"/>
                  <a:pt x="1200204" y="84284"/>
                </a:cubicBezTo>
                <a:cubicBezTo>
                  <a:pt x="1194397" y="90355"/>
                  <a:pt x="1190887" y="99275"/>
                  <a:pt x="1189673" y="111043"/>
                </a:cubicBezTo>
                <a:lnTo>
                  <a:pt x="1258176" y="111043"/>
                </a:lnTo>
                <a:cubicBezTo>
                  <a:pt x="1258107" y="99637"/>
                  <a:pt x="1255207" y="90821"/>
                  <a:pt x="1249475" y="84595"/>
                </a:cubicBezTo>
                <a:cubicBezTo>
                  <a:pt x="1243744" y="78368"/>
                  <a:pt x="1235595" y="75215"/>
                  <a:pt x="1225029"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090119" y="53036"/>
                </a:moveTo>
                <a:lnTo>
                  <a:pt x="2120503" y="53036"/>
                </a:lnTo>
                <a:lnTo>
                  <a:pt x="2120503" y="138942"/>
                </a:lnTo>
                <a:cubicBezTo>
                  <a:pt x="2120354" y="150630"/>
                  <a:pt x="2122656" y="159227"/>
                  <a:pt x="2127409" y="164735"/>
                </a:cubicBezTo>
                <a:cubicBezTo>
                  <a:pt x="2132162" y="170242"/>
                  <a:pt x="2140265" y="172969"/>
                  <a:pt x="2151717" y="172918"/>
                </a:cubicBezTo>
                <a:cubicBezTo>
                  <a:pt x="2157281" y="172923"/>
                  <a:pt x="2162656" y="172014"/>
                  <a:pt x="2167841" y="170190"/>
                </a:cubicBezTo>
                <a:cubicBezTo>
                  <a:pt x="2173026" y="168366"/>
                  <a:pt x="2177780" y="165592"/>
                  <a:pt x="2182101" y="161869"/>
                </a:cubicBezTo>
                <a:lnTo>
                  <a:pt x="2182101" y="53036"/>
                </a:lnTo>
                <a:lnTo>
                  <a:pt x="2212486" y="53036"/>
                </a:lnTo>
                <a:lnTo>
                  <a:pt x="2212486" y="195568"/>
                </a:lnTo>
                <a:lnTo>
                  <a:pt x="2184311" y="195568"/>
                </a:lnTo>
                <a:lnTo>
                  <a:pt x="2182654" y="177614"/>
                </a:lnTo>
                <a:cubicBezTo>
                  <a:pt x="2177993" y="183938"/>
                  <a:pt x="2172261" y="189037"/>
                  <a:pt x="2165459" y="192909"/>
                </a:cubicBezTo>
                <a:cubicBezTo>
                  <a:pt x="2158657" y="196782"/>
                  <a:pt x="2150577" y="198773"/>
                  <a:pt x="2141220" y="198883"/>
                </a:cubicBezTo>
                <a:cubicBezTo>
                  <a:pt x="2124468" y="198883"/>
                  <a:pt x="2111773" y="194463"/>
                  <a:pt x="2103136" y="185624"/>
                </a:cubicBezTo>
                <a:cubicBezTo>
                  <a:pt x="2094498" y="176785"/>
                  <a:pt x="2090159" y="163526"/>
                  <a:pt x="2090119" y="145848"/>
                </a:cubicBezTo>
                <a:lnTo>
                  <a:pt x="2090119" y="53036"/>
                </a:lnTo>
                <a:close/>
                <a:moveTo>
                  <a:pt x="157925" y="53036"/>
                </a:moveTo>
                <a:lnTo>
                  <a:pt x="188309" y="53036"/>
                </a:lnTo>
                <a:lnTo>
                  <a:pt x="188309" y="195568"/>
                </a:lnTo>
                <a:lnTo>
                  <a:pt x="157925" y="195568"/>
                </a:lnTo>
                <a:lnTo>
                  <a:pt x="157925" y="53036"/>
                </a:lnTo>
                <a:close/>
                <a:moveTo>
                  <a:pt x="2527611" y="49721"/>
                </a:moveTo>
                <a:cubicBezTo>
                  <a:pt x="2543090" y="49861"/>
                  <a:pt x="2556052" y="53111"/>
                  <a:pt x="2566498" y="59471"/>
                </a:cubicBezTo>
                <a:cubicBezTo>
                  <a:pt x="2576943" y="65831"/>
                  <a:pt x="2584810" y="74462"/>
                  <a:pt x="2590099" y="85365"/>
                </a:cubicBezTo>
                <a:cubicBezTo>
                  <a:pt x="2595389" y="96267"/>
                  <a:pt x="2598038" y="108602"/>
                  <a:pt x="2598049" y="122369"/>
                </a:cubicBezTo>
                <a:cubicBezTo>
                  <a:pt x="2597830" y="146705"/>
                  <a:pt x="2591293" y="165500"/>
                  <a:pt x="2578437" y="178753"/>
                </a:cubicBezTo>
                <a:cubicBezTo>
                  <a:pt x="2565581" y="192006"/>
                  <a:pt x="2547718" y="198716"/>
                  <a:pt x="2524849" y="198883"/>
                </a:cubicBezTo>
                <a:cubicBezTo>
                  <a:pt x="2509635" y="198743"/>
                  <a:pt x="2496819" y="195493"/>
                  <a:pt x="2486403" y="189133"/>
                </a:cubicBezTo>
                <a:cubicBezTo>
                  <a:pt x="2475986" y="182773"/>
                  <a:pt x="2468102" y="174142"/>
                  <a:pt x="2462750" y="163240"/>
                </a:cubicBezTo>
                <a:cubicBezTo>
                  <a:pt x="2457397" y="152337"/>
                  <a:pt x="2454710" y="140003"/>
                  <a:pt x="2454688" y="126236"/>
                </a:cubicBezTo>
                <a:cubicBezTo>
                  <a:pt x="2454929" y="101899"/>
                  <a:pt x="2461490" y="83104"/>
                  <a:pt x="2474369" y="69851"/>
                </a:cubicBezTo>
                <a:cubicBezTo>
                  <a:pt x="2487248" y="56598"/>
                  <a:pt x="2504995" y="49888"/>
                  <a:pt x="2527611" y="49721"/>
                </a:cubicBezTo>
                <a:close/>
                <a:moveTo>
                  <a:pt x="2291686" y="49721"/>
                </a:moveTo>
                <a:cubicBezTo>
                  <a:pt x="2300376" y="49704"/>
                  <a:pt x="2308479" y="50222"/>
                  <a:pt x="2315994" y="51275"/>
                </a:cubicBezTo>
                <a:cubicBezTo>
                  <a:pt x="2323510" y="52328"/>
                  <a:pt x="2330508" y="54020"/>
                  <a:pt x="2336988" y="56351"/>
                </a:cubicBezTo>
                <a:cubicBezTo>
                  <a:pt x="2336734" y="60316"/>
                  <a:pt x="2336274" y="64263"/>
                  <a:pt x="2335606" y="68194"/>
                </a:cubicBezTo>
                <a:cubicBezTo>
                  <a:pt x="2334939" y="72124"/>
                  <a:pt x="2333926" y="76279"/>
                  <a:pt x="2332568" y="80659"/>
                </a:cubicBezTo>
                <a:cubicBezTo>
                  <a:pt x="2326117" y="78604"/>
                  <a:pt x="2319614" y="77119"/>
                  <a:pt x="2313059" y="76204"/>
                </a:cubicBezTo>
                <a:cubicBezTo>
                  <a:pt x="2306505" y="75289"/>
                  <a:pt x="2299657" y="74841"/>
                  <a:pt x="2292515" y="74858"/>
                </a:cubicBezTo>
                <a:cubicBezTo>
                  <a:pt x="2283043" y="74933"/>
                  <a:pt x="2276575" y="76302"/>
                  <a:pt x="2273110" y="78967"/>
                </a:cubicBezTo>
                <a:cubicBezTo>
                  <a:pt x="2269646" y="81631"/>
                  <a:pt x="2268012" y="85141"/>
                  <a:pt x="2268207" y="89498"/>
                </a:cubicBezTo>
                <a:cubicBezTo>
                  <a:pt x="2268190" y="94504"/>
                  <a:pt x="2269951" y="98510"/>
                  <a:pt x="2273490" y="101514"/>
                </a:cubicBezTo>
                <a:cubicBezTo>
                  <a:pt x="2277029" y="104517"/>
                  <a:pt x="2282450" y="107142"/>
                  <a:pt x="2289753" y="109386"/>
                </a:cubicBezTo>
                <a:lnTo>
                  <a:pt x="2304393" y="114082"/>
                </a:lnTo>
                <a:cubicBezTo>
                  <a:pt x="2317439" y="118104"/>
                  <a:pt x="2326980" y="123456"/>
                  <a:pt x="2333017" y="130137"/>
                </a:cubicBezTo>
                <a:cubicBezTo>
                  <a:pt x="2339053" y="136819"/>
                  <a:pt x="2342034" y="145554"/>
                  <a:pt x="2341960" y="156344"/>
                </a:cubicBezTo>
                <a:cubicBezTo>
                  <a:pt x="2341890" y="169114"/>
                  <a:pt x="2337056" y="179346"/>
                  <a:pt x="2327458" y="187040"/>
                </a:cubicBezTo>
                <a:cubicBezTo>
                  <a:pt x="2317859" y="194734"/>
                  <a:pt x="2303909" y="198681"/>
                  <a:pt x="2285610" y="198883"/>
                </a:cubicBezTo>
                <a:cubicBezTo>
                  <a:pt x="2275453" y="198906"/>
                  <a:pt x="2266418" y="198169"/>
                  <a:pt x="2258505" y="196673"/>
                </a:cubicBezTo>
                <a:cubicBezTo>
                  <a:pt x="2250592" y="195177"/>
                  <a:pt x="2243422" y="192783"/>
                  <a:pt x="2236994" y="189491"/>
                </a:cubicBezTo>
                <a:cubicBezTo>
                  <a:pt x="2237270" y="183863"/>
                  <a:pt x="2237754" y="178960"/>
                  <a:pt x="2238444" y="174782"/>
                </a:cubicBezTo>
                <a:cubicBezTo>
                  <a:pt x="2239135" y="170604"/>
                  <a:pt x="2240033" y="166944"/>
                  <a:pt x="2241137" y="163802"/>
                </a:cubicBezTo>
                <a:cubicBezTo>
                  <a:pt x="2247686" y="166985"/>
                  <a:pt x="2254891" y="169390"/>
                  <a:pt x="2262752" y="171019"/>
                </a:cubicBezTo>
                <a:cubicBezTo>
                  <a:pt x="2270613" y="172647"/>
                  <a:pt x="2277956" y="173464"/>
                  <a:pt x="2284781" y="173470"/>
                </a:cubicBezTo>
                <a:cubicBezTo>
                  <a:pt x="2293522" y="173516"/>
                  <a:pt x="2300209" y="172250"/>
                  <a:pt x="2304842" y="169672"/>
                </a:cubicBezTo>
                <a:cubicBezTo>
                  <a:pt x="2309474" y="167094"/>
                  <a:pt x="2311811" y="162928"/>
                  <a:pt x="2311851" y="157173"/>
                </a:cubicBezTo>
                <a:cubicBezTo>
                  <a:pt x="2311782" y="152189"/>
                  <a:pt x="2309848" y="148345"/>
                  <a:pt x="2306050" y="145640"/>
                </a:cubicBezTo>
                <a:cubicBezTo>
                  <a:pt x="2302252" y="142936"/>
                  <a:pt x="2297004" y="140611"/>
                  <a:pt x="2290305" y="138666"/>
                </a:cubicBezTo>
                <a:lnTo>
                  <a:pt x="2276218" y="134246"/>
                </a:lnTo>
                <a:cubicBezTo>
                  <a:pt x="2262458" y="129821"/>
                  <a:pt x="2252756" y="123963"/>
                  <a:pt x="2247111" y="116671"/>
                </a:cubicBezTo>
                <a:cubicBezTo>
                  <a:pt x="2241465" y="109380"/>
                  <a:pt x="2238738" y="100691"/>
                  <a:pt x="2238928" y="90603"/>
                </a:cubicBezTo>
                <a:cubicBezTo>
                  <a:pt x="2238951" y="77781"/>
                  <a:pt x="2243393" y="67791"/>
                  <a:pt x="2252255" y="60632"/>
                </a:cubicBezTo>
                <a:cubicBezTo>
                  <a:pt x="2261118" y="53473"/>
                  <a:pt x="2274261" y="49836"/>
                  <a:pt x="2291686" y="49721"/>
                </a:cubicBezTo>
                <a:close/>
                <a:moveTo>
                  <a:pt x="1789633" y="49721"/>
                </a:moveTo>
                <a:cubicBezTo>
                  <a:pt x="1799508" y="49698"/>
                  <a:pt x="1808693" y="50297"/>
                  <a:pt x="1817187" y="51517"/>
                </a:cubicBezTo>
                <a:cubicBezTo>
                  <a:pt x="1825681" y="52737"/>
                  <a:pt x="1833898"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736" y="49721"/>
                </a:moveTo>
                <a:cubicBezTo>
                  <a:pt x="1638215" y="49861"/>
                  <a:pt x="1651177" y="53111"/>
                  <a:pt x="1661623" y="59471"/>
                </a:cubicBezTo>
                <a:cubicBezTo>
                  <a:pt x="1672068" y="65831"/>
                  <a:pt x="1679935" y="74462"/>
                  <a:pt x="1685225" y="85365"/>
                </a:cubicBezTo>
                <a:cubicBezTo>
                  <a:pt x="1690514" y="96267"/>
                  <a:pt x="1693164" y="108602"/>
                  <a:pt x="1693174" y="122369"/>
                </a:cubicBezTo>
                <a:cubicBezTo>
                  <a:pt x="1692955" y="146705"/>
                  <a:pt x="1686418" y="165500"/>
                  <a:pt x="1673562" y="178753"/>
                </a:cubicBezTo>
                <a:cubicBezTo>
                  <a:pt x="1660706" y="192006"/>
                  <a:pt x="1642843" y="198716"/>
                  <a:pt x="1619974" y="198883"/>
                </a:cubicBezTo>
                <a:cubicBezTo>
                  <a:pt x="1604760" y="198743"/>
                  <a:pt x="1591944" y="195493"/>
                  <a:pt x="1581528" y="189133"/>
                </a:cubicBezTo>
                <a:cubicBezTo>
                  <a:pt x="1571111" y="182773"/>
                  <a:pt x="1563227" y="174142"/>
                  <a:pt x="1557875" y="163240"/>
                </a:cubicBezTo>
                <a:cubicBezTo>
                  <a:pt x="1552522" y="152337"/>
                  <a:pt x="1549835" y="140003"/>
                  <a:pt x="1549813" y="126236"/>
                </a:cubicBezTo>
                <a:cubicBezTo>
                  <a:pt x="1550055" y="101899"/>
                  <a:pt x="1556615" y="83104"/>
                  <a:pt x="1569494" y="69851"/>
                </a:cubicBezTo>
                <a:cubicBezTo>
                  <a:pt x="1582373" y="56598"/>
                  <a:pt x="1600120" y="49888"/>
                  <a:pt x="1622736" y="49721"/>
                </a:cubicBezTo>
                <a:close/>
                <a:moveTo>
                  <a:pt x="1482062" y="49721"/>
                </a:moveTo>
                <a:cubicBezTo>
                  <a:pt x="1490751" y="49704"/>
                  <a:pt x="1498854" y="50222"/>
                  <a:pt x="1506369" y="51275"/>
                </a:cubicBezTo>
                <a:cubicBezTo>
                  <a:pt x="1513885" y="52328"/>
                  <a:pt x="1520883" y="54020"/>
                  <a:pt x="1527363" y="56351"/>
                </a:cubicBezTo>
                <a:cubicBezTo>
                  <a:pt x="1527109" y="60316"/>
                  <a:pt x="1526649" y="64263"/>
                  <a:pt x="1525981" y="68194"/>
                </a:cubicBezTo>
                <a:cubicBezTo>
                  <a:pt x="1525314" y="72124"/>
                  <a:pt x="1524301" y="76279"/>
                  <a:pt x="1522943" y="80659"/>
                </a:cubicBezTo>
                <a:cubicBezTo>
                  <a:pt x="1516492" y="78604"/>
                  <a:pt x="1509989" y="77119"/>
                  <a:pt x="1503435" y="76204"/>
                </a:cubicBezTo>
                <a:cubicBezTo>
                  <a:pt x="1496880" y="75289"/>
                  <a:pt x="1490032" y="74841"/>
                  <a:pt x="1482890" y="74858"/>
                </a:cubicBezTo>
                <a:cubicBezTo>
                  <a:pt x="1473418" y="74933"/>
                  <a:pt x="1466950" y="76302"/>
                  <a:pt x="1463486" y="78967"/>
                </a:cubicBezTo>
                <a:cubicBezTo>
                  <a:pt x="1460021" y="81631"/>
                  <a:pt x="1458387" y="85141"/>
                  <a:pt x="1458582" y="89498"/>
                </a:cubicBezTo>
                <a:cubicBezTo>
                  <a:pt x="1458565" y="94504"/>
                  <a:pt x="1460326" y="98510"/>
                  <a:pt x="1463865" y="101514"/>
                </a:cubicBezTo>
                <a:cubicBezTo>
                  <a:pt x="1467404" y="104517"/>
                  <a:pt x="1472825" y="107142"/>
                  <a:pt x="1480128" y="109386"/>
                </a:cubicBezTo>
                <a:lnTo>
                  <a:pt x="1494768" y="114082"/>
                </a:lnTo>
                <a:cubicBezTo>
                  <a:pt x="1507814" y="118104"/>
                  <a:pt x="1517355" y="123456"/>
                  <a:pt x="1523392" y="130137"/>
                </a:cubicBezTo>
                <a:cubicBezTo>
                  <a:pt x="1529428" y="136819"/>
                  <a:pt x="1532409" y="145554"/>
                  <a:pt x="1532335" y="156344"/>
                </a:cubicBezTo>
                <a:cubicBezTo>
                  <a:pt x="1532265" y="169114"/>
                  <a:pt x="1527432" y="179346"/>
                  <a:pt x="1517833" y="187040"/>
                </a:cubicBezTo>
                <a:cubicBezTo>
                  <a:pt x="1508234" y="194734"/>
                  <a:pt x="1494285" y="198681"/>
                  <a:pt x="1475985" y="198883"/>
                </a:cubicBezTo>
                <a:cubicBezTo>
                  <a:pt x="1465828" y="198906"/>
                  <a:pt x="1456793" y="198169"/>
                  <a:pt x="1448880" y="196673"/>
                </a:cubicBezTo>
                <a:cubicBezTo>
                  <a:pt x="1440967" y="195177"/>
                  <a:pt x="1433797" y="192783"/>
                  <a:pt x="1427369" y="189491"/>
                </a:cubicBezTo>
                <a:cubicBezTo>
                  <a:pt x="1427645" y="183863"/>
                  <a:pt x="1428129" y="178960"/>
                  <a:pt x="1428819" y="174782"/>
                </a:cubicBezTo>
                <a:cubicBezTo>
                  <a:pt x="1429510" y="170604"/>
                  <a:pt x="1430408" y="166944"/>
                  <a:pt x="1431512" y="163802"/>
                </a:cubicBezTo>
                <a:cubicBezTo>
                  <a:pt x="1438061" y="166985"/>
                  <a:pt x="1445266" y="169390"/>
                  <a:pt x="1453127" y="171019"/>
                </a:cubicBezTo>
                <a:cubicBezTo>
                  <a:pt x="1460988" y="172647"/>
                  <a:pt x="1468331" y="173464"/>
                  <a:pt x="1475156" y="173470"/>
                </a:cubicBezTo>
                <a:cubicBezTo>
                  <a:pt x="1483897" y="173516"/>
                  <a:pt x="1490584" y="172250"/>
                  <a:pt x="1495217" y="169672"/>
                </a:cubicBezTo>
                <a:cubicBezTo>
                  <a:pt x="1499849" y="167094"/>
                  <a:pt x="1502186" y="162928"/>
                  <a:pt x="1502226" y="157173"/>
                </a:cubicBezTo>
                <a:cubicBezTo>
                  <a:pt x="1502157" y="152189"/>
                  <a:pt x="1500223" y="148345"/>
                  <a:pt x="1496425" y="145640"/>
                </a:cubicBezTo>
                <a:cubicBezTo>
                  <a:pt x="1492627" y="142936"/>
                  <a:pt x="1487379" y="140611"/>
                  <a:pt x="1480681" y="138666"/>
                </a:cubicBezTo>
                <a:lnTo>
                  <a:pt x="1466593" y="134246"/>
                </a:lnTo>
                <a:cubicBezTo>
                  <a:pt x="1452834" y="129821"/>
                  <a:pt x="1443131" y="123963"/>
                  <a:pt x="1437486" y="116671"/>
                </a:cubicBezTo>
                <a:cubicBezTo>
                  <a:pt x="1431840" y="109380"/>
                  <a:pt x="1429113" y="100691"/>
                  <a:pt x="1429303" y="90603"/>
                </a:cubicBezTo>
                <a:cubicBezTo>
                  <a:pt x="1429326" y="77781"/>
                  <a:pt x="1433768" y="67791"/>
                  <a:pt x="1442631" y="60632"/>
                </a:cubicBezTo>
                <a:cubicBezTo>
                  <a:pt x="1451493" y="53473"/>
                  <a:pt x="1464636" y="49836"/>
                  <a:pt x="1482062" y="49721"/>
                </a:cubicBezTo>
                <a:close/>
                <a:moveTo>
                  <a:pt x="1358237" y="49721"/>
                </a:moveTo>
                <a:cubicBezTo>
                  <a:pt x="1366926" y="49704"/>
                  <a:pt x="1375029" y="50222"/>
                  <a:pt x="1382544" y="51275"/>
                </a:cubicBezTo>
                <a:cubicBezTo>
                  <a:pt x="1390060" y="52328"/>
                  <a:pt x="1397058" y="54020"/>
                  <a:pt x="1403538" y="56351"/>
                </a:cubicBezTo>
                <a:cubicBezTo>
                  <a:pt x="1403284" y="60316"/>
                  <a:pt x="1402824" y="64263"/>
                  <a:pt x="1402156" y="68194"/>
                </a:cubicBezTo>
                <a:cubicBezTo>
                  <a:pt x="1401489" y="72124"/>
                  <a:pt x="1400476" y="76279"/>
                  <a:pt x="1399118" y="80659"/>
                </a:cubicBezTo>
                <a:cubicBezTo>
                  <a:pt x="1392667" y="78604"/>
                  <a:pt x="1386164" y="77119"/>
                  <a:pt x="1379610" y="76204"/>
                </a:cubicBezTo>
                <a:cubicBezTo>
                  <a:pt x="1373055" y="75289"/>
                  <a:pt x="1366207" y="74841"/>
                  <a:pt x="1359065" y="74858"/>
                </a:cubicBezTo>
                <a:cubicBezTo>
                  <a:pt x="1349593" y="74933"/>
                  <a:pt x="1343125" y="76302"/>
                  <a:pt x="1339661" y="78967"/>
                </a:cubicBezTo>
                <a:cubicBezTo>
                  <a:pt x="1336196" y="81631"/>
                  <a:pt x="1334562" y="85141"/>
                  <a:pt x="1334757" y="89498"/>
                </a:cubicBezTo>
                <a:cubicBezTo>
                  <a:pt x="1334740" y="94504"/>
                  <a:pt x="1336501" y="98510"/>
                  <a:pt x="1340040" y="101514"/>
                </a:cubicBezTo>
                <a:cubicBezTo>
                  <a:pt x="1343579" y="104517"/>
                  <a:pt x="1349000" y="107142"/>
                  <a:pt x="1356303" y="109386"/>
                </a:cubicBezTo>
                <a:lnTo>
                  <a:pt x="1370943" y="114082"/>
                </a:lnTo>
                <a:cubicBezTo>
                  <a:pt x="1383989" y="118104"/>
                  <a:pt x="1393530" y="123456"/>
                  <a:pt x="1399567" y="130137"/>
                </a:cubicBezTo>
                <a:cubicBezTo>
                  <a:pt x="1405603" y="136819"/>
                  <a:pt x="1408584" y="145554"/>
                  <a:pt x="1408510" y="156344"/>
                </a:cubicBezTo>
                <a:cubicBezTo>
                  <a:pt x="1408440" y="169114"/>
                  <a:pt x="1403607" y="179346"/>
                  <a:pt x="1394008" y="187040"/>
                </a:cubicBezTo>
                <a:cubicBezTo>
                  <a:pt x="1384409" y="194734"/>
                  <a:pt x="1370460" y="198681"/>
                  <a:pt x="1352160" y="198883"/>
                </a:cubicBezTo>
                <a:cubicBezTo>
                  <a:pt x="1342003" y="198906"/>
                  <a:pt x="1332968" y="198169"/>
                  <a:pt x="1325055" y="196673"/>
                </a:cubicBezTo>
                <a:cubicBezTo>
                  <a:pt x="1317142" y="195177"/>
                  <a:pt x="1309972" y="192783"/>
                  <a:pt x="1303544" y="189491"/>
                </a:cubicBezTo>
                <a:cubicBezTo>
                  <a:pt x="1303820" y="183863"/>
                  <a:pt x="1304304" y="178960"/>
                  <a:pt x="1304994" y="174782"/>
                </a:cubicBezTo>
                <a:cubicBezTo>
                  <a:pt x="1305685" y="170604"/>
                  <a:pt x="1306583" y="166944"/>
                  <a:pt x="1307687" y="163802"/>
                </a:cubicBezTo>
                <a:cubicBezTo>
                  <a:pt x="1314236" y="166985"/>
                  <a:pt x="1321441" y="169390"/>
                  <a:pt x="1329302" y="171019"/>
                </a:cubicBezTo>
                <a:cubicBezTo>
                  <a:pt x="1337163" y="172647"/>
                  <a:pt x="1344506" y="173464"/>
                  <a:pt x="1351331" y="173470"/>
                </a:cubicBezTo>
                <a:cubicBezTo>
                  <a:pt x="1360072" y="173516"/>
                  <a:pt x="1366759" y="172250"/>
                  <a:pt x="1371392" y="169672"/>
                </a:cubicBezTo>
                <a:cubicBezTo>
                  <a:pt x="1376024" y="167094"/>
                  <a:pt x="1378361" y="162928"/>
                  <a:pt x="1378401" y="157173"/>
                </a:cubicBezTo>
                <a:cubicBezTo>
                  <a:pt x="1378332" y="152189"/>
                  <a:pt x="1376398" y="148345"/>
                  <a:pt x="1372600" y="145640"/>
                </a:cubicBezTo>
                <a:cubicBezTo>
                  <a:pt x="1368802" y="142936"/>
                  <a:pt x="1363554" y="140611"/>
                  <a:pt x="1356856" y="138666"/>
                </a:cubicBezTo>
                <a:lnTo>
                  <a:pt x="1342768" y="134246"/>
                </a:lnTo>
                <a:cubicBezTo>
                  <a:pt x="1329009" y="129821"/>
                  <a:pt x="1319306" y="123963"/>
                  <a:pt x="1313661" y="116671"/>
                </a:cubicBezTo>
                <a:cubicBezTo>
                  <a:pt x="1308015" y="109380"/>
                  <a:pt x="1305288" y="100691"/>
                  <a:pt x="1305478" y="90603"/>
                </a:cubicBezTo>
                <a:cubicBezTo>
                  <a:pt x="1305501" y="77781"/>
                  <a:pt x="1309943" y="67791"/>
                  <a:pt x="1318806" y="60632"/>
                </a:cubicBezTo>
                <a:cubicBezTo>
                  <a:pt x="1327668" y="53473"/>
                  <a:pt x="1340811" y="49836"/>
                  <a:pt x="1358237" y="49721"/>
                </a:cubicBezTo>
                <a:close/>
                <a:moveTo>
                  <a:pt x="1226687" y="49721"/>
                </a:moveTo>
                <a:cubicBezTo>
                  <a:pt x="1248250" y="50182"/>
                  <a:pt x="1264029" y="56374"/>
                  <a:pt x="1274025" y="68297"/>
                </a:cubicBezTo>
                <a:cubicBezTo>
                  <a:pt x="1284021" y="80221"/>
                  <a:pt x="1288958" y="95114"/>
                  <a:pt x="1288837" y="112977"/>
                </a:cubicBezTo>
                <a:cubicBezTo>
                  <a:pt x="1288837" y="117201"/>
                  <a:pt x="1288699" y="121183"/>
                  <a:pt x="1288423" y="124924"/>
                </a:cubicBezTo>
                <a:cubicBezTo>
                  <a:pt x="1288147" y="128664"/>
                  <a:pt x="1287733" y="132508"/>
                  <a:pt x="1287180" y="136456"/>
                </a:cubicBezTo>
                <a:lnTo>
                  <a:pt x="1190225" y="136456"/>
                </a:lnTo>
                <a:cubicBezTo>
                  <a:pt x="1192113" y="148731"/>
                  <a:pt x="1196762" y="157881"/>
                  <a:pt x="1204174" y="163906"/>
                </a:cubicBezTo>
                <a:cubicBezTo>
                  <a:pt x="1211586" y="169931"/>
                  <a:pt x="1222037" y="172935"/>
                  <a:pt x="1235526" y="172918"/>
                </a:cubicBezTo>
                <a:cubicBezTo>
                  <a:pt x="1243853" y="172912"/>
                  <a:pt x="1252128" y="172026"/>
                  <a:pt x="1260352" y="170259"/>
                </a:cubicBezTo>
                <a:cubicBezTo>
                  <a:pt x="1268575" y="168492"/>
                  <a:pt x="1276505" y="165880"/>
                  <a:pt x="1284142" y="162421"/>
                </a:cubicBezTo>
                <a:cubicBezTo>
                  <a:pt x="1283583" y="166507"/>
                  <a:pt x="1282904" y="170973"/>
                  <a:pt x="1282104" y="175818"/>
                </a:cubicBezTo>
                <a:cubicBezTo>
                  <a:pt x="1281305" y="180663"/>
                  <a:pt x="1280418" y="185405"/>
                  <a:pt x="1279446" y="190044"/>
                </a:cubicBezTo>
                <a:cubicBezTo>
                  <a:pt x="1272557" y="193191"/>
                  <a:pt x="1265410" y="195459"/>
                  <a:pt x="1258004" y="196846"/>
                </a:cubicBezTo>
                <a:cubicBezTo>
                  <a:pt x="1250598" y="198233"/>
                  <a:pt x="1242829" y="198912"/>
                  <a:pt x="1234697" y="198883"/>
                </a:cubicBezTo>
                <a:cubicBezTo>
                  <a:pt x="1209319" y="198693"/>
                  <a:pt x="1190398" y="192029"/>
                  <a:pt x="1177933" y="178891"/>
                </a:cubicBezTo>
                <a:cubicBezTo>
                  <a:pt x="1165468" y="165753"/>
                  <a:pt x="1159253" y="147281"/>
                  <a:pt x="1159288" y="123473"/>
                </a:cubicBezTo>
                <a:cubicBezTo>
                  <a:pt x="1159225" y="109606"/>
                  <a:pt x="1161469" y="97135"/>
                  <a:pt x="1166020" y="86060"/>
                </a:cubicBezTo>
                <a:cubicBezTo>
                  <a:pt x="1170570" y="74986"/>
                  <a:pt x="1177807" y="66198"/>
                  <a:pt x="1187729" y="59696"/>
                </a:cubicBezTo>
                <a:cubicBezTo>
                  <a:pt x="1197651" y="53195"/>
                  <a:pt x="1210637" y="49870"/>
                  <a:pt x="1226687" y="49721"/>
                </a:cubicBezTo>
                <a:close/>
                <a:moveTo>
                  <a:pt x="881987" y="49721"/>
                </a:moveTo>
                <a:cubicBezTo>
                  <a:pt x="890676" y="49704"/>
                  <a:pt x="898779" y="50222"/>
                  <a:pt x="906294" y="51275"/>
                </a:cubicBezTo>
                <a:cubicBezTo>
                  <a:pt x="913810" y="52328"/>
                  <a:pt x="920808" y="54020"/>
                  <a:pt x="927287" y="56351"/>
                </a:cubicBezTo>
                <a:cubicBezTo>
                  <a:pt x="927034" y="60316"/>
                  <a:pt x="926574" y="64263"/>
                  <a:pt x="925906" y="68194"/>
                </a:cubicBezTo>
                <a:cubicBezTo>
                  <a:pt x="925239" y="72124"/>
                  <a:pt x="924226" y="76279"/>
                  <a:pt x="922868" y="80659"/>
                </a:cubicBezTo>
                <a:cubicBezTo>
                  <a:pt x="916417" y="78604"/>
                  <a:pt x="909914" y="77119"/>
                  <a:pt x="903359" y="76204"/>
                </a:cubicBezTo>
                <a:cubicBezTo>
                  <a:pt x="896805" y="75289"/>
                  <a:pt x="889957" y="74841"/>
                  <a:pt x="882815" y="74858"/>
                </a:cubicBezTo>
                <a:cubicBezTo>
                  <a:pt x="873343" y="74933"/>
                  <a:pt x="866875" y="76302"/>
                  <a:pt x="863410" y="78967"/>
                </a:cubicBezTo>
                <a:cubicBezTo>
                  <a:pt x="859946" y="81631"/>
                  <a:pt x="858312" y="85141"/>
                  <a:pt x="858507" y="89498"/>
                </a:cubicBezTo>
                <a:cubicBezTo>
                  <a:pt x="858490" y="94504"/>
                  <a:pt x="860251" y="98510"/>
                  <a:pt x="863790" y="101514"/>
                </a:cubicBezTo>
                <a:cubicBezTo>
                  <a:pt x="867329" y="104517"/>
                  <a:pt x="872750" y="107142"/>
                  <a:pt x="880053" y="109386"/>
                </a:cubicBezTo>
                <a:lnTo>
                  <a:pt x="894693" y="114082"/>
                </a:lnTo>
                <a:cubicBezTo>
                  <a:pt x="907739" y="118104"/>
                  <a:pt x="917280" y="123456"/>
                  <a:pt x="923317" y="130137"/>
                </a:cubicBezTo>
                <a:cubicBezTo>
                  <a:pt x="929353" y="136819"/>
                  <a:pt x="932334" y="145554"/>
                  <a:pt x="932259" y="156344"/>
                </a:cubicBezTo>
                <a:cubicBezTo>
                  <a:pt x="932190" y="169114"/>
                  <a:pt x="927356" y="179346"/>
                  <a:pt x="917758" y="187040"/>
                </a:cubicBezTo>
                <a:cubicBezTo>
                  <a:pt x="908159" y="194734"/>
                  <a:pt x="894209" y="198681"/>
                  <a:pt x="875910" y="198883"/>
                </a:cubicBezTo>
                <a:cubicBezTo>
                  <a:pt x="865753" y="198906"/>
                  <a:pt x="856718" y="198169"/>
                  <a:pt x="848805" y="196673"/>
                </a:cubicBezTo>
                <a:cubicBezTo>
                  <a:pt x="840892" y="195177"/>
                  <a:pt x="833722" y="192783"/>
                  <a:pt x="827294" y="189491"/>
                </a:cubicBezTo>
                <a:cubicBezTo>
                  <a:pt x="827570" y="183863"/>
                  <a:pt x="828054" y="178960"/>
                  <a:pt x="828744" y="174782"/>
                </a:cubicBezTo>
                <a:cubicBezTo>
                  <a:pt x="829435" y="170604"/>
                  <a:pt x="830332" y="166944"/>
                  <a:pt x="831437" y="163802"/>
                </a:cubicBezTo>
                <a:cubicBezTo>
                  <a:pt x="837986" y="166985"/>
                  <a:pt x="845191" y="169390"/>
                  <a:pt x="853052" y="171019"/>
                </a:cubicBezTo>
                <a:cubicBezTo>
                  <a:pt x="860913" y="172647"/>
                  <a:pt x="868256" y="173464"/>
                  <a:pt x="875081" y="173470"/>
                </a:cubicBezTo>
                <a:cubicBezTo>
                  <a:pt x="883822" y="173516"/>
                  <a:pt x="890509" y="172250"/>
                  <a:pt x="895142" y="169672"/>
                </a:cubicBezTo>
                <a:cubicBezTo>
                  <a:pt x="899774" y="167094"/>
                  <a:pt x="902111" y="162928"/>
                  <a:pt x="902151" y="157173"/>
                </a:cubicBezTo>
                <a:cubicBezTo>
                  <a:pt x="902082" y="152189"/>
                  <a:pt x="900148" y="148345"/>
                  <a:pt x="896350" y="145640"/>
                </a:cubicBezTo>
                <a:cubicBezTo>
                  <a:pt x="892552" y="142936"/>
                  <a:pt x="887304" y="140611"/>
                  <a:pt x="880605" y="138666"/>
                </a:cubicBezTo>
                <a:lnTo>
                  <a:pt x="866518" y="134246"/>
                </a:lnTo>
                <a:cubicBezTo>
                  <a:pt x="852758" y="129821"/>
                  <a:pt x="843056" y="123963"/>
                  <a:pt x="837411" y="116671"/>
                </a:cubicBezTo>
                <a:cubicBezTo>
                  <a:pt x="831765" y="109380"/>
                  <a:pt x="829038" y="100691"/>
                  <a:pt x="829228" y="90603"/>
                </a:cubicBezTo>
                <a:cubicBezTo>
                  <a:pt x="829251" y="77781"/>
                  <a:pt x="833693" y="67791"/>
                  <a:pt x="842555" y="60632"/>
                </a:cubicBezTo>
                <a:cubicBezTo>
                  <a:pt x="851418" y="53473"/>
                  <a:pt x="864561" y="49836"/>
                  <a:pt x="881987"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1" y="162421"/>
                </a:cubicBezTo>
                <a:cubicBezTo>
                  <a:pt x="807333" y="166507"/>
                  <a:pt x="806654" y="170973"/>
                  <a:pt x="805854" y="175818"/>
                </a:cubicBezTo>
                <a:cubicBezTo>
                  <a:pt x="805054"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49" y="76722"/>
                  <a:pt x="259156"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1068353" y="28452"/>
                </a:moveTo>
                <a:cubicBezTo>
                  <a:pt x="1064998" y="28435"/>
                  <a:pt x="1061418" y="28538"/>
                  <a:pt x="1057614" y="28763"/>
                </a:cubicBezTo>
                <a:cubicBezTo>
                  <a:pt x="1053811" y="28987"/>
                  <a:pt x="1050024" y="29436"/>
                  <a:pt x="1046255" y="30109"/>
                </a:cubicBezTo>
                <a:lnTo>
                  <a:pt x="1046255" y="101375"/>
                </a:lnTo>
                <a:lnTo>
                  <a:pt x="1069458" y="101375"/>
                </a:lnTo>
                <a:cubicBezTo>
                  <a:pt x="1084615" y="101312"/>
                  <a:pt x="1095872" y="98193"/>
                  <a:pt x="1103226" y="92018"/>
                </a:cubicBezTo>
                <a:cubicBezTo>
                  <a:pt x="1110581" y="85844"/>
                  <a:pt x="1114241" y="76993"/>
                  <a:pt x="1114206" y="65466"/>
                </a:cubicBezTo>
                <a:cubicBezTo>
                  <a:pt x="1114264" y="52927"/>
                  <a:pt x="1110558" y="43616"/>
                  <a:pt x="1103088" y="37533"/>
                </a:cubicBezTo>
                <a:cubicBezTo>
                  <a:pt x="1095618" y="31450"/>
                  <a:pt x="1084040" y="28423"/>
                  <a:pt x="1068353" y="28452"/>
                </a:cubicBezTo>
                <a:close/>
                <a:moveTo>
                  <a:pt x="2396728" y="2211"/>
                </a:moveTo>
                <a:lnTo>
                  <a:pt x="2396728" y="54417"/>
                </a:lnTo>
                <a:lnTo>
                  <a:pt x="2444791" y="54417"/>
                </a:lnTo>
                <a:cubicBezTo>
                  <a:pt x="2444285" y="63763"/>
                  <a:pt x="2443364" y="72418"/>
                  <a:pt x="2442029" y="80382"/>
                </a:cubicBezTo>
                <a:lnTo>
                  <a:pt x="2396728" y="80382"/>
                </a:lnTo>
                <a:lnTo>
                  <a:pt x="2396728" y="148057"/>
                </a:lnTo>
                <a:cubicBezTo>
                  <a:pt x="2396792" y="156948"/>
                  <a:pt x="2398875" y="163336"/>
                  <a:pt x="2402978" y="167221"/>
                </a:cubicBezTo>
                <a:cubicBezTo>
                  <a:pt x="2407081" y="171105"/>
                  <a:pt x="2412824" y="173004"/>
                  <a:pt x="2420207" y="172918"/>
                </a:cubicBezTo>
                <a:cubicBezTo>
                  <a:pt x="2424650" y="172900"/>
                  <a:pt x="2428885" y="172521"/>
                  <a:pt x="2432914" y="171778"/>
                </a:cubicBezTo>
                <a:cubicBezTo>
                  <a:pt x="2436942" y="171036"/>
                  <a:pt x="2440625" y="170035"/>
                  <a:pt x="2443963" y="168774"/>
                </a:cubicBezTo>
                <a:cubicBezTo>
                  <a:pt x="2443554" y="172969"/>
                  <a:pt x="2443059" y="177285"/>
                  <a:pt x="2442478" y="181722"/>
                </a:cubicBezTo>
                <a:cubicBezTo>
                  <a:pt x="2441897" y="186159"/>
                  <a:pt x="2441195" y="190406"/>
                  <a:pt x="2440372" y="194463"/>
                </a:cubicBezTo>
                <a:cubicBezTo>
                  <a:pt x="2436211" y="196098"/>
                  <a:pt x="2431964" y="197249"/>
                  <a:pt x="2427631" y="197916"/>
                </a:cubicBezTo>
                <a:cubicBezTo>
                  <a:pt x="2423298" y="198584"/>
                  <a:pt x="2418982" y="198906"/>
                  <a:pt x="2414683" y="198883"/>
                </a:cubicBezTo>
                <a:cubicBezTo>
                  <a:pt x="2399738" y="199021"/>
                  <a:pt x="2387987" y="195361"/>
                  <a:pt x="2379430" y="187903"/>
                </a:cubicBezTo>
                <a:cubicBezTo>
                  <a:pt x="2370872" y="180445"/>
                  <a:pt x="2366510" y="168360"/>
                  <a:pt x="2366344" y="151648"/>
                </a:cubicBezTo>
                <a:lnTo>
                  <a:pt x="2366344" y="6630"/>
                </a:lnTo>
                <a:cubicBezTo>
                  <a:pt x="2371131" y="5117"/>
                  <a:pt x="2376196" y="4000"/>
                  <a:pt x="2381536" y="3281"/>
                </a:cubicBezTo>
                <a:cubicBezTo>
                  <a:pt x="2386876" y="2562"/>
                  <a:pt x="2391940" y="2205"/>
                  <a:pt x="2396728" y="2211"/>
                </a:cubicBezTo>
                <a:close/>
                <a:moveTo>
                  <a:pt x="2052742" y="2211"/>
                </a:moveTo>
                <a:lnTo>
                  <a:pt x="2052742" y="138942"/>
                </a:lnTo>
                <a:cubicBezTo>
                  <a:pt x="2052737" y="158266"/>
                  <a:pt x="2047776" y="172722"/>
                  <a:pt x="2037861" y="182309"/>
                </a:cubicBezTo>
                <a:cubicBezTo>
                  <a:pt x="2027945" y="191897"/>
                  <a:pt x="2013110" y="196685"/>
                  <a:pt x="1993354" y="196673"/>
                </a:cubicBezTo>
                <a:cubicBezTo>
                  <a:pt x="1990120" y="196662"/>
                  <a:pt x="1986713" y="196477"/>
                  <a:pt x="1983134" y="196121"/>
                </a:cubicBezTo>
                <a:cubicBezTo>
                  <a:pt x="1979554" y="195764"/>
                  <a:pt x="1976148" y="195303"/>
                  <a:pt x="1972913" y="194739"/>
                </a:cubicBezTo>
                <a:cubicBezTo>
                  <a:pt x="1973057" y="190222"/>
                  <a:pt x="1973322" y="185584"/>
                  <a:pt x="1973708" y="180825"/>
                </a:cubicBezTo>
                <a:cubicBezTo>
                  <a:pt x="1974093" y="176066"/>
                  <a:pt x="1974565" y="171772"/>
                  <a:pt x="1975123" y="167946"/>
                </a:cubicBezTo>
                <a:cubicBezTo>
                  <a:pt x="1977908" y="168498"/>
                  <a:pt x="1980832" y="168912"/>
                  <a:pt x="1983893" y="169189"/>
                </a:cubicBezTo>
                <a:cubicBezTo>
                  <a:pt x="1986955" y="169465"/>
                  <a:pt x="1990016" y="169603"/>
                  <a:pt x="1993078" y="169603"/>
                </a:cubicBezTo>
                <a:cubicBezTo>
                  <a:pt x="2002976" y="169695"/>
                  <a:pt x="2010250" y="167025"/>
                  <a:pt x="2014900" y="161592"/>
                </a:cubicBezTo>
                <a:cubicBezTo>
                  <a:pt x="2019549" y="156160"/>
                  <a:pt x="2021851" y="147413"/>
                  <a:pt x="2021805" y="135351"/>
                </a:cubicBezTo>
                <a:lnTo>
                  <a:pt x="2021805" y="6630"/>
                </a:lnTo>
                <a:cubicBezTo>
                  <a:pt x="2025891" y="5479"/>
                  <a:pt x="2030840" y="4466"/>
                  <a:pt x="2036652" y="3592"/>
                </a:cubicBezTo>
                <a:cubicBezTo>
                  <a:pt x="2042465" y="2717"/>
                  <a:pt x="2047828" y="2257"/>
                  <a:pt x="2052742" y="2211"/>
                </a:cubicBezTo>
                <a:close/>
                <a:moveTo>
                  <a:pt x="1902809" y="2211"/>
                </a:moveTo>
                <a:lnTo>
                  <a:pt x="1902809" y="195568"/>
                </a:lnTo>
                <a:lnTo>
                  <a:pt x="1872425" y="195568"/>
                </a:lnTo>
                <a:lnTo>
                  <a:pt x="1872425" y="6630"/>
                </a:lnTo>
                <a:cubicBezTo>
                  <a:pt x="1876487" y="5479"/>
                  <a:pt x="1881344"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0" y="3592"/>
                </a:cubicBezTo>
                <a:cubicBezTo>
                  <a:pt x="644872" y="2717"/>
                  <a:pt x="650143" y="2257"/>
                  <a:pt x="655034" y="2211"/>
                </a:cubicBezTo>
                <a:close/>
                <a:moveTo>
                  <a:pt x="1067248" y="1382"/>
                </a:moveTo>
                <a:cubicBezTo>
                  <a:pt x="1087086" y="1532"/>
                  <a:pt x="1102746" y="4393"/>
                  <a:pt x="1114226" y="9965"/>
                </a:cubicBezTo>
                <a:cubicBezTo>
                  <a:pt x="1125707" y="15538"/>
                  <a:pt x="1133857" y="22921"/>
                  <a:pt x="1138677" y="32115"/>
                </a:cubicBezTo>
                <a:cubicBezTo>
                  <a:pt x="1143498" y="41308"/>
                  <a:pt x="1145837" y="51413"/>
                  <a:pt x="1145696" y="62428"/>
                </a:cubicBezTo>
                <a:cubicBezTo>
                  <a:pt x="1145540" y="83283"/>
                  <a:pt x="1138876" y="99373"/>
                  <a:pt x="1125704" y="110698"/>
                </a:cubicBezTo>
                <a:cubicBezTo>
                  <a:pt x="1112531" y="122023"/>
                  <a:pt x="1093783" y="127755"/>
                  <a:pt x="1069458" y="127893"/>
                </a:cubicBezTo>
                <a:lnTo>
                  <a:pt x="1046255" y="127893"/>
                </a:lnTo>
                <a:lnTo>
                  <a:pt x="1046255" y="195292"/>
                </a:lnTo>
                <a:lnTo>
                  <a:pt x="1015317" y="195292"/>
                </a:lnTo>
                <a:lnTo>
                  <a:pt x="1015317" y="6906"/>
                </a:lnTo>
                <a:cubicBezTo>
                  <a:pt x="1022298" y="5347"/>
                  <a:pt x="1030435" y="4046"/>
                  <a:pt x="1039729" y="3005"/>
                </a:cubicBezTo>
                <a:cubicBezTo>
                  <a:pt x="1049023" y="1963"/>
                  <a:pt x="1058196" y="1422"/>
                  <a:pt x="1067248" y="1382"/>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7"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5"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80"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2"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1"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9" y="112977"/>
                </a:cubicBezTo>
                <a:lnTo>
                  <a:pt x="45301" y="106900"/>
                </a:lnTo>
                <a:cubicBezTo>
                  <a:pt x="32123" y="101473"/>
                  <a:pt x="21603" y="94510"/>
                  <a:pt x="13742" y="86010"/>
                </a:cubicBezTo>
                <a:cubicBezTo>
                  <a:pt x="5882" y="77511"/>
                  <a:pt x="1853" y="66059"/>
                  <a:pt x="1658" y="51655"/>
                </a:cubicBezTo>
                <a:cubicBezTo>
                  <a:pt x="1635" y="35726"/>
                  <a:pt x="7136" y="23181"/>
                  <a:pt x="18162" y="14019"/>
                </a:cubicBezTo>
                <a:cubicBezTo>
                  <a:pt x="29188" y="4858"/>
                  <a:pt x="45876" y="185"/>
                  <a:pt x="68228" y="1"/>
                </a:cubicBezTo>
                <a:close/>
              </a:path>
            </a:pathLst>
          </a:custGeom>
          <a:solidFill>
            <a:srgbClr val="FF00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1pPr>
            <a:lvl2pPr lvl="1"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2pPr>
            <a:lvl3pPr lvl="2"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3pPr>
            <a:lvl4pPr lvl="3"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4pPr>
            <a:lvl5pPr lvl="4"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5pPr>
            <a:lvl6pPr lvl="5"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6pPr>
            <a:lvl7pPr lvl="6"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7pPr>
            <a:lvl8pPr lvl="7"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8pPr>
            <a:lvl9pPr lvl="8" marR="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Arial"/>
                <a:ea typeface="Arial"/>
                <a:cs typeface="Arial"/>
                <a:sym typeface="Arial"/>
              </a:defRPr>
            </a:lvl9pPr>
          </a:lstStyle>
          <a:p/>
        </p:txBody>
      </p:sp>
      <p:sp>
        <p:nvSpPr>
          <p:cNvPr id="62" name="Google Shape;6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3" name="Google Shape;6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64" name="Google Shape;6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65" name="Google Shape;6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hyperlink" Target="https://docs.google.com/spreadsheets/d/1ZVods_JJbpO1UG9IyZN9dGEtk8SlBv6J/edit?usp=sharing&amp;ouid=114705747020660871838&amp;rtpof=true&amp;sd=tru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slide" Target="/ppt/slides/slide4.xml"/><Relationship Id="rId4" Type="http://schemas.openxmlformats.org/officeDocument/2006/relationships/slide" Target="/ppt/slides/slide14.xml"/><Relationship Id="rId5" Type="http://schemas.openxmlformats.org/officeDocument/2006/relationships/slide" Target="/ppt/slides/slide21.xml"/><Relationship Id="rId6" Type="http://schemas.openxmlformats.org/officeDocument/2006/relationships/slide" Target="/ppt/slid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mailto:Matheus.Lopes@kinesso.com" TargetMode="External"/><Relationship Id="rId4" Type="http://schemas.openxmlformats.org/officeDocument/2006/relationships/hyperlink" Target="mailto:Andressa.Barros@kinesso.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mailto:giulia.margelli@initiative.com" TargetMode="External"/><Relationship Id="rId4" Type="http://schemas.openxmlformats.org/officeDocument/2006/relationships/hyperlink" Target="mailto:mariana.mucilo@initiative.com" TargetMode="External"/><Relationship Id="rId5" Type="http://schemas.openxmlformats.org/officeDocument/2006/relationships/hyperlink" Target="mailto:Matheus.Lopes@kinesso.com" TargetMode="External"/><Relationship Id="rId6" Type="http://schemas.openxmlformats.org/officeDocument/2006/relationships/hyperlink" Target="mailto:Andressa.Barros@kinesso.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mailto:Matheus.Lopes@kinesso.com" TargetMode="External"/><Relationship Id="rId4" Type="http://schemas.openxmlformats.org/officeDocument/2006/relationships/hyperlink" Target="mailto:Andressa.Barros@kinesso.com" TargetMode="External"/><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2"/>
          <p:cNvPicPr preferRelativeResize="0"/>
          <p:nvPr/>
        </p:nvPicPr>
        <p:blipFill rotWithShape="1">
          <a:blip r:embed="rId3">
            <a:alphaModFix/>
          </a:blip>
          <a:srcRect b="59497" l="0" r="54356" t="0"/>
          <a:stretch/>
        </p:blipFill>
        <p:spPr>
          <a:xfrm>
            <a:off x="0" y="0"/>
            <a:ext cx="4173712" cy="2083257"/>
          </a:xfrm>
          <a:prstGeom prst="rect">
            <a:avLst/>
          </a:prstGeom>
          <a:noFill/>
          <a:ln>
            <a:noFill/>
          </a:ln>
        </p:spPr>
      </p:pic>
      <p:pic>
        <p:nvPicPr>
          <p:cNvPr id="128" name="Google Shape;128;p22"/>
          <p:cNvPicPr preferRelativeResize="0"/>
          <p:nvPr/>
        </p:nvPicPr>
        <p:blipFill rotWithShape="1">
          <a:blip r:embed="rId3">
            <a:alphaModFix/>
          </a:blip>
          <a:srcRect b="0" l="63711" r="0" t="58798"/>
          <a:stretch/>
        </p:blipFill>
        <p:spPr>
          <a:xfrm>
            <a:off x="5825944" y="3024319"/>
            <a:ext cx="3318054" cy="2119181"/>
          </a:xfrm>
          <a:prstGeom prst="rect">
            <a:avLst/>
          </a:prstGeom>
          <a:noFill/>
          <a:ln>
            <a:noFill/>
          </a:ln>
        </p:spPr>
      </p:pic>
      <p:grpSp>
        <p:nvGrpSpPr>
          <p:cNvPr id="129" name="Google Shape;129;p22"/>
          <p:cNvGrpSpPr/>
          <p:nvPr/>
        </p:nvGrpSpPr>
        <p:grpSpPr>
          <a:xfrm>
            <a:off x="1543788" y="1962300"/>
            <a:ext cx="6056400" cy="1218906"/>
            <a:chOff x="1543838" y="1837575"/>
            <a:chExt cx="6056400" cy="1218906"/>
          </a:xfrm>
        </p:grpSpPr>
        <p:sp>
          <p:nvSpPr>
            <p:cNvPr id="130" name="Google Shape;130;p22"/>
            <p:cNvSpPr txBox="1"/>
            <p:nvPr/>
          </p:nvSpPr>
          <p:spPr>
            <a:xfrm>
              <a:off x="1543838" y="1837575"/>
              <a:ext cx="6056400" cy="803400"/>
            </a:xfrm>
            <a:prstGeom prst="rect">
              <a:avLst/>
            </a:prstGeom>
            <a:noFill/>
            <a:ln>
              <a:noFill/>
            </a:ln>
          </p:spPr>
          <p:txBody>
            <a:bodyPr anchorCtr="0" anchor="t" bIns="68575" lIns="68575" spcFirstLastPara="1" rIns="68575" wrap="square" tIns="68575">
              <a:spAutoFit/>
            </a:bodyPr>
            <a:lstStyle/>
            <a:p>
              <a:pPr indent="0" lvl="0" marL="0" marR="0" rtl="0" algn="ctr">
                <a:lnSpc>
                  <a:spcPct val="80000"/>
                </a:lnSpc>
                <a:spcBef>
                  <a:spcPts val="0"/>
                </a:spcBef>
                <a:spcAft>
                  <a:spcPts val="0"/>
                </a:spcAft>
                <a:buClr>
                  <a:srgbClr val="000000"/>
                </a:buClr>
                <a:buSzPts val="5400"/>
                <a:buFont typeface="Arial"/>
                <a:buNone/>
              </a:pPr>
              <a:r>
                <a:rPr b="1" i="0" lang="pt-BR" sz="5400" u="none" cap="none" strike="noStrike">
                  <a:solidFill>
                    <a:srgbClr val="0B1240"/>
                  </a:solidFill>
                  <a:latin typeface="DM Sans"/>
                  <a:ea typeface="DM Sans"/>
                  <a:cs typeface="DM Sans"/>
                  <a:sym typeface="DM Sans"/>
                </a:rPr>
                <a:t>UNILEVER</a:t>
              </a:r>
              <a:endParaRPr b="1" i="0" sz="5400" u="none" cap="none" strike="noStrike">
                <a:solidFill>
                  <a:srgbClr val="0B1240"/>
                </a:solidFill>
                <a:latin typeface="DM Sans"/>
                <a:ea typeface="DM Sans"/>
                <a:cs typeface="DM Sans"/>
                <a:sym typeface="DM Sans"/>
              </a:endParaRPr>
            </a:p>
          </p:txBody>
        </p:sp>
        <p:sp>
          <p:nvSpPr>
            <p:cNvPr id="131" name="Google Shape;131;p22"/>
            <p:cNvSpPr/>
            <p:nvPr/>
          </p:nvSpPr>
          <p:spPr>
            <a:xfrm>
              <a:off x="2613794" y="2640981"/>
              <a:ext cx="3916500" cy="415500"/>
            </a:xfrm>
            <a:prstGeom prst="rect">
              <a:avLst/>
            </a:prstGeom>
            <a:noFill/>
            <a:ln>
              <a:noFill/>
            </a:ln>
          </p:spPr>
          <p:txBody>
            <a:bodyPr anchorCtr="0" anchor="t" bIns="25700" lIns="51425" spcFirstLastPara="1" rIns="51425" wrap="square" tIns="25700">
              <a:noAutofit/>
            </a:bodyPr>
            <a:lstStyle/>
            <a:p>
              <a:pPr indent="0" lvl="0" marL="0" marR="0" rtl="0" algn="ctr">
                <a:lnSpc>
                  <a:spcPct val="100000"/>
                </a:lnSpc>
                <a:spcBef>
                  <a:spcPts val="0"/>
                </a:spcBef>
                <a:spcAft>
                  <a:spcPts val="0"/>
                </a:spcAft>
                <a:buClr>
                  <a:srgbClr val="000000"/>
                </a:buClr>
                <a:buSzPts val="1300"/>
                <a:buFont typeface="Arial"/>
                <a:buNone/>
              </a:pPr>
              <a:r>
                <a:rPr b="1" lang="pt-BR" sz="1900">
                  <a:solidFill>
                    <a:srgbClr val="0B1240"/>
                  </a:solidFill>
                  <a:latin typeface="DM Sans"/>
                  <a:ea typeface="DM Sans"/>
                  <a:cs typeface="DM Sans"/>
                  <a:sym typeface="DM Sans"/>
                </a:rPr>
                <a:t>2025</a:t>
              </a:r>
              <a:endParaRPr b="1" i="0" sz="1800" u="none" cap="none" strike="noStrike">
                <a:solidFill>
                  <a:srgbClr val="0B1240"/>
                </a:solidFill>
              </a:endParaRPr>
            </a:p>
          </p:txBody>
        </p:sp>
      </p:grpSp>
      <p:pic>
        <p:nvPicPr>
          <p:cNvPr id="132" name="Google Shape;132;p22"/>
          <p:cNvPicPr preferRelativeResize="0"/>
          <p:nvPr/>
        </p:nvPicPr>
        <p:blipFill rotWithShape="1">
          <a:blip r:embed="rId4">
            <a:alphaModFix/>
          </a:blip>
          <a:srcRect b="0" l="0" r="0" t="0"/>
          <a:stretch/>
        </p:blipFill>
        <p:spPr>
          <a:xfrm>
            <a:off x="3970225" y="4329025"/>
            <a:ext cx="1203551" cy="305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23"/>
          <p:cNvSpPr txBox="1"/>
          <p:nvPr>
            <p:ph idx="4294967295" type="ctrTitle"/>
          </p:nvPr>
        </p:nvSpPr>
        <p:spPr>
          <a:xfrm>
            <a:off x="2947950" y="287475"/>
            <a:ext cx="32481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Agência - Initiative</a:t>
            </a:r>
            <a:endParaRPr/>
          </a:p>
        </p:txBody>
      </p:sp>
      <p:sp>
        <p:nvSpPr>
          <p:cNvPr id="138" name="Google Shape;138;p23"/>
          <p:cNvSpPr txBox="1"/>
          <p:nvPr>
            <p:ph idx="4294967295" type="title"/>
          </p:nvPr>
        </p:nvSpPr>
        <p:spPr>
          <a:xfrm>
            <a:off x="175700" y="4545225"/>
            <a:ext cx="1546800" cy="38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1600" u="sng">
                <a:solidFill>
                  <a:schemeClr val="lt1"/>
                </a:solidFill>
                <a:hlinkClick r:id="rId3">
                  <a:extLst>
                    <a:ext uri="{A12FA001-AC4F-418D-AE19-62706E023703}">
                      <ahyp:hlinkClr val="tx"/>
                    </a:ext>
                  </a:extLst>
                </a:hlinkClick>
              </a:rPr>
              <a:t>Organograma</a:t>
            </a:r>
            <a:endParaRPr sz="1600">
              <a:solidFill>
                <a:schemeClr val="lt1"/>
              </a:solidFill>
            </a:endParaRPr>
          </a:p>
        </p:txBody>
      </p:sp>
      <p:sp>
        <p:nvSpPr>
          <p:cNvPr id="139" name="Google Shape;139;p23"/>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PMO</a:t>
            </a:r>
            <a:r>
              <a:rPr b="1" lang="pt-BR" sz="1440">
                <a:solidFill>
                  <a:schemeClr val="dk2"/>
                </a:solidFill>
              </a:rPr>
              <a:t>:</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spcBef>
                <a:spcPts val="0"/>
              </a:spcBef>
              <a:spcAft>
                <a:spcPts val="0"/>
              </a:spcAft>
              <a:buNone/>
            </a:pPr>
            <a:r>
              <a:rPr lang="pt-BR" sz="1400">
                <a:solidFill>
                  <a:schemeClr val="dk2"/>
                </a:solidFill>
              </a:rPr>
              <a:t>Thiago Segundo</a:t>
            </a:r>
            <a:endParaRPr sz="1400">
              <a:solidFill>
                <a:schemeClr val="dk2"/>
              </a:solidFill>
            </a:endParaRPr>
          </a:p>
          <a:p>
            <a:pPr indent="0" lvl="0" marL="0" rtl="0" algn="l">
              <a:spcBef>
                <a:spcPts val="0"/>
              </a:spcBef>
              <a:spcAft>
                <a:spcPts val="0"/>
              </a:spcAft>
              <a:buNone/>
            </a:pPr>
            <a:r>
              <a:t/>
            </a:r>
            <a:endParaRPr sz="1400">
              <a:solidFill>
                <a:schemeClr val="dk2"/>
              </a:solidFill>
            </a:endParaRPr>
          </a:p>
          <a:p>
            <a:pPr indent="0" lvl="0" marL="0" rtl="0" algn="l">
              <a:spcBef>
                <a:spcPts val="0"/>
              </a:spcBef>
              <a:spcAft>
                <a:spcPts val="0"/>
              </a:spcAft>
              <a:buNone/>
            </a:pPr>
            <a:r>
              <a:rPr lang="pt-BR" sz="1400">
                <a:solidFill>
                  <a:schemeClr val="dk2"/>
                </a:solidFill>
              </a:rPr>
              <a:t>thiago.segundo@initiative.com</a:t>
            </a:r>
            <a:endParaRPr sz="1440">
              <a:solidFill>
                <a:schemeClr val="dk2"/>
              </a:solidFill>
            </a:endParaRPr>
          </a:p>
        </p:txBody>
      </p:sp>
      <p:sp>
        <p:nvSpPr>
          <p:cNvPr id="140" name="Google Shape;140;p23"/>
          <p:cNvSpPr txBox="1"/>
          <p:nvPr>
            <p:ph idx="1" type="body"/>
          </p:nvPr>
        </p:nvSpPr>
        <p:spPr>
          <a:xfrm>
            <a:off x="4513775" y="2805663"/>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Tech/Dados</a:t>
            </a:r>
            <a:r>
              <a:rPr b="1" lang="pt-BR" sz="1440">
                <a:solidFill>
                  <a:schemeClr val="dk2"/>
                </a:solidFill>
              </a:rPr>
              <a:t>:</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spcBef>
                <a:spcPts val="0"/>
              </a:spcBef>
              <a:spcAft>
                <a:spcPts val="0"/>
              </a:spcAft>
              <a:buNone/>
            </a:pPr>
            <a:r>
              <a:rPr lang="pt-BR" sz="1400">
                <a:solidFill>
                  <a:schemeClr val="dk2"/>
                </a:solidFill>
              </a:rPr>
              <a:t>Osmar Santos</a:t>
            </a:r>
            <a:endParaRPr sz="1400">
              <a:solidFill>
                <a:schemeClr val="dk2"/>
              </a:solidFill>
            </a:endParaRPr>
          </a:p>
          <a:p>
            <a:pPr indent="0" lvl="0" marL="0" rtl="0" algn="l">
              <a:spcBef>
                <a:spcPts val="0"/>
              </a:spcBef>
              <a:spcAft>
                <a:spcPts val="0"/>
              </a:spcAft>
              <a:buNone/>
            </a:pPr>
            <a:r>
              <a:t/>
            </a:r>
            <a:endParaRPr sz="1400">
              <a:solidFill>
                <a:schemeClr val="dk2"/>
              </a:solidFill>
            </a:endParaRPr>
          </a:p>
          <a:p>
            <a:pPr indent="0" lvl="0" marL="0" rtl="0" algn="l">
              <a:spcBef>
                <a:spcPts val="0"/>
              </a:spcBef>
              <a:spcAft>
                <a:spcPts val="0"/>
              </a:spcAft>
              <a:buNone/>
            </a:pPr>
            <a:r>
              <a:rPr lang="pt-BR" sz="1400">
                <a:solidFill>
                  <a:schemeClr val="dk2"/>
                </a:solidFill>
              </a:rPr>
              <a:t>osmar.santos@initiative.com</a:t>
            </a:r>
            <a:endParaRPr sz="1440">
              <a:solidFill>
                <a:schemeClr val="dk2"/>
              </a:solidFill>
            </a:endParaRPr>
          </a:p>
        </p:txBody>
      </p:sp>
      <p:sp>
        <p:nvSpPr>
          <p:cNvPr id="141" name="Google Shape;141;p23"/>
          <p:cNvSpPr txBox="1"/>
          <p:nvPr>
            <p:ph idx="1" type="body"/>
          </p:nvPr>
        </p:nvSpPr>
        <p:spPr>
          <a:xfrm>
            <a:off x="4454100" y="128667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Diretor de Data &amp; Insights</a:t>
            </a:r>
            <a:r>
              <a:rPr b="1" lang="pt-BR" sz="1440">
                <a:solidFill>
                  <a:schemeClr val="dk2"/>
                </a:solidFill>
              </a:rPr>
              <a:t>:</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spcBef>
                <a:spcPts val="0"/>
              </a:spcBef>
              <a:spcAft>
                <a:spcPts val="0"/>
              </a:spcAft>
              <a:buNone/>
            </a:pPr>
            <a:r>
              <a:rPr lang="pt-BR" sz="1400">
                <a:solidFill>
                  <a:schemeClr val="dk2"/>
                </a:solidFill>
              </a:rPr>
              <a:t>Felipe Reis</a:t>
            </a:r>
            <a:endParaRPr sz="1400">
              <a:solidFill>
                <a:schemeClr val="dk2"/>
              </a:solidFill>
            </a:endParaRPr>
          </a:p>
          <a:p>
            <a:pPr indent="0" lvl="0" marL="0" rtl="0" algn="l">
              <a:spcBef>
                <a:spcPts val="0"/>
              </a:spcBef>
              <a:spcAft>
                <a:spcPts val="0"/>
              </a:spcAft>
              <a:buNone/>
            </a:pPr>
            <a:r>
              <a:t/>
            </a:r>
            <a:endParaRPr sz="1400">
              <a:solidFill>
                <a:schemeClr val="dk2"/>
              </a:solidFill>
            </a:endParaRPr>
          </a:p>
          <a:p>
            <a:pPr indent="0" lvl="0" marL="0" rtl="0" algn="l">
              <a:spcBef>
                <a:spcPts val="0"/>
              </a:spcBef>
              <a:spcAft>
                <a:spcPts val="0"/>
              </a:spcAft>
              <a:buNone/>
            </a:pPr>
            <a:r>
              <a:rPr lang="pt-BR" sz="1400">
                <a:solidFill>
                  <a:schemeClr val="dk2"/>
                </a:solidFill>
              </a:rPr>
              <a:t>felipe.reis@initiative.com</a:t>
            </a:r>
            <a:endParaRPr sz="1440">
              <a:solidFill>
                <a:schemeClr val="dk2"/>
              </a:solidFill>
            </a:endParaRPr>
          </a:p>
        </p:txBody>
      </p:sp>
      <p:sp>
        <p:nvSpPr>
          <p:cNvPr id="142" name="Google Shape;142;p23"/>
          <p:cNvSpPr txBox="1"/>
          <p:nvPr>
            <p:ph idx="1" type="body"/>
          </p:nvPr>
        </p:nvSpPr>
        <p:spPr>
          <a:xfrm>
            <a:off x="464975" y="280567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Diretor de Mídia</a:t>
            </a:r>
            <a:r>
              <a:rPr b="1" lang="pt-BR" sz="1440">
                <a:solidFill>
                  <a:schemeClr val="dk2"/>
                </a:solidFill>
              </a:rPr>
              <a:t>:</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spcBef>
                <a:spcPts val="0"/>
              </a:spcBef>
              <a:spcAft>
                <a:spcPts val="0"/>
              </a:spcAft>
              <a:buNone/>
            </a:pPr>
            <a:r>
              <a:rPr lang="pt-BR" sz="1400">
                <a:solidFill>
                  <a:schemeClr val="dk2"/>
                </a:solidFill>
              </a:rPr>
              <a:t>Paulo Borba</a:t>
            </a:r>
            <a:endParaRPr sz="1400">
              <a:solidFill>
                <a:schemeClr val="dk2"/>
              </a:solidFill>
            </a:endParaRPr>
          </a:p>
          <a:p>
            <a:pPr indent="0" lvl="0" marL="0" rtl="0" algn="l">
              <a:spcBef>
                <a:spcPts val="0"/>
              </a:spcBef>
              <a:spcAft>
                <a:spcPts val="0"/>
              </a:spcAft>
              <a:buNone/>
            </a:pPr>
            <a:r>
              <a:t/>
            </a:r>
            <a:endParaRPr sz="1400">
              <a:solidFill>
                <a:schemeClr val="dk2"/>
              </a:solidFill>
            </a:endParaRPr>
          </a:p>
          <a:p>
            <a:pPr indent="0" lvl="0" marL="0" rtl="0" algn="l">
              <a:spcBef>
                <a:spcPts val="0"/>
              </a:spcBef>
              <a:spcAft>
                <a:spcPts val="0"/>
              </a:spcAft>
              <a:buNone/>
            </a:pPr>
            <a:r>
              <a:rPr lang="pt-BR" sz="1400">
                <a:solidFill>
                  <a:schemeClr val="dk2"/>
                </a:solidFill>
              </a:rPr>
              <a:t>paulo.borba@initiative.com</a:t>
            </a:r>
            <a:endParaRPr sz="144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24"/>
          <p:cNvSpPr txBox="1"/>
          <p:nvPr>
            <p:ph idx="4294967295" type="ctrTitle"/>
          </p:nvPr>
        </p:nvSpPr>
        <p:spPr>
          <a:xfrm>
            <a:off x="3011525" y="287475"/>
            <a:ext cx="3031200" cy="5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Qual BU procura?</a:t>
            </a:r>
            <a:endParaRPr/>
          </a:p>
        </p:txBody>
      </p:sp>
      <p:sp>
        <p:nvSpPr>
          <p:cNvPr id="148" name="Google Shape;148;p24"/>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ctr">
              <a:lnSpc>
                <a:spcPct val="80000"/>
              </a:lnSpc>
              <a:spcBef>
                <a:spcPts val="0"/>
              </a:spcBef>
              <a:spcAft>
                <a:spcPts val="0"/>
              </a:spcAft>
              <a:buNone/>
            </a:pPr>
            <a:r>
              <a:rPr b="1" lang="pt-BR" sz="1200"/>
              <a:t>Selecione qual busca informações</a:t>
            </a:r>
            <a:endParaRPr b="1" sz="1200"/>
          </a:p>
        </p:txBody>
      </p:sp>
      <p:sp>
        <p:nvSpPr>
          <p:cNvPr id="149" name="Google Shape;149;p24"/>
          <p:cNvSpPr txBox="1"/>
          <p:nvPr/>
        </p:nvSpPr>
        <p:spPr>
          <a:xfrm>
            <a:off x="981200" y="1730900"/>
            <a:ext cx="28803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pt-BR" sz="1800" u="sng">
                <a:solidFill>
                  <a:schemeClr val="dk1"/>
                </a:solidFill>
                <a:hlinkClick action="ppaction://hlinksldjump" r:id="rId3">
                  <a:extLst>
                    <a:ext uri="{A12FA001-AC4F-418D-AE19-62706E023703}">
                      <ahyp:hlinkClr val="tx"/>
                    </a:ext>
                  </a:extLst>
                </a:hlinkClick>
              </a:rPr>
              <a:t>PC (Personal Care)</a:t>
            </a:r>
            <a:endParaRPr b="1" sz="1800">
              <a:solidFill>
                <a:schemeClr val="dk1"/>
              </a:solidFill>
            </a:endParaRPr>
          </a:p>
        </p:txBody>
      </p:sp>
      <p:sp>
        <p:nvSpPr>
          <p:cNvPr id="150" name="Google Shape;150;p24"/>
          <p:cNvSpPr txBox="1"/>
          <p:nvPr/>
        </p:nvSpPr>
        <p:spPr>
          <a:xfrm>
            <a:off x="4927025" y="13307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chemeClr val="dk2"/>
              </a:solidFill>
              <a:latin typeface="Roboto"/>
              <a:ea typeface="Roboto"/>
              <a:cs typeface="Roboto"/>
              <a:sym typeface="Roboto"/>
            </a:endParaRPr>
          </a:p>
        </p:txBody>
      </p:sp>
      <p:sp>
        <p:nvSpPr>
          <p:cNvPr id="151" name="Google Shape;151;p24"/>
          <p:cNvSpPr txBox="1"/>
          <p:nvPr/>
        </p:nvSpPr>
        <p:spPr>
          <a:xfrm>
            <a:off x="981200" y="3001400"/>
            <a:ext cx="25014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pt-BR" sz="1800" u="sng">
                <a:solidFill>
                  <a:schemeClr val="dk1"/>
                </a:solidFill>
                <a:hlinkClick action="ppaction://hlinksldjump" r:id="rId4">
                  <a:extLst>
                    <a:ext uri="{A12FA001-AC4F-418D-AE19-62706E023703}">
                      <ahyp:hlinkClr val="tx"/>
                    </a:ext>
                  </a:extLst>
                </a:hlinkClick>
              </a:rPr>
              <a:t>HC (Home Care)</a:t>
            </a:r>
            <a:endParaRPr b="1" sz="1800">
              <a:solidFill>
                <a:schemeClr val="dk1"/>
              </a:solidFill>
            </a:endParaRPr>
          </a:p>
        </p:txBody>
      </p:sp>
      <p:sp>
        <p:nvSpPr>
          <p:cNvPr id="152" name="Google Shape;152;p24"/>
          <p:cNvSpPr txBox="1"/>
          <p:nvPr/>
        </p:nvSpPr>
        <p:spPr>
          <a:xfrm>
            <a:off x="5436925" y="1730900"/>
            <a:ext cx="21927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pt-BR" sz="1800" u="sng">
                <a:solidFill>
                  <a:schemeClr val="dk1"/>
                </a:solidFill>
                <a:hlinkClick action="ppaction://hlinksldjump" r:id="rId5">
                  <a:extLst>
                    <a:ext uri="{A12FA001-AC4F-418D-AE19-62706E023703}">
                      <ahyp:hlinkClr val="tx"/>
                    </a:ext>
                  </a:extLst>
                </a:hlinkClick>
              </a:rPr>
              <a:t>B&amp;W (Beauty &amp; Wellbeing)</a:t>
            </a:r>
            <a:endParaRPr b="1" sz="1800">
              <a:solidFill>
                <a:schemeClr val="dk1"/>
              </a:solidFill>
            </a:endParaRPr>
          </a:p>
        </p:txBody>
      </p:sp>
      <p:sp>
        <p:nvSpPr>
          <p:cNvPr id="153" name="Google Shape;153;p24"/>
          <p:cNvSpPr txBox="1"/>
          <p:nvPr/>
        </p:nvSpPr>
        <p:spPr>
          <a:xfrm>
            <a:off x="5436925" y="3050000"/>
            <a:ext cx="25014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b="1" lang="pt-BR" sz="1800" u="sng">
                <a:solidFill>
                  <a:schemeClr val="dk1"/>
                </a:solidFill>
                <a:hlinkClick action="ppaction://hlinksldjump" r:id="rId6">
                  <a:extLst>
                    <a:ext uri="{A12FA001-AC4F-418D-AE19-62706E023703}">
                      <ahyp:hlinkClr val="tx"/>
                    </a:ext>
                  </a:extLst>
                </a:hlinkClick>
              </a:rPr>
              <a:t>Nutrition e Ice </a:t>
            </a:r>
            <a:endParaRPr b="1"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255050" y="1549950"/>
            <a:ext cx="4045200" cy="204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a:t>PC</a:t>
            </a:r>
            <a:endParaRPr/>
          </a:p>
          <a:p>
            <a:pPr indent="0" lvl="0" marL="0" rtl="0" algn="l">
              <a:spcBef>
                <a:spcPts val="0"/>
              </a:spcBef>
              <a:spcAft>
                <a:spcPts val="0"/>
              </a:spcAft>
              <a:buNone/>
            </a:pPr>
            <a:r>
              <a:rPr lang="pt-BR" sz="2300"/>
              <a:t>(Personal Care)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pt-BR" sz="2300"/>
              <a:t>Responsável</a:t>
            </a:r>
            <a:endParaRPr sz="2300"/>
          </a:p>
          <a:p>
            <a:pPr indent="0" lvl="0" marL="0" rtl="0" algn="l">
              <a:spcBef>
                <a:spcPts val="0"/>
              </a:spcBef>
              <a:spcAft>
                <a:spcPts val="0"/>
              </a:spcAft>
              <a:buNone/>
            </a:pPr>
            <a:r>
              <a:rPr lang="pt-BR" sz="1633"/>
              <a:t>Marcos Santos</a:t>
            </a:r>
            <a:endParaRPr sz="1633"/>
          </a:p>
          <a:p>
            <a:pPr indent="0" lvl="0" marL="0" rtl="0" algn="l">
              <a:spcBef>
                <a:spcPts val="0"/>
              </a:spcBef>
              <a:spcAft>
                <a:spcPts val="0"/>
              </a:spcAft>
              <a:buNone/>
            </a:pPr>
            <a:r>
              <a:rPr lang="pt-BR" sz="1633"/>
              <a:t>marcos.santos@stormx.com.br</a:t>
            </a:r>
            <a:endParaRPr sz="1633"/>
          </a:p>
        </p:txBody>
      </p:sp>
      <p:sp>
        <p:nvSpPr>
          <p:cNvPr id="159" name="Google Shape;159;p25"/>
          <p:cNvSpPr txBox="1"/>
          <p:nvPr>
            <p:ph idx="2" type="body"/>
          </p:nvPr>
        </p:nvSpPr>
        <p:spPr>
          <a:xfrm>
            <a:off x="4939500" y="724200"/>
            <a:ext cx="3943500" cy="3695100"/>
          </a:xfrm>
          <a:prstGeom prst="rect">
            <a:avLst/>
          </a:prstGeom>
        </p:spPr>
        <p:txBody>
          <a:bodyPr anchorCtr="0" anchor="t" bIns="91425" lIns="91425" spcFirstLastPara="1" rIns="91425" wrap="square" tIns="91425">
            <a:normAutofit/>
          </a:bodyPr>
          <a:lstStyle/>
          <a:p>
            <a:pPr indent="-361950" lvl="0" marL="457200" rtl="0" algn="l">
              <a:lnSpc>
                <a:spcPct val="150000"/>
              </a:lnSpc>
              <a:spcBef>
                <a:spcPts val="0"/>
              </a:spcBef>
              <a:spcAft>
                <a:spcPts val="0"/>
              </a:spcAft>
              <a:buSzPts val="2100"/>
              <a:buChar char="●"/>
            </a:pPr>
            <a:r>
              <a:rPr lang="pt-BR" sz="2100"/>
              <a:t>Axe</a:t>
            </a:r>
            <a:endParaRPr sz="2100"/>
          </a:p>
          <a:p>
            <a:pPr indent="-361950" lvl="0" marL="457200" rtl="0" algn="l">
              <a:lnSpc>
                <a:spcPct val="150000"/>
              </a:lnSpc>
              <a:spcBef>
                <a:spcPts val="0"/>
              </a:spcBef>
              <a:spcAft>
                <a:spcPts val="0"/>
              </a:spcAft>
              <a:buSzPts val="2100"/>
              <a:buChar char="●"/>
            </a:pPr>
            <a:r>
              <a:rPr lang="pt-BR" sz="2100"/>
              <a:t>Close-Up</a:t>
            </a:r>
            <a:endParaRPr sz="2100"/>
          </a:p>
          <a:p>
            <a:pPr indent="-361950" lvl="0" marL="457200" rtl="0" algn="l">
              <a:lnSpc>
                <a:spcPct val="150000"/>
              </a:lnSpc>
              <a:spcBef>
                <a:spcPts val="0"/>
              </a:spcBef>
              <a:spcAft>
                <a:spcPts val="0"/>
              </a:spcAft>
              <a:buSzPts val="2100"/>
              <a:buChar char="●"/>
            </a:pPr>
            <a:r>
              <a:rPr lang="pt-BR" sz="2100"/>
              <a:t>Dove Skin Cleansing</a:t>
            </a:r>
            <a:endParaRPr sz="2100"/>
          </a:p>
          <a:p>
            <a:pPr indent="-361950" lvl="0" marL="457200" rtl="0" algn="l">
              <a:lnSpc>
                <a:spcPct val="150000"/>
              </a:lnSpc>
              <a:spcBef>
                <a:spcPts val="0"/>
              </a:spcBef>
              <a:spcAft>
                <a:spcPts val="0"/>
              </a:spcAft>
              <a:buSzPts val="2100"/>
              <a:buChar char="●"/>
            </a:pPr>
            <a:r>
              <a:rPr lang="pt-BR" sz="2100"/>
              <a:t>Lux</a:t>
            </a:r>
            <a:endParaRPr sz="2100"/>
          </a:p>
          <a:p>
            <a:pPr indent="-361950" lvl="0" marL="457200" rtl="0" algn="l">
              <a:lnSpc>
                <a:spcPct val="150000"/>
              </a:lnSpc>
              <a:spcBef>
                <a:spcPts val="0"/>
              </a:spcBef>
              <a:spcAft>
                <a:spcPts val="0"/>
              </a:spcAft>
              <a:buSzPts val="2100"/>
              <a:buChar char="●"/>
            </a:pPr>
            <a:r>
              <a:rPr lang="pt-BR" sz="2100"/>
              <a:t>Rexona</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Fluxo</a:t>
            </a:r>
            <a:endParaRPr/>
          </a:p>
        </p:txBody>
      </p:sp>
      <p:cxnSp>
        <p:nvCxnSpPr>
          <p:cNvPr id="165" name="Google Shape;165;p26"/>
          <p:cNvCxnSpPr/>
          <p:nvPr/>
        </p:nvCxnSpPr>
        <p:spPr>
          <a:xfrm>
            <a:off x="420075" y="2942516"/>
            <a:ext cx="8336100" cy="0"/>
          </a:xfrm>
          <a:prstGeom prst="straightConnector1">
            <a:avLst/>
          </a:prstGeom>
          <a:noFill/>
          <a:ln cap="flat" cmpd="sng" w="19050">
            <a:solidFill>
              <a:schemeClr val="dk1"/>
            </a:solidFill>
            <a:prstDash val="dot"/>
            <a:round/>
            <a:headEnd len="sm" w="sm" type="none"/>
            <a:tailEnd len="sm" w="sm" type="none"/>
          </a:ln>
        </p:spPr>
      </p:cxnSp>
      <p:grpSp>
        <p:nvGrpSpPr>
          <p:cNvPr id="166" name="Google Shape;166;p26"/>
          <p:cNvGrpSpPr/>
          <p:nvPr/>
        </p:nvGrpSpPr>
        <p:grpSpPr>
          <a:xfrm>
            <a:off x="648675" y="1581271"/>
            <a:ext cx="196200" cy="1306800"/>
            <a:chOff x="648675" y="1657471"/>
            <a:chExt cx="196200" cy="1306800"/>
          </a:xfrm>
        </p:grpSpPr>
        <p:sp>
          <p:nvSpPr>
            <p:cNvPr id="167" name="Google Shape;167;p26"/>
            <p:cNvSpPr/>
            <p:nvPr/>
          </p:nvSpPr>
          <p:spPr>
            <a:xfrm>
              <a:off x="6486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8" name="Google Shape;168;p26"/>
            <p:cNvCxnSpPr>
              <a:stCxn id="167" idx="0"/>
            </p:cNvCxnSpPr>
            <p:nvPr/>
          </p:nvCxnSpPr>
          <p:spPr>
            <a:xfrm rot="10800000">
              <a:off x="746775" y="1657471"/>
              <a:ext cx="0" cy="1110900"/>
            </a:xfrm>
            <a:prstGeom prst="straightConnector1">
              <a:avLst/>
            </a:prstGeom>
            <a:noFill/>
            <a:ln cap="flat" cmpd="sng" w="19050">
              <a:solidFill>
                <a:schemeClr val="accent5"/>
              </a:solidFill>
              <a:prstDash val="solid"/>
              <a:round/>
              <a:headEnd len="sm" w="sm" type="none"/>
              <a:tailEnd len="med" w="med" type="oval"/>
            </a:ln>
          </p:spPr>
        </p:cxnSp>
      </p:grpSp>
      <p:sp>
        <p:nvSpPr>
          <p:cNvPr id="169" name="Google Shape;169;p26"/>
          <p:cNvSpPr txBox="1"/>
          <p:nvPr>
            <p:ph idx="4294967295" type="body"/>
          </p:nvPr>
        </p:nvSpPr>
        <p:spPr>
          <a:xfrm>
            <a:off x="835850" y="1276475"/>
            <a:ext cx="3293400" cy="16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t-BR">
                <a:solidFill>
                  <a:schemeClr val="lt2"/>
                </a:solidFill>
              </a:rPr>
              <a:t>TEAMS</a:t>
            </a:r>
            <a:endParaRPr b="1">
              <a:solidFill>
                <a:schemeClr val="lt2"/>
              </a:solidFill>
            </a:endParaRPr>
          </a:p>
          <a:p>
            <a:pPr indent="0" lvl="0" marL="0" rtl="0" algn="l">
              <a:spcBef>
                <a:spcPts val="0"/>
              </a:spcBef>
              <a:spcAft>
                <a:spcPts val="0"/>
              </a:spcAft>
              <a:buNone/>
            </a:pPr>
            <a:r>
              <a:t/>
            </a:r>
            <a:endParaRPr b="1" sz="1000">
              <a:solidFill>
                <a:schemeClr val="lt2"/>
              </a:solidFill>
            </a:endParaRPr>
          </a:p>
          <a:p>
            <a:pPr indent="0" lvl="0" marL="0" rtl="0" algn="just">
              <a:spcBef>
                <a:spcPts val="0"/>
              </a:spcBef>
              <a:spcAft>
                <a:spcPts val="1200"/>
              </a:spcAft>
              <a:buNone/>
            </a:pPr>
            <a:r>
              <a:rPr lang="pt-BR" sz="1000">
                <a:solidFill>
                  <a:schemeClr val="lt2"/>
                </a:solidFill>
              </a:rPr>
              <a:t>É o meio preferido pelo mídia por dar agilidade a novas demandas e processos em andamento, onde tira dúvidas e presta esclarecimentos e dão dinamismo a comunicação, além de ser uma fonte de históricos.</a:t>
            </a:r>
            <a:endParaRPr b="1" sz="1000">
              <a:solidFill>
                <a:schemeClr val="lt2"/>
              </a:solidFill>
            </a:endParaRPr>
          </a:p>
        </p:txBody>
      </p:sp>
      <p:grpSp>
        <p:nvGrpSpPr>
          <p:cNvPr id="170" name="Google Shape;170;p26"/>
          <p:cNvGrpSpPr/>
          <p:nvPr/>
        </p:nvGrpSpPr>
        <p:grpSpPr>
          <a:xfrm>
            <a:off x="1065125" y="2692171"/>
            <a:ext cx="196200" cy="1404905"/>
            <a:chOff x="2512925" y="2768371"/>
            <a:chExt cx="196200" cy="1404905"/>
          </a:xfrm>
        </p:grpSpPr>
        <p:cxnSp>
          <p:nvCxnSpPr>
            <p:cNvPr id="171" name="Google Shape;171;p26"/>
            <p:cNvCxnSpPr/>
            <p:nvPr/>
          </p:nvCxnSpPr>
          <p:spPr>
            <a:xfrm>
              <a:off x="261102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172" name="Google Shape;172;p26"/>
            <p:cNvSpPr/>
            <p:nvPr/>
          </p:nvSpPr>
          <p:spPr>
            <a:xfrm>
              <a:off x="251292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 name="Google Shape;173;p26"/>
          <p:cNvSpPr txBox="1"/>
          <p:nvPr>
            <p:ph idx="4294967295" type="body"/>
          </p:nvPr>
        </p:nvSpPr>
        <p:spPr>
          <a:xfrm>
            <a:off x="1169150" y="2942525"/>
            <a:ext cx="3171900" cy="20364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b="1" lang="pt-BR" sz="3250"/>
              <a:t>JIRA</a:t>
            </a:r>
            <a:endParaRPr b="1" sz="3250"/>
          </a:p>
          <a:p>
            <a:pPr indent="0" lvl="0" marL="0" rtl="0" algn="l">
              <a:spcBef>
                <a:spcPts val="0"/>
              </a:spcBef>
              <a:spcAft>
                <a:spcPts val="0"/>
              </a:spcAft>
              <a:buNone/>
            </a:pPr>
            <a:r>
              <a:t/>
            </a:r>
            <a:endParaRPr b="1" sz="2500"/>
          </a:p>
          <a:p>
            <a:pPr indent="0" lvl="0" marL="0" rtl="0" algn="just">
              <a:spcBef>
                <a:spcPts val="0"/>
              </a:spcBef>
              <a:spcAft>
                <a:spcPts val="1200"/>
              </a:spcAft>
              <a:buNone/>
            </a:pPr>
            <a:r>
              <a:rPr lang="pt-BR" sz="2500"/>
              <a:t>Quando uma campanha precisa ser iniciada, o mídia abre uma tarefa principal. Durante a campanha, solicitações de taxonomias adicionais, ajustes ou cancelamentos são feitas nos comentários dessa tarefa principal. Para manter tudo organizado, eu crio subtarefas com instruções específicas conforme necessário. Sempre que há uma atualização do ADP, eu excluo a versão anterior e anexo a nova na mesma tarefa principal.</a:t>
            </a:r>
            <a:endParaRPr sz="2500"/>
          </a:p>
        </p:txBody>
      </p:sp>
      <p:grpSp>
        <p:nvGrpSpPr>
          <p:cNvPr id="174" name="Google Shape;174;p26"/>
          <p:cNvGrpSpPr/>
          <p:nvPr/>
        </p:nvGrpSpPr>
        <p:grpSpPr>
          <a:xfrm>
            <a:off x="4279200" y="1483171"/>
            <a:ext cx="196200" cy="1404900"/>
            <a:chOff x="4279200" y="1559371"/>
            <a:chExt cx="196200" cy="1404900"/>
          </a:xfrm>
        </p:grpSpPr>
        <p:cxnSp>
          <p:nvCxnSpPr>
            <p:cNvPr id="175" name="Google Shape;175;p26"/>
            <p:cNvCxnSpPr>
              <a:stCxn id="176" idx="0"/>
            </p:cNvCxnSpPr>
            <p:nvPr/>
          </p:nvCxnSpPr>
          <p:spPr>
            <a:xfrm rot="10800000">
              <a:off x="4377300" y="1559371"/>
              <a:ext cx="0" cy="1209000"/>
            </a:xfrm>
            <a:prstGeom prst="straightConnector1">
              <a:avLst/>
            </a:prstGeom>
            <a:noFill/>
            <a:ln cap="flat" cmpd="sng" w="19050">
              <a:solidFill>
                <a:schemeClr val="accent5"/>
              </a:solidFill>
              <a:prstDash val="solid"/>
              <a:round/>
              <a:headEnd len="sm" w="sm" type="none"/>
              <a:tailEnd len="med" w="med" type="oval"/>
            </a:ln>
          </p:spPr>
        </p:cxnSp>
        <p:sp>
          <p:nvSpPr>
            <p:cNvPr id="176" name="Google Shape;176;p26"/>
            <p:cNvSpPr/>
            <p:nvPr/>
          </p:nvSpPr>
          <p:spPr>
            <a:xfrm>
              <a:off x="4279200"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26"/>
          <p:cNvSpPr txBox="1"/>
          <p:nvPr>
            <p:ph idx="4294967295" type="body"/>
          </p:nvPr>
        </p:nvSpPr>
        <p:spPr>
          <a:xfrm>
            <a:off x="4454450" y="1299975"/>
            <a:ext cx="3929400" cy="1762200"/>
          </a:xfrm>
          <a:prstGeom prst="rect">
            <a:avLst/>
          </a:prstGeom>
        </p:spPr>
        <p:txBody>
          <a:bodyPr anchorCtr="0" anchor="t" bIns="91425" lIns="91425" spcFirstLastPara="1" rIns="91425" wrap="square" tIns="91425">
            <a:normAutofit fontScale="32500" lnSpcReduction="20000"/>
          </a:bodyPr>
          <a:lstStyle/>
          <a:p>
            <a:pPr indent="0" lvl="0" marL="0" rtl="0" algn="just">
              <a:spcBef>
                <a:spcPts val="0"/>
              </a:spcBef>
              <a:spcAft>
                <a:spcPts val="0"/>
              </a:spcAft>
              <a:buNone/>
            </a:pPr>
            <a:r>
              <a:rPr b="1" lang="pt-BR" sz="3650"/>
              <a:t>FLASHTALKING</a:t>
            </a:r>
            <a:endParaRPr b="1" sz="3650"/>
          </a:p>
          <a:p>
            <a:pPr indent="0" lvl="0" marL="0" rtl="0" algn="just">
              <a:spcBef>
                <a:spcPts val="0"/>
              </a:spcBef>
              <a:spcAft>
                <a:spcPts val="0"/>
              </a:spcAft>
              <a:buNone/>
            </a:pPr>
            <a:r>
              <a:t/>
            </a:r>
            <a:endParaRPr b="1" sz="3050"/>
          </a:p>
          <a:p>
            <a:pPr indent="0" lvl="0" marL="0" rtl="0" algn="just">
              <a:spcBef>
                <a:spcPts val="0"/>
              </a:spcBef>
              <a:spcAft>
                <a:spcPts val="0"/>
              </a:spcAft>
              <a:buNone/>
            </a:pPr>
            <a:r>
              <a:rPr lang="pt-BR" sz="3050"/>
              <a:t>Sigo o processo padrão, que também é utilizado pelas outras BUs, e pré-definido pelo adserver. Envio meu ADP por e-mail (versão ímpar, adserver é par) com instruções e solicito os rastreadores. Durante o processo, ajustes são feitos conforme solicitado pelo adserver. Após confirmação, recebemos o ADP atualizado. Adicionamos na tarefa principal do Jira e informamos o mídia para continuidade. Esse fluxo se repete até o fim da campanha.</a:t>
            </a:r>
            <a:endParaRPr sz="3050"/>
          </a:p>
          <a:p>
            <a:pPr indent="0" lvl="0" marL="0" rtl="0" algn="just">
              <a:spcBef>
                <a:spcPts val="1200"/>
              </a:spcBef>
              <a:spcAft>
                <a:spcPts val="1200"/>
              </a:spcAft>
              <a:buNone/>
            </a:pPr>
            <a:r>
              <a:t/>
            </a:r>
            <a:endParaRPr/>
          </a:p>
        </p:txBody>
      </p:sp>
      <p:grpSp>
        <p:nvGrpSpPr>
          <p:cNvPr id="178" name="Google Shape;178;p26"/>
          <p:cNvGrpSpPr/>
          <p:nvPr/>
        </p:nvGrpSpPr>
        <p:grpSpPr>
          <a:xfrm>
            <a:off x="4750075" y="2692171"/>
            <a:ext cx="196200" cy="1404905"/>
            <a:chOff x="6045475" y="2768371"/>
            <a:chExt cx="196200" cy="1404905"/>
          </a:xfrm>
        </p:grpSpPr>
        <p:cxnSp>
          <p:nvCxnSpPr>
            <p:cNvPr id="179" name="Google Shape;179;p26"/>
            <p:cNvCxnSpPr/>
            <p:nvPr/>
          </p:nvCxnSpPr>
          <p:spPr>
            <a:xfrm>
              <a:off x="614357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180" name="Google Shape;180;p26"/>
            <p:cNvSpPr/>
            <p:nvPr/>
          </p:nvSpPr>
          <p:spPr>
            <a:xfrm>
              <a:off x="60454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 name="Google Shape;181;p26"/>
          <p:cNvSpPr txBox="1"/>
          <p:nvPr>
            <p:ph idx="4294967295" type="body"/>
          </p:nvPr>
        </p:nvSpPr>
        <p:spPr>
          <a:xfrm>
            <a:off x="4870075" y="2942525"/>
            <a:ext cx="3831300" cy="19383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pt-BR" sz="1500"/>
              <a:t>QA</a:t>
            </a:r>
            <a:endParaRPr b="1" sz="1500"/>
          </a:p>
          <a:p>
            <a:pPr indent="0" lvl="0" marL="0" rtl="0" algn="l">
              <a:spcBef>
                <a:spcPts val="0"/>
              </a:spcBef>
              <a:spcAft>
                <a:spcPts val="0"/>
              </a:spcAft>
              <a:buNone/>
            </a:pPr>
            <a:r>
              <a:t/>
            </a:r>
            <a:endParaRPr b="1"/>
          </a:p>
          <a:p>
            <a:pPr indent="0" lvl="0" marL="0" rtl="0" algn="just">
              <a:spcBef>
                <a:spcPts val="0"/>
              </a:spcBef>
              <a:spcAft>
                <a:spcPts val="1200"/>
              </a:spcAft>
              <a:buNone/>
            </a:pPr>
            <a:r>
              <a:rPr lang="pt-BR" sz="1250"/>
              <a:t>Costumo realizar o processo de QA semanalmente, revisando por marca para garantir que tudo produzido esteja programado conforme o planejado. Caso não encontre algum item, notifico o mídia para ajustar os prazos, facilitando a comunicação com o adserver e monitorando a task. Nem sempre todas as 10/10 taxonomias solicitadas são programadas, pois dependemos da disponibilidade de materiais e autorizações exclusivas do cliente.</a:t>
            </a:r>
            <a:endParaRPr sz="125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Detalhamento do dia-a-dia</a:t>
            </a:r>
            <a:endParaRPr/>
          </a:p>
        </p:txBody>
      </p:sp>
      <p:sp>
        <p:nvSpPr>
          <p:cNvPr id="187" name="Google Shape;187;p27"/>
          <p:cNvSpPr txBox="1"/>
          <p:nvPr/>
        </p:nvSpPr>
        <p:spPr>
          <a:xfrm>
            <a:off x="0" y="1294800"/>
            <a:ext cx="9144000" cy="3848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t/>
            </a:r>
            <a:endParaRPr sz="1300">
              <a:solidFill>
                <a:schemeClr val="dk2"/>
              </a:solidFill>
              <a:latin typeface="Roboto"/>
              <a:ea typeface="Roboto"/>
              <a:cs typeface="Roboto"/>
              <a:sym typeface="Roboto"/>
            </a:endParaRPr>
          </a:p>
          <a:p>
            <a:pPr indent="-298450" lvl="0" marL="457200" rtl="0" algn="just">
              <a:lnSpc>
                <a:spcPct val="150000"/>
              </a:lnSpc>
              <a:spcBef>
                <a:spcPts val="1200"/>
              </a:spcBef>
              <a:spcAft>
                <a:spcPts val="0"/>
              </a:spcAft>
              <a:buSzPts val="1100"/>
              <a:buChar char="●"/>
            </a:pPr>
            <a:r>
              <a:rPr lang="pt-BR" sz="1300">
                <a:solidFill>
                  <a:schemeClr val="dk2"/>
                </a:solidFill>
                <a:latin typeface="Roboto"/>
                <a:ea typeface="Roboto"/>
                <a:cs typeface="Roboto"/>
                <a:sym typeface="Roboto"/>
              </a:rPr>
              <a:t>Verificação dos e-mails e conclusão ou continuidade de demandas solicitadas no dia anterior.</a:t>
            </a:r>
            <a:endParaRPr sz="1300">
              <a:solidFill>
                <a:schemeClr val="dk2"/>
              </a:solidFill>
              <a:latin typeface="Roboto"/>
              <a:ea typeface="Roboto"/>
              <a:cs typeface="Roboto"/>
              <a:sym typeface="Roboto"/>
            </a:endParaRPr>
          </a:p>
          <a:p>
            <a:pPr indent="-298450" lvl="0" marL="457200" rtl="0" algn="just">
              <a:lnSpc>
                <a:spcPct val="150000"/>
              </a:lnSpc>
              <a:spcBef>
                <a:spcPts val="0"/>
              </a:spcBef>
              <a:spcAft>
                <a:spcPts val="0"/>
              </a:spcAft>
              <a:buSzPts val="1100"/>
              <a:buChar char="●"/>
            </a:pPr>
            <a:r>
              <a:rPr lang="pt-BR" sz="1300">
                <a:solidFill>
                  <a:schemeClr val="dk2"/>
                </a:solidFill>
                <a:latin typeface="Roboto"/>
                <a:ea typeface="Roboto"/>
                <a:cs typeface="Roboto"/>
                <a:sym typeface="Roboto"/>
              </a:rPr>
              <a:t>Daily matinal com toda equipe para revisar o trabalho do dia anterior e planejar as atividades do dia atual. Durante a reunião, recebemos do BI, quando disponíveis, planilhas de erros de taxonomias para correções.</a:t>
            </a:r>
            <a:endParaRPr sz="1300">
              <a:solidFill>
                <a:schemeClr val="dk2"/>
              </a:solidFill>
              <a:latin typeface="Roboto"/>
              <a:ea typeface="Roboto"/>
              <a:cs typeface="Roboto"/>
              <a:sym typeface="Roboto"/>
            </a:endParaRPr>
          </a:p>
          <a:p>
            <a:pPr indent="-298450" lvl="0" marL="457200" rtl="0" algn="just">
              <a:lnSpc>
                <a:spcPct val="150000"/>
              </a:lnSpc>
              <a:spcBef>
                <a:spcPts val="0"/>
              </a:spcBef>
              <a:spcAft>
                <a:spcPts val="0"/>
              </a:spcAft>
              <a:buSzPts val="1100"/>
              <a:buChar char="●"/>
            </a:pPr>
            <a:r>
              <a:rPr lang="pt-BR" sz="1300">
                <a:solidFill>
                  <a:schemeClr val="dk2"/>
                </a:solidFill>
                <a:latin typeface="Roboto"/>
                <a:ea typeface="Roboto"/>
                <a:cs typeface="Roboto"/>
                <a:sym typeface="Roboto"/>
              </a:rPr>
              <a:t>Ao longo do dia, dou seguimento às demandas da BU, criando novas taxonomias, ajustando as já entregues, recebendo material da agência e compartilhando com o adserver. Realizo calls para esclarecer solicitações, muitas vezes incompletas nas tasks.</a:t>
            </a:r>
            <a:endParaRPr sz="1300">
              <a:solidFill>
                <a:schemeClr val="dk2"/>
              </a:solidFill>
              <a:latin typeface="Roboto"/>
              <a:ea typeface="Roboto"/>
              <a:cs typeface="Roboto"/>
              <a:sym typeface="Roboto"/>
            </a:endParaRPr>
          </a:p>
          <a:p>
            <a:pPr indent="-298450" lvl="0" marL="457200" rtl="0" algn="just">
              <a:lnSpc>
                <a:spcPct val="150000"/>
              </a:lnSpc>
              <a:spcBef>
                <a:spcPts val="0"/>
              </a:spcBef>
              <a:spcAft>
                <a:spcPts val="0"/>
              </a:spcAft>
              <a:buSzPts val="1100"/>
              <a:buChar char="●"/>
            </a:pPr>
            <a:r>
              <a:rPr lang="pt-BR" sz="1300">
                <a:solidFill>
                  <a:schemeClr val="dk2"/>
                </a:solidFill>
                <a:latin typeface="Roboto"/>
                <a:ea typeface="Roboto"/>
                <a:cs typeface="Roboto"/>
                <a:sym typeface="Roboto"/>
              </a:rPr>
              <a:t>Comunico-me regularmente com os mídias e mantenho contato constante com o pessoal do Adserver e da Kinesso.</a:t>
            </a:r>
            <a:endParaRPr sz="1300">
              <a:solidFill>
                <a:schemeClr val="dk2"/>
              </a:solidFill>
              <a:latin typeface="Roboto"/>
              <a:ea typeface="Roboto"/>
              <a:cs typeface="Roboto"/>
              <a:sym typeface="Roboto"/>
            </a:endParaRPr>
          </a:p>
          <a:p>
            <a:pPr indent="-298450" lvl="0" marL="457200" rtl="0" algn="just">
              <a:lnSpc>
                <a:spcPct val="150000"/>
              </a:lnSpc>
              <a:spcBef>
                <a:spcPts val="0"/>
              </a:spcBef>
              <a:spcAft>
                <a:spcPts val="0"/>
              </a:spcAft>
              <a:buSzPts val="1100"/>
              <a:buChar char="●"/>
            </a:pPr>
            <a:r>
              <a:rPr lang="pt-BR" sz="1300">
                <a:solidFill>
                  <a:schemeClr val="dk2"/>
                </a:solidFill>
                <a:latin typeface="Roboto"/>
                <a:ea typeface="Roboto"/>
                <a:cs typeface="Roboto"/>
                <a:sym typeface="Roboto"/>
              </a:rPr>
              <a:t>Não tenho uma rotina estabelecida com o pessoal da agência Cadastra.</a:t>
            </a:r>
            <a:endParaRPr sz="13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193" name="Google Shape;193;p28"/>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Axe/ Suave / Dove Deos</a:t>
            </a:r>
            <a:endParaRPr sz="1600"/>
          </a:p>
        </p:txBody>
      </p:sp>
      <p:sp>
        <p:nvSpPr>
          <p:cNvPr id="194" name="Google Shape;194;p28"/>
          <p:cNvSpPr txBox="1"/>
          <p:nvPr>
            <p:ph idx="1" type="body"/>
          </p:nvPr>
        </p:nvSpPr>
        <p:spPr>
          <a:xfrm>
            <a:off x="464975" y="1294225"/>
            <a:ext cx="4048800" cy="1316400"/>
          </a:xfrm>
          <a:prstGeom prst="rect">
            <a:avLst/>
          </a:prstGeom>
        </p:spPr>
        <p:txBody>
          <a:bodyPr anchorCtr="0" anchor="ctr" bIns="91425" lIns="91425" spcFirstLastPara="1" rIns="0"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Letícia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leticia.manrubia@initiative.com</a:t>
            </a:r>
            <a:endParaRPr sz="1440">
              <a:solidFill>
                <a:schemeClr val="dk2"/>
              </a:solidFill>
            </a:endParaRPr>
          </a:p>
        </p:txBody>
      </p:sp>
      <p:sp>
        <p:nvSpPr>
          <p:cNvPr id="195" name="Google Shape;195;p28"/>
          <p:cNvSpPr txBox="1"/>
          <p:nvPr>
            <p:ph idx="1" type="body"/>
          </p:nvPr>
        </p:nvSpPr>
        <p:spPr>
          <a:xfrm>
            <a:off x="453225" y="2790450"/>
            <a:ext cx="33879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Laura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laura.hecht@initiative.com</a:t>
            </a:r>
            <a:endParaRPr sz="1440">
              <a:solidFill>
                <a:schemeClr val="dk2"/>
              </a:solidFill>
            </a:endParaRPr>
          </a:p>
        </p:txBody>
      </p:sp>
      <p:sp>
        <p:nvSpPr>
          <p:cNvPr id="196" name="Google Shape;196;p28"/>
          <p:cNvSpPr txBox="1"/>
          <p:nvPr>
            <p:ph idx="1" type="body"/>
          </p:nvPr>
        </p:nvSpPr>
        <p:spPr>
          <a:xfrm>
            <a:off x="5036975" y="2702400"/>
            <a:ext cx="3387900" cy="16086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 Lopes</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hlinkClick r:id="rId3"/>
              </a:rPr>
              <a:t>Matheus.Lopes@kinesso.com</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Andressa Barros</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hlinkClick r:id="rId4"/>
              </a:rPr>
              <a:t>Andressa.Barros@kinesso.com</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p:txBody>
      </p:sp>
      <p:sp>
        <p:nvSpPr>
          <p:cNvPr id="197" name="Google Shape;197;p28"/>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leticia.fina@initiative.com</a:t>
            </a:r>
            <a:endParaRPr sz="15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203" name="Google Shape;203;p29"/>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Dove Skin Cleansing / Baby Dove/ Lux / Close-Up</a:t>
            </a:r>
            <a:endParaRPr sz="1600"/>
          </a:p>
        </p:txBody>
      </p:sp>
      <p:sp>
        <p:nvSpPr>
          <p:cNvPr id="204" name="Google Shape;204;p29"/>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Barbara Emanueli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barbara.emanueli@initiative.com</a:t>
            </a:r>
            <a:endParaRPr sz="1440">
              <a:solidFill>
                <a:schemeClr val="dk2"/>
              </a:solidFill>
            </a:endParaRPr>
          </a:p>
        </p:txBody>
      </p:sp>
      <p:sp>
        <p:nvSpPr>
          <p:cNvPr id="205" name="Google Shape;205;p29"/>
          <p:cNvSpPr txBox="1"/>
          <p:nvPr>
            <p:ph idx="1" type="body"/>
          </p:nvPr>
        </p:nvSpPr>
        <p:spPr>
          <a:xfrm>
            <a:off x="453225" y="2942850"/>
            <a:ext cx="33879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Giulia</a:t>
            </a:r>
            <a:endParaRPr sz="1440">
              <a:solidFill>
                <a:schemeClr val="dk2"/>
              </a:solidFill>
            </a:endParaRPr>
          </a:p>
          <a:p>
            <a:pPr indent="0" lvl="0" marL="0" rtl="0" algn="l">
              <a:lnSpc>
                <a:spcPct val="90000"/>
              </a:lnSpc>
              <a:spcBef>
                <a:spcPts val="0"/>
              </a:spcBef>
              <a:spcAft>
                <a:spcPts val="0"/>
              </a:spcAft>
              <a:buNone/>
            </a:pPr>
            <a:r>
              <a:rPr lang="pt-BR" sz="1440" u="sng">
                <a:solidFill>
                  <a:schemeClr val="hlink"/>
                </a:solidFill>
                <a:hlinkClick r:id="rId3"/>
              </a:rPr>
              <a:t>giulia.margelli@initiative.com</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Mariana Mucilo</a:t>
            </a:r>
            <a:endParaRPr sz="1440">
              <a:solidFill>
                <a:schemeClr val="dk2"/>
              </a:solidFill>
            </a:endParaRPr>
          </a:p>
          <a:p>
            <a:pPr indent="0" lvl="0" marL="0" rtl="0" algn="l">
              <a:lnSpc>
                <a:spcPct val="90000"/>
              </a:lnSpc>
              <a:spcBef>
                <a:spcPts val="0"/>
              </a:spcBef>
              <a:spcAft>
                <a:spcPts val="0"/>
              </a:spcAft>
              <a:buNone/>
            </a:pPr>
            <a:r>
              <a:rPr lang="pt-BR" sz="1440" u="sng">
                <a:solidFill>
                  <a:schemeClr val="hlink"/>
                </a:solidFill>
                <a:hlinkClick r:id="rId4"/>
              </a:rPr>
              <a:t>mariana.mucilo@initiative.com</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p:txBody>
      </p:sp>
      <p:sp>
        <p:nvSpPr>
          <p:cNvPr id="206" name="Google Shape;206;p29"/>
          <p:cNvSpPr txBox="1"/>
          <p:nvPr>
            <p:ph idx="1" type="body"/>
          </p:nvPr>
        </p:nvSpPr>
        <p:spPr>
          <a:xfrm>
            <a:off x="5163975" y="712725"/>
            <a:ext cx="3387900" cy="33066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 Lopes (Lux e Dove)</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hlinkClick r:id="rId5"/>
              </a:rPr>
              <a:t>Matheus.Lopes@kinesso.com</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Andressa Barros </a:t>
            </a:r>
            <a:r>
              <a:rPr lang="pt-BR" sz="1440">
                <a:solidFill>
                  <a:schemeClr val="dk2"/>
                </a:solidFill>
              </a:rPr>
              <a:t> (Lux e Dove)</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hlinkClick r:id="rId6"/>
              </a:rPr>
              <a:t>Andressa.Barros@kinesso.com</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Thais Fiori (Close-up)</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rPr>
              <a:t>Thais.Fiori@kinesso.com </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Carlos Vilar (Close-up)</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rPr>
              <a:t>carlos.villar@kinesso.com</a:t>
            </a:r>
            <a:endParaRPr sz="1440">
              <a:solidFill>
                <a:schemeClr val="dk2"/>
              </a:solidFill>
            </a:endParaRPr>
          </a:p>
        </p:txBody>
      </p:sp>
      <p:sp>
        <p:nvSpPr>
          <p:cNvPr id="207" name="Google Shape;207;p29"/>
          <p:cNvSpPr txBox="1"/>
          <p:nvPr/>
        </p:nvSpPr>
        <p:spPr>
          <a:xfrm>
            <a:off x="5021375" y="140100"/>
            <a:ext cx="3983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dk2"/>
                </a:solidFill>
                <a:latin typeface="Roboto"/>
                <a:ea typeface="Roboto"/>
                <a:cs typeface="Roboto"/>
                <a:sym typeface="Roboto"/>
              </a:rPr>
              <a:t>Gerente: </a:t>
            </a:r>
            <a:r>
              <a:rPr lang="pt-BR" sz="1500">
                <a:solidFill>
                  <a:schemeClr val="dk2"/>
                </a:solidFill>
                <a:latin typeface="Roboto"/>
                <a:ea typeface="Roboto"/>
                <a:cs typeface="Roboto"/>
                <a:sym typeface="Roboto"/>
              </a:rPr>
              <a:t>vinicius.nascimento@initiative.com</a:t>
            </a:r>
            <a:endParaRPr sz="15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idx="4294967295" type="title"/>
          </p:nvPr>
        </p:nvSpPr>
        <p:spPr>
          <a:xfrm>
            <a:off x="311700" y="619100"/>
            <a:ext cx="3108600" cy="74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213" name="Google Shape;213;p3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Rexona</a:t>
            </a:r>
            <a:endParaRPr sz="1600"/>
          </a:p>
        </p:txBody>
      </p:sp>
      <p:sp>
        <p:nvSpPr>
          <p:cNvPr id="214" name="Google Shape;214;p30"/>
          <p:cNvSpPr txBox="1"/>
          <p:nvPr>
            <p:ph idx="1" type="body"/>
          </p:nvPr>
        </p:nvSpPr>
        <p:spPr>
          <a:xfrm>
            <a:off x="5642675" y="2723575"/>
            <a:ext cx="3387900" cy="16086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 Lopes</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hlinkClick r:id="rId3"/>
              </a:rPr>
              <a:t>Matheus.Lopes@kinesso.com</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Andressa Barros</a:t>
            </a:r>
            <a:endParaRPr sz="1440">
              <a:solidFill>
                <a:schemeClr val="dk2"/>
              </a:solidFill>
            </a:endParaRPr>
          </a:p>
          <a:p>
            <a:pPr indent="0" lvl="0" marL="0" rtl="0" algn="l">
              <a:lnSpc>
                <a:spcPct val="90000"/>
              </a:lnSpc>
              <a:spcBef>
                <a:spcPts val="0"/>
              </a:spcBef>
              <a:spcAft>
                <a:spcPts val="0"/>
              </a:spcAft>
              <a:buSzPts val="440"/>
              <a:buNone/>
            </a:pPr>
            <a:r>
              <a:rPr lang="pt-BR" sz="1440" u="sng">
                <a:solidFill>
                  <a:schemeClr val="hlink"/>
                </a:solidFill>
                <a:hlinkClick r:id="rId4"/>
              </a:rPr>
              <a:t>Andressa.Barros@kinesso.com</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p:txBody>
      </p:sp>
      <p:pic>
        <p:nvPicPr>
          <p:cNvPr id="215" name="Google Shape;215;p30"/>
          <p:cNvPicPr preferRelativeResize="0"/>
          <p:nvPr/>
        </p:nvPicPr>
        <p:blipFill>
          <a:blip r:embed="rId5">
            <a:alphaModFix/>
          </a:blip>
          <a:stretch>
            <a:fillRect/>
          </a:stretch>
        </p:blipFill>
        <p:spPr>
          <a:xfrm>
            <a:off x="311700" y="1305300"/>
            <a:ext cx="5330975" cy="1752962"/>
          </a:xfrm>
          <a:prstGeom prst="rect">
            <a:avLst/>
          </a:prstGeom>
          <a:noFill/>
          <a:ln>
            <a:noFill/>
          </a:ln>
        </p:spPr>
      </p:pic>
      <p:sp>
        <p:nvSpPr>
          <p:cNvPr id="216" name="Google Shape;216;p30"/>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mateus.echeto@initiative.com</a:t>
            </a:r>
            <a:endParaRPr sz="1500">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222" name="Google Shape;222;p31"/>
          <p:cNvSpPr txBox="1"/>
          <p:nvPr/>
        </p:nvSpPr>
        <p:spPr>
          <a:xfrm>
            <a:off x="0" y="1305400"/>
            <a:ext cx="9144000" cy="383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t/>
            </a:r>
            <a:endParaRPr b="1" sz="1300"/>
          </a:p>
          <a:p>
            <a:pPr indent="0" lvl="0" marL="457200" rtl="0" algn="l">
              <a:lnSpc>
                <a:spcPct val="115000"/>
              </a:lnSpc>
              <a:spcBef>
                <a:spcPts val="1400"/>
              </a:spcBef>
              <a:spcAft>
                <a:spcPts val="0"/>
              </a:spcAft>
              <a:buNone/>
            </a:pPr>
            <a:r>
              <a:rPr b="1" lang="pt-BR" sz="1300">
                <a:solidFill>
                  <a:schemeClr val="dk2"/>
                </a:solidFill>
              </a:rPr>
              <a:t>Axe / Suave / Dove Deos:</a:t>
            </a:r>
            <a:endParaRPr b="1" sz="13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Letícia:</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Super receptiva. Antecipa novas demandas pelo Teams. Envia informações com antecedência. Ajuda na construção das taxonomias. Revisa as taxonomias antes de liberar.</a:t>
            </a:r>
            <a:endParaRPr sz="11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Laura:</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Segue a linha da Letícia. Receptiva e organizada. Antecipa o envio de novas demandas.</a:t>
            </a:r>
            <a:endParaRPr sz="1100">
              <a:solidFill>
                <a:schemeClr val="dk2"/>
              </a:solidFill>
            </a:endParaRPr>
          </a:p>
          <a:p>
            <a:pPr indent="0" lvl="0" marL="457200" rtl="0" algn="l">
              <a:lnSpc>
                <a:spcPct val="115000"/>
              </a:lnSpc>
              <a:spcBef>
                <a:spcPts val="1200"/>
              </a:spcBef>
              <a:spcAft>
                <a:spcPts val="0"/>
              </a:spcAft>
              <a:buNone/>
            </a:pPr>
            <a:r>
              <a:t/>
            </a:r>
            <a:endParaRPr i="1" sz="1100">
              <a:solidFill>
                <a:schemeClr val="dk2"/>
              </a:solidFill>
            </a:endParaRPr>
          </a:p>
          <a:p>
            <a:pPr indent="0" lvl="0" marL="457200" rtl="0" algn="l">
              <a:lnSpc>
                <a:spcPct val="115000"/>
              </a:lnSpc>
              <a:spcBef>
                <a:spcPts val="1200"/>
              </a:spcBef>
              <a:spcAft>
                <a:spcPts val="0"/>
              </a:spcAft>
              <a:buNone/>
            </a:pPr>
            <a:r>
              <a:rPr i="1" lang="pt-BR" sz="1100">
                <a:solidFill>
                  <a:schemeClr val="dk2"/>
                </a:solidFill>
              </a:rPr>
              <a:t>*Elas são mais organizadas e antecipam o envio de demandas.</a:t>
            </a:r>
            <a:endParaRPr i="1" sz="1100">
              <a:solidFill>
                <a:schemeClr val="dk2"/>
              </a:solidFill>
            </a:endParaRPr>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228" name="Google Shape;228;p32"/>
          <p:cNvSpPr txBox="1"/>
          <p:nvPr/>
        </p:nvSpPr>
        <p:spPr>
          <a:xfrm>
            <a:off x="0" y="1305400"/>
            <a:ext cx="9144000" cy="383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t/>
            </a:r>
            <a:endParaRPr b="1" sz="1300">
              <a:solidFill>
                <a:schemeClr val="dk2"/>
              </a:solidFill>
            </a:endParaRPr>
          </a:p>
          <a:p>
            <a:pPr indent="0" lvl="0" marL="457200" rtl="0" algn="l">
              <a:lnSpc>
                <a:spcPct val="115000"/>
              </a:lnSpc>
              <a:spcBef>
                <a:spcPts val="1400"/>
              </a:spcBef>
              <a:spcAft>
                <a:spcPts val="0"/>
              </a:spcAft>
              <a:buNone/>
            </a:pPr>
            <a:r>
              <a:rPr b="1" lang="pt-BR" sz="1300">
                <a:solidFill>
                  <a:schemeClr val="dk2"/>
                </a:solidFill>
              </a:rPr>
              <a:t>Dove Skin Cleansing / Baby Dove / Lux e Close-Up:</a:t>
            </a:r>
            <a:endParaRPr b="1" sz="13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Bárbara Emanueli:</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Mais reservada e ocupada. Comunica-se principalmente via Jira. Simpática e prestativa.</a:t>
            </a:r>
            <a:endParaRPr sz="11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Mariana:</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Nova na operação. Inicia contato via Teams e continua via chat. Flexível quanto ao horário das solicitações.</a:t>
            </a:r>
            <a:endParaRPr sz="1100">
              <a:solidFill>
                <a:schemeClr val="dk2"/>
              </a:solidFill>
            </a:endParaRPr>
          </a:p>
          <a:p>
            <a:pPr indent="0" lvl="0" marL="457200" rtl="0" algn="l">
              <a:lnSpc>
                <a:spcPct val="115000"/>
              </a:lnSpc>
              <a:spcBef>
                <a:spcPts val="1200"/>
              </a:spcBef>
              <a:spcAft>
                <a:spcPts val="0"/>
              </a:spcAft>
              <a:buNone/>
            </a:pPr>
            <a:r>
              <a:t/>
            </a:r>
            <a:endParaRPr i="1" sz="1100">
              <a:solidFill>
                <a:schemeClr val="dk2"/>
              </a:solidFill>
            </a:endParaRPr>
          </a:p>
          <a:p>
            <a:pPr indent="0" lvl="0" marL="457200" rtl="0" algn="l">
              <a:lnSpc>
                <a:spcPct val="115000"/>
              </a:lnSpc>
              <a:spcBef>
                <a:spcPts val="1200"/>
              </a:spcBef>
              <a:spcAft>
                <a:spcPts val="0"/>
              </a:spcAft>
              <a:buNone/>
            </a:pPr>
            <a:r>
              <a:rPr i="1" lang="pt-BR" sz="1100">
                <a:solidFill>
                  <a:schemeClr val="dk2"/>
                </a:solidFill>
              </a:rPr>
              <a:t>*</a:t>
            </a:r>
            <a:r>
              <a:rPr i="1" lang="pt-BR" sz="1100">
                <a:solidFill>
                  <a:schemeClr val="dk2"/>
                </a:solidFill>
              </a:rPr>
              <a:t>Elas não têm um horário fixo para solicitações.</a:t>
            </a:r>
            <a:endParaRPr i="1" sz="1100">
              <a:solidFill>
                <a:schemeClr val="dk2"/>
              </a:solidFill>
            </a:endParaRPr>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234" name="Google Shape;234;p33"/>
          <p:cNvSpPr txBox="1"/>
          <p:nvPr/>
        </p:nvSpPr>
        <p:spPr>
          <a:xfrm>
            <a:off x="0" y="1305400"/>
            <a:ext cx="9144000" cy="38382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400"/>
              </a:spcBef>
              <a:spcAft>
                <a:spcPts val="0"/>
              </a:spcAft>
              <a:buNone/>
            </a:pPr>
            <a:r>
              <a:rPr b="1" lang="pt-BR" sz="1300">
                <a:solidFill>
                  <a:schemeClr val="dk2"/>
                </a:solidFill>
              </a:rPr>
              <a:t>Rexona:</a:t>
            </a:r>
            <a:endParaRPr b="1" sz="13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Sara:</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Mais experiente na equipe. Prefere comunicação pelo Teams. Realiza calls para esclarecimentos.</a:t>
            </a:r>
            <a:endParaRPr sz="11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Gabriel:</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Parceiro da Sara. Usa bastante o Teams. Atenção às threads para antecipar solicitações.</a:t>
            </a:r>
            <a:endParaRPr sz="11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Bruna:</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Demora a interagir, mas é clara nas solicitações.</a:t>
            </a:r>
            <a:endParaRPr sz="1100">
              <a:solidFill>
                <a:schemeClr val="dk2"/>
              </a:solidFill>
            </a:endParaRPr>
          </a:p>
          <a:p>
            <a:pPr indent="0" lvl="0" marL="457200" rtl="0" algn="l">
              <a:lnSpc>
                <a:spcPct val="115000"/>
              </a:lnSpc>
              <a:spcBef>
                <a:spcPts val="1200"/>
              </a:spcBef>
              <a:spcAft>
                <a:spcPts val="0"/>
              </a:spcAft>
              <a:buNone/>
            </a:pPr>
            <a:r>
              <a:rPr b="1" lang="pt-BR" sz="1100">
                <a:solidFill>
                  <a:schemeClr val="dk2"/>
                </a:solidFill>
              </a:rPr>
              <a:t>Bárbara Borges:</a:t>
            </a:r>
            <a:endParaRPr b="1" sz="1100">
              <a:solidFill>
                <a:schemeClr val="dk2"/>
              </a:solidFill>
            </a:endParaRPr>
          </a:p>
          <a:p>
            <a:pPr indent="-298450" lvl="0" marL="914400" rtl="0" algn="l">
              <a:lnSpc>
                <a:spcPct val="115000"/>
              </a:lnSpc>
              <a:spcBef>
                <a:spcPts val="1200"/>
              </a:spcBef>
              <a:spcAft>
                <a:spcPts val="0"/>
              </a:spcAft>
              <a:buClr>
                <a:schemeClr val="dk2"/>
              </a:buClr>
              <a:buSzPts val="1100"/>
              <a:buChar char="●"/>
            </a:pPr>
            <a:r>
              <a:rPr lang="pt-BR" sz="1100">
                <a:solidFill>
                  <a:schemeClr val="dk2"/>
                </a:solidFill>
              </a:rPr>
              <a:t>Direta e receptiva. Foca no necessário.</a:t>
            </a:r>
            <a:endParaRPr sz="1100">
              <a:solidFill>
                <a:schemeClr val="dk2"/>
              </a:solidFill>
            </a:endParaRPr>
          </a:p>
          <a:p>
            <a:pPr indent="0" lvl="0" marL="457200" rtl="0" algn="l">
              <a:lnSpc>
                <a:spcPct val="115000"/>
              </a:lnSpc>
              <a:spcBef>
                <a:spcPts val="1200"/>
              </a:spcBef>
              <a:spcAft>
                <a:spcPts val="0"/>
              </a:spcAft>
              <a:buNone/>
            </a:pPr>
            <a:r>
              <a:rPr i="1" lang="pt-BR" sz="1100">
                <a:solidFill>
                  <a:schemeClr val="dk2"/>
                </a:solidFill>
              </a:rPr>
              <a:t>*</a:t>
            </a:r>
            <a:r>
              <a:rPr i="1" lang="pt-BR" sz="1100">
                <a:solidFill>
                  <a:schemeClr val="dk2"/>
                </a:solidFill>
              </a:rPr>
              <a:t>Geralmente, fazem suas solicitações no período da tarde.</a:t>
            </a:r>
            <a:endParaRPr i="1" sz="1100">
              <a:solidFill>
                <a:schemeClr val="dk2"/>
              </a:solidFill>
            </a:endParaRPr>
          </a:p>
          <a:p>
            <a:pPr indent="0" lvl="0" marL="0" rtl="0" algn="l">
              <a:lnSpc>
                <a:spcPct val="115000"/>
              </a:lnSpc>
              <a:spcBef>
                <a:spcPts val="1200"/>
              </a:spcBef>
              <a:spcAft>
                <a:spcPts val="0"/>
              </a:spcAft>
              <a:buNone/>
            </a:pPr>
            <a:r>
              <a:t/>
            </a:r>
            <a:endParaRPr i="1"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240" name="Google Shape;240;p34"/>
          <p:cNvSpPr txBox="1"/>
          <p:nvPr/>
        </p:nvSpPr>
        <p:spPr>
          <a:xfrm>
            <a:off x="0" y="1305400"/>
            <a:ext cx="9144000" cy="38382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t/>
            </a:r>
            <a:endParaRPr b="1"/>
          </a:p>
          <a:p>
            <a:pPr indent="0" lvl="0" marL="457200" rtl="0" algn="l">
              <a:lnSpc>
                <a:spcPct val="115000"/>
              </a:lnSpc>
              <a:spcBef>
                <a:spcPts val="1200"/>
              </a:spcBef>
              <a:spcAft>
                <a:spcPts val="0"/>
              </a:spcAft>
              <a:buNone/>
            </a:pPr>
            <a:r>
              <a:t/>
            </a:r>
            <a:endParaRPr b="1" sz="1500">
              <a:solidFill>
                <a:schemeClr val="dk2"/>
              </a:solidFill>
            </a:endParaRPr>
          </a:p>
          <a:p>
            <a:pPr indent="0" lvl="0" marL="457200" rtl="0" algn="l">
              <a:lnSpc>
                <a:spcPct val="115000"/>
              </a:lnSpc>
              <a:spcBef>
                <a:spcPts val="1200"/>
              </a:spcBef>
              <a:spcAft>
                <a:spcPts val="0"/>
              </a:spcAft>
              <a:buNone/>
            </a:pPr>
            <a:r>
              <a:rPr b="1" lang="pt-BR" sz="1500">
                <a:solidFill>
                  <a:schemeClr val="dk2"/>
                </a:solidFill>
              </a:rPr>
              <a:t>Importante</a:t>
            </a:r>
            <a:r>
              <a:rPr b="1" lang="pt-BR" sz="1500">
                <a:solidFill>
                  <a:schemeClr val="dk2"/>
                </a:solidFill>
              </a:rPr>
              <a:t>:</a:t>
            </a:r>
            <a:endParaRPr b="1" sz="1500">
              <a:solidFill>
                <a:schemeClr val="dk2"/>
              </a:solidFill>
            </a:endParaRPr>
          </a:p>
          <a:p>
            <a:pPr indent="-323850" lvl="0" marL="914400" rtl="0" algn="l">
              <a:lnSpc>
                <a:spcPct val="115000"/>
              </a:lnSpc>
              <a:spcBef>
                <a:spcPts val="1200"/>
              </a:spcBef>
              <a:spcAft>
                <a:spcPts val="0"/>
              </a:spcAft>
              <a:buClr>
                <a:schemeClr val="dk2"/>
              </a:buClr>
              <a:buSzPts val="1500"/>
              <a:buChar char="●"/>
            </a:pPr>
            <a:r>
              <a:rPr lang="pt-BR" sz="1500">
                <a:solidFill>
                  <a:schemeClr val="dk2"/>
                </a:solidFill>
              </a:rPr>
              <a:t>Sempre revisar os materiais que recebemos, pois na maioria das vezes eles chegam fora das especificações.</a:t>
            </a:r>
            <a:endParaRPr sz="1500">
              <a:solidFill>
                <a:schemeClr val="dk2"/>
              </a:solidFill>
            </a:endParaRPr>
          </a:p>
          <a:p>
            <a:pPr indent="-323850" lvl="0" marL="914400" rtl="0" algn="l">
              <a:lnSpc>
                <a:spcPct val="115000"/>
              </a:lnSpc>
              <a:spcBef>
                <a:spcPts val="0"/>
              </a:spcBef>
              <a:spcAft>
                <a:spcPts val="0"/>
              </a:spcAft>
              <a:buClr>
                <a:schemeClr val="dk2"/>
              </a:buClr>
              <a:buSzPts val="1500"/>
              <a:buChar char="●"/>
            </a:pPr>
            <a:r>
              <a:rPr lang="pt-BR" sz="1500">
                <a:solidFill>
                  <a:schemeClr val="dk2"/>
                </a:solidFill>
              </a:rPr>
              <a:t>Nenhum deles se identifica quando criam as tasks ou pedem alterações.</a:t>
            </a:r>
            <a:endParaRPr sz="1500">
              <a:solidFill>
                <a:schemeClr val="dk2"/>
              </a:solidFill>
            </a:endParaRPr>
          </a:p>
          <a:p>
            <a:pPr indent="-323850" lvl="0" marL="914400" rtl="0" algn="l">
              <a:lnSpc>
                <a:spcPct val="115000"/>
              </a:lnSpc>
              <a:spcBef>
                <a:spcPts val="0"/>
              </a:spcBef>
              <a:spcAft>
                <a:spcPts val="0"/>
              </a:spcAft>
              <a:buClr>
                <a:schemeClr val="dk2"/>
              </a:buClr>
              <a:buSzPts val="1500"/>
              <a:buChar char="●"/>
            </a:pPr>
            <a:r>
              <a:rPr lang="pt-BR" sz="1500">
                <a:solidFill>
                  <a:schemeClr val="dk2"/>
                </a:solidFill>
              </a:rPr>
              <a:t>Geralmente não seguem o SLA (nem da Stormx, nem da Flashtalking) e fica a nosso cargo se organizar.</a:t>
            </a:r>
            <a:endParaRPr sz="1500">
              <a:solidFill>
                <a:schemeClr val="dk2"/>
              </a:solidFill>
            </a:endParaRPr>
          </a:p>
          <a:p>
            <a:pPr indent="-323850" lvl="0" marL="914400" rtl="0" algn="l">
              <a:lnSpc>
                <a:spcPct val="115000"/>
              </a:lnSpc>
              <a:spcBef>
                <a:spcPts val="0"/>
              </a:spcBef>
              <a:spcAft>
                <a:spcPts val="0"/>
              </a:spcAft>
              <a:buClr>
                <a:schemeClr val="dk2"/>
              </a:buClr>
              <a:buSzPts val="1500"/>
              <a:buChar char="●"/>
            </a:pPr>
            <a:r>
              <a:rPr lang="pt-BR" sz="1500">
                <a:solidFill>
                  <a:schemeClr val="dk2"/>
                </a:solidFill>
              </a:rPr>
              <a:t>Todos são muito receptivos e disponíveis quando necessários.</a:t>
            </a:r>
            <a:endParaRPr sz="1500">
              <a:solidFill>
                <a:schemeClr val="dk2"/>
              </a:solidFill>
            </a:endParaRPr>
          </a:p>
          <a:p>
            <a:pPr indent="-323850" lvl="0" marL="914400" rtl="0" algn="l">
              <a:lnSpc>
                <a:spcPct val="115000"/>
              </a:lnSpc>
              <a:spcBef>
                <a:spcPts val="0"/>
              </a:spcBef>
              <a:spcAft>
                <a:spcPts val="0"/>
              </a:spcAft>
              <a:buClr>
                <a:schemeClr val="dk2"/>
              </a:buClr>
              <a:buSzPts val="1500"/>
              <a:buChar char="●"/>
            </a:pPr>
            <a:r>
              <a:rPr lang="pt-BR" sz="1500">
                <a:solidFill>
                  <a:schemeClr val="dk2"/>
                </a:solidFill>
              </a:rPr>
              <a:t>O pessoal de Kinesso geralmente conversa pelo chat ou via call no Teams. Mas é importante sempre documentar esses papos no Jira e por e-mail.</a:t>
            </a:r>
            <a:endParaRPr sz="1500">
              <a:solidFill>
                <a:schemeClr val="dk2"/>
              </a:solidFill>
            </a:endParaRPr>
          </a:p>
          <a:p>
            <a:pPr indent="0" lvl="0" marL="0" rtl="0" algn="l">
              <a:lnSpc>
                <a:spcPct val="115000"/>
              </a:lnSpc>
              <a:spcBef>
                <a:spcPts val="1200"/>
              </a:spcBef>
              <a:spcAft>
                <a:spcPts val="0"/>
              </a:spcAft>
              <a:buNone/>
            </a:pPr>
            <a:r>
              <a:t/>
            </a:r>
            <a:endParaRPr sz="1200"/>
          </a:p>
          <a:p>
            <a:pPr indent="0" lvl="0" marL="0" rtl="0" algn="l">
              <a:lnSpc>
                <a:spcPct val="115000"/>
              </a:lnSpc>
              <a:spcBef>
                <a:spcPts val="1200"/>
              </a:spcBef>
              <a:spcAft>
                <a:spcPts val="0"/>
              </a:spcAft>
              <a:buNone/>
            </a:pPr>
            <a:r>
              <a:t/>
            </a:r>
            <a:endParaRPr sz="1200"/>
          </a:p>
          <a:p>
            <a:pPr indent="0" lvl="0" marL="457200" rtl="0" algn="l">
              <a:lnSpc>
                <a:spcPct val="115000"/>
              </a:lnSpc>
              <a:spcBef>
                <a:spcPts val="1200"/>
              </a:spcBef>
              <a:spcAft>
                <a:spcPts val="0"/>
              </a:spcAft>
              <a:buNone/>
            </a:pPr>
            <a:r>
              <a:t/>
            </a:r>
            <a:endParaRPr b="1" sz="1300"/>
          </a:p>
          <a:p>
            <a:pPr indent="0" lvl="0" marL="0" rtl="0" algn="l">
              <a:lnSpc>
                <a:spcPct val="115000"/>
              </a:lnSpc>
              <a:spcBef>
                <a:spcPts val="1200"/>
              </a:spcBef>
              <a:spcAft>
                <a:spcPts val="0"/>
              </a:spcAft>
              <a:buNone/>
            </a:pPr>
            <a:r>
              <a:t/>
            </a:r>
            <a:endParaRPr i="1"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type="title"/>
          </p:nvPr>
        </p:nvSpPr>
        <p:spPr>
          <a:xfrm>
            <a:off x="265500" y="1549950"/>
            <a:ext cx="4045200" cy="204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a:t>H</a:t>
            </a:r>
            <a:r>
              <a:rPr lang="pt-BR"/>
              <a:t>C</a:t>
            </a:r>
            <a:endParaRPr/>
          </a:p>
          <a:p>
            <a:pPr indent="0" lvl="0" marL="0" rtl="0" algn="l">
              <a:spcBef>
                <a:spcPts val="0"/>
              </a:spcBef>
              <a:spcAft>
                <a:spcPts val="0"/>
              </a:spcAft>
              <a:buNone/>
            </a:pPr>
            <a:r>
              <a:rPr lang="pt-BR" sz="2300"/>
              <a:t>(Home Care)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pt-BR" sz="2300"/>
              <a:t>Responsável</a:t>
            </a:r>
            <a:endParaRPr sz="2300"/>
          </a:p>
          <a:p>
            <a:pPr indent="0" lvl="0" marL="0" rtl="0" algn="l">
              <a:spcBef>
                <a:spcPts val="0"/>
              </a:spcBef>
              <a:spcAft>
                <a:spcPts val="0"/>
              </a:spcAft>
              <a:buNone/>
            </a:pPr>
            <a:r>
              <a:rPr lang="pt-BR" sz="1633"/>
              <a:t>João Braga</a:t>
            </a:r>
            <a:endParaRPr sz="1633"/>
          </a:p>
          <a:p>
            <a:pPr indent="0" lvl="0" marL="0" rtl="0" algn="l">
              <a:spcBef>
                <a:spcPts val="0"/>
              </a:spcBef>
              <a:spcAft>
                <a:spcPts val="0"/>
              </a:spcAft>
              <a:buNone/>
            </a:pPr>
            <a:r>
              <a:rPr lang="pt-BR" sz="1633"/>
              <a:t>joao.braga@stormx.com.br</a:t>
            </a:r>
            <a:endParaRPr sz="1633"/>
          </a:p>
        </p:txBody>
      </p:sp>
      <p:sp>
        <p:nvSpPr>
          <p:cNvPr id="246" name="Google Shape;246;p35"/>
          <p:cNvSpPr txBox="1"/>
          <p:nvPr>
            <p:ph idx="2" type="body"/>
          </p:nvPr>
        </p:nvSpPr>
        <p:spPr>
          <a:xfrm>
            <a:off x="4939500" y="724200"/>
            <a:ext cx="3943500" cy="36951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pt-BR" sz="2100"/>
              <a:t>OMO</a:t>
            </a:r>
            <a:endParaRPr sz="2100"/>
          </a:p>
          <a:p>
            <a:pPr indent="-361950" lvl="0" marL="457200" rtl="0" algn="l">
              <a:spcBef>
                <a:spcPts val="0"/>
              </a:spcBef>
              <a:spcAft>
                <a:spcPts val="0"/>
              </a:spcAft>
              <a:buSzPts val="2100"/>
              <a:buChar char="●"/>
            </a:pPr>
            <a:r>
              <a:rPr lang="pt-BR" sz="2100"/>
              <a:t>Cif</a:t>
            </a:r>
            <a:endParaRPr sz="2100"/>
          </a:p>
          <a:p>
            <a:pPr indent="-361950" lvl="0" marL="457200" rtl="0" algn="l">
              <a:spcBef>
                <a:spcPts val="0"/>
              </a:spcBef>
              <a:spcAft>
                <a:spcPts val="0"/>
              </a:spcAft>
              <a:buSzPts val="2100"/>
              <a:buChar char="●"/>
            </a:pPr>
            <a:r>
              <a:rPr lang="pt-BR" sz="2100"/>
              <a:t>Comfort</a:t>
            </a:r>
            <a:endParaRPr sz="2100"/>
          </a:p>
          <a:p>
            <a:pPr indent="-361950" lvl="0" marL="457200" rtl="0" algn="l">
              <a:spcBef>
                <a:spcPts val="0"/>
              </a:spcBef>
              <a:spcAft>
                <a:spcPts val="0"/>
              </a:spcAft>
              <a:buSzPts val="2100"/>
              <a:buChar char="●"/>
            </a:pPr>
            <a:r>
              <a:rPr lang="pt-BR" sz="2100"/>
              <a:t>OMO Lavanderia</a:t>
            </a:r>
            <a:endParaRPr sz="2100"/>
          </a:p>
          <a:p>
            <a:pPr indent="-361950" lvl="0" marL="457200" rtl="0" algn="l">
              <a:spcBef>
                <a:spcPts val="0"/>
              </a:spcBef>
              <a:spcAft>
                <a:spcPts val="0"/>
              </a:spcAft>
              <a:buSzPts val="2100"/>
              <a:buChar char="●"/>
            </a:pPr>
            <a:r>
              <a:rPr lang="pt-BR" sz="2100"/>
              <a:t>Ala</a:t>
            </a:r>
            <a:endParaRPr sz="2100"/>
          </a:p>
          <a:p>
            <a:pPr indent="-361950" lvl="0" marL="457200" rtl="0" algn="l">
              <a:spcBef>
                <a:spcPts val="0"/>
              </a:spcBef>
              <a:spcAft>
                <a:spcPts val="0"/>
              </a:spcAft>
              <a:buSzPts val="2100"/>
              <a:buChar char="●"/>
            </a:pPr>
            <a:r>
              <a:rPr lang="pt-BR" sz="2100"/>
              <a:t>Surf</a:t>
            </a:r>
            <a:endParaRPr sz="2100"/>
          </a:p>
          <a:p>
            <a:pPr indent="-361950" lvl="0" marL="457200" rtl="0" algn="l">
              <a:spcBef>
                <a:spcPts val="0"/>
              </a:spcBef>
              <a:spcAft>
                <a:spcPts val="0"/>
              </a:spcAft>
              <a:buSzPts val="2100"/>
              <a:buChar char="●"/>
            </a:pPr>
            <a:r>
              <a:rPr lang="pt-BR" sz="2100"/>
              <a:t>Fofo</a:t>
            </a:r>
            <a:endParaRPr sz="2100"/>
          </a:p>
          <a:p>
            <a:pPr indent="-361950" lvl="0" marL="457200" rtl="0" algn="l">
              <a:spcBef>
                <a:spcPts val="0"/>
              </a:spcBef>
              <a:spcAft>
                <a:spcPts val="0"/>
              </a:spcAft>
              <a:buSzPts val="2100"/>
              <a:buChar char="●"/>
            </a:pPr>
            <a:r>
              <a:rPr lang="pt-BR" sz="2100"/>
              <a:t>Brilhante</a:t>
            </a:r>
            <a:endParaRPr sz="2100"/>
          </a:p>
          <a:p>
            <a:pPr indent="-361950" lvl="0" marL="457200" rtl="0" algn="l">
              <a:spcBef>
                <a:spcPts val="0"/>
              </a:spcBef>
              <a:spcAft>
                <a:spcPts val="0"/>
              </a:spcAft>
              <a:buSzPts val="2100"/>
              <a:buChar char="●"/>
            </a:pPr>
            <a:r>
              <a:rPr lang="pt-BR" sz="2100"/>
              <a:t>UL PRO</a:t>
            </a:r>
            <a:endParaRPr sz="2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Fluxo</a:t>
            </a:r>
            <a:endParaRPr/>
          </a:p>
        </p:txBody>
      </p:sp>
      <p:cxnSp>
        <p:nvCxnSpPr>
          <p:cNvPr id="252" name="Google Shape;252;p36"/>
          <p:cNvCxnSpPr/>
          <p:nvPr/>
        </p:nvCxnSpPr>
        <p:spPr>
          <a:xfrm>
            <a:off x="420075" y="2790116"/>
            <a:ext cx="8336100" cy="0"/>
          </a:xfrm>
          <a:prstGeom prst="straightConnector1">
            <a:avLst/>
          </a:prstGeom>
          <a:noFill/>
          <a:ln cap="flat" cmpd="sng" w="19050">
            <a:solidFill>
              <a:schemeClr val="dk1"/>
            </a:solidFill>
            <a:prstDash val="dot"/>
            <a:round/>
            <a:headEnd len="sm" w="sm" type="none"/>
            <a:tailEnd len="sm" w="sm" type="none"/>
          </a:ln>
        </p:spPr>
      </p:cxnSp>
      <p:grpSp>
        <p:nvGrpSpPr>
          <p:cNvPr id="253" name="Google Shape;253;p36"/>
          <p:cNvGrpSpPr/>
          <p:nvPr/>
        </p:nvGrpSpPr>
        <p:grpSpPr>
          <a:xfrm>
            <a:off x="648675" y="1581271"/>
            <a:ext cx="196200" cy="1306800"/>
            <a:chOff x="648675" y="1657471"/>
            <a:chExt cx="196200" cy="1306800"/>
          </a:xfrm>
        </p:grpSpPr>
        <p:sp>
          <p:nvSpPr>
            <p:cNvPr id="254" name="Google Shape;254;p36"/>
            <p:cNvSpPr/>
            <p:nvPr/>
          </p:nvSpPr>
          <p:spPr>
            <a:xfrm>
              <a:off x="6486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5" name="Google Shape;255;p36"/>
            <p:cNvCxnSpPr>
              <a:stCxn id="254" idx="0"/>
            </p:cNvCxnSpPr>
            <p:nvPr/>
          </p:nvCxnSpPr>
          <p:spPr>
            <a:xfrm rot="10800000">
              <a:off x="746775" y="1657471"/>
              <a:ext cx="0" cy="1110900"/>
            </a:xfrm>
            <a:prstGeom prst="straightConnector1">
              <a:avLst/>
            </a:prstGeom>
            <a:noFill/>
            <a:ln cap="flat" cmpd="sng" w="19050">
              <a:solidFill>
                <a:schemeClr val="accent5"/>
              </a:solidFill>
              <a:prstDash val="solid"/>
              <a:round/>
              <a:headEnd len="sm" w="sm" type="none"/>
              <a:tailEnd len="med" w="med" type="oval"/>
            </a:ln>
          </p:spPr>
        </p:cxnSp>
      </p:grpSp>
      <p:sp>
        <p:nvSpPr>
          <p:cNvPr id="256" name="Google Shape;256;p36"/>
          <p:cNvSpPr txBox="1"/>
          <p:nvPr>
            <p:ph idx="4294967295" type="body"/>
          </p:nvPr>
        </p:nvSpPr>
        <p:spPr>
          <a:xfrm>
            <a:off x="835849" y="1299975"/>
            <a:ext cx="2938800" cy="9717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pt-BR"/>
              <a:t>Teams</a:t>
            </a:r>
            <a:endParaRPr b="1">
              <a:solidFill>
                <a:schemeClr val="dk2"/>
              </a:solidFill>
            </a:endParaRPr>
          </a:p>
          <a:p>
            <a:pPr indent="0" lvl="0" marL="0" rtl="0" algn="l">
              <a:spcBef>
                <a:spcPts val="0"/>
              </a:spcBef>
              <a:spcAft>
                <a:spcPts val="1200"/>
              </a:spcAft>
              <a:buNone/>
            </a:pPr>
            <a:r>
              <a:rPr lang="pt-BR" sz="1400"/>
              <a:t>O </a:t>
            </a:r>
            <a:r>
              <a:rPr lang="pt-BR" sz="1400"/>
              <a:t>mídia</a:t>
            </a:r>
            <a:r>
              <a:rPr lang="pt-BR" sz="1400"/>
              <a:t> solicita quais linhas da planilha online vão ser criadas com todas as informações que preciso. Planilha com abas separada entre Social, Youtube e Compra direta</a:t>
            </a:r>
            <a:endParaRPr b="1">
              <a:solidFill>
                <a:schemeClr val="dk2"/>
              </a:solidFill>
            </a:endParaRPr>
          </a:p>
        </p:txBody>
      </p:sp>
      <p:grpSp>
        <p:nvGrpSpPr>
          <p:cNvPr id="257" name="Google Shape;257;p36"/>
          <p:cNvGrpSpPr/>
          <p:nvPr/>
        </p:nvGrpSpPr>
        <p:grpSpPr>
          <a:xfrm>
            <a:off x="2512925" y="2692171"/>
            <a:ext cx="196200" cy="1404905"/>
            <a:chOff x="2512925" y="2768371"/>
            <a:chExt cx="196200" cy="1404905"/>
          </a:xfrm>
        </p:grpSpPr>
        <p:cxnSp>
          <p:nvCxnSpPr>
            <p:cNvPr id="258" name="Google Shape;258;p36"/>
            <p:cNvCxnSpPr/>
            <p:nvPr/>
          </p:nvCxnSpPr>
          <p:spPr>
            <a:xfrm>
              <a:off x="261102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259" name="Google Shape;259;p36"/>
            <p:cNvSpPr/>
            <p:nvPr/>
          </p:nvSpPr>
          <p:spPr>
            <a:xfrm>
              <a:off x="251292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 name="Google Shape;260;p36"/>
          <p:cNvSpPr txBox="1"/>
          <p:nvPr>
            <p:ph idx="4294967295" type="body"/>
          </p:nvPr>
        </p:nvSpPr>
        <p:spPr>
          <a:xfrm>
            <a:off x="2693150" y="3854675"/>
            <a:ext cx="2662200" cy="971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pt-BR"/>
              <a:t>Jira</a:t>
            </a:r>
            <a:endParaRPr b="1">
              <a:solidFill>
                <a:schemeClr val="dk2"/>
              </a:solidFill>
            </a:endParaRPr>
          </a:p>
          <a:p>
            <a:pPr indent="0" lvl="0" marL="0" rtl="0" algn="l">
              <a:spcBef>
                <a:spcPts val="0"/>
              </a:spcBef>
              <a:spcAft>
                <a:spcPts val="1200"/>
              </a:spcAft>
              <a:buNone/>
            </a:pPr>
            <a:r>
              <a:rPr lang="pt-BR" sz="1400"/>
              <a:t>Quando o </a:t>
            </a:r>
            <a:r>
              <a:rPr lang="pt-BR" sz="1400"/>
              <a:t>mídia</a:t>
            </a:r>
            <a:r>
              <a:rPr lang="pt-BR" sz="1400"/>
              <a:t> não cria uma task eu crio uma subtask dentro da task mãe e colo o print da solicitação ou descrevo o que foi solicitado</a:t>
            </a:r>
            <a:endParaRPr sz="1400"/>
          </a:p>
        </p:txBody>
      </p:sp>
      <p:grpSp>
        <p:nvGrpSpPr>
          <p:cNvPr id="261" name="Google Shape;261;p36"/>
          <p:cNvGrpSpPr/>
          <p:nvPr/>
        </p:nvGrpSpPr>
        <p:grpSpPr>
          <a:xfrm>
            <a:off x="4279200" y="1483171"/>
            <a:ext cx="196200" cy="1404900"/>
            <a:chOff x="4279200" y="1559371"/>
            <a:chExt cx="196200" cy="1404900"/>
          </a:xfrm>
        </p:grpSpPr>
        <p:cxnSp>
          <p:nvCxnSpPr>
            <p:cNvPr id="262" name="Google Shape;262;p36"/>
            <p:cNvCxnSpPr>
              <a:stCxn id="263" idx="0"/>
            </p:cNvCxnSpPr>
            <p:nvPr/>
          </p:nvCxnSpPr>
          <p:spPr>
            <a:xfrm rot="10800000">
              <a:off x="4377300" y="1559371"/>
              <a:ext cx="0" cy="1209000"/>
            </a:xfrm>
            <a:prstGeom prst="straightConnector1">
              <a:avLst/>
            </a:prstGeom>
            <a:noFill/>
            <a:ln cap="flat" cmpd="sng" w="19050">
              <a:solidFill>
                <a:schemeClr val="accent5"/>
              </a:solidFill>
              <a:prstDash val="solid"/>
              <a:round/>
              <a:headEnd len="sm" w="sm" type="none"/>
              <a:tailEnd len="med" w="med" type="oval"/>
            </a:ln>
          </p:spPr>
        </p:cxnSp>
        <p:sp>
          <p:nvSpPr>
            <p:cNvPr id="263" name="Google Shape;263;p36"/>
            <p:cNvSpPr/>
            <p:nvPr/>
          </p:nvSpPr>
          <p:spPr>
            <a:xfrm>
              <a:off x="4279200"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36"/>
          <p:cNvSpPr txBox="1"/>
          <p:nvPr>
            <p:ph idx="4294967295" type="body"/>
          </p:nvPr>
        </p:nvSpPr>
        <p:spPr>
          <a:xfrm>
            <a:off x="4454450" y="1299975"/>
            <a:ext cx="3031500" cy="971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pt-BR"/>
              <a:t>Flashtalking</a:t>
            </a:r>
            <a:endParaRPr b="1">
              <a:solidFill>
                <a:schemeClr val="dk2"/>
              </a:solidFill>
            </a:endParaRPr>
          </a:p>
          <a:p>
            <a:pPr indent="0" lvl="0" marL="0" rtl="0" algn="l">
              <a:spcBef>
                <a:spcPts val="0"/>
              </a:spcBef>
              <a:spcAft>
                <a:spcPts val="0"/>
              </a:spcAft>
              <a:buNone/>
            </a:pPr>
            <a:r>
              <a:rPr lang="pt-BR" sz="1400"/>
              <a:t>Crio as linhas no ADP e envio </a:t>
            </a:r>
            <a:r>
              <a:rPr lang="pt-BR" sz="1400"/>
              <a:t>para</a:t>
            </a:r>
            <a:r>
              <a:rPr lang="pt-BR" sz="1400"/>
              <a:t> Flashtalking criar os contadores via email</a:t>
            </a:r>
            <a:endParaRPr sz="1400"/>
          </a:p>
          <a:p>
            <a:pPr indent="0" lvl="0" marL="0" rtl="0" algn="l">
              <a:spcBef>
                <a:spcPts val="1200"/>
              </a:spcBef>
              <a:spcAft>
                <a:spcPts val="1200"/>
              </a:spcAft>
              <a:buNone/>
            </a:pPr>
            <a:r>
              <a:t/>
            </a:r>
            <a:endParaRPr/>
          </a:p>
        </p:txBody>
      </p:sp>
      <p:grpSp>
        <p:nvGrpSpPr>
          <p:cNvPr id="265" name="Google Shape;265;p36"/>
          <p:cNvGrpSpPr/>
          <p:nvPr/>
        </p:nvGrpSpPr>
        <p:grpSpPr>
          <a:xfrm>
            <a:off x="6045475" y="2692171"/>
            <a:ext cx="196200" cy="1404905"/>
            <a:chOff x="6045475" y="2768371"/>
            <a:chExt cx="196200" cy="1404905"/>
          </a:xfrm>
        </p:grpSpPr>
        <p:cxnSp>
          <p:nvCxnSpPr>
            <p:cNvPr id="266" name="Google Shape;266;p36"/>
            <p:cNvCxnSpPr/>
            <p:nvPr/>
          </p:nvCxnSpPr>
          <p:spPr>
            <a:xfrm>
              <a:off x="614357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267" name="Google Shape;267;p36"/>
            <p:cNvSpPr/>
            <p:nvPr/>
          </p:nvSpPr>
          <p:spPr>
            <a:xfrm>
              <a:off x="60454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36"/>
          <p:cNvSpPr txBox="1"/>
          <p:nvPr>
            <p:ph idx="4294967295" type="body"/>
          </p:nvPr>
        </p:nvSpPr>
        <p:spPr>
          <a:xfrm>
            <a:off x="6225725" y="3854675"/>
            <a:ext cx="2883000" cy="971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pt-BR"/>
              <a:t>Contadores</a:t>
            </a:r>
            <a:endParaRPr b="1">
              <a:solidFill>
                <a:schemeClr val="dk2"/>
              </a:solidFill>
            </a:endParaRPr>
          </a:p>
          <a:p>
            <a:pPr indent="0" lvl="0" marL="0" rtl="0" algn="l">
              <a:spcBef>
                <a:spcPts val="0"/>
              </a:spcBef>
              <a:spcAft>
                <a:spcPts val="1200"/>
              </a:spcAft>
              <a:buNone/>
            </a:pPr>
            <a:r>
              <a:rPr lang="pt-BR" sz="1400"/>
              <a:t>Depois da Flashtalking devolver o ADP com os contadores eu abro o arquivo, copio e colo os contadores e taxonomias na planilha online</a:t>
            </a:r>
            <a:endParaRPr sz="1400"/>
          </a:p>
        </p:txBody>
      </p:sp>
      <p:grpSp>
        <p:nvGrpSpPr>
          <p:cNvPr id="269" name="Google Shape;269;p36"/>
          <p:cNvGrpSpPr/>
          <p:nvPr/>
        </p:nvGrpSpPr>
        <p:grpSpPr>
          <a:xfrm>
            <a:off x="7726475" y="1483171"/>
            <a:ext cx="196200" cy="1404900"/>
            <a:chOff x="4279200" y="1559371"/>
            <a:chExt cx="196200" cy="1404900"/>
          </a:xfrm>
        </p:grpSpPr>
        <p:cxnSp>
          <p:nvCxnSpPr>
            <p:cNvPr id="270" name="Google Shape;270;p36"/>
            <p:cNvCxnSpPr>
              <a:stCxn id="271" idx="0"/>
            </p:cNvCxnSpPr>
            <p:nvPr/>
          </p:nvCxnSpPr>
          <p:spPr>
            <a:xfrm rot="10800000">
              <a:off x="4377300" y="1559371"/>
              <a:ext cx="0" cy="1209000"/>
            </a:xfrm>
            <a:prstGeom prst="straightConnector1">
              <a:avLst/>
            </a:prstGeom>
            <a:noFill/>
            <a:ln cap="flat" cmpd="sng" w="19050">
              <a:solidFill>
                <a:schemeClr val="accent5"/>
              </a:solidFill>
              <a:prstDash val="solid"/>
              <a:round/>
              <a:headEnd len="sm" w="sm" type="none"/>
              <a:tailEnd len="med" w="med" type="oval"/>
            </a:ln>
          </p:spPr>
        </p:cxnSp>
        <p:sp>
          <p:nvSpPr>
            <p:cNvPr id="271" name="Google Shape;271;p36"/>
            <p:cNvSpPr/>
            <p:nvPr/>
          </p:nvSpPr>
          <p:spPr>
            <a:xfrm>
              <a:off x="4279200"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2" name="Google Shape;272;p36"/>
          <p:cNvSpPr txBox="1"/>
          <p:nvPr>
            <p:ph idx="4294967295" type="body"/>
          </p:nvPr>
        </p:nvSpPr>
        <p:spPr>
          <a:xfrm>
            <a:off x="7909725" y="1283975"/>
            <a:ext cx="1186200" cy="1901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pt-BR"/>
              <a:t>QA</a:t>
            </a:r>
            <a:endParaRPr b="1">
              <a:solidFill>
                <a:schemeClr val="dk2"/>
              </a:solidFill>
            </a:endParaRPr>
          </a:p>
          <a:p>
            <a:pPr indent="0" lvl="0" marL="0" rtl="0" algn="l">
              <a:spcBef>
                <a:spcPts val="0"/>
              </a:spcBef>
              <a:spcAft>
                <a:spcPts val="0"/>
              </a:spcAft>
              <a:buNone/>
            </a:pPr>
            <a:r>
              <a:rPr lang="pt-BR" sz="1400"/>
              <a:t>Depois de implementado na plataforma, tira-se um print da taxonomia que foi criada, alegando que está tudo Ok e da concluido na task</a:t>
            </a:r>
            <a:endParaRPr sz="1400"/>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Detalhamento do dia-a-dia</a:t>
            </a:r>
            <a:endParaRPr/>
          </a:p>
        </p:txBody>
      </p:sp>
      <p:sp>
        <p:nvSpPr>
          <p:cNvPr id="278" name="Google Shape;278;p37"/>
          <p:cNvSpPr txBox="1"/>
          <p:nvPr/>
        </p:nvSpPr>
        <p:spPr>
          <a:xfrm>
            <a:off x="401375" y="1461900"/>
            <a:ext cx="8345100" cy="3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300">
                <a:solidFill>
                  <a:schemeClr val="dk2"/>
                </a:solidFill>
                <a:latin typeface="Roboto"/>
                <a:ea typeface="Roboto"/>
                <a:cs typeface="Roboto"/>
                <a:sym typeface="Roboto"/>
              </a:rPr>
              <a:t>Primeira parte do dia é analisar se as linhas das tasks que estão ‘QA’ ja foram implementadas. Caso tenham sido implementadas, deve se comparar com a planilha online </a:t>
            </a:r>
            <a:r>
              <a:rPr lang="pt-BR" sz="1300">
                <a:solidFill>
                  <a:schemeClr val="dk2"/>
                </a:solidFill>
                <a:latin typeface="Roboto"/>
                <a:ea typeface="Roboto"/>
                <a:cs typeface="Roboto"/>
                <a:sym typeface="Roboto"/>
              </a:rPr>
              <a:t>para</a:t>
            </a:r>
            <a:r>
              <a:rPr lang="pt-BR" sz="1300">
                <a:solidFill>
                  <a:schemeClr val="dk2"/>
                </a:solidFill>
                <a:latin typeface="Roboto"/>
                <a:ea typeface="Roboto"/>
                <a:cs typeface="Roboto"/>
                <a:sym typeface="Roboto"/>
              </a:rPr>
              <a:t> ver se está tudo conforme foi criado.</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Caso esteja tudo Ok, tiro print das linhas feitas, colo na task e dou concluido. Caso esteja errado, deve informar o </a:t>
            </a:r>
            <a:r>
              <a:rPr lang="pt-BR" sz="1300">
                <a:solidFill>
                  <a:schemeClr val="dk2"/>
                </a:solidFill>
                <a:latin typeface="Roboto"/>
                <a:ea typeface="Roboto"/>
                <a:cs typeface="Roboto"/>
                <a:sym typeface="Roboto"/>
              </a:rPr>
              <a:t>mídia</a:t>
            </a:r>
            <a:r>
              <a:rPr lang="pt-BR" sz="1300">
                <a:solidFill>
                  <a:schemeClr val="dk2"/>
                </a:solidFill>
                <a:latin typeface="Roboto"/>
                <a:ea typeface="Roboto"/>
                <a:cs typeface="Roboto"/>
                <a:sym typeface="Roboto"/>
              </a:rPr>
              <a:t> sobre quais linhas estão em desacordo e solicitar que ele ajuste na plataforma.</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Durante o dia, se tiver ajustes, é preciso que o midia nos solicite o ajuste na taxonomia, enviando a planilha online e identificando quais as informações que vão passar por ajuste.</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Abrir a ultima versão do arquivo e fazer o ajuste das linhas. Logo após isso envio o arquivo na Thread correspondente ao ‘Campaing Name Global’, onde cada marca tem a sua. No caso de OMO existe 3 Campaign Name Global: Blockbuster, PlayOn e Back to The Future.</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Sempre que for um ajuste ou uma criação de taxonomia, deve se criar uma task ou subtask para contabilizar as demandas feitas </a:t>
            </a:r>
            <a:endParaRPr sz="13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284" name="Google Shape;284;p38"/>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Comfort / Ala / Surf / Fofo</a:t>
            </a:r>
            <a:endParaRPr sz="1600"/>
          </a:p>
        </p:txBody>
      </p:sp>
      <p:sp>
        <p:nvSpPr>
          <p:cNvPr id="285" name="Google Shape;285;p38"/>
          <p:cNvSpPr txBox="1"/>
          <p:nvPr>
            <p:ph idx="1" type="body"/>
          </p:nvPr>
        </p:nvSpPr>
        <p:spPr>
          <a:xfrm>
            <a:off x="464975" y="1294225"/>
            <a:ext cx="4048800" cy="1316400"/>
          </a:xfrm>
          <a:prstGeom prst="rect">
            <a:avLst/>
          </a:prstGeom>
        </p:spPr>
        <p:txBody>
          <a:bodyPr anchorCtr="0" anchor="ctr" bIns="91425" lIns="91425" spcFirstLastPara="1" rIns="0"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 Comfort:</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Lucas Baptista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lucas.baptista@initiative.com</a:t>
            </a:r>
            <a:endParaRPr sz="1440">
              <a:solidFill>
                <a:schemeClr val="dk2"/>
              </a:solidFill>
            </a:endParaRPr>
          </a:p>
        </p:txBody>
      </p:sp>
      <p:sp>
        <p:nvSpPr>
          <p:cNvPr id="286" name="Google Shape;286;p38"/>
          <p:cNvSpPr txBox="1"/>
          <p:nvPr>
            <p:ph idx="1" type="body"/>
          </p:nvPr>
        </p:nvSpPr>
        <p:spPr>
          <a:xfrm>
            <a:off x="453225" y="2790450"/>
            <a:ext cx="33879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Janaina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j</a:t>
            </a:r>
            <a:r>
              <a:rPr lang="pt-BR" sz="1440">
                <a:solidFill>
                  <a:schemeClr val="dk2"/>
                </a:solidFill>
              </a:rPr>
              <a:t>anaina.soares@initiative.com</a:t>
            </a:r>
            <a:endParaRPr sz="1440">
              <a:solidFill>
                <a:schemeClr val="dk2"/>
              </a:solidFill>
            </a:endParaRPr>
          </a:p>
        </p:txBody>
      </p:sp>
      <p:sp>
        <p:nvSpPr>
          <p:cNvPr id="287" name="Google Shape;287;p38"/>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 Lopes</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matheus.lopes@matterkind.com</a:t>
            </a:r>
            <a:endParaRPr sz="1440">
              <a:solidFill>
                <a:schemeClr val="dk2"/>
              </a:solidFill>
            </a:endParaRPr>
          </a:p>
        </p:txBody>
      </p:sp>
      <p:sp>
        <p:nvSpPr>
          <p:cNvPr id="288" name="Google Shape;288;p38"/>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janaina.soares@initiative.com</a:t>
            </a:r>
            <a:endParaRPr sz="1500">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294" name="Google Shape;294;p39"/>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Cif / Brilhante/ VIM/ UL PRO</a:t>
            </a:r>
            <a:endParaRPr sz="1600"/>
          </a:p>
        </p:txBody>
      </p:sp>
      <p:sp>
        <p:nvSpPr>
          <p:cNvPr id="295" name="Google Shape;295;p39"/>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 CIF - VIM:</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Caroline</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caroline.legnaro@initiative.com</a:t>
            </a:r>
            <a:endParaRPr sz="1440">
              <a:solidFill>
                <a:schemeClr val="dk2"/>
              </a:solidFill>
            </a:endParaRPr>
          </a:p>
        </p:txBody>
      </p:sp>
      <p:sp>
        <p:nvSpPr>
          <p:cNvPr id="296" name="Google Shape;296;p39"/>
          <p:cNvSpPr txBox="1"/>
          <p:nvPr>
            <p:ph idx="1" type="body"/>
          </p:nvPr>
        </p:nvSpPr>
        <p:spPr>
          <a:xfrm>
            <a:off x="453225" y="2790450"/>
            <a:ext cx="33879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Vanessa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vanessa.dantas@initiative.com</a:t>
            </a:r>
            <a:endParaRPr sz="1440">
              <a:solidFill>
                <a:schemeClr val="dk2"/>
              </a:solidFill>
            </a:endParaRPr>
          </a:p>
        </p:txBody>
      </p:sp>
      <p:sp>
        <p:nvSpPr>
          <p:cNvPr id="297" name="Google Shape;297;p39"/>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 Lopes</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matheus.lopes@matterkind.com</a:t>
            </a:r>
            <a:endParaRPr sz="1440">
              <a:solidFill>
                <a:schemeClr val="dk2"/>
              </a:solidFill>
            </a:endParaRPr>
          </a:p>
        </p:txBody>
      </p:sp>
      <p:sp>
        <p:nvSpPr>
          <p:cNvPr id="298" name="Google Shape;298;p39"/>
          <p:cNvSpPr txBox="1"/>
          <p:nvPr>
            <p:ph idx="1" type="body"/>
          </p:nvPr>
        </p:nvSpPr>
        <p:spPr>
          <a:xfrm>
            <a:off x="5036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 - Brilhante:</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Gabriela Gonzalez</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gabriela.gonzalez@initiative.com</a:t>
            </a:r>
            <a:endParaRPr sz="1440">
              <a:solidFill>
                <a:schemeClr val="dk2"/>
              </a:solidFill>
            </a:endParaRPr>
          </a:p>
        </p:txBody>
      </p:sp>
      <p:sp>
        <p:nvSpPr>
          <p:cNvPr id="299" name="Google Shape;299;p39"/>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katia.lima@initiative.com</a:t>
            </a:r>
            <a:endParaRPr sz="1500">
              <a:solidFill>
                <a:schemeClr val="lt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305" name="Google Shape;305;p4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OMO</a:t>
            </a:r>
            <a:endParaRPr sz="1600"/>
          </a:p>
        </p:txBody>
      </p:sp>
      <p:sp>
        <p:nvSpPr>
          <p:cNvPr id="306" name="Google Shape;306;p40"/>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Sandielli Sena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sandielli.sena@initiative.com</a:t>
            </a:r>
            <a:endParaRPr sz="1440">
              <a:solidFill>
                <a:schemeClr val="dk2"/>
              </a:solidFill>
            </a:endParaRPr>
          </a:p>
        </p:txBody>
      </p:sp>
      <p:sp>
        <p:nvSpPr>
          <p:cNvPr id="307" name="Google Shape;307;p40"/>
          <p:cNvSpPr txBox="1"/>
          <p:nvPr>
            <p:ph idx="1" type="body"/>
          </p:nvPr>
        </p:nvSpPr>
        <p:spPr>
          <a:xfrm>
            <a:off x="453225" y="2790450"/>
            <a:ext cx="37470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Fernanda Rodrigues</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f</a:t>
            </a:r>
            <a:r>
              <a:rPr lang="pt-BR" sz="1440">
                <a:solidFill>
                  <a:schemeClr val="dk2"/>
                </a:solidFill>
              </a:rPr>
              <a:t>ernanda.rodrigues@initiative.com</a:t>
            </a:r>
            <a:endParaRPr sz="1440">
              <a:solidFill>
                <a:schemeClr val="dk2"/>
              </a:solidFill>
            </a:endParaRPr>
          </a:p>
        </p:txBody>
      </p:sp>
      <p:sp>
        <p:nvSpPr>
          <p:cNvPr id="308" name="Google Shape;308;p40"/>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 Lopes</a:t>
            </a:r>
            <a:endParaRPr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matheus.lopes@matterkind.com</a:t>
            </a:r>
            <a:endParaRPr sz="1440">
              <a:solidFill>
                <a:schemeClr val="dk2"/>
              </a:solidFill>
            </a:endParaRPr>
          </a:p>
        </p:txBody>
      </p:sp>
      <p:sp>
        <p:nvSpPr>
          <p:cNvPr id="309" name="Google Shape;309;p40"/>
          <p:cNvSpPr txBox="1"/>
          <p:nvPr>
            <p:ph idx="1" type="body"/>
          </p:nvPr>
        </p:nvSpPr>
        <p:spPr>
          <a:xfrm>
            <a:off x="5036975" y="1338025"/>
            <a:ext cx="39720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 OMO Lavanderia: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Rafaela Rossi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rafaela.rossi@initiative.com</a:t>
            </a:r>
            <a:endParaRPr sz="1440">
              <a:solidFill>
                <a:schemeClr val="dk2"/>
              </a:solidFill>
            </a:endParaRPr>
          </a:p>
        </p:txBody>
      </p:sp>
      <p:sp>
        <p:nvSpPr>
          <p:cNvPr id="310" name="Google Shape;310;p40"/>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leonardo.sousa@initiative.com</a:t>
            </a:r>
            <a:endParaRPr sz="1500">
              <a:solidFill>
                <a:schemeClr val="lt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316" name="Google Shape;316;p41"/>
          <p:cNvSpPr txBox="1"/>
          <p:nvPr/>
        </p:nvSpPr>
        <p:spPr>
          <a:xfrm>
            <a:off x="401375" y="1461900"/>
            <a:ext cx="8345100" cy="34419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pt-BR" sz="1300">
                <a:solidFill>
                  <a:schemeClr val="dk2"/>
                </a:solidFill>
                <a:latin typeface="Roboto"/>
                <a:ea typeface="Roboto"/>
                <a:cs typeface="Roboto"/>
                <a:sym typeface="Roboto"/>
              </a:rPr>
              <a:t>A maior parte do relacionamento é através do Teams, muitas vezes as solicitações vem através dos grupos criados de cada marca.</a:t>
            </a:r>
            <a:endParaRPr sz="1300">
              <a:solidFill>
                <a:schemeClr val="dk2"/>
              </a:solidFill>
              <a:latin typeface="Roboto"/>
              <a:ea typeface="Roboto"/>
              <a:cs typeface="Roboto"/>
              <a:sym typeface="Roboto"/>
            </a:endParaRPr>
          </a:p>
          <a:p>
            <a:pPr indent="0" lvl="0" marL="457200" rtl="0" algn="l">
              <a:spcBef>
                <a:spcPts val="0"/>
              </a:spcBef>
              <a:spcAft>
                <a:spcPts val="0"/>
              </a:spcAft>
              <a:buNone/>
            </a:pPr>
            <a:r>
              <a:t/>
            </a:r>
            <a:endParaRPr sz="1300">
              <a:solidFill>
                <a:schemeClr val="dk2"/>
              </a:solidFill>
              <a:latin typeface="Roboto"/>
              <a:ea typeface="Roboto"/>
              <a:cs typeface="Roboto"/>
              <a:sym typeface="Roboto"/>
            </a:endParaRPr>
          </a:p>
          <a:p>
            <a:pPr indent="0" lvl="0" marL="457200" rtl="0" algn="l">
              <a:spcBef>
                <a:spcPts val="0"/>
              </a:spcBef>
              <a:spcAft>
                <a:spcPts val="0"/>
              </a:spcAft>
              <a:buNone/>
            </a:pPr>
            <a:r>
              <a:rPr lang="pt-BR" sz="1300">
                <a:solidFill>
                  <a:schemeClr val="dk2"/>
                </a:solidFill>
                <a:latin typeface="Roboto"/>
                <a:ea typeface="Roboto"/>
                <a:cs typeface="Roboto"/>
                <a:sym typeface="Roboto"/>
              </a:rPr>
              <a:t>Pode existir </a:t>
            </a:r>
            <a:r>
              <a:rPr lang="pt-BR" sz="1300">
                <a:solidFill>
                  <a:schemeClr val="dk2"/>
                </a:solidFill>
                <a:latin typeface="Roboto"/>
                <a:ea typeface="Roboto"/>
                <a:cs typeface="Roboto"/>
                <a:sym typeface="Roboto"/>
              </a:rPr>
              <a:t>também</a:t>
            </a:r>
            <a:r>
              <a:rPr lang="pt-BR" sz="1300">
                <a:solidFill>
                  <a:schemeClr val="dk2"/>
                </a:solidFill>
                <a:latin typeface="Roboto"/>
                <a:ea typeface="Roboto"/>
                <a:cs typeface="Roboto"/>
                <a:sym typeface="Roboto"/>
              </a:rPr>
              <a:t> a possibilidade do </a:t>
            </a:r>
            <a:r>
              <a:rPr lang="pt-BR" sz="1300">
                <a:solidFill>
                  <a:schemeClr val="dk2"/>
                </a:solidFill>
                <a:latin typeface="Roboto"/>
                <a:ea typeface="Roboto"/>
                <a:cs typeface="Roboto"/>
                <a:sym typeface="Roboto"/>
              </a:rPr>
              <a:t>mídia</a:t>
            </a:r>
            <a:r>
              <a:rPr lang="pt-BR" sz="1300">
                <a:solidFill>
                  <a:schemeClr val="dk2"/>
                </a:solidFill>
                <a:latin typeface="Roboto"/>
                <a:ea typeface="Roboto"/>
                <a:cs typeface="Roboto"/>
                <a:sym typeface="Roboto"/>
              </a:rPr>
              <a:t> nos procurar no particular para tirar alguma </a:t>
            </a:r>
            <a:r>
              <a:rPr lang="pt-BR" sz="1300">
                <a:solidFill>
                  <a:schemeClr val="dk2"/>
                </a:solidFill>
                <a:latin typeface="Roboto"/>
                <a:ea typeface="Roboto"/>
                <a:cs typeface="Roboto"/>
                <a:sym typeface="Roboto"/>
              </a:rPr>
              <a:t>dúvida</a:t>
            </a:r>
            <a:r>
              <a:rPr lang="pt-BR" sz="1300">
                <a:solidFill>
                  <a:schemeClr val="dk2"/>
                </a:solidFill>
                <a:latin typeface="Roboto"/>
                <a:ea typeface="Roboto"/>
                <a:cs typeface="Roboto"/>
                <a:sym typeface="Roboto"/>
              </a:rPr>
              <a:t> ou resolver algo mais </a:t>
            </a:r>
            <a:r>
              <a:rPr lang="pt-BR" sz="1300">
                <a:solidFill>
                  <a:schemeClr val="dk2"/>
                </a:solidFill>
                <a:latin typeface="Roboto"/>
                <a:ea typeface="Roboto"/>
                <a:cs typeface="Roboto"/>
                <a:sym typeface="Roboto"/>
              </a:rPr>
              <a:t>específico</a:t>
            </a:r>
            <a:r>
              <a:rPr lang="pt-BR" sz="1300">
                <a:solidFill>
                  <a:schemeClr val="dk2"/>
                </a:solidFill>
                <a:latin typeface="Roboto"/>
                <a:ea typeface="Roboto"/>
                <a:cs typeface="Roboto"/>
                <a:sym typeface="Roboto"/>
              </a:rPr>
              <a:t> da demanda.</a:t>
            </a:r>
            <a:endParaRPr sz="1300">
              <a:solidFill>
                <a:schemeClr val="dk2"/>
              </a:solidFill>
              <a:latin typeface="Roboto"/>
              <a:ea typeface="Roboto"/>
              <a:cs typeface="Roboto"/>
              <a:sym typeface="Roboto"/>
            </a:endParaRPr>
          </a:p>
          <a:p>
            <a:pPr indent="0" lvl="0" marL="457200" rtl="0" algn="l">
              <a:spcBef>
                <a:spcPts val="0"/>
              </a:spcBef>
              <a:spcAft>
                <a:spcPts val="0"/>
              </a:spcAft>
              <a:buNone/>
            </a:pPr>
            <a:r>
              <a:t/>
            </a:r>
            <a:endParaRPr sz="1300">
              <a:solidFill>
                <a:schemeClr val="dk2"/>
              </a:solidFill>
              <a:latin typeface="Roboto"/>
              <a:ea typeface="Roboto"/>
              <a:cs typeface="Roboto"/>
              <a:sym typeface="Roboto"/>
            </a:endParaRPr>
          </a:p>
          <a:p>
            <a:pPr indent="0" lvl="0" marL="457200" rtl="0" algn="l">
              <a:spcBef>
                <a:spcPts val="0"/>
              </a:spcBef>
              <a:spcAft>
                <a:spcPts val="0"/>
              </a:spcAft>
              <a:buNone/>
            </a:pPr>
            <a:r>
              <a:rPr lang="pt-BR" sz="1300">
                <a:solidFill>
                  <a:schemeClr val="dk2"/>
                </a:solidFill>
                <a:latin typeface="Roboto"/>
                <a:ea typeface="Roboto"/>
                <a:cs typeface="Roboto"/>
                <a:sym typeface="Roboto"/>
              </a:rPr>
              <a:t>Os </a:t>
            </a:r>
            <a:r>
              <a:rPr lang="pt-BR" sz="1300">
                <a:solidFill>
                  <a:schemeClr val="dk2"/>
                </a:solidFill>
                <a:latin typeface="Roboto"/>
                <a:ea typeface="Roboto"/>
                <a:cs typeface="Roboto"/>
                <a:sym typeface="Roboto"/>
              </a:rPr>
              <a:t>mídias</a:t>
            </a:r>
            <a:r>
              <a:rPr lang="pt-BR" sz="1300">
                <a:solidFill>
                  <a:schemeClr val="dk2"/>
                </a:solidFill>
                <a:latin typeface="Roboto"/>
                <a:ea typeface="Roboto"/>
                <a:cs typeface="Roboto"/>
                <a:sym typeface="Roboto"/>
              </a:rPr>
              <a:t> </a:t>
            </a:r>
            <a:r>
              <a:rPr lang="pt-BR" sz="1300">
                <a:solidFill>
                  <a:schemeClr val="dk2"/>
                </a:solidFill>
                <a:latin typeface="Roboto"/>
                <a:ea typeface="Roboto"/>
                <a:cs typeface="Roboto"/>
                <a:sym typeface="Roboto"/>
              </a:rPr>
              <a:t>às</a:t>
            </a:r>
            <a:r>
              <a:rPr lang="pt-BR" sz="1300">
                <a:solidFill>
                  <a:schemeClr val="dk2"/>
                </a:solidFill>
                <a:latin typeface="Roboto"/>
                <a:ea typeface="Roboto"/>
                <a:cs typeface="Roboto"/>
                <a:sym typeface="Roboto"/>
              </a:rPr>
              <a:t> vezes precisam mostrar algo e solicitam uma call rápida para que se tenha um entendimento de ambas as partes, ou até mesmo para tirar </a:t>
            </a:r>
            <a:r>
              <a:rPr lang="pt-BR" sz="1300">
                <a:solidFill>
                  <a:schemeClr val="dk2"/>
                </a:solidFill>
                <a:latin typeface="Roboto"/>
                <a:ea typeface="Roboto"/>
                <a:cs typeface="Roboto"/>
                <a:sym typeface="Roboto"/>
              </a:rPr>
              <a:t>dúvidas</a:t>
            </a:r>
            <a:r>
              <a:rPr lang="pt-BR" sz="1300">
                <a:solidFill>
                  <a:schemeClr val="dk2"/>
                </a:solidFill>
                <a:latin typeface="Roboto"/>
                <a:ea typeface="Roboto"/>
                <a:cs typeface="Roboto"/>
                <a:sym typeface="Roboto"/>
              </a:rPr>
              <a:t> em relação a taxonomia e como ele pode solicitar para que fique de acordo com a segmentação na plataforma.</a:t>
            </a:r>
            <a:endParaRPr sz="1300">
              <a:solidFill>
                <a:schemeClr val="dk2"/>
              </a:solidFill>
              <a:latin typeface="Roboto"/>
              <a:ea typeface="Roboto"/>
              <a:cs typeface="Roboto"/>
              <a:sym typeface="Roboto"/>
            </a:endParaRPr>
          </a:p>
          <a:p>
            <a:pPr indent="0" lvl="0" marL="457200" rtl="0" algn="l">
              <a:spcBef>
                <a:spcPts val="0"/>
              </a:spcBef>
              <a:spcAft>
                <a:spcPts val="0"/>
              </a:spcAft>
              <a:buNone/>
            </a:pPr>
            <a:r>
              <a:t/>
            </a:r>
            <a:endParaRPr sz="1300">
              <a:solidFill>
                <a:schemeClr val="dk2"/>
              </a:solidFill>
              <a:latin typeface="Roboto"/>
              <a:ea typeface="Roboto"/>
              <a:cs typeface="Roboto"/>
              <a:sym typeface="Roboto"/>
            </a:endParaRPr>
          </a:p>
          <a:p>
            <a:pPr indent="0" lvl="0" marL="457200" rtl="0" algn="l">
              <a:spcBef>
                <a:spcPts val="0"/>
              </a:spcBef>
              <a:spcAft>
                <a:spcPts val="0"/>
              </a:spcAft>
              <a:buNone/>
            </a:pPr>
            <a:r>
              <a:rPr lang="pt-BR" sz="1300">
                <a:solidFill>
                  <a:schemeClr val="dk2"/>
                </a:solidFill>
                <a:latin typeface="Roboto"/>
                <a:ea typeface="Roboto"/>
                <a:cs typeface="Roboto"/>
                <a:sym typeface="Roboto"/>
              </a:rPr>
              <a:t>Sempre que houver uma </a:t>
            </a:r>
            <a:r>
              <a:rPr lang="pt-BR" sz="1300">
                <a:solidFill>
                  <a:schemeClr val="dk2"/>
                </a:solidFill>
                <a:latin typeface="Roboto"/>
                <a:ea typeface="Roboto"/>
                <a:cs typeface="Roboto"/>
                <a:sym typeface="Roboto"/>
              </a:rPr>
              <a:t>urgência</a:t>
            </a:r>
            <a:r>
              <a:rPr lang="pt-BR" sz="1300">
                <a:solidFill>
                  <a:schemeClr val="dk2"/>
                </a:solidFill>
                <a:latin typeface="Roboto"/>
                <a:ea typeface="Roboto"/>
                <a:cs typeface="Roboto"/>
                <a:sym typeface="Roboto"/>
              </a:rPr>
              <a:t> na demanda e que o </a:t>
            </a:r>
            <a:r>
              <a:rPr lang="pt-BR" sz="1300">
                <a:solidFill>
                  <a:schemeClr val="dk2"/>
                </a:solidFill>
                <a:latin typeface="Roboto"/>
                <a:ea typeface="Roboto"/>
                <a:cs typeface="Roboto"/>
                <a:sym typeface="Roboto"/>
              </a:rPr>
              <a:t>mídia</a:t>
            </a:r>
            <a:r>
              <a:rPr lang="pt-BR" sz="1300">
                <a:solidFill>
                  <a:schemeClr val="dk2"/>
                </a:solidFill>
                <a:latin typeface="Roboto"/>
                <a:ea typeface="Roboto"/>
                <a:cs typeface="Roboto"/>
                <a:sym typeface="Roboto"/>
              </a:rPr>
              <a:t> precise subir a campanha o mais rápido </a:t>
            </a:r>
            <a:r>
              <a:rPr lang="pt-BR" sz="1300">
                <a:solidFill>
                  <a:schemeClr val="dk2"/>
                </a:solidFill>
                <a:latin typeface="Roboto"/>
                <a:ea typeface="Roboto"/>
                <a:cs typeface="Roboto"/>
                <a:sym typeface="Roboto"/>
              </a:rPr>
              <a:t>possível</a:t>
            </a:r>
            <a:r>
              <a:rPr lang="pt-BR" sz="1300">
                <a:solidFill>
                  <a:schemeClr val="dk2"/>
                </a:solidFill>
                <a:latin typeface="Roboto"/>
                <a:ea typeface="Roboto"/>
                <a:cs typeface="Roboto"/>
                <a:sym typeface="Roboto"/>
              </a:rPr>
              <a:t>, deve ser avisado para que deixe </a:t>
            </a:r>
            <a:r>
              <a:rPr lang="pt-BR" sz="1300">
                <a:solidFill>
                  <a:schemeClr val="dk2"/>
                </a:solidFill>
                <a:latin typeface="Roboto"/>
                <a:ea typeface="Roboto"/>
                <a:cs typeface="Roboto"/>
                <a:sym typeface="Roboto"/>
              </a:rPr>
              <a:t>explícito</a:t>
            </a:r>
            <a:r>
              <a:rPr lang="pt-BR" sz="1300">
                <a:solidFill>
                  <a:schemeClr val="dk2"/>
                </a:solidFill>
                <a:latin typeface="Roboto"/>
                <a:ea typeface="Roboto"/>
                <a:cs typeface="Roboto"/>
                <a:sym typeface="Roboto"/>
              </a:rPr>
              <a:t> na Thread do email para que a equipe da Flashtalking tome como prioridade.</a:t>
            </a:r>
            <a:endParaRPr sz="1300">
              <a:solidFill>
                <a:schemeClr val="dk2"/>
              </a:solidFill>
              <a:latin typeface="Roboto"/>
              <a:ea typeface="Roboto"/>
              <a:cs typeface="Roboto"/>
              <a:sym typeface="Roboto"/>
            </a:endParaRPr>
          </a:p>
          <a:p>
            <a:pPr indent="0" lvl="0" marL="457200" rtl="0" algn="l">
              <a:spcBef>
                <a:spcPts val="0"/>
              </a:spcBef>
              <a:spcAft>
                <a:spcPts val="0"/>
              </a:spcAft>
              <a:buNone/>
            </a:pPr>
            <a:r>
              <a:t/>
            </a:r>
            <a:endParaRPr sz="1300">
              <a:solidFill>
                <a:schemeClr val="dk2"/>
              </a:solidFill>
              <a:latin typeface="Roboto"/>
              <a:ea typeface="Roboto"/>
              <a:cs typeface="Roboto"/>
              <a:sym typeface="Roboto"/>
            </a:endParaRPr>
          </a:p>
          <a:p>
            <a:pPr indent="0" lvl="0" marL="45720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type="title"/>
          </p:nvPr>
        </p:nvSpPr>
        <p:spPr>
          <a:xfrm>
            <a:off x="265500" y="1549950"/>
            <a:ext cx="4045200" cy="204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a:t>B&amp;W</a:t>
            </a:r>
            <a:endParaRPr/>
          </a:p>
          <a:p>
            <a:pPr indent="0" lvl="0" marL="0" rtl="0" algn="l">
              <a:spcBef>
                <a:spcPts val="0"/>
              </a:spcBef>
              <a:spcAft>
                <a:spcPts val="0"/>
              </a:spcAft>
              <a:buNone/>
            </a:pPr>
            <a:r>
              <a:rPr lang="pt-BR" sz="2300"/>
              <a:t>(Beauty e Wellbeing)</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pt-BR" sz="2300"/>
              <a:t>Responsável</a:t>
            </a:r>
            <a:endParaRPr sz="2300"/>
          </a:p>
          <a:p>
            <a:pPr indent="0" lvl="0" marL="0" rtl="0" algn="l">
              <a:spcBef>
                <a:spcPts val="0"/>
              </a:spcBef>
              <a:spcAft>
                <a:spcPts val="0"/>
              </a:spcAft>
              <a:buNone/>
            </a:pPr>
            <a:r>
              <a:rPr lang="pt-BR" sz="1633"/>
              <a:t>Adrielli Tiller</a:t>
            </a:r>
            <a:endParaRPr sz="1633"/>
          </a:p>
          <a:p>
            <a:pPr indent="0" lvl="0" marL="0" rtl="0" algn="l">
              <a:spcBef>
                <a:spcPts val="0"/>
              </a:spcBef>
              <a:spcAft>
                <a:spcPts val="0"/>
              </a:spcAft>
              <a:buNone/>
            </a:pPr>
            <a:r>
              <a:rPr lang="pt-BR" sz="1633"/>
              <a:t>adrielli.tiller@stormx.com.br</a:t>
            </a:r>
            <a:endParaRPr/>
          </a:p>
        </p:txBody>
      </p:sp>
      <p:sp>
        <p:nvSpPr>
          <p:cNvPr id="322" name="Google Shape;322;p42"/>
          <p:cNvSpPr txBox="1"/>
          <p:nvPr>
            <p:ph idx="2" type="body"/>
          </p:nvPr>
        </p:nvSpPr>
        <p:spPr>
          <a:xfrm>
            <a:off x="4939500" y="724200"/>
            <a:ext cx="3943500" cy="36951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pt-BR" sz="2100"/>
              <a:t>Dove (Skincare e Hair)</a:t>
            </a:r>
            <a:endParaRPr sz="2100"/>
          </a:p>
          <a:p>
            <a:pPr indent="-361950" lvl="0" marL="457200" rtl="0" algn="l">
              <a:spcBef>
                <a:spcPts val="0"/>
              </a:spcBef>
              <a:spcAft>
                <a:spcPts val="0"/>
              </a:spcAft>
              <a:buSzPts val="2100"/>
              <a:buChar char="●"/>
            </a:pPr>
            <a:r>
              <a:rPr lang="pt-BR" sz="2100"/>
              <a:t>Seda</a:t>
            </a:r>
            <a:endParaRPr sz="2100"/>
          </a:p>
          <a:p>
            <a:pPr indent="-361950" lvl="0" marL="457200" rtl="0" algn="l">
              <a:spcBef>
                <a:spcPts val="0"/>
              </a:spcBef>
              <a:spcAft>
                <a:spcPts val="0"/>
              </a:spcAft>
              <a:buSzPts val="2100"/>
              <a:buChar char="●"/>
            </a:pPr>
            <a:r>
              <a:rPr lang="pt-BR" sz="2100"/>
              <a:t>Clear</a:t>
            </a:r>
            <a:endParaRPr sz="2100"/>
          </a:p>
          <a:p>
            <a:pPr indent="-361950" lvl="0" marL="457200" rtl="0" algn="l">
              <a:spcBef>
                <a:spcPts val="0"/>
              </a:spcBef>
              <a:spcAft>
                <a:spcPts val="0"/>
              </a:spcAft>
              <a:buSzPts val="2100"/>
              <a:buChar char="●"/>
            </a:pPr>
            <a:r>
              <a:rPr lang="pt-BR" sz="2100"/>
              <a:t>Tresemmé</a:t>
            </a:r>
            <a:endParaRPr sz="2100"/>
          </a:p>
          <a:p>
            <a:pPr indent="-361950" lvl="0" marL="457200" rtl="0" algn="l">
              <a:spcBef>
                <a:spcPts val="0"/>
              </a:spcBef>
              <a:spcAft>
                <a:spcPts val="0"/>
              </a:spcAft>
              <a:buSzPts val="2100"/>
              <a:buChar char="●"/>
            </a:pPr>
            <a:r>
              <a:rPr lang="pt-BR" sz="2100"/>
              <a:t>All Thing Hair</a:t>
            </a:r>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Fluxo</a:t>
            </a:r>
            <a:endParaRPr/>
          </a:p>
        </p:txBody>
      </p:sp>
      <p:cxnSp>
        <p:nvCxnSpPr>
          <p:cNvPr id="328" name="Google Shape;328;p43"/>
          <p:cNvCxnSpPr/>
          <p:nvPr/>
        </p:nvCxnSpPr>
        <p:spPr>
          <a:xfrm>
            <a:off x="420075" y="2790116"/>
            <a:ext cx="8336100" cy="0"/>
          </a:xfrm>
          <a:prstGeom prst="straightConnector1">
            <a:avLst/>
          </a:prstGeom>
          <a:noFill/>
          <a:ln cap="flat" cmpd="sng" w="19050">
            <a:solidFill>
              <a:schemeClr val="dk1"/>
            </a:solidFill>
            <a:prstDash val="dot"/>
            <a:round/>
            <a:headEnd len="sm" w="sm" type="none"/>
            <a:tailEnd len="sm" w="sm" type="none"/>
          </a:ln>
        </p:spPr>
      </p:cxnSp>
      <p:grpSp>
        <p:nvGrpSpPr>
          <p:cNvPr id="329" name="Google Shape;329;p43"/>
          <p:cNvGrpSpPr/>
          <p:nvPr/>
        </p:nvGrpSpPr>
        <p:grpSpPr>
          <a:xfrm>
            <a:off x="648675" y="1581271"/>
            <a:ext cx="196200" cy="1306800"/>
            <a:chOff x="648675" y="1657471"/>
            <a:chExt cx="196200" cy="1306800"/>
          </a:xfrm>
        </p:grpSpPr>
        <p:sp>
          <p:nvSpPr>
            <p:cNvPr id="330" name="Google Shape;330;p43"/>
            <p:cNvSpPr/>
            <p:nvPr/>
          </p:nvSpPr>
          <p:spPr>
            <a:xfrm>
              <a:off x="6486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1" name="Google Shape;331;p43"/>
            <p:cNvCxnSpPr>
              <a:stCxn id="330" idx="0"/>
            </p:cNvCxnSpPr>
            <p:nvPr/>
          </p:nvCxnSpPr>
          <p:spPr>
            <a:xfrm rot="10800000">
              <a:off x="746775" y="1657471"/>
              <a:ext cx="0" cy="1110900"/>
            </a:xfrm>
            <a:prstGeom prst="straightConnector1">
              <a:avLst/>
            </a:prstGeom>
            <a:noFill/>
            <a:ln cap="flat" cmpd="sng" w="19050">
              <a:solidFill>
                <a:schemeClr val="accent5"/>
              </a:solidFill>
              <a:prstDash val="solid"/>
              <a:round/>
              <a:headEnd len="sm" w="sm" type="none"/>
              <a:tailEnd len="med" w="med" type="oval"/>
            </a:ln>
          </p:spPr>
        </p:cxnSp>
      </p:grpSp>
      <p:sp>
        <p:nvSpPr>
          <p:cNvPr id="332" name="Google Shape;332;p43"/>
          <p:cNvSpPr txBox="1"/>
          <p:nvPr>
            <p:ph idx="4294967295" type="body"/>
          </p:nvPr>
        </p:nvSpPr>
        <p:spPr>
          <a:xfrm>
            <a:off x="844874" y="1371700"/>
            <a:ext cx="2938800" cy="971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pt-BR">
                <a:solidFill>
                  <a:schemeClr val="dk2"/>
                </a:solidFill>
              </a:rPr>
              <a:t>Jira</a:t>
            </a:r>
            <a:endParaRPr b="1">
              <a:solidFill>
                <a:schemeClr val="dk2"/>
              </a:solidFill>
            </a:endParaRPr>
          </a:p>
          <a:p>
            <a:pPr indent="0" lvl="0" marL="0" rtl="0" algn="l">
              <a:spcBef>
                <a:spcPts val="0"/>
              </a:spcBef>
              <a:spcAft>
                <a:spcPts val="1200"/>
              </a:spcAft>
              <a:buNone/>
            </a:pPr>
            <a:r>
              <a:rPr lang="pt-BR" sz="1200"/>
              <a:t>Os </a:t>
            </a:r>
            <a:r>
              <a:rPr lang="pt-BR" sz="1200"/>
              <a:t>mídias</a:t>
            </a:r>
            <a:r>
              <a:rPr lang="pt-BR" sz="1200"/>
              <a:t> enviam tudo na task, PM, Url, Formulário e anexo com criativos e infos extras.</a:t>
            </a:r>
            <a:endParaRPr b="1" sz="1200">
              <a:solidFill>
                <a:schemeClr val="dk2"/>
              </a:solidFill>
            </a:endParaRPr>
          </a:p>
        </p:txBody>
      </p:sp>
      <p:grpSp>
        <p:nvGrpSpPr>
          <p:cNvPr id="333" name="Google Shape;333;p43"/>
          <p:cNvGrpSpPr/>
          <p:nvPr/>
        </p:nvGrpSpPr>
        <p:grpSpPr>
          <a:xfrm>
            <a:off x="1826450" y="2722896"/>
            <a:ext cx="196200" cy="1404905"/>
            <a:chOff x="2512925" y="2768371"/>
            <a:chExt cx="196200" cy="1404905"/>
          </a:xfrm>
        </p:grpSpPr>
        <p:cxnSp>
          <p:nvCxnSpPr>
            <p:cNvPr id="334" name="Google Shape;334;p43"/>
            <p:cNvCxnSpPr/>
            <p:nvPr/>
          </p:nvCxnSpPr>
          <p:spPr>
            <a:xfrm>
              <a:off x="261102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335" name="Google Shape;335;p43"/>
            <p:cNvSpPr/>
            <p:nvPr/>
          </p:nvSpPr>
          <p:spPr>
            <a:xfrm>
              <a:off x="251292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43"/>
          <p:cNvSpPr txBox="1"/>
          <p:nvPr>
            <p:ph idx="4294967295" type="body"/>
          </p:nvPr>
        </p:nvSpPr>
        <p:spPr>
          <a:xfrm>
            <a:off x="2160375" y="3056125"/>
            <a:ext cx="2662200" cy="97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t-BR"/>
              <a:t>Flashtalking</a:t>
            </a:r>
            <a:endParaRPr b="1">
              <a:solidFill>
                <a:schemeClr val="dk2"/>
              </a:solidFill>
            </a:endParaRPr>
          </a:p>
          <a:p>
            <a:pPr indent="0" lvl="0" marL="0" rtl="0" algn="l">
              <a:spcBef>
                <a:spcPts val="0"/>
              </a:spcBef>
              <a:spcAft>
                <a:spcPts val="1200"/>
              </a:spcAft>
              <a:buNone/>
            </a:pPr>
            <a:r>
              <a:rPr lang="pt-BR" sz="1400"/>
              <a:t>Envio o </a:t>
            </a:r>
            <a:r>
              <a:rPr lang="pt-BR"/>
              <a:t>ADP </a:t>
            </a:r>
            <a:r>
              <a:rPr lang="pt-BR" sz="1400"/>
              <a:t>na thread da campanha.</a:t>
            </a:r>
            <a:endParaRPr sz="1400"/>
          </a:p>
        </p:txBody>
      </p:sp>
      <p:grpSp>
        <p:nvGrpSpPr>
          <p:cNvPr id="337" name="Google Shape;337;p43"/>
          <p:cNvGrpSpPr/>
          <p:nvPr/>
        </p:nvGrpSpPr>
        <p:grpSpPr>
          <a:xfrm>
            <a:off x="3900875" y="1483171"/>
            <a:ext cx="196200" cy="1404900"/>
            <a:chOff x="4279200" y="1559371"/>
            <a:chExt cx="196200" cy="1404900"/>
          </a:xfrm>
        </p:grpSpPr>
        <p:cxnSp>
          <p:nvCxnSpPr>
            <p:cNvPr id="338" name="Google Shape;338;p43"/>
            <p:cNvCxnSpPr>
              <a:stCxn id="339" idx="0"/>
            </p:cNvCxnSpPr>
            <p:nvPr/>
          </p:nvCxnSpPr>
          <p:spPr>
            <a:xfrm rot="10800000">
              <a:off x="4377300" y="1559371"/>
              <a:ext cx="0" cy="1209000"/>
            </a:xfrm>
            <a:prstGeom prst="straightConnector1">
              <a:avLst/>
            </a:prstGeom>
            <a:noFill/>
            <a:ln cap="flat" cmpd="sng" w="19050">
              <a:solidFill>
                <a:schemeClr val="accent5"/>
              </a:solidFill>
              <a:prstDash val="solid"/>
              <a:round/>
              <a:headEnd len="sm" w="sm" type="none"/>
              <a:tailEnd len="med" w="med" type="oval"/>
            </a:ln>
          </p:spPr>
        </p:cxnSp>
        <p:sp>
          <p:nvSpPr>
            <p:cNvPr id="339" name="Google Shape;339;p43"/>
            <p:cNvSpPr/>
            <p:nvPr/>
          </p:nvSpPr>
          <p:spPr>
            <a:xfrm>
              <a:off x="4279200"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0" name="Google Shape;340;p43"/>
          <p:cNvSpPr txBox="1"/>
          <p:nvPr>
            <p:ph idx="4294967295" type="body"/>
          </p:nvPr>
        </p:nvSpPr>
        <p:spPr>
          <a:xfrm>
            <a:off x="4214275" y="1488575"/>
            <a:ext cx="3237900" cy="1203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pt-BR" sz="5346"/>
              <a:t>Retorno ADP na task</a:t>
            </a:r>
            <a:endParaRPr b="1" sz="5346"/>
          </a:p>
          <a:p>
            <a:pPr indent="0" lvl="0" marL="0" rtl="0" algn="l">
              <a:spcBef>
                <a:spcPts val="1200"/>
              </a:spcBef>
              <a:spcAft>
                <a:spcPts val="0"/>
              </a:spcAft>
              <a:buNone/>
            </a:pPr>
            <a:r>
              <a:rPr lang="pt-BR" sz="4900"/>
              <a:t>Retorno na task com o seguinte </a:t>
            </a:r>
            <a:r>
              <a:rPr lang="pt-BR" sz="4900"/>
              <a:t>texto</a:t>
            </a:r>
            <a:r>
              <a:rPr lang="pt-BR" sz="4900"/>
              <a:t>: “ Segue </a:t>
            </a:r>
            <a:r>
              <a:rPr lang="pt-BR" sz="4900"/>
              <a:t>última</a:t>
            </a:r>
            <a:r>
              <a:rPr lang="pt-BR" sz="4900"/>
              <a:t> versão da planilha enviada pela flash”</a:t>
            </a:r>
            <a:endParaRPr sz="4900"/>
          </a:p>
          <a:p>
            <a:pPr indent="0" lvl="0" marL="0" rtl="0" algn="l">
              <a:spcBef>
                <a:spcPts val="1200"/>
              </a:spcBef>
              <a:spcAft>
                <a:spcPts val="1200"/>
              </a:spcAft>
              <a:buNone/>
            </a:pPr>
            <a:r>
              <a:t/>
            </a:r>
            <a:endParaRPr/>
          </a:p>
        </p:txBody>
      </p:sp>
      <p:grpSp>
        <p:nvGrpSpPr>
          <p:cNvPr id="341" name="Google Shape;341;p43"/>
          <p:cNvGrpSpPr/>
          <p:nvPr/>
        </p:nvGrpSpPr>
        <p:grpSpPr>
          <a:xfrm>
            <a:off x="5585950" y="2722896"/>
            <a:ext cx="196200" cy="1404905"/>
            <a:chOff x="6045475" y="2768371"/>
            <a:chExt cx="196200" cy="1404905"/>
          </a:xfrm>
        </p:grpSpPr>
        <p:cxnSp>
          <p:nvCxnSpPr>
            <p:cNvPr id="342" name="Google Shape;342;p43"/>
            <p:cNvCxnSpPr/>
            <p:nvPr/>
          </p:nvCxnSpPr>
          <p:spPr>
            <a:xfrm>
              <a:off x="614357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343" name="Google Shape;343;p43"/>
            <p:cNvSpPr/>
            <p:nvPr/>
          </p:nvSpPr>
          <p:spPr>
            <a:xfrm>
              <a:off x="60454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43"/>
          <p:cNvSpPr txBox="1"/>
          <p:nvPr>
            <p:ph idx="4294967295" type="body"/>
          </p:nvPr>
        </p:nvSpPr>
        <p:spPr>
          <a:xfrm>
            <a:off x="5782150" y="3193950"/>
            <a:ext cx="3237900" cy="1478700"/>
          </a:xfrm>
          <a:prstGeom prst="rect">
            <a:avLst/>
          </a:prstGeom>
        </p:spPr>
        <p:txBody>
          <a:bodyPr anchorCtr="0" anchor="t" bIns="91425" lIns="91425" spcFirstLastPara="1" rIns="91425" wrap="square" tIns="91425">
            <a:normAutofit fontScale="25000" lnSpcReduction="10000"/>
          </a:bodyPr>
          <a:lstStyle/>
          <a:p>
            <a:pPr indent="0" lvl="0" marL="0" rtl="0" algn="l">
              <a:spcBef>
                <a:spcPts val="0"/>
              </a:spcBef>
              <a:spcAft>
                <a:spcPts val="1200"/>
              </a:spcAft>
              <a:buNone/>
            </a:pPr>
            <a:r>
              <a:rPr lang="pt-BR" sz="5200"/>
              <a:t>Faço o QA geralmente depois de 1 semana após os contadores criados, caso não encontre os </a:t>
            </a:r>
            <a:r>
              <a:rPr lang="pt-BR" sz="5200"/>
              <a:t>anúncios</a:t>
            </a:r>
            <a:r>
              <a:rPr lang="pt-BR" sz="5200"/>
              <a:t> solicitados envio na task marcando a Bu. Se encontrados deixo registrado em um print nos </a:t>
            </a:r>
            <a:r>
              <a:rPr lang="pt-BR" sz="5200"/>
              <a:t>comentários</a:t>
            </a:r>
            <a:r>
              <a:rPr lang="pt-BR" sz="5200"/>
              <a:t> e fecho a task.</a:t>
            </a:r>
            <a:endParaRPr sz="5200"/>
          </a:p>
        </p:txBody>
      </p:sp>
      <p:sp>
        <p:nvSpPr>
          <p:cNvPr id="345" name="Google Shape;345;p43"/>
          <p:cNvSpPr txBox="1"/>
          <p:nvPr/>
        </p:nvSpPr>
        <p:spPr>
          <a:xfrm>
            <a:off x="5782150" y="2888075"/>
            <a:ext cx="286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300">
                <a:solidFill>
                  <a:schemeClr val="dk2"/>
                </a:solidFill>
                <a:latin typeface="Roboto"/>
                <a:ea typeface="Roboto"/>
                <a:cs typeface="Roboto"/>
                <a:sym typeface="Roboto"/>
              </a:rPr>
              <a:t>QA</a:t>
            </a:r>
            <a:endParaRPr b="1" sz="1300">
              <a:solidFill>
                <a:schemeClr val="dk2"/>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Detalhamento do dia-a-dia</a:t>
            </a:r>
            <a:endParaRPr/>
          </a:p>
        </p:txBody>
      </p:sp>
      <p:sp>
        <p:nvSpPr>
          <p:cNvPr id="351" name="Google Shape;351;p44"/>
          <p:cNvSpPr txBox="1"/>
          <p:nvPr/>
        </p:nvSpPr>
        <p:spPr>
          <a:xfrm>
            <a:off x="401375" y="1461900"/>
            <a:ext cx="8345100" cy="3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300">
                <a:solidFill>
                  <a:schemeClr val="dk2"/>
                </a:solidFill>
                <a:latin typeface="Roboto"/>
                <a:ea typeface="Roboto"/>
                <a:cs typeface="Roboto"/>
                <a:sym typeface="Roboto"/>
              </a:rPr>
              <a:t>Começo vendo se temos task para entregar neste dia;</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Depois Verifico se não temos erro no banco;</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Daily;</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Faço as task do dia e/ou QA.</a:t>
            </a:r>
            <a:endParaRPr sz="1300">
              <a:solidFill>
                <a:schemeClr val="dk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357" name="Google Shape;357;p45"/>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Seda/ All Things Hair</a:t>
            </a:r>
            <a:endParaRPr sz="1600"/>
          </a:p>
        </p:txBody>
      </p:sp>
      <p:sp>
        <p:nvSpPr>
          <p:cNvPr id="358" name="Google Shape;358;p45"/>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Clr>
                <a:srgbClr val="000000"/>
              </a:buClr>
              <a:buSzPts val="440"/>
              <a:buFont typeface="Arial"/>
              <a:buNone/>
            </a:pPr>
            <a:r>
              <a:t/>
            </a:r>
            <a:endParaRPr sz="1440">
              <a:solidFill>
                <a:schemeClr val="dk2"/>
              </a:solidFill>
            </a:endParaRPr>
          </a:p>
          <a:p>
            <a:pPr indent="0" lvl="0" marL="0" rtl="0" algn="l">
              <a:lnSpc>
                <a:spcPct val="90000"/>
              </a:lnSpc>
              <a:spcBef>
                <a:spcPts val="0"/>
              </a:spcBef>
              <a:spcAft>
                <a:spcPts val="0"/>
              </a:spcAft>
              <a:buClr>
                <a:srgbClr val="000000"/>
              </a:buClr>
              <a:buSzPts val="440"/>
              <a:buFont typeface="Arial"/>
              <a:buNone/>
            </a:pPr>
            <a:r>
              <a:rPr lang="pt-BR" sz="1440">
                <a:solidFill>
                  <a:schemeClr val="dk2"/>
                </a:solidFill>
              </a:rPr>
              <a:t>Maria Eduarda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mariaeduarda.vieira@initiative.com</a:t>
            </a:r>
            <a:endParaRPr sz="1440">
              <a:solidFill>
                <a:schemeClr val="dk2"/>
              </a:solidFill>
            </a:endParaRPr>
          </a:p>
        </p:txBody>
      </p:sp>
      <p:sp>
        <p:nvSpPr>
          <p:cNvPr id="359" name="Google Shape;359;p45"/>
          <p:cNvSpPr txBox="1"/>
          <p:nvPr>
            <p:ph idx="1" type="body"/>
          </p:nvPr>
        </p:nvSpPr>
        <p:spPr>
          <a:xfrm>
            <a:off x="453225" y="2790450"/>
            <a:ext cx="36843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SzPts val="440"/>
              <a:buNone/>
            </a:pPr>
            <a:r>
              <a:rPr lang="pt-BR" sz="1440">
                <a:solidFill>
                  <a:schemeClr val="dk2"/>
                </a:solidFill>
              </a:rPr>
              <a:t>Nathalia Aguiar</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nathalia.aguiar@initiative.com</a:t>
            </a:r>
            <a:endParaRPr sz="1440">
              <a:solidFill>
                <a:schemeClr val="dk2"/>
              </a:solidFill>
            </a:endParaRPr>
          </a:p>
        </p:txBody>
      </p:sp>
      <p:sp>
        <p:nvSpPr>
          <p:cNvPr id="360" name="Google Shape;360;p45"/>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 Friori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thais.fiori@onevuembww.com</a:t>
            </a:r>
            <a:endParaRPr sz="1440">
              <a:solidFill>
                <a:schemeClr val="dk2"/>
              </a:solidFill>
            </a:endParaRPr>
          </a:p>
        </p:txBody>
      </p:sp>
      <p:sp>
        <p:nvSpPr>
          <p:cNvPr id="361" name="Google Shape;361;p45"/>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adilson.jofre@initiative.com</a:t>
            </a:r>
            <a:endParaRPr sz="1500">
              <a:solidFill>
                <a:schemeClr val="lt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6"/>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367" name="Google Shape;367;p46"/>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Clear /  Tresemmé </a:t>
            </a:r>
            <a:endParaRPr sz="1600"/>
          </a:p>
        </p:txBody>
      </p:sp>
      <p:sp>
        <p:nvSpPr>
          <p:cNvPr id="368" name="Google Shape;368;p46"/>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Felipe Amaral</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felipe.amaral@initiative.com</a:t>
            </a:r>
            <a:endParaRPr sz="1440">
              <a:solidFill>
                <a:schemeClr val="dk2"/>
              </a:solidFill>
            </a:endParaRPr>
          </a:p>
        </p:txBody>
      </p:sp>
      <p:sp>
        <p:nvSpPr>
          <p:cNvPr id="369" name="Google Shape;369;p46"/>
          <p:cNvSpPr txBox="1"/>
          <p:nvPr>
            <p:ph idx="1" type="body"/>
          </p:nvPr>
        </p:nvSpPr>
        <p:spPr>
          <a:xfrm>
            <a:off x="453225" y="2790450"/>
            <a:ext cx="35916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Clr>
                <a:srgbClr val="000000"/>
              </a:buClr>
              <a:buSzPts val="440"/>
              <a:buFont typeface="Arial"/>
              <a:buNone/>
            </a:pPr>
            <a:r>
              <a:rPr lang="pt-BR" sz="1440">
                <a:solidFill>
                  <a:schemeClr val="dk2"/>
                </a:solidFill>
              </a:rPr>
              <a:t>Juliana Souza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juliana.souza@initiative.com</a:t>
            </a:r>
            <a:endParaRPr sz="1440">
              <a:solidFill>
                <a:schemeClr val="dk2"/>
              </a:solidFill>
            </a:endParaRPr>
          </a:p>
        </p:txBody>
      </p:sp>
      <p:sp>
        <p:nvSpPr>
          <p:cNvPr id="370" name="Google Shape;370;p46"/>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 Friori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thais.fiori@onevuembww.com</a:t>
            </a:r>
            <a:endParaRPr sz="1440">
              <a:solidFill>
                <a:schemeClr val="dk2"/>
              </a:solidFill>
            </a:endParaRPr>
          </a:p>
        </p:txBody>
      </p:sp>
      <p:sp>
        <p:nvSpPr>
          <p:cNvPr id="371" name="Google Shape;371;p46"/>
          <p:cNvSpPr txBox="1"/>
          <p:nvPr>
            <p:ph idx="1" type="body"/>
          </p:nvPr>
        </p:nvSpPr>
        <p:spPr>
          <a:xfrm>
            <a:off x="5036975" y="1338025"/>
            <a:ext cx="35916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Amandha Cardoso</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amandha.cardoso@initiative.com</a:t>
            </a:r>
            <a:endParaRPr sz="1440">
              <a:solidFill>
                <a:schemeClr val="dk2"/>
              </a:solidFill>
            </a:endParaRPr>
          </a:p>
        </p:txBody>
      </p:sp>
      <p:sp>
        <p:nvSpPr>
          <p:cNvPr id="372" name="Google Shape;372;p46"/>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adilson.jofre@initiative.com</a:t>
            </a:r>
            <a:endParaRPr sz="1500">
              <a:solidFill>
                <a:schemeClr val="lt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378" name="Google Shape;378;p47"/>
          <p:cNvSpPr txBox="1"/>
          <p:nvPr>
            <p:ph idx="1" type="body"/>
          </p:nvPr>
        </p:nvSpPr>
        <p:spPr>
          <a:xfrm>
            <a:off x="311700" y="4521400"/>
            <a:ext cx="32442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Dove Hair e Dove MSTB</a:t>
            </a:r>
            <a:endParaRPr sz="1600"/>
          </a:p>
        </p:txBody>
      </p:sp>
      <p:sp>
        <p:nvSpPr>
          <p:cNvPr id="379" name="Google Shape;379;p47"/>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Maria Luisa Nogueira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marialuisa.nogueira@initiative.com</a:t>
            </a:r>
            <a:endParaRPr sz="1440">
              <a:solidFill>
                <a:schemeClr val="dk2"/>
              </a:solidFill>
            </a:endParaRPr>
          </a:p>
        </p:txBody>
      </p:sp>
      <p:sp>
        <p:nvSpPr>
          <p:cNvPr id="380" name="Google Shape;380;p47"/>
          <p:cNvSpPr txBox="1"/>
          <p:nvPr>
            <p:ph idx="1" type="body"/>
          </p:nvPr>
        </p:nvSpPr>
        <p:spPr>
          <a:xfrm>
            <a:off x="453225" y="2790450"/>
            <a:ext cx="35505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Arantxa Eleonora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arantxa.eleonora@initiative.com</a:t>
            </a:r>
            <a:endParaRPr sz="1440">
              <a:solidFill>
                <a:schemeClr val="dk2"/>
              </a:solidFill>
            </a:endParaRPr>
          </a:p>
        </p:txBody>
      </p:sp>
      <p:sp>
        <p:nvSpPr>
          <p:cNvPr id="381" name="Google Shape;381;p47"/>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 Friori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thais.fiori@onevuembww.com</a:t>
            </a:r>
            <a:endParaRPr sz="1440">
              <a:solidFill>
                <a:schemeClr val="dk2"/>
              </a:solidFill>
            </a:endParaRPr>
          </a:p>
        </p:txBody>
      </p:sp>
      <p:sp>
        <p:nvSpPr>
          <p:cNvPr id="382" name="Google Shape;382;p47"/>
          <p:cNvSpPr txBox="1"/>
          <p:nvPr>
            <p:ph idx="1" type="body"/>
          </p:nvPr>
        </p:nvSpPr>
        <p:spPr>
          <a:xfrm>
            <a:off x="5036975" y="1338025"/>
            <a:ext cx="35505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Arantxa Eleonora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arantxa.eleonora@initiative.com</a:t>
            </a:r>
            <a:endParaRPr sz="1440">
              <a:solidFill>
                <a:schemeClr val="dk2"/>
              </a:solidFill>
            </a:endParaRPr>
          </a:p>
        </p:txBody>
      </p:sp>
      <p:sp>
        <p:nvSpPr>
          <p:cNvPr id="383" name="Google Shape;383;p47"/>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andressa.silva@initiative.com</a:t>
            </a:r>
            <a:endParaRPr sz="1500">
              <a:solidFill>
                <a:schemeClr val="lt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8"/>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389" name="Google Shape;389;p48"/>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Dove SkinCare</a:t>
            </a:r>
            <a:endParaRPr sz="1600"/>
          </a:p>
        </p:txBody>
      </p:sp>
      <p:sp>
        <p:nvSpPr>
          <p:cNvPr id="390" name="Google Shape;390;p48"/>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Bruna Celis</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bruna.celis@initiative.com</a:t>
            </a:r>
            <a:endParaRPr sz="1440">
              <a:solidFill>
                <a:schemeClr val="dk2"/>
              </a:solidFill>
            </a:endParaRPr>
          </a:p>
        </p:txBody>
      </p:sp>
      <p:sp>
        <p:nvSpPr>
          <p:cNvPr id="391" name="Google Shape;391;p48"/>
          <p:cNvSpPr txBox="1"/>
          <p:nvPr>
            <p:ph idx="1" type="body"/>
          </p:nvPr>
        </p:nvSpPr>
        <p:spPr>
          <a:xfrm>
            <a:off x="453225" y="2790450"/>
            <a:ext cx="35505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Clr>
                <a:srgbClr val="000000"/>
              </a:buClr>
              <a:buSzPts val="440"/>
              <a:buFont typeface="Arial"/>
              <a:buNone/>
            </a:pPr>
            <a:r>
              <a:rPr lang="pt-BR" sz="1440">
                <a:solidFill>
                  <a:schemeClr val="dk2"/>
                </a:solidFill>
              </a:rPr>
              <a:t>Nathalia Aguiar</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nathalia.aguiar@initiative.com</a:t>
            </a:r>
            <a:endParaRPr sz="1440">
              <a:solidFill>
                <a:schemeClr val="dk2"/>
              </a:solidFill>
            </a:endParaRPr>
          </a:p>
        </p:txBody>
      </p:sp>
      <p:sp>
        <p:nvSpPr>
          <p:cNvPr id="392" name="Google Shape;392;p48"/>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 Friori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thais.fiori@onevuembww.com</a:t>
            </a:r>
            <a:endParaRPr sz="1440">
              <a:solidFill>
                <a:schemeClr val="dk2"/>
              </a:solidFill>
            </a:endParaRPr>
          </a:p>
        </p:txBody>
      </p:sp>
      <p:sp>
        <p:nvSpPr>
          <p:cNvPr id="393" name="Google Shape;393;p48"/>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andressa.silva@initiative.com</a:t>
            </a:r>
            <a:endParaRPr sz="1500">
              <a:solidFill>
                <a:schemeClr val="lt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399" name="Google Shape;399;p49"/>
          <p:cNvSpPr txBox="1"/>
          <p:nvPr/>
        </p:nvSpPr>
        <p:spPr>
          <a:xfrm>
            <a:off x="401375" y="1461900"/>
            <a:ext cx="8345100" cy="3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300">
                <a:solidFill>
                  <a:schemeClr val="dk2"/>
                </a:solidFill>
                <a:latin typeface="Roboto"/>
                <a:ea typeface="Roboto"/>
                <a:cs typeface="Roboto"/>
                <a:sym typeface="Roboto"/>
              </a:rPr>
              <a:t>Nicoly geralmente está mais aberta a resolver problemas, mas não entende muito do fluxo e acaba fazendo tudo de qualquer jeito.</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Felipe amaral nem sempre está na BU de beauty, ele </a:t>
            </a:r>
            <a:r>
              <a:rPr lang="pt-BR" sz="1300">
                <a:solidFill>
                  <a:schemeClr val="dk2"/>
                </a:solidFill>
                <a:latin typeface="Roboto"/>
                <a:ea typeface="Roboto"/>
                <a:cs typeface="Roboto"/>
                <a:sym typeface="Roboto"/>
              </a:rPr>
              <a:t>transita</a:t>
            </a:r>
            <a:r>
              <a:rPr lang="pt-BR" sz="1300">
                <a:solidFill>
                  <a:schemeClr val="dk2"/>
                </a:solidFill>
                <a:latin typeface="Roboto"/>
                <a:ea typeface="Roboto"/>
                <a:cs typeface="Roboto"/>
                <a:sym typeface="Roboto"/>
              </a:rPr>
              <a:t> entre </a:t>
            </a:r>
            <a:r>
              <a:rPr lang="pt-BR" sz="1300">
                <a:solidFill>
                  <a:schemeClr val="dk2"/>
                </a:solidFill>
                <a:latin typeface="Roboto"/>
                <a:ea typeface="Roboto"/>
                <a:cs typeface="Roboto"/>
                <a:sym typeface="Roboto"/>
              </a:rPr>
              <a:t>várias</a:t>
            </a:r>
            <a:r>
              <a:rPr lang="pt-BR" sz="1300">
                <a:solidFill>
                  <a:schemeClr val="dk2"/>
                </a:solidFill>
                <a:latin typeface="Roboto"/>
                <a:ea typeface="Roboto"/>
                <a:cs typeface="Roboto"/>
                <a:sym typeface="Roboto"/>
              </a:rPr>
              <a:t> BUs.</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Caso não saiba quem cuida do que ( elas não tem um organograma definido) mande no grupo de dove, lá elas se conversam e se resolvem.</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Juliana de tresemme não costuma responder no teams</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Todos da Bu tem um problema bem grave com email ( não leem) por isso sempre mande o adp na task.</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Temos muitos problemas com erro no banco, pedem tiktok mas sobem em meta e vise e versa, então se acontecer algo apenas mande o print no grupo dizendo o que precisam que façam, exemplo: “ preciso que vcs alterem a taxonomia pois temos um erro de quebra nela” , assim elas sabem e fazem. </a:t>
            </a:r>
            <a:endParaRPr sz="1300">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0"/>
          <p:cNvSpPr txBox="1"/>
          <p:nvPr>
            <p:ph type="title"/>
          </p:nvPr>
        </p:nvSpPr>
        <p:spPr>
          <a:xfrm>
            <a:off x="265500" y="1549950"/>
            <a:ext cx="4045200" cy="2043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a:t>Nutrition &amp; Ice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pt-BR" sz="2300"/>
              <a:t>Responsável</a:t>
            </a:r>
            <a:endParaRPr sz="2300"/>
          </a:p>
          <a:p>
            <a:pPr indent="0" lvl="0" marL="0" rtl="0" algn="l">
              <a:spcBef>
                <a:spcPts val="0"/>
              </a:spcBef>
              <a:spcAft>
                <a:spcPts val="0"/>
              </a:spcAft>
              <a:buNone/>
            </a:pPr>
            <a:r>
              <a:rPr lang="pt-BR" sz="1633"/>
              <a:t>Leandro Ywata</a:t>
            </a:r>
            <a:endParaRPr sz="1633"/>
          </a:p>
          <a:p>
            <a:pPr indent="0" lvl="0" marL="0" rtl="0" algn="l">
              <a:spcBef>
                <a:spcPts val="0"/>
              </a:spcBef>
              <a:spcAft>
                <a:spcPts val="0"/>
              </a:spcAft>
              <a:buNone/>
            </a:pPr>
            <a:r>
              <a:rPr lang="pt-BR" sz="1633"/>
              <a:t>leandro.ywata@stormx.com.br</a:t>
            </a:r>
            <a:endParaRPr sz="1633"/>
          </a:p>
        </p:txBody>
      </p:sp>
      <p:sp>
        <p:nvSpPr>
          <p:cNvPr id="405" name="Google Shape;405;p50"/>
          <p:cNvSpPr txBox="1"/>
          <p:nvPr>
            <p:ph idx="2" type="body"/>
          </p:nvPr>
        </p:nvSpPr>
        <p:spPr>
          <a:xfrm>
            <a:off x="4939500" y="724200"/>
            <a:ext cx="3943500" cy="36951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pt-BR" sz="2100"/>
              <a:t>Mãe Terra</a:t>
            </a:r>
            <a:endParaRPr sz="2100"/>
          </a:p>
          <a:p>
            <a:pPr indent="-361950" lvl="0" marL="457200" rtl="0" algn="l">
              <a:spcBef>
                <a:spcPts val="0"/>
              </a:spcBef>
              <a:spcAft>
                <a:spcPts val="0"/>
              </a:spcAft>
              <a:buSzPts val="2100"/>
              <a:buChar char="●"/>
            </a:pPr>
            <a:r>
              <a:rPr lang="pt-BR" sz="2100"/>
              <a:t>Knorr</a:t>
            </a:r>
            <a:endParaRPr sz="2100"/>
          </a:p>
          <a:p>
            <a:pPr indent="-361950" lvl="0" marL="457200" rtl="0" algn="l">
              <a:spcBef>
                <a:spcPts val="0"/>
              </a:spcBef>
              <a:spcAft>
                <a:spcPts val="0"/>
              </a:spcAft>
              <a:buSzPts val="2100"/>
              <a:buChar char="●"/>
            </a:pPr>
            <a:r>
              <a:rPr lang="pt-BR" sz="2100"/>
              <a:t>Maizena</a:t>
            </a:r>
            <a:endParaRPr sz="2100"/>
          </a:p>
          <a:p>
            <a:pPr indent="-361950" lvl="0" marL="457200" rtl="0" algn="l">
              <a:spcBef>
                <a:spcPts val="0"/>
              </a:spcBef>
              <a:spcAft>
                <a:spcPts val="0"/>
              </a:spcAft>
              <a:buSzPts val="2100"/>
              <a:buChar char="●"/>
            </a:pPr>
            <a:r>
              <a:rPr lang="pt-BR" sz="2100"/>
              <a:t>Recepedia</a:t>
            </a:r>
            <a:endParaRPr sz="2100"/>
          </a:p>
          <a:p>
            <a:pPr indent="-361950" lvl="0" marL="457200" rtl="0" algn="l">
              <a:spcBef>
                <a:spcPts val="0"/>
              </a:spcBef>
              <a:spcAft>
                <a:spcPts val="0"/>
              </a:spcAft>
              <a:buSzPts val="2100"/>
              <a:buChar char="●"/>
            </a:pPr>
            <a:r>
              <a:rPr lang="pt-BR" sz="2100"/>
              <a:t>Hellmann's</a:t>
            </a:r>
            <a:endParaRPr sz="2100"/>
          </a:p>
          <a:p>
            <a:pPr indent="-361950" lvl="0" marL="457200" rtl="0" algn="l">
              <a:spcBef>
                <a:spcPts val="0"/>
              </a:spcBef>
              <a:spcAft>
                <a:spcPts val="0"/>
              </a:spcAft>
              <a:buSzPts val="2100"/>
              <a:buChar char="●"/>
            </a:pPr>
            <a:r>
              <a:rPr lang="pt-BR" sz="2100"/>
              <a:t>Ben &amp; Jerry's</a:t>
            </a:r>
            <a:endParaRPr sz="2100"/>
          </a:p>
          <a:p>
            <a:pPr indent="-361950" lvl="0" marL="457200" rtl="0" algn="l">
              <a:spcBef>
                <a:spcPts val="0"/>
              </a:spcBef>
              <a:spcAft>
                <a:spcPts val="0"/>
              </a:spcAft>
              <a:buSzPts val="2100"/>
              <a:buChar char="●"/>
            </a:pPr>
            <a:r>
              <a:rPr lang="pt-BR" sz="2100"/>
              <a:t>Kibon</a:t>
            </a:r>
            <a:endParaRPr sz="2100"/>
          </a:p>
          <a:p>
            <a:pPr indent="-361950" lvl="0" marL="457200" rtl="0" algn="l">
              <a:spcBef>
                <a:spcPts val="0"/>
              </a:spcBef>
              <a:spcAft>
                <a:spcPts val="0"/>
              </a:spcAft>
              <a:buSzPts val="2100"/>
              <a:buChar char="●"/>
            </a:pPr>
            <a:r>
              <a:rPr lang="pt-BR" sz="2100"/>
              <a:t>Magnum</a:t>
            </a:r>
            <a:endParaRPr sz="2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Fluxo</a:t>
            </a:r>
            <a:endParaRPr/>
          </a:p>
        </p:txBody>
      </p:sp>
      <p:cxnSp>
        <p:nvCxnSpPr>
          <p:cNvPr id="411" name="Google Shape;411;p51"/>
          <p:cNvCxnSpPr/>
          <p:nvPr/>
        </p:nvCxnSpPr>
        <p:spPr>
          <a:xfrm>
            <a:off x="420075" y="2790116"/>
            <a:ext cx="8336100" cy="0"/>
          </a:xfrm>
          <a:prstGeom prst="straightConnector1">
            <a:avLst/>
          </a:prstGeom>
          <a:noFill/>
          <a:ln cap="flat" cmpd="sng" w="19050">
            <a:solidFill>
              <a:schemeClr val="dk1"/>
            </a:solidFill>
            <a:prstDash val="dot"/>
            <a:round/>
            <a:headEnd len="sm" w="sm" type="none"/>
            <a:tailEnd len="sm" w="sm" type="none"/>
          </a:ln>
        </p:spPr>
      </p:cxnSp>
      <p:grpSp>
        <p:nvGrpSpPr>
          <p:cNvPr id="412" name="Google Shape;412;p51"/>
          <p:cNvGrpSpPr/>
          <p:nvPr/>
        </p:nvGrpSpPr>
        <p:grpSpPr>
          <a:xfrm>
            <a:off x="648675" y="1581271"/>
            <a:ext cx="196200" cy="1306800"/>
            <a:chOff x="648675" y="1657471"/>
            <a:chExt cx="196200" cy="1306800"/>
          </a:xfrm>
        </p:grpSpPr>
        <p:sp>
          <p:nvSpPr>
            <p:cNvPr id="413" name="Google Shape;413;p51"/>
            <p:cNvSpPr/>
            <p:nvPr/>
          </p:nvSpPr>
          <p:spPr>
            <a:xfrm>
              <a:off x="6486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4" name="Google Shape;414;p51"/>
            <p:cNvCxnSpPr>
              <a:stCxn id="413" idx="0"/>
            </p:cNvCxnSpPr>
            <p:nvPr/>
          </p:nvCxnSpPr>
          <p:spPr>
            <a:xfrm rot="10800000">
              <a:off x="746775" y="1657471"/>
              <a:ext cx="0" cy="1110900"/>
            </a:xfrm>
            <a:prstGeom prst="straightConnector1">
              <a:avLst/>
            </a:prstGeom>
            <a:noFill/>
            <a:ln cap="flat" cmpd="sng" w="19050">
              <a:solidFill>
                <a:schemeClr val="accent5"/>
              </a:solidFill>
              <a:prstDash val="solid"/>
              <a:round/>
              <a:headEnd len="sm" w="sm" type="none"/>
              <a:tailEnd len="med" w="med" type="oval"/>
            </a:ln>
          </p:spPr>
        </p:cxnSp>
      </p:grpSp>
      <p:sp>
        <p:nvSpPr>
          <p:cNvPr id="415" name="Google Shape;415;p51"/>
          <p:cNvSpPr txBox="1"/>
          <p:nvPr>
            <p:ph idx="4294967295" type="body"/>
          </p:nvPr>
        </p:nvSpPr>
        <p:spPr>
          <a:xfrm>
            <a:off x="835849" y="1299975"/>
            <a:ext cx="2938800" cy="971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pt-BR">
                <a:solidFill>
                  <a:schemeClr val="dk2"/>
                </a:solidFill>
              </a:rPr>
              <a:t>Jira</a:t>
            </a:r>
            <a:endParaRPr b="1">
              <a:solidFill>
                <a:schemeClr val="dk2"/>
              </a:solidFill>
            </a:endParaRPr>
          </a:p>
          <a:p>
            <a:pPr indent="0" lvl="0" marL="0" rtl="0" algn="l">
              <a:spcBef>
                <a:spcPts val="0"/>
              </a:spcBef>
              <a:spcAft>
                <a:spcPts val="1200"/>
              </a:spcAft>
              <a:buNone/>
            </a:pPr>
            <a:r>
              <a:rPr lang="pt-BR" sz="1400"/>
              <a:t>enviam as tasks e subtasks com uma planilha offline com as </a:t>
            </a:r>
            <a:r>
              <a:rPr lang="pt-BR" sz="1400"/>
              <a:t>linhas</a:t>
            </a:r>
            <a:r>
              <a:rPr lang="pt-BR" sz="1400"/>
              <a:t> que precisam, no caso de hellmanns anexam a planilha das subtasks na task principal</a:t>
            </a:r>
            <a:endParaRPr b="1">
              <a:solidFill>
                <a:schemeClr val="dk2"/>
              </a:solidFill>
            </a:endParaRPr>
          </a:p>
        </p:txBody>
      </p:sp>
      <p:grpSp>
        <p:nvGrpSpPr>
          <p:cNvPr id="416" name="Google Shape;416;p51"/>
          <p:cNvGrpSpPr/>
          <p:nvPr/>
        </p:nvGrpSpPr>
        <p:grpSpPr>
          <a:xfrm>
            <a:off x="2512925" y="2692171"/>
            <a:ext cx="196200" cy="1404905"/>
            <a:chOff x="2512925" y="2768371"/>
            <a:chExt cx="196200" cy="1404905"/>
          </a:xfrm>
        </p:grpSpPr>
        <p:cxnSp>
          <p:nvCxnSpPr>
            <p:cNvPr id="417" name="Google Shape;417;p51"/>
            <p:cNvCxnSpPr/>
            <p:nvPr/>
          </p:nvCxnSpPr>
          <p:spPr>
            <a:xfrm>
              <a:off x="261102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418" name="Google Shape;418;p51"/>
            <p:cNvSpPr/>
            <p:nvPr/>
          </p:nvSpPr>
          <p:spPr>
            <a:xfrm>
              <a:off x="251292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 name="Google Shape;419;p51"/>
          <p:cNvSpPr txBox="1"/>
          <p:nvPr>
            <p:ph idx="4294967295" type="body"/>
          </p:nvPr>
        </p:nvSpPr>
        <p:spPr>
          <a:xfrm>
            <a:off x="2693150" y="3854675"/>
            <a:ext cx="2662200" cy="971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pt-BR"/>
              <a:t>flashtalking</a:t>
            </a:r>
            <a:endParaRPr b="1">
              <a:solidFill>
                <a:schemeClr val="dk2"/>
              </a:solidFill>
            </a:endParaRPr>
          </a:p>
          <a:p>
            <a:pPr indent="0" lvl="0" marL="0" rtl="0" algn="l">
              <a:spcBef>
                <a:spcPts val="0"/>
              </a:spcBef>
              <a:spcAft>
                <a:spcPts val="1200"/>
              </a:spcAft>
              <a:buNone/>
            </a:pPr>
            <a:r>
              <a:rPr lang="pt-BR" sz="1400"/>
              <a:t>coloco todos de nutrition na thread, e as meninas ajudam interagindo com a Ju.</a:t>
            </a:r>
            <a:br>
              <a:rPr lang="pt-BR" sz="1400"/>
            </a:br>
            <a:r>
              <a:rPr lang="pt-BR" sz="1400"/>
              <a:t>Pati e Adeva costumam ja pegar o adp com os contadores direto na thread.</a:t>
            </a:r>
            <a:endParaRPr sz="1400"/>
          </a:p>
        </p:txBody>
      </p:sp>
      <p:grpSp>
        <p:nvGrpSpPr>
          <p:cNvPr id="420" name="Google Shape;420;p51"/>
          <p:cNvGrpSpPr/>
          <p:nvPr/>
        </p:nvGrpSpPr>
        <p:grpSpPr>
          <a:xfrm>
            <a:off x="4279200" y="1483171"/>
            <a:ext cx="196200" cy="1404900"/>
            <a:chOff x="4279200" y="1559371"/>
            <a:chExt cx="196200" cy="1404900"/>
          </a:xfrm>
        </p:grpSpPr>
        <p:cxnSp>
          <p:nvCxnSpPr>
            <p:cNvPr id="421" name="Google Shape;421;p51"/>
            <p:cNvCxnSpPr>
              <a:stCxn id="422" idx="0"/>
            </p:cNvCxnSpPr>
            <p:nvPr/>
          </p:nvCxnSpPr>
          <p:spPr>
            <a:xfrm rot="10800000">
              <a:off x="4377300" y="1559371"/>
              <a:ext cx="0" cy="1209000"/>
            </a:xfrm>
            <a:prstGeom prst="straightConnector1">
              <a:avLst/>
            </a:prstGeom>
            <a:noFill/>
            <a:ln cap="flat" cmpd="sng" w="19050">
              <a:solidFill>
                <a:schemeClr val="accent5"/>
              </a:solidFill>
              <a:prstDash val="solid"/>
              <a:round/>
              <a:headEnd len="sm" w="sm" type="none"/>
              <a:tailEnd len="med" w="med" type="oval"/>
            </a:ln>
          </p:spPr>
        </p:cxnSp>
        <p:sp>
          <p:nvSpPr>
            <p:cNvPr id="422" name="Google Shape;422;p51"/>
            <p:cNvSpPr/>
            <p:nvPr/>
          </p:nvSpPr>
          <p:spPr>
            <a:xfrm>
              <a:off x="4279200"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 name="Google Shape;423;p51"/>
          <p:cNvSpPr txBox="1"/>
          <p:nvPr>
            <p:ph idx="4294967295" type="body"/>
          </p:nvPr>
        </p:nvSpPr>
        <p:spPr>
          <a:xfrm>
            <a:off x="4454450" y="1299975"/>
            <a:ext cx="3031500" cy="9717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pt-BR"/>
              <a:t>TEAMS</a:t>
            </a:r>
            <a:endParaRPr b="1">
              <a:solidFill>
                <a:schemeClr val="dk2"/>
              </a:solidFill>
            </a:endParaRPr>
          </a:p>
          <a:p>
            <a:pPr indent="0" lvl="0" marL="0" rtl="0" algn="l">
              <a:spcBef>
                <a:spcPts val="0"/>
              </a:spcBef>
              <a:spcAft>
                <a:spcPts val="0"/>
              </a:spcAft>
              <a:buNone/>
            </a:pPr>
            <a:r>
              <a:rPr lang="pt-BR" sz="1400"/>
              <a:t>Adeva e Pati sempre me avisam quando sobem uma task nova e me passam algumas infos ou particularidades pelo teams</a:t>
            </a:r>
            <a:endParaRPr sz="1400"/>
          </a:p>
          <a:p>
            <a:pPr indent="0" lvl="0" marL="0" rtl="0" algn="l">
              <a:spcBef>
                <a:spcPts val="1200"/>
              </a:spcBef>
              <a:spcAft>
                <a:spcPts val="1200"/>
              </a:spcAft>
              <a:buNone/>
            </a:pPr>
            <a:r>
              <a:t/>
            </a:r>
            <a:endParaRPr/>
          </a:p>
        </p:txBody>
      </p:sp>
      <p:grpSp>
        <p:nvGrpSpPr>
          <p:cNvPr id="424" name="Google Shape;424;p51"/>
          <p:cNvGrpSpPr/>
          <p:nvPr/>
        </p:nvGrpSpPr>
        <p:grpSpPr>
          <a:xfrm>
            <a:off x="6045475" y="2692171"/>
            <a:ext cx="196200" cy="1404905"/>
            <a:chOff x="6045475" y="2768371"/>
            <a:chExt cx="196200" cy="1404905"/>
          </a:xfrm>
        </p:grpSpPr>
        <p:cxnSp>
          <p:nvCxnSpPr>
            <p:cNvPr id="425" name="Google Shape;425;p51"/>
            <p:cNvCxnSpPr/>
            <p:nvPr/>
          </p:nvCxnSpPr>
          <p:spPr>
            <a:xfrm>
              <a:off x="6143575" y="2964276"/>
              <a:ext cx="0" cy="1209000"/>
            </a:xfrm>
            <a:prstGeom prst="straightConnector1">
              <a:avLst/>
            </a:prstGeom>
            <a:noFill/>
            <a:ln cap="flat" cmpd="sng" w="19050">
              <a:solidFill>
                <a:schemeClr val="accent5"/>
              </a:solidFill>
              <a:prstDash val="solid"/>
              <a:round/>
              <a:headEnd len="sm" w="sm" type="none"/>
              <a:tailEnd len="med" w="med" type="oval"/>
            </a:ln>
          </p:spPr>
        </p:cxnSp>
        <p:sp>
          <p:nvSpPr>
            <p:cNvPr id="426" name="Google Shape;426;p51"/>
            <p:cNvSpPr/>
            <p:nvPr/>
          </p:nvSpPr>
          <p:spPr>
            <a:xfrm>
              <a:off x="6045475" y="2768371"/>
              <a:ext cx="196200" cy="195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7" name="Google Shape;427;p51"/>
          <p:cNvSpPr txBox="1"/>
          <p:nvPr>
            <p:ph idx="4294967295" type="body"/>
          </p:nvPr>
        </p:nvSpPr>
        <p:spPr>
          <a:xfrm>
            <a:off x="6225725" y="3854675"/>
            <a:ext cx="2883000" cy="971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pt-BR"/>
              <a:t>QA</a:t>
            </a:r>
            <a:endParaRPr b="1">
              <a:solidFill>
                <a:schemeClr val="dk2"/>
              </a:solidFill>
            </a:endParaRPr>
          </a:p>
          <a:p>
            <a:pPr indent="0" lvl="0" marL="0" rtl="0" algn="l">
              <a:spcBef>
                <a:spcPts val="0"/>
              </a:spcBef>
              <a:spcAft>
                <a:spcPts val="1200"/>
              </a:spcAft>
              <a:buNone/>
            </a:pPr>
            <a:r>
              <a:rPr lang="pt-BR" sz="1400"/>
              <a:t>costumo fazer o qa de 1 a 2 dias depois, se nao estiver na plataforma, deixo pra segunda-feira seguinte</a:t>
            </a:r>
            <a:endParaRPr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Detalhamento do dia-a-dia</a:t>
            </a:r>
            <a:endParaRPr/>
          </a:p>
        </p:txBody>
      </p:sp>
      <p:sp>
        <p:nvSpPr>
          <p:cNvPr id="433" name="Google Shape;433;p52"/>
          <p:cNvSpPr txBox="1"/>
          <p:nvPr/>
        </p:nvSpPr>
        <p:spPr>
          <a:xfrm>
            <a:off x="401375" y="1461900"/>
            <a:ext cx="8345100" cy="3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300">
                <a:solidFill>
                  <a:schemeClr val="dk2"/>
                </a:solidFill>
                <a:latin typeface="Roboto"/>
                <a:ea typeface="Roboto"/>
                <a:cs typeface="Roboto"/>
                <a:sym typeface="Roboto"/>
              </a:rPr>
              <a:t>Principais contatos:</a:t>
            </a: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Adeva - Hellmanns</a:t>
            </a: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Pati e Shayenni-Todas as outras marcas</a:t>
            </a:r>
            <a:endParaRPr sz="1300">
              <a:solidFill>
                <a:schemeClr val="dk2"/>
              </a:solidFill>
              <a:latin typeface="Roboto"/>
              <a:ea typeface="Roboto"/>
              <a:cs typeface="Roboto"/>
              <a:sym typeface="Roboto"/>
            </a:endParaRPr>
          </a:p>
          <a:p>
            <a:pPr indent="0" lvl="0" marL="0" rtl="0" algn="l">
              <a:spcBef>
                <a:spcPts val="0"/>
              </a:spcBef>
              <a:spcAft>
                <a:spcPts val="0"/>
              </a:spcAft>
              <a:buNone/>
            </a:pP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Tasks novas sobem o </a:t>
            </a:r>
            <a:r>
              <a:rPr lang="pt-BR" sz="1300">
                <a:solidFill>
                  <a:schemeClr val="dk2"/>
                </a:solidFill>
                <a:latin typeface="Roboto"/>
                <a:ea typeface="Roboto"/>
                <a:cs typeface="Roboto"/>
                <a:sym typeface="Roboto"/>
              </a:rPr>
              <a:t>formulário</a:t>
            </a:r>
            <a:r>
              <a:rPr lang="pt-BR" sz="1300">
                <a:solidFill>
                  <a:schemeClr val="dk2"/>
                </a:solidFill>
                <a:latin typeface="Roboto"/>
                <a:ea typeface="Roboto"/>
                <a:cs typeface="Roboto"/>
                <a:sym typeface="Roboto"/>
              </a:rPr>
              <a:t> e enviam a RM na task ou quando é alteração, pelo teams.</a:t>
            </a: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 </a:t>
            </a: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Depois da criação da RM tem concentrado os pedidos via teams, muitas vezes sem abrir task.</a:t>
            </a:r>
            <a:br>
              <a:rPr lang="pt-BR" sz="1300">
                <a:solidFill>
                  <a:schemeClr val="dk2"/>
                </a:solidFill>
                <a:latin typeface="Roboto"/>
                <a:ea typeface="Roboto"/>
                <a:cs typeface="Roboto"/>
                <a:sym typeface="Roboto"/>
              </a:rPr>
            </a:br>
            <a:endParaRPr sz="1300">
              <a:solidFill>
                <a:schemeClr val="dk2"/>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3"/>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439" name="Google Shape;439;p53"/>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Mãe Terra /  Recepedia / Ben &amp; Jerry's / Maizena / Knorr / Kibon / Magnum</a:t>
            </a:r>
            <a:endParaRPr sz="1600"/>
          </a:p>
        </p:txBody>
      </p:sp>
      <p:sp>
        <p:nvSpPr>
          <p:cNvPr id="440" name="Google Shape;440;p53"/>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Patricia Lima (midia)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patricia.lima@initiative.com</a:t>
            </a:r>
            <a:endParaRPr sz="1440">
              <a:solidFill>
                <a:schemeClr val="dk2"/>
              </a:solidFill>
            </a:endParaRPr>
          </a:p>
        </p:txBody>
      </p:sp>
      <p:sp>
        <p:nvSpPr>
          <p:cNvPr id="441" name="Google Shape;441;p53"/>
          <p:cNvSpPr txBox="1"/>
          <p:nvPr>
            <p:ph idx="1" type="body"/>
          </p:nvPr>
        </p:nvSpPr>
        <p:spPr>
          <a:xfrm>
            <a:off x="453225" y="2790450"/>
            <a:ext cx="33879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Shayenni Matos</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shayenni.matos</a:t>
            </a:r>
            <a:r>
              <a:rPr lang="pt-BR" sz="1440">
                <a:solidFill>
                  <a:schemeClr val="dk2"/>
                </a:solidFill>
              </a:rPr>
              <a:t>@initiative.com</a:t>
            </a:r>
            <a:endParaRPr sz="1440">
              <a:solidFill>
                <a:schemeClr val="dk2"/>
              </a:solidFill>
            </a:endParaRPr>
          </a:p>
        </p:txBody>
      </p:sp>
      <p:sp>
        <p:nvSpPr>
          <p:cNvPr id="442" name="Google Shape;442;p53"/>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Leonardo Tronco</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leonardo.troco@kinesso.com</a:t>
            </a:r>
            <a:endParaRPr sz="1440">
              <a:solidFill>
                <a:schemeClr val="dk2"/>
              </a:solidFill>
            </a:endParaRPr>
          </a:p>
        </p:txBody>
      </p:sp>
      <p:sp>
        <p:nvSpPr>
          <p:cNvPr id="443" name="Google Shape;443;p53"/>
          <p:cNvSpPr txBox="1"/>
          <p:nvPr>
            <p:ph idx="1" type="body"/>
          </p:nvPr>
        </p:nvSpPr>
        <p:spPr>
          <a:xfrm>
            <a:off x="5036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Raphael Dorta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rafael.dorta</a:t>
            </a:r>
            <a:r>
              <a:rPr lang="pt-BR" sz="1440">
                <a:solidFill>
                  <a:schemeClr val="dk2"/>
                </a:solidFill>
              </a:rPr>
              <a:t>@initiative.com</a:t>
            </a:r>
            <a:endParaRPr sz="1440">
              <a:solidFill>
                <a:schemeClr val="dk2"/>
              </a:solidFill>
            </a:endParaRPr>
          </a:p>
        </p:txBody>
      </p:sp>
      <p:sp>
        <p:nvSpPr>
          <p:cNvPr id="444" name="Google Shape;444;p53"/>
          <p:cNvSpPr txBox="1"/>
          <p:nvPr/>
        </p:nvSpPr>
        <p:spPr>
          <a:xfrm>
            <a:off x="5402375" y="1401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dk2"/>
                </a:solidFill>
                <a:latin typeface="Roboto"/>
                <a:ea typeface="Roboto"/>
                <a:cs typeface="Roboto"/>
                <a:sym typeface="Roboto"/>
              </a:rPr>
              <a:t>Gerente: </a:t>
            </a:r>
            <a:r>
              <a:rPr lang="pt-BR" sz="1500">
                <a:solidFill>
                  <a:schemeClr val="dk2"/>
                </a:solidFill>
                <a:latin typeface="Roboto"/>
                <a:ea typeface="Roboto"/>
                <a:cs typeface="Roboto"/>
                <a:sym typeface="Roboto"/>
              </a:rPr>
              <a:t>beatriz.bordini@initiative.com</a:t>
            </a:r>
            <a:endParaRPr sz="15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4"/>
          <p:cNvSpPr txBox="1"/>
          <p:nvPr>
            <p:ph idx="4294967295" type="title"/>
          </p:nvPr>
        </p:nvSpPr>
        <p:spPr>
          <a:xfrm>
            <a:off x="311700" y="555600"/>
            <a:ext cx="32442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 Contatos</a:t>
            </a:r>
            <a:endParaRPr/>
          </a:p>
        </p:txBody>
      </p:sp>
      <p:sp>
        <p:nvSpPr>
          <p:cNvPr id="450" name="Google Shape;450;p54"/>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1600"/>
              <a:t>Hellmann's </a:t>
            </a:r>
            <a:endParaRPr sz="1600"/>
          </a:p>
        </p:txBody>
      </p:sp>
      <p:sp>
        <p:nvSpPr>
          <p:cNvPr id="451" name="Google Shape;451;p54"/>
          <p:cNvSpPr txBox="1"/>
          <p:nvPr>
            <p:ph idx="1" type="body"/>
          </p:nvPr>
        </p:nvSpPr>
        <p:spPr>
          <a:xfrm>
            <a:off x="464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principal:</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Adeva</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adeva.chagas@initiative.com</a:t>
            </a:r>
            <a:endParaRPr sz="1440">
              <a:solidFill>
                <a:schemeClr val="dk2"/>
              </a:solidFill>
            </a:endParaRPr>
          </a:p>
        </p:txBody>
      </p:sp>
      <p:sp>
        <p:nvSpPr>
          <p:cNvPr id="452" name="Google Shape;452;p54"/>
          <p:cNvSpPr txBox="1"/>
          <p:nvPr>
            <p:ph idx="1" type="body"/>
          </p:nvPr>
        </p:nvSpPr>
        <p:spPr>
          <a:xfrm>
            <a:off x="453225" y="2790450"/>
            <a:ext cx="3387900" cy="1228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 extra:</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Allan</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allan.reis@initiative.com</a:t>
            </a:r>
            <a:endParaRPr sz="1440">
              <a:solidFill>
                <a:schemeClr val="dk2"/>
              </a:solidFill>
            </a:endParaRPr>
          </a:p>
        </p:txBody>
      </p:sp>
      <p:sp>
        <p:nvSpPr>
          <p:cNvPr id="453" name="Google Shape;453;p54"/>
          <p:cNvSpPr txBox="1"/>
          <p:nvPr>
            <p:ph idx="1" type="body"/>
          </p:nvPr>
        </p:nvSpPr>
        <p:spPr>
          <a:xfrm>
            <a:off x="5036975" y="2839200"/>
            <a:ext cx="3387900" cy="11313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Kinesso: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Leonardo Tronco</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leonardo.troco@kinesso.com</a:t>
            </a:r>
            <a:endParaRPr sz="1440">
              <a:solidFill>
                <a:schemeClr val="dk2"/>
              </a:solidFill>
            </a:endParaRPr>
          </a:p>
        </p:txBody>
      </p:sp>
      <p:sp>
        <p:nvSpPr>
          <p:cNvPr id="454" name="Google Shape;454;p54"/>
          <p:cNvSpPr txBox="1"/>
          <p:nvPr>
            <p:ph idx="1" type="body"/>
          </p:nvPr>
        </p:nvSpPr>
        <p:spPr>
          <a:xfrm>
            <a:off x="5036975" y="1294225"/>
            <a:ext cx="4048800" cy="1316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
              <a:buNone/>
            </a:pPr>
            <a:r>
              <a:rPr b="1" lang="pt-BR" sz="1440">
                <a:solidFill>
                  <a:schemeClr val="dk2"/>
                </a:solidFill>
              </a:rPr>
              <a:t>Contato:</a:t>
            </a:r>
            <a:endParaRPr b="1" sz="1440">
              <a:solidFill>
                <a:schemeClr val="dk2"/>
              </a:solidFill>
            </a:endParaRPr>
          </a:p>
          <a:p>
            <a:pPr indent="0" lvl="0" marL="0" rtl="0" algn="l">
              <a:lnSpc>
                <a:spcPct val="90000"/>
              </a:lnSpc>
              <a:spcBef>
                <a:spcPts val="0"/>
              </a:spcBef>
              <a:spcAft>
                <a:spcPts val="0"/>
              </a:spcAft>
              <a:buSzPts val="440"/>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Arthur Cavazini</a:t>
            </a:r>
            <a:endParaRPr sz="1440">
              <a:solidFill>
                <a:schemeClr val="dk2"/>
              </a:solidFill>
            </a:endParaRPr>
          </a:p>
          <a:p>
            <a:pPr indent="0" lvl="0" marL="0" rtl="0" algn="l">
              <a:lnSpc>
                <a:spcPct val="90000"/>
              </a:lnSpc>
              <a:spcBef>
                <a:spcPts val="0"/>
              </a:spcBef>
              <a:spcAft>
                <a:spcPts val="0"/>
              </a:spcAft>
              <a:buNone/>
            </a:pPr>
            <a:r>
              <a:t/>
            </a:r>
            <a:endParaRPr sz="1440">
              <a:solidFill>
                <a:schemeClr val="dk2"/>
              </a:solidFill>
            </a:endParaRPr>
          </a:p>
          <a:p>
            <a:pPr indent="0" lvl="0" marL="0" rtl="0" algn="l">
              <a:lnSpc>
                <a:spcPct val="90000"/>
              </a:lnSpc>
              <a:spcBef>
                <a:spcPts val="0"/>
              </a:spcBef>
              <a:spcAft>
                <a:spcPts val="0"/>
              </a:spcAft>
              <a:buNone/>
            </a:pPr>
            <a:r>
              <a:rPr lang="pt-BR" sz="1440">
                <a:solidFill>
                  <a:schemeClr val="dk2"/>
                </a:solidFill>
              </a:rPr>
              <a:t>arthur.cavazini@initiative.com</a:t>
            </a:r>
            <a:endParaRPr sz="1440">
              <a:solidFill>
                <a:schemeClr val="dk2"/>
              </a:solidFill>
            </a:endParaRPr>
          </a:p>
        </p:txBody>
      </p:sp>
      <p:sp>
        <p:nvSpPr>
          <p:cNvPr id="455" name="Google Shape;455;p54"/>
          <p:cNvSpPr txBox="1"/>
          <p:nvPr/>
        </p:nvSpPr>
        <p:spPr>
          <a:xfrm>
            <a:off x="5360550" y="4543900"/>
            <a:ext cx="3617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500">
                <a:solidFill>
                  <a:schemeClr val="lt1"/>
                </a:solidFill>
                <a:latin typeface="Roboto"/>
                <a:ea typeface="Roboto"/>
                <a:cs typeface="Roboto"/>
                <a:sym typeface="Roboto"/>
              </a:rPr>
              <a:t>Gerente: </a:t>
            </a:r>
            <a:r>
              <a:rPr lang="pt-BR" sz="1500">
                <a:solidFill>
                  <a:schemeClr val="lt1"/>
                </a:solidFill>
                <a:latin typeface="Roboto"/>
                <a:ea typeface="Roboto"/>
                <a:cs typeface="Roboto"/>
                <a:sym typeface="Roboto"/>
              </a:rPr>
              <a:t>bianca.navega@initiative.com</a:t>
            </a:r>
            <a:endParaRPr sz="1500">
              <a:solidFill>
                <a:schemeClr val="lt1"/>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Particularidades / Como se relacionam</a:t>
            </a:r>
            <a:endParaRPr/>
          </a:p>
        </p:txBody>
      </p:sp>
      <p:sp>
        <p:nvSpPr>
          <p:cNvPr id="461" name="Google Shape;461;p55"/>
          <p:cNvSpPr txBox="1"/>
          <p:nvPr/>
        </p:nvSpPr>
        <p:spPr>
          <a:xfrm>
            <a:off x="401375" y="1461900"/>
            <a:ext cx="8345100" cy="3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300">
                <a:solidFill>
                  <a:schemeClr val="dk2"/>
                </a:solidFill>
                <a:latin typeface="Roboto"/>
                <a:ea typeface="Roboto"/>
                <a:cs typeface="Roboto"/>
                <a:sym typeface="Roboto"/>
              </a:rPr>
              <a:t>Adeva e Pati respondem rápido e resolvem as coisas pelo teams.</a:t>
            </a:r>
            <a:br>
              <a:rPr lang="pt-BR" sz="1300">
                <a:solidFill>
                  <a:schemeClr val="dk2"/>
                </a:solidFill>
                <a:latin typeface="Roboto"/>
                <a:ea typeface="Roboto"/>
                <a:cs typeface="Roboto"/>
                <a:sym typeface="Roboto"/>
              </a:rPr>
            </a:b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Arthur geralmente sobe as tasks de google de Hellmanns e acaba pedindo tudo via teams</a:t>
            </a:r>
            <a:br>
              <a:rPr lang="pt-BR" sz="1300">
                <a:solidFill>
                  <a:schemeClr val="dk2"/>
                </a:solidFill>
                <a:latin typeface="Roboto"/>
                <a:ea typeface="Roboto"/>
                <a:cs typeface="Roboto"/>
                <a:sym typeface="Roboto"/>
              </a:rPr>
            </a:br>
            <a:br>
              <a:rPr lang="pt-BR" sz="1300">
                <a:solidFill>
                  <a:schemeClr val="dk2"/>
                </a:solidFill>
                <a:latin typeface="Roboto"/>
                <a:ea typeface="Roboto"/>
                <a:cs typeface="Roboto"/>
                <a:sym typeface="Roboto"/>
              </a:rPr>
            </a:br>
            <a:r>
              <a:rPr lang="pt-BR" sz="1300">
                <a:solidFill>
                  <a:schemeClr val="dk2"/>
                </a:solidFill>
                <a:latin typeface="Roboto"/>
                <a:ea typeface="Roboto"/>
                <a:cs typeface="Roboto"/>
                <a:sym typeface="Roboto"/>
              </a:rPr>
              <a:t>Allan e Bianca Navega geralmente ajudam quando elas estão com muita demanda, mas é raro. </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pt-BR" sz="1300">
                <a:solidFill>
                  <a:schemeClr val="dk2"/>
                </a:solidFill>
                <a:latin typeface="Roboto"/>
                <a:ea typeface="Roboto"/>
                <a:cs typeface="Roboto"/>
                <a:sym typeface="Roboto"/>
              </a:rPr>
              <a:t>Shayenni Matos divide a responsabilidade das demais marcas (tirando hellmanns) com a Pati, cada hora uma delas vem falar sobre as tasks.</a:t>
            </a:r>
            <a:endParaRPr sz="1300">
              <a:solidFill>
                <a:schemeClr val="dk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6"/>
          <p:cNvSpPr/>
          <p:nvPr/>
        </p:nvSpPr>
        <p:spPr>
          <a:xfrm>
            <a:off x="0" y="0"/>
            <a:ext cx="9144000" cy="5143500"/>
          </a:xfrm>
          <a:prstGeom prst="rect">
            <a:avLst/>
          </a:prstGeom>
          <a:solidFill>
            <a:srgbClr val="484D6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467" name="Google Shape;467;p56"/>
          <p:cNvPicPr preferRelativeResize="0"/>
          <p:nvPr/>
        </p:nvPicPr>
        <p:blipFill rotWithShape="1">
          <a:blip r:embed="rId3">
            <a:alphaModFix/>
          </a:blip>
          <a:srcRect b="0" l="0" r="0" t="0"/>
          <a:stretch/>
        </p:blipFill>
        <p:spPr>
          <a:xfrm>
            <a:off x="1022197" y="0"/>
            <a:ext cx="7099613" cy="5143498"/>
          </a:xfrm>
          <a:prstGeom prst="rect">
            <a:avLst/>
          </a:prstGeom>
          <a:noFill/>
          <a:ln>
            <a:noFill/>
          </a:ln>
        </p:spPr>
      </p:pic>
      <p:sp>
        <p:nvSpPr>
          <p:cNvPr id="468" name="Google Shape;468;p56"/>
          <p:cNvSpPr/>
          <p:nvPr/>
        </p:nvSpPr>
        <p:spPr>
          <a:xfrm>
            <a:off x="3983700" y="4000300"/>
            <a:ext cx="1128600" cy="409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lang="pt-BR" sz="1800">
                <a:solidFill>
                  <a:srgbClr val="EBEBEB"/>
                </a:solidFill>
                <a:latin typeface="DM Sans"/>
                <a:ea typeface="DM Sans"/>
                <a:cs typeface="DM Sans"/>
                <a:sym typeface="DM Sans"/>
              </a:rPr>
              <a:t>U</a:t>
            </a:r>
            <a:r>
              <a:rPr b="1" lang="pt-BR" sz="1800">
                <a:solidFill>
                  <a:srgbClr val="EBEBEB"/>
                </a:solidFill>
                <a:latin typeface="DM Sans"/>
                <a:ea typeface="DM Sans"/>
                <a:cs typeface="DM Sans"/>
                <a:sym typeface="DM Sans"/>
              </a:rPr>
              <a:t>nilever</a:t>
            </a:r>
            <a:endParaRPr b="0" i="0" sz="1800" u="none" cap="none" strike="noStrike">
              <a:solidFill>
                <a:srgbClr val="000000"/>
              </a:solidFill>
              <a:latin typeface="Arial"/>
              <a:ea typeface="Arial"/>
              <a:cs typeface="Arial"/>
              <a:sym typeface="Arial"/>
            </a:endParaRPr>
          </a:p>
        </p:txBody>
      </p:sp>
      <p:sp>
        <p:nvSpPr>
          <p:cNvPr id="469" name="Google Shape;469;p56"/>
          <p:cNvSpPr txBox="1"/>
          <p:nvPr/>
        </p:nvSpPr>
        <p:spPr>
          <a:xfrm>
            <a:off x="1385550" y="644200"/>
            <a:ext cx="63729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2100">
              <a:solidFill>
                <a:srgbClr val="EBEBEB"/>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Personalizado 3">
      <a:dk1>
        <a:srgbClr val="000000"/>
      </a:dk1>
      <a:lt1>
        <a:srgbClr val="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