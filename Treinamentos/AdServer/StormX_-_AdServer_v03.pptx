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9" r:id="rId6"/>
    <p:sldId id="261" r:id="rId7"/>
    <p:sldId id="270" r:id="rId8"/>
    <p:sldId id="271" r:id="rId9"/>
    <p:sldId id="278" r:id="rId10"/>
    <p:sldId id="266" r:id="rId11"/>
    <p:sldId id="267" r:id="rId12"/>
    <p:sldId id="281" r:id="rId52"/>
    <p:sldId id="282" r:id="rId53"/>
    <p:sldId id="283" r:id="rId54"/>
    <p:sldId id="284" r:id="rId55"/>
    <p:sldId id="285" r:id="rId56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6914d2d1_0_10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g3a96914d2d1_0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e24b5c77d_0_3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3ae24b5c77d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6914d2d1_0_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a96914d2d1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0422A6C-2145-86B8-2690-F815F6F6E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>
            <a:extLst>
              <a:ext uri="{FF2B5EF4-FFF2-40B4-BE49-F238E27FC236}">
                <a16:creationId xmlns:a16="http://schemas.microsoft.com/office/drawing/2014/main" id="{90D0067B-2D3C-73E1-B278-51DF2061C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>
            <a:extLst>
              <a:ext uri="{FF2B5EF4-FFF2-40B4-BE49-F238E27FC236}">
                <a16:creationId xmlns:a16="http://schemas.microsoft.com/office/drawing/2014/main" id="{CA619E51-AA52-4753-7083-EB3B74DE7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642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“O ad server é a tecnologia que garante que o anúncio certo apareça, no lugar certo, para a pessoa certa, além de medir tudo o que acontece depois.”</a:t>
            </a:r>
          </a:p>
        </p:txBody>
      </p:sp>
      <p:sp>
        <p:nvSpPr>
          <p:cNvPr id="145" name="Google Shape;145;g3ae24b5c77d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14B57F0-A51F-9DCE-FF45-BB96D6BE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6368BC76-CEC5-D993-0940-F30A0DBA2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7BE95579-43D4-0AB3-5B67-E6E0D6C44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304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BB6C2C5-CB65-AE4C-8945-BA78C87D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A3DF48B7-E61A-FA33-D3A2-DFD3F53E2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 xml:space="preserve">“A </a:t>
            </a:r>
            <a:r>
              <a:rPr lang="pt-BR" dirty="0" err="1"/>
              <a:t>tag</a:t>
            </a:r>
            <a:r>
              <a:rPr lang="pt-BR" dirty="0"/>
              <a:t xml:space="preserve"> é responsável por mostrar o anúncio. Já o contador não mostra nada, ele apenas mede o que aconteceu, como uma conversão ou um clique.”</a:t>
            </a:r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67257347-0280-71B9-AFC2-1A9B229E4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8513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15F4CDA-6C26-25AF-E9F3-3EF5FCA8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9ED4B5F7-F62C-C8EE-4080-A4BCEC1F2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 xml:space="preserve">“A </a:t>
            </a:r>
            <a:r>
              <a:rPr lang="pt-BR" dirty="0" err="1"/>
              <a:t>tag</a:t>
            </a:r>
            <a:r>
              <a:rPr lang="pt-BR" dirty="0"/>
              <a:t xml:space="preserve"> é responsável por mostrar o anúncio. Já o contador não mostra nada, ele apenas mede o que aconteceu, como uma conversão ou um clique.”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1AE7BB7B-CD77-FCCC-E085-9D7918438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0621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AB17DAD-9AFF-276A-EDFF-12800015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EBEC1EA6-A65E-4378-4E8E-9CB66983B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977CB7-BEEC-5FDD-826D-41860EAF1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19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8A55892-8B78-C5DD-381A-223AB069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CAC8BC75-B525-B5D9-43C4-2528E3ED6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 xml:space="preserve">“Os dois fazem a mesma função principal, mas o CM360 é mais integrado ao ecossistema Google, enquanto o </a:t>
            </a:r>
            <a:r>
              <a:rPr lang="pt-BR" dirty="0" err="1"/>
              <a:t>Flashtalking</a:t>
            </a:r>
            <a:r>
              <a:rPr lang="pt-BR" dirty="0"/>
              <a:t xml:space="preserve"> se destaca pela complexidade criativa.”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8EC35797-83C8-C1B9-8158-25DEF0140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5542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2ED8F28-BF0F-A778-5A81-72463317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7E987BDA-78E7-F4E0-E698-BD714A8C9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D8B96D-3520-F2A7-13D4-D32395164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5951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24b5c77d_0_3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g3ae24b5c77d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ccfc1d022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3accfc1d02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24b5c77d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ae24b5c77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4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 action="ppaction://hlinksldjump"/>
              </a:rPr>
              <a:t>Organograma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5" action="ppaction://hlinksldjump"/>
              </a:rPr>
              <a:t>O que é um Ad Server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6" action="ppaction://hlinksldjump"/>
              </a:rPr>
              <a:t>Principais Processos de um Ad Server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 xml:space="preserve">Diferença entre </a:t>
            </a:r>
            <a:r>
              <a:rPr lang="pt-BR" sz="2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>Tag</a:t>
            </a: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 xml:space="preserve"> e Contador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8" action="ppaction://hlinksldjump"/>
              </a:rPr>
              <a:t>Ad Servers mais conhecidos do mercado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 xml:space="preserve">CM360 x </a:t>
            </a:r>
            <a:r>
              <a:rPr lang="pt-BR" sz="2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>Flashtalking</a:t>
            </a: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 xml:space="preserve"> - Igualdades e Diferenças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10" action="ppaction://hlinksldjump"/>
              </a:rPr>
              <a:t>Conclusão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/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9A097-3357-8FF8-7B32-D4948EDC9F30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/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/>
            <p:cNvSpPr txBox="1"/>
            <p:nvPr/>
          </p:nvSpPr>
          <p:spPr>
            <a:xfrm>
              <a:off x="6281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 xml:space="preserve">de </a:t>
              </a: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 Projetos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/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/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/>
            <p:cNvSpPr txBox="1"/>
            <p:nvPr/>
          </p:nvSpPr>
          <p:spPr>
            <a:xfrm>
              <a:off x="6279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Tiago Domingos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tiago.santos@stormx.com.br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5724AB-BD5B-5CA1-CB6D-30E254D9A64B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/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/>
            <p:cNvSpPr txBox="1"/>
            <p:nvPr/>
          </p:nvSpPr>
          <p:spPr>
            <a:xfrm>
              <a:off x="51152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Diretora de Atendimento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/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/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/>
            <p:cNvSpPr txBox="1"/>
            <p:nvPr/>
          </p:nvSpPr>
          <p:spPr>
            <a:xfrm>
              <a:off x="51150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 xml:space="preserve">Livia </a:t>
              </a:r>
              <a:r>
                <a:rPr lang="pt-BR" sz="2037" b="1" i="0" u="none" strike="noStrike" cap="none" dirty="0" err="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Bousquet</a:t>
              </a:r>
              <a:endParaRPr sz="20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livia.bousquet</a:t>
              </a:r>
              <a:r>
                <a:rPr lang="pt-BR" sz="1637" b="0" i="0" u="none" strike="noStrike" cap="none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@stormx.com.br</a:t>
              </a:r>
              <a:endParaRPr sz="2121" b="0" i="0" u="none" strike="noStrike" cap="none" dirty="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B052D4-0C49-8D7F-2EB8-BA54E893C627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/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/>
            <p:cNvSpPr txBox="1"/>
            <p:nvPr/>
          </p:nvSpPr>
          <p:spPr>
            <a:xfrm>
              <a:off x="96023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Líder 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/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/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/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Aline Calderan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aline.calderan@stormx.com.br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9CCA089-2280-B9A6-46D8-17EB2F0769A0}"/>
              </a:ext>
            </a:extLst>
          </p:cNvPr>
          <p:cNvGrpSpPr/>
          <p:nvPr/>
        </p:nvGrpSpPr>
        <p:grpSpPr>
          <a:xfrm>
            <a:off x="13766100" y="2839263"/>
            <a:ext cx="4258500" cy="5273700"/>
            <a:chOff x="13766100" y="2839263"/>
            <a:chExt cx="4258500" cy="5273700"/>
          </a:xfrm>
        </p:grpSpPr>
        <p:sp>
          <p:nvSpPr>
            <p:cNvPr id="108" name="Google Shape;108;g3accfc1d022_0_10"/>
            <p:cNvSpPr/>
            <p:nvPr/>
          </p:nvSpPr>
          <p:spPr>
            <a:xfrm>
              <a:off x="137661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ccfc1d022_0_10"/>
            <p:cNvSpPr txBox="1"/>
            <p:nvPr/>
          </p:nvSpPr>
          <p:spPr>
            <a:xfrm>
              <a:off x="13927816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Gerente</a:t>
              </a: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ccfc1d022_0_10"/>
            <p:cNvSpPr/>
            <p:nvPr/>
          </p:nvSpPr>
          <p:spPr>
            <a:xfrm>
              <a:off x="139946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accfc1d022_0_10"/>
            <p:cNvSpPr/>
            <p:nvPr/>
          </p:nvSpPr>
          <p:spPr>
            <a:xfrm>
              <a:off x="148906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ccfc1d022_0_10"/>
            <p:cNvSpPr txBox="1"/>
            <p:nvPr/>
          </p:nvSpPr>
          <p:spPr>
            <a:xfrm>
              <a:off x="13927650" y="5863550"/>
              <a:ext cx="39354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Carolina Dobner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carolina.dobner@stormx.com.br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>
          <a:extLst>
            <a:ext uri="{FF2B5EF4-FFF2-40B4-BE49-F238E27FC236}">
              <a16:creationId xmlns:a16="http://schemas.microsoft.com/office/drawing/2014/main" id="{CCB57463-9309-DB10-394B-0964A97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>
            <a:extLst>
              <a:ext uri="{FF2B5EF4-FFF2-40B4-BE49-F238E27FC236}">
                <a16:creationId xmlns:a16="http://schemas.microsoft.com/office/drawing/2014/main" id="{58D9E240-4B76-B658-D95C-01ABB5022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>
            <a:extLst>
              <a:ext uri="{FF2B5EF4-FFF2-40B4-BE49-F238E27FC236}">
                <a16:creationId xmlns:a16="http://schemas.microsoft.com/office/drawing/2014/main" id="{AFA40689-7145-E33E-49D6-20BA766B418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>
            <a:extLst>
              <a:ext uri="{FF2B5EF4-FFF2-40B4-BE49-F238E27FC236}">
                <a16:creationId xmlns:a16="http://schemas.microsoft.com/office/drawing/2014/main" id="{E8562FD1-DE5E-3A76-B48D-7D6CD57BA1EE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>
            <a:extLst>
              <a:ext uri="{FF2B5EF4-FFF2-40B4-BE49-F238E27FC236}">
                <a16:creationId xmlns:a16="http://schemas.microsoft.com/office/drawing/2014/main" id="{14D1C67F-AE43-2D7A-027A-6D184F7E2A5A}"/>
              </a:ext>
            </a:extLst>
          </p:cNvPr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>
            <a:extLst>
              <a:ext uri="{FF2B5EF4-FFF2-40B4-BE49-F238E27FC236}">
                <a16:creationId xmlns:a16="http://schemas.microsoft.com/office/drawing/2014/main" id="{C1710F10-33B2-DB9F-08E2-0D9D99567CD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>
            <a:extLst>
              <a:ext uri="{FF2B5EF4-FFF2-40B4-BE49-F238E27FC236}">
                <a16:creationId xmlns:a16="http://schemas.microsoft.com/office/drawing/2014/main" id="{6E15357A-2A0C-C996-734F-4C11497EAE57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A5FA2AA-98FD-6EE1-46BE-5316FF497596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>
              <a:extLst>
                <a:ext uri="{FF2B5EF4-FFF2-40B4-BE49-F238E27FC236}">
                  <a16:creationId xmlns:a16="http://schemas.microsoft.com/office/drawing/2014/main" id="{F1724877-E2D2-79BF-E274-650B4B38EDB2}"/>
                </a:ext>
              </a:extLst>
            </p:cNvPr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>
              <a:extLst>
                <a:ext uri="{FF2B5EF4-FFF2-40B4-BE49-F238E27FC236}">
                  <a16:creationId xmlns:a16="http://schemas.microsoft.com/office/drawing/2014/main" id="{D73A134A-E33B-F29B-AE5D-278F49F79D41}"/>
                </a:ext>
              </a:extLst>
            </p:cNvPr>
            <p:cNvSpPr txBox="1"/>
            <p:nvPr/>
          </p:nvSpPr>
          <p:spPr>
            <a:xfrm>
              <a:off x="6281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>
              <a:extLst>
                <a:ext uri="{FF2B5EF4-FFF2-40B4-BE49-F238E27FC236}">
                  <a16:creationId xmlns:a16="http://schemas.microsoft.com/office/drawing/2014/main" id="{7CF8FD49-6ECE-5563-E7B3-E654A0CF23CE}"/>
                </a:ext>
              </a:extLst>
            </p:cNvPr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>
              <a:extLst>
                <a:ext uri="{FF2B5EF4-FFF2-40B4-BE49-F238E27FC236}">
                  <a16:creationId xmlns:a16="http://schemas.microsoft.com/office/drawing/2014/main" id="{D8E7694D-801A-716B-F852-C6CD32C3E70C}"/>
                </a:ext>
              </a:extLst>
            </p:cNvPr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>
              <a:extLst>
                <a:ext uri="{FF2B5EF4-FFF2-40B4-BE49-F238E27FC236}">
                  <a16:creationId xmlns:a16="http://schemas.microsoft.com/office/drawing/2014/main" id="{FF3C4A67-3D19-0394-FC22-51913801644B}"/>
                </a:ext>
              </a:extLst>
            </p:cNvPr>
            <p:cNvSpPr txBox="1"/>
            <p:nvPr/>
          </p:nvSpPr>
          <p:spPr>
            <a:xfrm>
              <a:off x="627966" y="5863547"/>
              <a:ext cx="38406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Marcos Santos</a:t>
              </a:r>
            </a:p>
            <a:p>
              <a:pPr marL="0" lvl="0" indent="0"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marcos.santos@stormx.com.br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AFEBC3E-5913-704E-D8FF-A388CB6891F0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>
              <a:extLst>
                <a:ext uri="{FF2B5EF4-FFF2-40B4-BE49-F238E27FC236}">
                  <a16:creationId xmlns:a16="http://schemas.microsoft.com/office/drawing/2014/main" id="{89C8A7A2-17BB-032A-2C79-9AF72004EFA0}"/>
                </a:ext>
              </a:extLst>
            </p:cNvPr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>
              <a:extLst>
                <a:ext uri="{FF2B5EF4-FFF2-40B4-BE49-F238E27FC236}">
                  <a16:creationId xmlns:a16="http://schemas.microsoft.com/office/drawing/2014/main" id="{50261F97-945E-3503-C167-92EB1CB0BD1F}"/>
                </a:ext>
              </a:extLst>
            </p:cNvPr>
            <p:cNvSpPr txBox="1"/>
            <p:nvPr/>
          </p:nvSpPr>
          <p:spPr>
            <a:xfrm>
              <a:off x="51152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>
              <a:extLst>
                <a:ext uri="{FF2B5EF4-FFF2-40B4-BE49-F238E27FC236}">
                  <a16:creationId xmlns:a16="http://schemas.microsoft.com/office/drawing/2014/main" id="{DD4599B9-5ED8-2BAA-CBA1-23CD6116B50B}"/>
                </a:ext>
              </a:extLst>
            </p:cNvPr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>
              <a:extLst>
                <a:ext uri="{FF2B5EF4-FFF2-40B4-BE49-F238E27FC236}">
                  <a16:creationId xmlns:a16="http://schemas.microsoft.com/office/drawing/2014/main" id="{17A25B30-F8A2-22DA-4302-519930E2DB1D}"/>
                </a:ext>
              </a:extLst>
            </p:cNvPr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>
              <a:extLst>
                <a:ext uri="{FF2B5EF4-FFF2-40B4-BE49-F238E27FC236}">
                  <a16:creationId xmlns:a16="http://schemas.microsoft.com/office/drawing/2014/main" id="{C151D196-7CE7-D48C-83E1-10A391454E65}"/>
                </a:ext>
              </a:extLst>
            </p:cNvPr>
            <p:cNvSpPr txBox="1"/>
            <p:nvPr/>
          </p:nvSpPr>
          <p:spPr>
            <a:xfrm>
              <a:off x="5115066" y="5863547"/>
              <a:ext cx="36120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João Braga</a:t>
              </a:r>
            </a:p>
            <a:p>
              <a:pPr>
                <a:buClr>
                  <a:srgbClr val="211A19"/>
                </a:buClr>
                <a:buSzPts val="1937"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joao.braga@stormx.com.br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4E33647-20E3-2D45-EEAC-7FCFB3E6EA7C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>
              <a:extLst>
                <a:ext uri="{FF2B5EF4-FFF2-40B4-BE49-F238E27FC236}">
                  <a16:creationId xmlns:a16="http://schemas.microsoft.com/office/drawing/2014/main" id="{8DEFD449-4DFD-E00D-3D33-75EAF4DB536D}"/>
                </a:ext>
              </a:extLst>
            </p:cNvPr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>
              <a:extLst>
                <a:ext uri="{FF2B5EF4-FFF2-40B4-BE49-F238E27FC236}">
                  <a16:creationId xmlns:a16="http://schemas.microsoft.com/office/drawing/2014/main" id="{136D8CC0-5A72-4BE5-42E3-109422003350}"/>
                </a:ext>
              </a:extLst>
            </p:cNvPr>
            <p:cNvSpPr txBox="1"/>
            <p:nvPr/>
          </p:nvSpPr>
          <p:spPr>
            <a:xfrm>
              <a:off x="96023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>
              <a:extLst>
                <a:ext uri="{FF2B5EF4-FFF2-40B4-BE49-F238E27FC236}">
                  <a16:creationId xmlns:a16="http://schemas.microsoft.com/office/drawing/2014/main" id="{4EA6BE3E-14ED-574A-1DAF-B5030E9AEA81}"/>
                </a:ext>
              </a:extLst>
            </p:cNvPr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>
              <a:extLst>
                <a:ext uri="{FF2B5EF4-FFF2-40B4-BE49-F238E27FC236}">
                  <a16:creationId xmlns:a16="http://schemas.microsoft.com/office/drawing/2014/main" id="{3E85C8C3-86CD-1F6E-11B5-75FD17C93D35}"/>
                </a:ext>
              </a:extLst>
            </p:cNvPr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>
              <a:extLst>
                <a:ext uri="{FF2B5EF4-FFF2-40B4-BE49-F238E27FC236}">
                  <a16:creationId xmlns:a16="http://schemas.microsoft.com/office/drawing/2014/main" id="{E0C2392C-9A6F-FF00-CFD4-892290D53CE5}"/>
                </a:ext>
              </a:extLst>
            </p:cNvPr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Felipe Lima</a:t>
              </a:r>
              <a:endParaRPr sz="19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 dirty="0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felipe.lima@stormx.com.br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22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>Auditoria dos dados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D42E2B6D-0C7A-8533-A224-CE69446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AF95F7A-C374-BF16-71B7-8031811C631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0D9CA0BB-F92E-83A4-0969-CF5E550CE0E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C9BF8D57-0554-0B1B-B3EC-E17432F4A9F7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525263A0-15B1-4828-14F6-35208353AF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5BB8D52F-043E-1666-A8B4-6DE0B39871B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776262CB-75FE-8425-32E2-025F6D534F9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7769096-7C0B-24D1-699D-969827CEF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(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de Veiculação)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o código que exibe o anúncio no site ou app.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Chama o ad server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Renderiza o criativo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Pode conter regras (tamanho, formato,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fallback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8C76B27-F6DA-64F9-5144-BBC59D62F4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Contador (Tracking / Pixel)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usado apenas para rastreamento, não exibe anúncios.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Mede eventos específicos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Normalmente invisível (pixel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1x1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Pode contar: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501B3C-FF05-38A8-A156-81C388CE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05" y="5276793"/>
            <a:ext cx="6678559" cy="415285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06D4B6-80D0-7503-E8BA-FBC56A649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76" y="6667383"/>
            <a:ext cx="7522820" cy="1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 xml:space="preserve"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 xml:space="preserve"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Ad server é o coração da campanha digital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exibem anúncios, contadores medem ações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CM360 e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fazem a mesma função base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 escolha depende de: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Complexidade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Integrações necessárias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Estratégia criativa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2025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b="0" dirty="0">
                <a:solidFill>
                  <a:srgbClr val="494C67"/>
                </a:solidFill>
                <a:latin typeface="Arial"/>
              </a:rPr>
              <a:t xml:space="preserve"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b="0" dirty="0">
                <a:solidFill>
                  <a:srgbClr val="494C67"/>
                </a:solidFill>
                <a:latin typeface="Arial"/>
              </a:rPr>
              <a:t xml:space="preserve"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b="0" dirty="0">
                <a:solidFill>
                  <a:srgbClr val="494C67"/>
                </a:solidFill>
                <a:latin typeface="Arial"/>
              </a:rPr>
              <a:t xml:space="preserve"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b="0" dirty="0">
                <a:solidFill>
                  <a:srgbClr val="494C67"/>
                </a:solidFill>
                <a:latin typeface="Arial"/>
              </a:rPr>
              <a:t xml:space="preserve"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b="0" dirty="0">
                <a:solidFill>
                  <a:srgbClr val="494C67"/>
                </a:solidFill>
                <a:latin typeface="Arial"/>
              </a:rPr>
              <a:t xml:space="preserve"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-box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usuario ve o anuncio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relatorio: a marca cresceu em lembranca, consideracao e intencao de compra?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anuncio nao apareca ao lado de conteudo improprio: fake news, violencia ou conteudo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realmente ficou visivel na tela do usuario pelo tempo minimo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verificacao independente e granular da midia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nao e so 'seguro/nao seguro',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trafego invalido em tempo real, antes mesmo do anuncio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Metrica mais nova: vai alem da viewability e mede se o usuario realmente prestou atencao ao anuncio.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e frequentemente preferido em operacoes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verificacao e mensuracao de atencao.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ficou visivel pelo tempo suficiente para ser considerado uma impressao valida.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interacoes do usuario com o anuncio: hover, scroll, tempo na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video: quartis de visualizacao, conclusao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