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9" r:id="rId6"/>
    <p:sldId id="290" r:id="rId57"/>
    <p:sldId id="261" r:id="rId7"/>
    <p:sldId id="270" r:id="rId8"/>
    <p:sldId id="271" r:id="rId9"/>
    <p:sldId id="278" r:id="rId10"/>
    <p:sldId id="266" r:id="rId11"/>
    <p:sldId id="267" r:id="rId12"/>
    <p:sldId id="291" r:id="rId58"/>
    <p:sldId id="281" r:id="rId52"/>
    <p:sldId id="282" r:id="rId53"/>
    <p:sldId id="292" r:id="rId59"/>
    <p:sldId id="283" r:id="rId54"/>
    <p:sldId id="284" r:id="rId55"/>
    <p:sldId id="285" r:id="rId56"/>
    <p:sldId id="269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Black" panose="020B0604020202020204" charset="0"/>
      <p:bold r:id="rId22"/>
      <p:boldItalic r:id="rId23"/>
    </p:embeddedFont>
    <p:embeddedFont>
      <p:font typeface="DM Sans ExtraLight" panose="020B0604020202020204" charset="0"/>
      <p:regular r:id="rId24"/>
      <p:bold r:id="rId25"/>
      <p:italic r:id="rId26"/>
      <p:boldItalic r:id="rId27"/>
    </p:embeddedFont>
    <p:embeddedFont>
      <p:font typeface="DM Sans Light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Play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52" Type="http://schemas.openxmlformats.org/officeDocument/2006/relationships/slide" Target="slides/slide16.xml"/><Relationship Id="rId53" Type="http://schemas.openxmlformats.org/officeDocument/2006/relationships/slide" Target="slides/slide17.xml"/><Relationship Id="rId54" Type="http://schemas.openxmlformats.org/officeDocument/2006/relationships/slide" Target="slides/slide18.xml"/><Relationship Id="rId55" Type="http://schemas.openxmlformats.org/officeDocument/2006/relationships/slide" Target="slides/slide19.xml"/><Relationship Id="rId56" Type="http://schemas.openxmlformats.org/officeDocument/2006/relationships/slide" Target="slides/slide20.xml"/><Relationship Id="rId57" Type="http://schemas.openxmlformats.org/officeDocument/2006/relationships/slide" Target="slides/slide21.xml"/><Relationship Id="rId58" Type="http://schemas.openxmlformats.org/officeDocument/2006/relationships/slide" Target="slides/slide22.xml"/><Relationship Id="rId59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0:00–0:30 | ABERTURA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Espere a turma sentar antes de falar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"Bom dia/boa tarde. Esse é um treinamento da StormX para o time da Unilever. Objetivo: entender o que é Ad Server, como funciona, e as ferramentas de mensuração e verificação do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0:30–1:00 | CAPA DO TEMA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curta — deixe a imagem respirar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"Antes de mergulhar nos conceitos, vou apresentar quem são as pessoas que vão estar do lado de vocês nessa operação."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1:00–2:00 | AGENDA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os 4 blocos: Equipe → Ad Server → Mensuração →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"Não precisa anotar tudo — o material fica com vocês depois."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2:00–3:30 | ORGANOGRAMA — LIDERANÇA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cada pessoa pelo nome e cargo olhando para a turma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Tiago Domingos → Diretor AdOps e Projetos (referência técnica e estratégica)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Lívia Bousquet → Diretora de Atendimento (elo com o cliente)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Aline Calderan → Líder de Projetos (coordena o fluxo das campanhas)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Carolina Dobner → Gerente de Projetos (dia a dia operacional)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3:30–4:30 | ORGANOGRAMA — EQUIPE ADOPS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Marcos Santos, João Braga, Felipe Lima → são os nomes nos e-mails e chamadas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"Eles cuidam de trafficking, tags e relatórios no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todo mundo se conhece — vamos pro conteúdo."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4:30–7:00 | O QUE É UM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plataforma que armazena, distribui, rastreia e reporta anúncios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Quem usa: anunciante (controla a campanha) / agência (gerencia veiculações) / veículo (exibe corretamente)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Funções: armazenar criativos → distribuir por regras → medir resultados → unificar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Ad Server é o maestro da campanha digital."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entre Ad Server e DV360?"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DV360 é DSP — compra o espaço de mídia. Ad Server entrega o criativo nesse espaço e mede. Os dois trabalham juntos.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"Por que usar Ad Server se o veículo já tem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veículo mostra os melhores números dele. O Ad Server é o dado neutro e unificado da agência — comparável entre veículos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7:00–10:00 | PRINCIPAIS PROCESSOS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etapas: Configuração → Veiculação → Mensuração →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Configuração: subir criativos, datas, segmentações, criar tags (trabalho do AdOps antes do go-live)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Veiculação: usuário abre a página → site chama Ad Server via tag → Ad Server decide qual anúncio mostrar em milissegundos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Mensuração: conta impressões, cliques, conversões. Aplica frequency capping (limite de exibições por usuário)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Relatórios: dados viram performance por campanha/criativo/formato → otimização e faturamento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é frequency capping?"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Regra que limita quantas vezes o mesmo usuário vê o mesmo anúncio num período. Ex: máximo 3x por dia. Sem isso o usuário seria bombardeado com o mesmo banner.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a tag não funcionar?"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anúncio não aparece ou aparece sem rastreamento. Por isso existe o processo de tag QA antes do go-live — o AdOps testa cada tag antes da campanha subir.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10:00–13:00 | TAG x CONTADOR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TAG = código que EXIBE o anúncio. Chama o Ad Server, renderiza o criativo. O usuário VÊ.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CONTADOR (pixel/tracking) = invisível. Só rastreia eventos. O usuário NÃO VÊ nada.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Pergunta para a turma: "Se a Tag já mede impressões e cliques, pra que serve o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Aguarde 3 segundos, depois responda: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Contador mede eventos em lugares onde a Tag não está (ex: página de confirmação de compra) ou cruza dados entre plataformas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"Posso colocar mais de um pixel no mesmo anúncio?"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Sim, é comum. Um anúncio pode ter pixel do Ad Server + pixel da Kantar + pixel de Ad Verification ao mesmo tempo. Cada um responde a uma pergunta diferente.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o resumo.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ainda bloco Tag x Contador | TABELA RESUMO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a tabela na tela por 10 segundos antes de comentar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"Tag = veiculação. Contador = mensuração. Os dois podem medir, mas só a Tag exibe."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13:00–14:30 | AD SERVERS DO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(Google): padrão no Brasil, integra com Google Ads e DV360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 (Innovid): criativos dinâmicos,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Outros (Adform, Xandr, Sizmek): histórico de mercado, não aparecem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algum Ad Server além desses que posso encontrar?"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Adform ainda opera em mercados europeus. Xandr foi adquirido pela Microsoft. Sizmek foi descontinuado — se aparecer em algum relatório antigo, é histórico.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14:30–17:00 | CM360 x FLASHTALKING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Igualdades: os dois distribuem anúncios, medem, geram relatório. Suportam Display, Vídeo e Rich Media.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CM360: mais simples, ecossistema Google, padrão no Brasil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Flashtalking: mais técnico, criativos dinâmicos avançados (DCO),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 escolha não é livre — quem define é a estratégia e o que o cliente contratou."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"A gente usa os dois aqui na Unilever?"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Hoje o padrão é CM360. O Flashtalking aparece em iniciativas globais com criativo dinâmico complexo. Dúvida de qual usar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impacto de usar CM360 com DV360 juntos?"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Pelo contrário — são feitos pra trabalhar juntos. Ambos são Google, integração é nativa.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MENSURAÇÃO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25:30–27:00 | CONCLUSÃO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coração da campanha. Tag exibe. Contador mede.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(Brasil/Google) vs Flashtalking (global/dinâmico) → mesma base, perfis diferentes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+ Brand Lift = de "quantas impressões" para "a marca cresceu?"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IAS e DV = Brand Safety + Viewability + IVT. Moat = encerrado em 2023.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"Conhecer cada ferramenta é saber onde o investimento em mídia vai — e se está chegando certo."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27:00–28:00+ | DÚVIDAS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isso da minha parte. O que ficou de dúvida?"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Se a sala ficar quieta, dispare uma dessas: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teve que implementar uma tag e não sabia o que estava fazendo?"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recebeu reclamação de anúncio aparecendo no lugar errado?"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Essas perguntas revelam dúvidas reais que a turma tem mas não pergunta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Agradeça a presença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"Qualquer dúvida que surgir no dia a dia — pode chamar o time. A gente está aqui pra isso."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Lembre que o material fica disponível para consulta.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na tela enquanto o Q&amp;A acontece ou as pessoas saem.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17:00–19:30 | PIXEL DA KANTAR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Pixel = código invisível dentro do anúncio. Quando o usuário vê o anúncio, o pixel "acorda" e registra.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Analogia: segurança de loja que anota discretamente quem entrou, quando e por qual corredor — mas no digital.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cruza com painel próprio (pessoas cadastradas) → entende QUEM viu: faixa etária, gênero, região.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pixel da Kantar é uma tag ou um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contador. Não exibe nada — só registra a exposição. A diferença é que tem uma camada extra: cruza com o painel da Kantar para perfilar a audiência exposta.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"Todo anúncio tem pixel da Kantar?"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Não. Só campanhas que têm o estudo de Brand Lift contratado. O AdOps implementa o pixel nas tags quando o estudo está ativo.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19:30–21:30 | BRAND LIFT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Sem pixel → quantas vezes o anúncio apareceu (só volume)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Com pixel Kantar → quem viu E o que mudou depois (qualidade)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métricas: Awareness / Ad Recall / Consideration / Favorability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saber que das 10 milhões de pessoas que viram, 23% passaram a considerar a marca."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"Com que frequência vem o relatório de Brand Lift?"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Mid-flight (meio da campanha) e post-flight (ao final). Não é tempo real — é pesquisa com painel, tem tempo de processamento.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Brand Lift substitui os relatórios de impressão e clique?"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Não, complementa. Impressão e clique medem entrega. Brand Lift mede impacto na percepção da marca. São camadas diferentes de análise.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AD VERIFICATION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21:30–23:00 | IAS — INTEGRAL AD SCIENCE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Monitora o AMBIENTE onde o anúncio aparece (não o anúncio em si)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Safety: bloqueia contextos impróprios (fake news, violência, conteúdo adulto)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Viewability: confirma que o anúncio ficou visível na tela pelo tempo mínimo exigido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IVT (Invalid Traffic): detecta e filtra bots — impressões fraudulentas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fiscal de qualidade do anúncio."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o IAS bloquear um anúncio legítimo por engano?"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falso positivo — acontece. O AdOps pode abrir solicitação de revisão e criar exceções de whitelist. É parte da operação.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prática entre IAS e DoubleVerify?"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Os dois fazem Brand Safety, Viewability e IVT. A diferença: DV tem Brand Suitability mais granular e Attention Metrics. IAS é mais simples de operar e cobre bem a maioria dos casos. A escolha costuma ser definida pelo contrato do cliente.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23:00–24:30 | DOUBLEVERIFY (DV)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Concorrente direto do IAS, mas com diferenciais: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Suitability: categorias customizadas por marca (não só seguro/não seguro)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Bloqueio de IVT em TEMPO REAL (antes do anúncio ser exibido, não depois)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Attention Metrics: vai além da viewability — mede hover, scroll, tempo de visualização real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DV é melhor que o IAS?"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Depende do caso. O DV tem mais granularidade e Attention Metrics — melhor para campanhas globais complexas. O IAS é mais simples e já cobre bem operações diretas. A escolha vem do contrato.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são Attention Metrics na prática?"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medir se o usuário de fato prestou atenção — não só se o anúncio estava na tela. Inclui: hover com mouse sobre o anúncio, tempo que o anúncio ficou em foco, scroll speed. É uma métrica mais sofisticada que viewability.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24:30–25:30 | MOAT (ORACLE ADVERTISING)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Pioneiro em mensuração de atenção e vídeo — foi referência no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Ainda aparece em relatórios históricos e plataformas com SDK legado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⚠ ENCERRADO em 2023 — não aceita novos clientes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 cliente pedir Moat → explicar que foi descontinuado, recomendar IAS ou DV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Moat foi encerrado, mas aparece no relatório — o que eu digo pro cliente?"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"O Moat foi descontinuado pela Oracle em 2023. Os dados históricos continuam válidos para comparações de períodos anteriores. Para campanhas novas, a recomendação é usar IAS ou DoubleVerify." Se o cliente insistir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"Vamos começar pelo Ad Server — o coração de tudo."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"O que é um Ad Server".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Mensuração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entendemos como o anúncio é entregue, vamos ver como medimos o impacto real."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"Pixel da Kantar".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"Último bloco. Aqui a gente fala de qualidade — não de quanto o anúncio rodou, mas de como ele rodou."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"IAS — Integral Ad Science".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4.jpg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/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9E9A097-3357-8FF8-7B32-D4948EDC9F30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/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/>
            <p:cNvSpPr txBox="1"/>
            <p:nvPr/>
          </p:nvSpPr>
          <p:spPr>
            <a:xfrm>
              <a:off x="6281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 xml:space="preserve">de </a:t>
              </a: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e Projetos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/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/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/>
            <p:cNvSpPr txBox="1"/>
            <p:nvPr/>
          </p:nvSpPr>
          <p:spPr>
            <a:xfrm>
              <a:off x="6279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Tiago Domingos</a:t>
              </a:r>
              <a:endParaRPr sz="20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b="0" i="0" u="none" strike="noStrike" cap="none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tiago.santos@stormx.com.br</a:t>
              </a:r>
              <a:endParaRPr sz="2121" b="0" i="0" u="none" strike="noStrike" cap="non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55724AB-BD5B-5CA1-CB6D-30E254D9A64B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/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/>
            <p:cNvSpPr txBox="1"/>
            <p:nvPr/>
          </p:nvSpPr>
          <p:spPr>
            <a:xfrm>
              <a:off x="51152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Diretora de Atendimento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/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/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/>
            <p:cNvSpPr txBox="1"/>
            <p:nvPr/>
          </p:nvSpPr>
          <p:spPr>
            <a:xfrm>
              <a:off x="51150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 xml:space="preserve">Livia </a:t>
              </a:r>
              <a:r>
                <a:rPr lang="pt-BR" sz="2037" b="1" i="0" u="none" strike="noStrike" cap="none" dirty="0" err="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Bousquet</a:t>
              </a:r>
              <a:endParaRPr sz="20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livia.bousquet</a:t>
              </a:r>
              <a:r>
                <a:rPr lang="pt-BR" sz="1637" b="0" i="0" u="none" strike="noStrike" cap="none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@stormx.com.br</a:t>
              </a:r>
              <a:endParaRPr sz="2121" b="0" i="0" u="none" strike="noStrike" cap="none" dirty="0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0B052D4-0C49-8D7F-2EB8-BA54E893C627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/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/>
            <p:cNvSpPr txBox="1"/>
            <p:nvPr/>
          </p:nvSpPr>
          <p:spPr>
            <a:xfrm>
              <a:off x="96023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Líder 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/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/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/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Aline Calderan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aline.calderan@stormx.com.br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9CCA089-2280-B9A6-46D8-17EB2F0769A0}"/>
              </a:ext>
            </a:extLst>
          </p:cNvPr>
          <p:cNvGrpSpPr/>
          <p:nvPr/>
        </p:nvGrpSpPr>
        <p:grpSpPr>
          <a:xfrm>
            <a:off x="13766100" y="2839263"/>
            <a:ext cx="4258500" cy="5273700"/>
            <a:chOff x="13766100" y="2839263"/>
            <a:chExt cx="4258500" cy="5273700"/>
          </a:xfrm>
        </p:grpSpPr>
        <p:sp>
          <p:nvSpPr>
            <p:cNvPr id="108" name="Google Shape;108;g3accfc1d022_0_10"/>
            <p:cNvSpPr/>
            <p:nvPr/>
          </p:nvSpPr>
          <p:spPr>
            <a:xfrm>
              <a:off x="137661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accfc1d022_0_10"/>
            <p:cNvSpPr txBox="1"/>
            <p:nvPr/>
          </p:nvSpPr>
          <p:spPr>
            <a:xfrm>
              <a:off x="13927816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Gerente</a:t>
              </a: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accfc1d022_0_10"/>
            <p:cNvSpPr/>
            <p:nvPr/>
          </p:nvSpPr>
          <p:spPr>
            <a:xfrm>
              <a:off x="139946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accfc1d022_0_10"/>
            <p:cNvSpPr/>
            <p:nvPr/>
          </p:nvSpPr>
          <p:spPr>
            <a:xfrm>
              <a:off x="148906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accfc1d022_0_10"/>
            <p:cNvSpPr txBox="1"/>
            <p:nvPr/>
          </p:nvSpPr>
          <p:spPr>
            <a:xfrm>
              <a:off x="13927650" y="5863550"/>
              <a:ext cx="39354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Carolina Dobner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carolina.dobner@stormx.com.br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>
          <a:extLst>
            <a:ext uri="{FF2B5EF4-FFF2-40B4-BE49-F238E27FC236}">
              <a16:creationId xmlns:a16="http://schemas.microsoft.com/office/drawing/2014/main" id="{CCB57463-9309-DB10-394B-0964A970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>
            <a:extLst>
              <a:ext uri="{FF2B5EF4-FFF2-40B4-BE49-F238E27FC236}">
                <a16:creationId xmlns:a16="http://schemas.microsoft.com/office/drawing/2014/main" id="{58D9E240-4B76-B658-D95C-01ABB50227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>
            <a:extLst>
              <a:ext uri="{FF2B5EF4-FFF2-40B4-BE49-F238E27FC236}">
                <a16:creationId xmlns:a16="http://schemas.microsoft.com/office/drawing/2014/main" id="{AFA40689-7145-E33E-49D6-20BA766B418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>
            <a:extLst>
              <a:ext uri="{FF2B5EF4-FFF2-40B4-BE49-F238E27FC236}">
                <a16:creationId xmlns:a16="http://schemas.microsoft.com/office/drawing/2014/main" id="{E8562FD1-DE5E-3A76-B48D-7D6CD57BA1EE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>
            <a:extLst>
              <a:ext uri="{FF2B5EF4-FFF2-40B4-BE49-F238E27FC236}">
                <a16:creationId xmlns:a16="http://schemas.microsoft.com/office/drawing/2014/main" id="{14D1C67F-AE43-2D7A-027A-6D184F7E2A5A}"/>
              </a:ext>
            </a:extLst>
          </p:cNvPr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>
            <a:extLst>
              <a:ext uri="{FF2B5EF4-FFF2-40B4-BE49-F238E27FC236}">
                <a16:creationId xmlns:a16="http://schemas.microsoft.com/office/drawing/2014/main" id="{C1710F10-33B2-DB9F-08E2-0D9D99567CD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>
            <a:extLst>
              <a:ext uri="{FF2B5EF4-FFF2-40B4-BE49-F238E27FC236}">
                <a16:creationId xmlns:a16="http://schemas.microsoft.com/office/drawing/2014/main" id="{6E15357A-2A0C-C996-734F-4C11497EAE57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A5FA2AA-98FD-6EE1-46BE-5316FF497596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>
              <a:extLst>
                <a:ext uri="{FF2B5EF4-FFF2-40B4-BE49-F238E27FC236}">
                  <a16:creationId xmlns:a16="http://schemas.microsoft.com/office/drawing/2014/main" id="{F1724877-E2D2-79BF-E274-650B4B38EDB2}"/>
                </a:ext>
              </a:extLst>
            </p:cNvPr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>
              <a:extLst>
                <a:ext uri="{FF2B5EF4-FFF2-40B4-BE49-F238E27FC236}">
                  <a16:creationId xmlns:a16="http://schemas.microsoft.com/office/drawing/2014/main" id="{D73A134A-E33B-F29B-AE5D-278F49F79D41}"/>
                </a:ext>
              </a:extLst>
            </p:cNvPr>
            <p:cNvSpPr txBox="1"/>
            <p:nvPr/>
          </p:nvSpPr>
          <p:spPr>
            <a:xfrm>
              <a:off x="6281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>
              <a:extLst>
                <a:ext uri="{FF2B5EF4-FFF2-40B4-BE49-F238E27FC236}">
                  <a16:creationId xmlns:a16="http://schemas.microsoft.com/office/drawing/2014/main" id="{7CF8FD49-6ECE-5563-E7B3-E654A0CF23CE}"/>
                </a:ext>
              </a:extLst>
            </p:cNvPr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>
              <a:extLst>
                <a:ext uri="{FF2B5EF4-FFF2-40B4-BE49-F238E27FC236}">
                  <a16:creationId xmlns:a16="http://schemas.microsoft.com/office/drawing/2014/main" id="{D8E7694D-801A-716B-F852-C6CD32C3E70C}"/>
                </a:ext>
              </a:extLst>
            </p:cNvPr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>
              <a:extLst>
                <a:ext uri="{FF2B5EF4-FFF2-40B4-BE49-F238E27FC236}">
                  <a16:creationId xmlns:a16="http://schemas.microsoft.com/office/drawing/2014/main" id="{FF3C4A67-3D19-0394-FC22-51913801644B}"/>
                </a:ext>
              </a:extLst>
            </p:cNvPr>
            <p:cNvSpPr txBox="1"/>
            <p:nvPr/>
          </p:nvSpPr>
          <p:spPr>
            <a:xfrm>
              <a:off x="627966" y="5863547"/>
              <a:ext cx="38406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Marcos Santos</a:t>
              </a:r>
            </a:p>
            <a:p>
              <a:pPr marL="0" lvl="0" indent="0"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marcos.santos@stormx.com.br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AFEBC3E-5913-704E-D8FF-A388CB6891F0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>
              <a:extLst>
                <a:ext uri="{FF2B5EF4-FFF2-40B4-BE49-F238E27FC236}">
                  <a16:creationId xmlns:a16="http://schemas.microsoft.com/office/drawing/2014/main" id="{89C8A7A2-17BB-032A-2C79-9AF72004EFA0}"/>
                </a:ext>
              </a:extLst>
            </p:cNvPr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>
              <a:extLst>
                <a:ext uri="{FF2B5EF4-FFF2-40B4-BE49-F238E27FC236}">
                  <a16:creationId xmlns:a16="http://schemas.microsoft.com/office/drawing/2014/main" id="{50261F97-945E-3503-C167-92EB1CB0BD1F}"/>
                </a:ext>
              </a:extLst>
            </p:cNvPr>
            <p:cNvSpPr txBox="1"/>
            <p:nvPr/>
          </p:nvSpPr>
          <p:spPr>
            <a:xfrm>
              <a:off x="51152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>
              <a:extLst>
                <a:ext uri="{FF2B5EF4-FFF2-40B4-BE49-F238E27FC236}">
                  <a16:creationId xmlns:a16="http://schemas.microsoft.com/office/drawing/2014/main" id="{DD4599B9-5ED8-2BAA-CBA1-23CD6116B50B}"/>
                </a:ext>
              </a:extLst>
            </p:cNvPr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>
              <a:extLst>
                <a:ext uri="{FF2B5EF4-FFF2-40B4-BE49-F238E27FC236}">
                  <a16:creationId xmlns:a16="http://schemas.microsoft.com/office/drawing/2014/main" id="{17A25B30-F8A2-22DA-4302-519930E2DB1D}"/>
                </a:ext>
              </a:extLst>
            </p:cNvPr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>
              <a:extLst>
                <a:ext uri="{FF2B5EF4-FFF2-40B4-BE49-F238E27FC236}">
                  <a16:creationId xmlns:a16="http://schemas.microsoft.com/office/drawing/2014/main" id="{C151D196-7CE7-D48C-83E1-10A391454E65}"/>
                </a:ext>
              </a:extLst>
            </p:cNvPr>
            <p:cNvSpPr txBox="1"/>
            <p:nvPr/>
          </p:nvSpPr>
          <p:spPr>
            <a:xfrm>
              <a:off x="5115066" y="5863547"/>
              <a:ext cx="36120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João Braga</a:t>
              </a:r>
            </a:p>
            <a:p>
              <a:pPr>
                <a:buClr>
                  <a:srgbClr val="211A19"/>
                </a:buClr>
                <a:buSzPts val="1937"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joao.braga@stormx.com.br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4E33647-20E3-2D45-EEAC-7FCFB3E6EA7C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>
              <a:extLst>
                <a:ext uri="{FF2B5EF4-FFF2-40B4-BE49-F238E27FC236}">
                  <a16:creationId xmlns:a16="http://schemas.microsoft.com/office/drawing/2014/main" id="{8DEFD449-4DFD-E00D-3D33-75EAF4DB536D}"/>
                </a:ext>
              </a:extLst>
            </p:cNvPr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>
              <a:extLst>
                <a:ext uri="{FF2B5EF4-FFF2-40B4-BE49-F238E27FC236}">
                  <a16:creationId xmlns:a16="http://schemas.microsoft.com/office/drawing/2014/main" id="{136D8CC0-5A72-4BE5-42E3-109422003350}"/>
                </a:ext>
              </a:extLst>
            </p:cNvPr>
            <p:cNvSpPr txBox="1"/>
            <p:nvPr/>
          </p:nvSpPr>
          <p:spPr>
            <a:xfrm>
              <a:off x="96023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>
              <a:extLst>
                <a:ext uri="{FF2B5EF4-FFF2-40B4-BE49-F238E27FC236}">
                  <a16:creationId xmlns:a16="http://schemas.microsoft.com/office/drawing/2014/main" id="{4EA6BE3E-14ED-574A-1DAF-B5030E9AEA81}"/>
                </a:ext>
              </a:extLst>
            </p:cNvPr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>
              <a:extLst>
                <a:ext uri="{FF2B5EF4-FFF2-40B4-BE49-F238E27FC236}">
                  <a16:creationId xmlns:a16="http://schemas.microsoft.com/office/drawing/2014/main" id="{3E85C8C3-86CD-1F6E-11B5-75FD17C93D35}"/>
                </a:ext>
              </a:extLst>
            </p:cNvPr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>
              <a:extLst>
                <a:ext uri="{FF2B5EF4-FFF2-40B4-BE49-F238E27FC236}">
                  <a16:creationId xmlns:a16="http://schemas.microsoft.com/office/drawing/2014/main" id="{E0C2392C-9A6F-FF00-CFD4-892290D53CE5}"/>
                </a:ext>
              </a:extLst>
            </p:cNvPr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Felipe Lima</a:t>
              </a:r>
              <a:endParaRPr sz="19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 dirty="0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felipe.lima@stormx.com.br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322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BBB47E-EF85-03D6-6A88-7A7C621D9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Ad Server (Servidor de Anúncios) é uma plataforma responsável por armazenar, distribuir, rastrear e reportar anúncios digitais.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Ele é usado por: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Anunciantes → controlar campanhas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Agências → gerenciar veiculações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Veículos/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Publishers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→ exibir anúncios corretamente</a:t>
            </a:r>
          </a:p>
          <a:p>
            <a:pPr marL="0" indent="0">
              <a:lnSpc>
                <a:spcPct val="200000"/>
              </a:lnSpc>
              <a:buNone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Funções principais: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Armazenar criativos (banners, vídeos, 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rich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media)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Distribuir anúncios conforme regras (segmentação, datas, frequência)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Medir resultados (impressões, cliques, conversões)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Unificar relatórios e controle de campanhas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na gestão das taxonomias</a:t>
            </a:r>
          </a:p>
          <a:p>
            <a:pPr marL="508000" lvl="1" indent="0">
              <a:buNone/>
            </a:pPr>
            <a:r>
              <a:rPr lang="pt-BR" sz="1600">
                <a:solidFill>
                  <a:srgbClr val="494C67"/>
                </a:solidFill>
                <a:latin typeface="DM Sans"/>
              </a:rPr>
              <a:t>Auditoria dos dados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D42E2B6D-0C7A-8533-A224-CE694468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AF95F7A-C374-BF16-71B7-8031811C631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0D9CA0BB-F92E-83A4-0969-CF5E550CE0E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C9BF8D57-0554-0B1B-B3EC-E17432F4A9F7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525263A0-15B1-4828-14F6-35208353AF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5BB8D52F-043E-1666-A8B4-6DE0B39871B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776262CB-75FE-8425-32E2-025F6D534F9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7769096-7C0B-24D1-699D-969827CEF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(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de Veiculação)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o código que exibe o anúncio no site ou app.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Chama o ad server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Renderiza o criativo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Pode conter regras (tamanho, formato,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fallback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8C76B27-F6DA-64F9-5144-BBC59D62F4B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Contador (Tracking / Pixel)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usado apenas para rastreamento, não exibe anúncios.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Mede eventos específicos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Normalmente invisível (pixel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1x1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Pode contar: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501B3C-FF05-38A8-A156-81C388CE5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05" y="5276793"/>
            <a:ext cx="6678559" cy="415285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806D4B6-80D0-7503-E8BA-FBC56A649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76" y="6667383"/>
            <a:ext cx="7522820" cy="13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3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 xml:space="preserve"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 xml:space="preserve"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2025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Conclusão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7712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algn="l">
              <a:lnSpc>
                <a:spcPct val="130000"/>
              </a:lnSpc>
              <a:spcBef>
                <a:spcPts val="25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escolha depende da campanha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CM360: ecossistema Google, padrão no Brasil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Flashtalking: criativos dinâmicos e campanhas globais</a:t>
            </a:r>
          </a:p>
          <a:p>
            <a:pPr algn="l">
              <a:lnSpc>
                <a:spcPct val="130000"/>
              </a:lnSpc>
              <a:spcBef>
                <a:spcPts val="25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— Kantar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registra quem viu o anúncio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Brand Lift mede lembrança, consideração e intenção de compra</a:t>
            </a:r>
          </a:p>
          <a:p>
            <a:pPr algn="l">
              <a:lnSpc>
                <a:spcPct val="130000"/>
              </a:lnSpc>
              <a:spcBef>
                <a:spcPts val="25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DoubleVerify: Brand Safety, Viewability e combate a fraudes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</p:txBody>
      </p:sp>
      <p:sp>
        <p:nvSpPr>
          <p:cNvPr id="6" name="right-box"/>
          <p:cNvSpPr txBox="1"/>
          <p:nvPr/>
        </p:nvSpPr>
        <p:spPr>
          <a:xfrm>
            <a:off x="8534400" y="1828800"/>
            <a:ext cx="7010400" cy="7771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600" b="1" dirty="0">
                <a:solidFill>
                  <a:srgbClr val="14E6FC"/>
                </a:solidFill>
                <a:latin typeface="Arial"/>
              </a:rPr>
              <a:t>Na prática: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40000"/>
              </a:lnSpc>
              <a:buNone/>
            </a:pPr>
            <a:r>
              <a:rPr lang="pt-BR" sz="1900" i="1" dirty="0">
                <a:solidFill>
                  <a:srgbClr val="FFFFFF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anuncio nao apareca ao lado de conteudo improprio: fake news, violencia ou conteudo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anuncio realmente ficou visivel na tela do usuario pelo tempo minimo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verificacao independente e granular da midia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nao e so 'seguro/nao seguro',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trafego invalido em tempo real, antes mesmo do anuncio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Metrica mais nova: vai alem da viewability e mede se o usuario realmente prestou atencao ao anuncio.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e frequentemente preferido em operacoes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verificacao e mensuracao de atencao.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anuncio ficou visivel pelo tempo suficiente para ser considerado uma impressao valida.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interacoes do usuario com o anuncio: hover, scroll, tempo na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video: quartis de visualizacao, conclusao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1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Server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Plataforma responsável por armazenar, distribuir, rastrear e reportar anúncios digitais. É o maestro da campanha — decide qual criativo aparece, para quem, quando e quantas vezes.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Armazena criativos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Distribui por regras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Mede resultados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Unifica relatórios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3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Mensuração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medem o impacto real da campanha — não só quantas vezes o anúncio foi exibido, mas quem viu, e o que mudou depois na percepção da marca.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Pixel de rastreamento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Perfil da audiência exposta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Lift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Awareness · Recall · Consideration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4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Verification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garantem que o anúncio foi exibido no lugar certo, para uma pessoa real, e de forma visível. Protegem o investimento da marca contra fraudes e contextos inadequados.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Safety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Viewability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Invalid Traffic (IVT)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Attention Metrics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896</Words>
  <Application>Microsoft Office PowerPoint</Application>
  <PresentationFormat>Personalizar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Helvetica Neue</vt:lpstr>
      <vt:lpstr>DM Sans Light</vt:lpstr>
      <vt:lpstr>Play</vt:lpstr>
      <vt:lpstr>DM Sans ExtraLight</vt:lpstr>
      <vt:lpstr>DM Sans</vt:lpstr>
      <vt:lpstr>Arial</vt:lpstr>
      <vt:lpstr>DM Sans Black</vt:lpstr>
      <vt:lpstr>DM Sans SemiBold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Aline Stormx</cp:lastModifiedBy>
  <cp:revision>8</cp:revision>
  <dcterms:modified xsi:type="dcterms:W3CDTF">2026-02-19T18:56:51Z</dcterms:modified>
</cp:coreProperties>
</file>