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301" r:id="rId5"/>
    <p:sldId id="290" r:id="rId6"/>
    <p:sldId id="261" r:id="rId7"/>
    <p:sldId id="270" r:id="rId8"/>
    <p:sldId id="278" r:id="rId9"/>
    <p:sldId id="266" r:id="rId10"/>
    <p:sldId id="267" r:id="rId11"/>
    <p:sldId id="291" r:id="rId12"/>
    <p:sldId id="281" r:id="rId13"/>
    <p:sldId id="300" r:id="rId14"/>
    <p:sldId id="292" r:id="rId15"/>
    <p:sldId id="283" r:id="rId16"/>
    <p:sldId id="284" r:id="rId17"/>
    <p:sldId id="285" r:id="rId18"/>
    <p:sldId id="269" r:id="rId19"/>
    <p:sldId id="262" r:id="rId20"/>
    <p:sldId id="263" r:id="rId21"/>
    <p:sldId id="264" r:id="rId22"/>
  </p:sldIdLst>
  <p:sldSz cx="18288000" cy="10287000"/>
  <p:notesSz cx="6858000" cy="9144000"/>
  <p:embeddedFontLst>
    <p:embeddedFont>
      <p:font typeface="DM Sans" panose="020B0604020202020204" charset="0"/>
      <p:regular r:id="rId24"/>
      <p:bold r:id="rId25"/>
      <p:italic r:id="rId26"/>
      <p:boldItalic r:id="rId27"/>
    </p:embeddedFont>
    <p:embeddedFont>
      <p:font typeface="DM Sans Black" panose="020B0604020202020204" charset="0"/>
      <p:bold r:id="rId28"/>
      <p:boldItalic r:id="rId29"/>
    </p:embeddedFont>
    <p:embeddedFont>
      <p:font typeface="Helvetica Neue" panose="020B0604020202020204" charset="0"/>
      <p:regular r:id="rId30"/>
      <p:bold r:id="rId31"/>
      <p:italic r:id="rId32"/>
      <p:boldItalic r:id="rId33"/>
    </p:embeddedFont>
    <p:embeddedFont>
      <p:font typeface="Play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3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46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0:00–0:30 | ABERTURA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Espere a turma sentar antes de falar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"Bom dia/boa tarde. Esse é um treinamento da StormX para o time da Unilever. Objetivo: entender o que é Ad Server, como funciona, e as ferramentas de mensuração e verificação do dia a dia."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0:30–1:00 | CAPA DO TEMA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curta — deixe a imagem respirar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"Antes de mergulhar nos conceitos, vou apresentar quem são as pessoas que vão estar do lado de vocês nessa operação."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1:00–2:00 | AGENDA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Apresente os 4 blocos: Equipe → Ad Server → Mensuração →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"Não precisa anotar tudo — o material fica com vocês depois."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2:00 – 4:30 | ORGANOGRAMA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LIDERANÇA: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Tiago Domingos → Diretor de AdOps e Projetos (referência técnica e estratégica)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Livia Bousquet → Diretora de Atendimento (elo com o cliente)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Aline Calderan → Líder de Projetos (coordena o fluxo das campanhas)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Carolina Dobner → Gerente de Projetos (dia a dia operacional)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EQUIPE ADOPS: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Marcos Santos, João Braga e Felipe Lima → trafficking, tags e relatórios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"Agora que todo mundo se conhece — vamos pro conteúdo."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"Vamos começar pelo Ad Server — o coração de tudo."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"O que é um Ad Server".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4:30–7:00 | O QUE É UM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plataforma que armazena, distribui, rastreia e reporta anúncios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Quem usa: anunciante (controla a campanha) / agência (gerencia veiculações) / veículo (exibe corretamente)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Funções: armazenar criativos → distribuir por regras → medir resultados → unificar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Ad Server é o maestro da campanha digital."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entre Ad Server e DV360?"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DV360 é DSP — compra o espaço de mídia. Ad Server entrega o criativo nesse espaço e mede. Os dois trabalham juntos.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"Por que usar Ad Server se o veículo já tem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veículo mostra os melhores números dele. O Ad Server é o dado neutro e unificado da agência — comparável entre veículos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7:00–10:00 | PRINCIPAIS PROCESSOS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etapas: Configuração → Veiculação → Mensuração →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Configuração: subir criativos, datas, segmentações, criar tags (trabalho do AdOps antes do go-live)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Veiculação: usuário abre a página → site chama Ad Server via tag → Ad Server decide qual anúncio mostrar em milissegundos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Mensuração: conta impressões, cliques, conversões. Aplica frequency capping (limite de exibições por usuário)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Relatórios: dados viram performance por campanha/criativo/formato → otimização e faturamento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é frequency capping?"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Regra que limita quantas vezes o mesmo usuário vê o mesmo anúncio num período. Ex: máximo 3x por dia. Sem isso o usuário seria bombardeado com o mesmo banner.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a tag não funcionar?"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anúncio não aparece ou aparece sem rastreamento. Por isso existe o processo de tag QA antes do go-live — o AdOps testa cada tag antes da campanha subir.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ainda bloco Tag x Contador | TABELA RESUMO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a tabela na tela por 10 segundos antes de comentar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"Tag = veiculação. Contador = mensuração. Os dois podem medir, mas só a Tag exibe."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13:00–14:30 | AD SERVERS DO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(Google): padrão no Brasil, integra com Google Ads e DV360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 (Innovid): criativos dinâmicos,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Outros (Adform, Xandr, Sizmek): histórico de mercado, não aparecem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algum Ad Server além desses que posso encontrar?"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Adform ainda opera em mercados europeus. Xandr foi adquirido pela Microsoft. Sizmek foi descontinuado — se aparecer em algum relatório antigo, é histórico.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14:30–17:00 | CM360 x FLASHTALKING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Igualdades: os dois distribuem anúncios, medem, geram relatório. Suportam Display, Vídeo e Rich Media.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CM360: mais simples, ecossistema Google, padrão no Brasil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Flashtalking: mais técnico, criativos dinâmicos avançados (DCO),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 escolha não é livre — quem define é a estratégia e o que o cliente contratou."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"A gente usa os dois aqui na Unilever?"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Hoje o padrão é CM360. O Flashtalking aparece em iniciativas globais com criativo dinâmico complexo. Dúvida de qual usar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impacto de usar CM360 com DV360 juntos?"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Pelo contrário — são feitos pra trabalhar juntos. Ambos são Google, integração é nativa.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BLOCO: MENSURAÇÃO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Mensuração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"Agora que entendemos como o anúncio é entregue, vamos ver como medimos o impacto real."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"Pixel da Kantar".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17:00–19:30 | PIXEL DA KANTAR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Pixel = código invisível dentro do anúncio. Quando o usuário vê o anúncio, o pixel "acorda" e registra.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Analogia: segurança de loja que anota discretamente quem entrou, quando e por qual corredor — mas no digital.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cruza com painel próprio (pessoas cadastradas) → entende QUEM viu: faixa etária, gênero, região.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pixel da Kantar é uma tag ou um contador?"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contador. Não exibe nada — só registra a exposição. A diferença é que tem uma camada extra: cruza com o painel da Kantar para perfilar a audiência exposta.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"Todo anúncio tem pixel da Kantar?"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Não. Só campanhas que têm o estudo de Brand Lift contratado. O AdOps implementa o pixel nas tags quando o estudo está ativo.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19:30 – 21:30 | BRAND LIFT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Sem pixel → volume. Com pixel Kantar → impacto.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Lift mede o que MUDOU na cabeça do consumidor depois de ver o anúncio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métricas: Awareness / Ad Recall / Consideration / Favorability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a diferença entre saber que 10 milhões viram o anúncio, e saber que 23% passaram a considerar a marca."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"Com que frequência vem o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Mid-flight (meio da campanha) e post-flight (ao final). Não é tempo real — é pesquisa com painel.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Brand Lift substitui impressão e clique?"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Não, complementa. Impressão/clique = entrega. Brand Lift = impacto. São camadas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 Mudança de bloco — Ad Verification.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"Último bloco. Aqui a gente fala de qualidade — não de quanto o anúncio rodou, mas de como ele rodou."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"IAS — Integral Ad Science".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21:30–23:00 | IAS — INTEGRAL AD SCIENCE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Monitora o AMBIENTE onde o anúncio aparece (não o anúncio em si)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Safety: bloqueia contextos impróprios (fake news, violência, conteúdo adulto)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Viewability: confirma que o anúncio ficou visível na tela pelo tempo mínimo exigido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IVT (Invalid Traffic): detecta e filtra bots — impressões fraudulentas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fiscal de qualidade do anúncio."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o IAS bloquear um anúncio legítimo por engano?"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falso positivo — acontece. O AdOps pode abrir solicitação de revisão e criar exceções de whitelist. É parte da operação.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prática entre IAS e DoubleVerify?"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Os dois fazem Brand Safety, Viewability e IVT. A diferença: DV tem Brand Suitability mais granular e Attention Metrics. IAS é mais simples de operar e cobre bem a maioria dos casos. A escolha costuma ser definida pelo contrato do cliente.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23:00–24:30 | DOUBLEVERIFY (DV)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Concorrente direto do IAS, mas com diferenciais: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Suitability: categorias customizadas por marca (não só seguro/não seguro)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Bloqueio de IVT em TEMPO REAL (antes do anúncio ser exibido, não depois)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Attention Metrics: vai além da viewability — mede hover, scroll, tempo de visualização real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DV é melhor que o IAS?"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Depende do caso. O DV tem mais granularidade e Attention Metrics — melhor para campanhas globais complexas. O IAS é mais simples e já cobre bem operações diretas. A escolha vem do contrato.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são Attention Metrics na prática?"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medir se o usuário de fato prestou atenção — não só se o anúncio estava na tela. Inclui: hover com mouse sobre o anúncio, tempo que o anúncio ficou em foco, scroll speed. É uma métrica mais sofisticada que viewability.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24:30–25:30 | MOAT (ORACLE ADVERTISING)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Pioneiro em mensuração de atenção e vídeo — foi referência no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Ainda aparece em relatórios históricos e plataformas com SDK legado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⚠ ENCERRADO em 2023 — não aceita novos clientes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 cliente pedir Moat → explicar que foi descontinuado, recomendar IAS ou DV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Moat foi encerrado, mas aparece no relatório — o que eu digo pro cliente?"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"O Moat foi descontinuado pela Oracle em 2023. Os dados históricos continuam válidos para comparações de períodos anteriores. Para campanhas novas, a recomendação é usar IAS ou DoubleVerify." Se o cliente insistir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Conclusão.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25:30–27:00 | CONCLUSÃO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coração da campanha. Tag exibe. Contador mede.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(Brasil/Google) vs Flashtalking (global/dinâmico) → mesma base, perfis diferentes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+ Brand Lift = de "quantas impressões" para "a marca cresceu?"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IAS e DV = Brand Safety + Viewability + IVT. Moat = encerrado em 2023.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"Conhecer cada ferramenta é saber onde o investimento em mídia vai — e se está chegando certo."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Dúvidas.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27:00–28:00+ | DÚVIDAS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isso da minha parte. O que ficou de dúvida?"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💡 Se a sala ficar quieta, dispare uma dessas: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teve que implementar uma tag e não sabia o que estava fazendo?"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recebeu reclamação de anúncio aparecendo no lugar errado?"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Essas perguntas revelam dúvidas reais que a turma tem mas não pergunta diretamente.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Encerramento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Agradeça a presença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"Qualquer dúvida que surgir no dia a dia — pode chamar o time. A gente está aqui pra isso."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Lembre que o material fica disponível para consulta.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final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na tela enquanto o Q&amp;A acontece ou as pessoas saem.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6.png"/>
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  <Relationship Id="rId4" Type="http://schemas.openxmlformats.org/officeDocument/2006/relationships/image" Target="../media/image19.png"/>
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7.png"/>
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20.png"/>
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  <Relationship Id="rId3" Type="http://schemas.openxmlformats.org/officeDocument/2006/relationships/image" Target="../media/image18.png"/>
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EQUIPE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01  Organograma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02  O que é um 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03  Principais Processos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04  Diferença entre Tag e Contador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05  Ad Servers mais conhecidos do mercado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06  CM360 x Flashtalking — Igualdades e Diferenças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MENSURAÇÃO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07  Pixel da Kantar — O que é?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08  Brand Lift — A campanha funcionou?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09  IAS — Integral Ad Science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10  DoubleVerify (DV)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11  Moat — Oracle Advertising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>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dirty="0">
                <a:solidFill>
                  <a:srgbClr val="14E6FC"/>
                </a:solidFill>
                <a:latin typeface="Arial"/>
              </a:rPr>
              <a:t>12  Conclusão</a:t>
            </a: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28600" cy="2286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00000" y="304800"/>
            <a:ext cx="3000000" cy="2286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8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900000" y="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3600" b="1" dirty="0">
                <a:solidFill>
                  <a:srgbClr val="14E6FC"/>
                </a:solidFill>
                <a:latin typeface="Arial"/>
              </a:rPr>
              <a:t>Organograma</a:t>
            </a:r>
          </a:p>
        </p:txBody>
      </p:sp>
      <p:sp>
        <p:nvSpPr>
          <p:cNvPr id="5" name="lbl1"/>
          <p:cNvSpPr txBox="1"/>
          <p:nvPr/>
        </p:nvSpPr>
        <p:spPr>
          <a:xfrm>
            <a:off x="457200" y="140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LIDERANÇA</a:t>
            </a:r>
          </a:p>
        </p:txBody>
      </p:sp>
      <p:sp>
        <p:nvSpPr>
          <p:cNvPr id="10" name="c10"/>
          <p:cNvSpPr txBox="1"/>
          <p:nvPr/>
        </p:nvSpPr>
        <p:spPr>
          <a:xfrm>
            <a:off x="45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 de AdOps 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Tiago Domingos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tiago.santos@stormx.com.br</a:t>
            </a:r>
          </a:p>
        </p:txBody>
      </p:sp>
      <p:sp>
        <p:nvSpPr>
          <p:cNvPr id="11" name="c11"/>
          <p:cNvSpPr txBox="1"/>
          <p:nvPr/>
        </p:nvSpPr>
        <p:spPr>
          <a:xfrm>
            <a:off x="422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Diretora de Atendimento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Livia Bousquet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livia.bousquet@stormx.com.br</a:t>
            </a:r>
          </a:p>
        </p:txBody>
      </p:sp>
      <p:sp>
        <p:nvSpPr>
          <p:cNvPr id="12" name="c12"/>
          <p:cNvSpPr txBox="1"/>
          <p:nvPr/>
        </p:nvSpPr>
        <p:spPr>
          <a:xfrm>
            <a:off x="799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Líder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Aline Calderan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aline.calderan@stormx.com.br</a:t>
            </a:r>
          </a:p>
        </p:txBody>
      </p:sp>
      <p:sp>
        <p:nvSpPr>
          <p:cNvPr id="13" name="c13"/>
          <p:cNvSpPr txBox="1"/>
          <p:nvPr/>
        </p:nvSpPr>
        <p:spPr>
          <a:xfrm>
            <a:off x="1176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Gerente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Carolina Dobner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carolina.dobner@stormx.com.br</a:t>
            </a:r>
          </a:p>
        </p:txBody>
      </p:sp>
      <p:sp>
        <p:nvSpPr>
          <p:cNvPr id="20" name="lbl2"/>
          <p:cNvSpPr txBox="1"/>
          <p:nvPr/>
        </p:nvSpPr>
        <p:spPr>
          <a:xfrm>
            <a:off x="457200" y="485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EQUIPE ADOPS</a:t>
            </a:r>
          </a:p>
        </p:txBody>
      </p:sp>
      <p:sp>
        <p:nvSpPr>
          <p:cNvPr id="21" name="c21"/>
          <p:cNvSpPr txBox="1"/>
          <p:nvPr/>
        </p:nvSpPr>
        <p:spPr>
          <a:xfrm>
            <a:off x="45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Marcos Santos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marcos.santos@stormx.com.br</a:t>
            </a:r>
          </a:p>
        </p:txBody>
      </p:sp>
      <p:sp>
        <p:nvSpPr>
          <p:cNvPr id="22" name="c22"/>
          <p:cNvSpPr txBox="1"/>
          <p:nvPr/>
        </p:nvSpPr>
        <p:spPr>
          <a:xfrm>
            <a:off x="527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João Braga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joao.braga@stormx.com.br</a:t>
            </a:r>
          </a:p>
        </p:txBody>
      </p:sp>
      <p:sp>
        <p:nvSpPr>
          <p:cNvPr id="23" name="c23"/>
          <p:cNvSpPr txBox="1"/>
          <p:nvPr/>
        </p:nvSpPr>
        <p:spPr>
          <a:xfrm>
            <a:off x="1009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Felipe Lima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felipe.lima@stormx.com.br</a:t>
            </a:r>
          </a:p>
        </p:txBody>
      </p:sp>
      <p:sp>
        <p:nvSpPr>
          <p:cNvPr id="3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3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75000"/>
                  </a:srgbClr>
                </a:solidFill>
                <a:latin typeface="Arial"/>
              </a:rPr>
              <a:t>BLOCO 1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Server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Plataforma responsável por armazenar, distribuir, rastrear e reportar anúncios digitais. É o maestro da campanha — decide qual criativo aparece, para quem, quando e quantas vezes.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Armazena criativos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Distribui por regras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Mede resultados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Unifica relatórios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5760720"/>
            <a:ext cx="13716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>
              <a:lnSpc>
                <a:spcPct val="130000"/>
              </a:lnSpc>
              <a:buNone/>
            </a:pPr>
            <a:endParaRPr lang="pt-BR" sz="1800" dirty="0">
              <a:solidFill>
                <a:srgbClr val="494C67"/>
              </a:solidFill>
              <a:latin typeface="Arial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154" name="img1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91640"/>
            <a:ext cx="15270480" cy="7406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na gestão das taxonomias</a:t>
            </a:r>
          </a:p>
          <a:p>
            <a:pPr marL="508000" lvl="1" indent="0">
              <a:buNone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3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Mensuração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medem o impacto real da campanha — não só quantas vezes o anúncio foi exibido, mas quem viu, e o que mudou depois na percepção da marca.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Pixel de rastreamento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Perfil da audiência exposta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Lift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Awareness · Recall · Consideration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5760720"/>
            <a:ext cx="13716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" name="img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858000"/>
            <a:ext cx="6858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Brand Lift — A campanha funcionou?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57200" y="1828800"/>
            <a:ext cx="720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Sem pixel → sabemos só </a:t>
            </a:r>
            <a:r>
              <a:rPr lang="pt-BR" sz="1800" b="1" dirty="0">
                <a:solidFill>
                  <a:srgbClr val="484D67"/>
                </a:solidFill>
                <a:latin typeface="Arial"/>
              </a:rPr>
              <a:t>quantas vezes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o anúncio apareceu.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Com pixel Kantar → sabemos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quem viu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e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o que mudou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depois.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O que o Brand Lift mede:</a:t>
            </a:r>
          </a:p>
          <a:p>
            <a:pPr marL="457200" algn="l">
              <a:lnSpc>
                <a:spcPct val="130000"/>
              </a:lnSpc>
              <a:spcBef>
                <a:spcPts val="150"/>
              </a:spcBef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Awareness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Mais gente conheceu a marca?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Ad Recall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As pessoas lembraram do anúncio?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Consideration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 intenção de compra aumentou?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Favorability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 → A percepção da marca melhorou?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700" i="1" dirty="0">
                <a:solidFill>
                  <a:srgbClr val="484D67"/>
                </a:solidFill>
                <a:latin typeface="Arial"/>
              </a:rPr>
              <a:t>“O pixel é o carimbo invisível. O Brand Lift é o resultado da prova.”</a:t>
            </a:r>
          </a:p>
        </p:txBody>
      </p:sp>
      <p:sp>
        <p:nvSpPr>
          <p:cNvPr id="6" name="right"/>
          <p:cNvSpPr txBox="1"/>
          <p:nvPr/>
        </p:nvSpPr>
        <p:spPr>
          <a:xfrm>
            <a:off x="8229600" y="1828800"/>
            <a:ext cx="7314600" cy="76200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Como funciona na prática?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1. Pixel é ativado quando o usuário vê o anúncio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2. Kantar cruza com o painel de pesquisa deles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3. Gera relatório: a marca cresceu em lembrança, consideração e intenção de compra?</a:t>
            </a:r>
          </a:p>
        </p:txBody>
      </p:sp>
      <p:sp>
        <p:nvSpPr>
          <p:cNvPr id="7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4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Verification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garantem que o anúncio foi exibido no lugar certo, para uma pessoa real, e de forma visível. Protegem o investimento da marca contra fraudes e contextos inadequados.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Safety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Viewability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Invalid Traffic (IVT)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Attention Metrics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22" name="img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5760720"/>
            <a:ext cx="13716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anúncio não apareça ao lado de conteúdo impróprio: fake news, violência ou conteúdo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realmente ficou visível na tela do usuário pelo tempo mínimo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verificação independente e granular da mídia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não é só "seguro/não seguro",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tráfego inválido em tempo real, antes mesmo do anúncio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Métrica mais recente: vai além da viewability e mede se o usuário realmente prestou atenção ao anúncio.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é frequentemente preferido em operações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verificação e mensuração de atenção.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ficou visível pelo tempo suficiente para ser considerado uma impressão válida.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interações do usuário com o anúncio: hover, scroll, tempo de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vídeo: quartis de visualização, conclusão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8961120" y="1920240"/>
          <a:ext cx="8961120" cy="713232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8961120" y="1920240"/>
            <a:ext cx="8961120" cy="713232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8961120" y="1920240"/>
            <a:ext cx="8961120" cy="713232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8961120" y="1920240"/>
            <a:ext cx="8961120" cy="71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1120" y="1920240"/>
            <a:ext cx="8961120" cy="7132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8961120" y="1920240"/>
            <a:ext cx="8961120" cy="71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8961120" y="1920240"/>
            <a:ext cx="8961120" cy="71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CM360: ecossistema Google / Flashtalking: criação dinâmica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(Kantar) + Ad Verification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+ Brand Lift: saem de “quantas impressões” para “a marca cresceu?”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 garantem Brand Safety, Viewability e combate a fraudes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  <a:p>
            <a:pPr marL="0" indent="0">
              <a:lnSpc>
                <a:spcPct val="140000"/>
              </a:lnSpc>
              <a:spcBef>
                <a:spcPts val="300"/>
              </a:spcBef>
              <a:buNone/>
            </a:pPr>
            <a:r>
              <a:rPr lang="pt-BR" sz="1600" i="1" dirty="0">
                <a:solidFill>
                  <a:srgbClr val="484D67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1920240"/>
            <a:ext cx="8961120" cy="713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3686</Words>
  <Application>Microsoft Office PowerPoint</Application>
  <PresentationFormat>Personalizar</PresentationFormat>
  <Paragraphs>466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DM Sans</vt:lpstr>
      <vt:lpstr>Helvetica Neue</vt:lpstr>
      <vt:lpstr>Play</vt:lpstr>
      <vt:lpstr>Arial</vt:lpstr>
      <vt:lpstr>DM Sans Black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Lima</cp:lastModifiedBy>
  <cp:revision>9</cp:revision>
  <dcterms:modified xsi:type="dcterms:W3CDTF">2026-07-12T06:36:33Z</dcterms:modified>
</cp:coreProperties>
</file>