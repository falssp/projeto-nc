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9" r:id="rId6"/>
    <p:sldId id="261" r:id="rId7"/>
    <p:sldId id="270" r:id="rId8"/>
    <p:sldId id="271" r:id="rId9"/>
    <p:sldId id="278" r:id="rId10"/>
    <p:sldId id="266" r:id="rId11"/>
    <p:sldId id="267" r:id="rId12"/>
    <p:sldId id="281" r:id="rId52"/>
    <p:sldId id="282" r:id="rId53"/>
    <p:sldId id="283" r:id="rId54"/>
    <p:sldId id="284" r:id="rId55"/>
    <p:sldId id="285" r:id="rId56"/>
    <p:sldId id="269" r:id="rId13"/>
    <p:sldId id="262" r:id="rId14"/>
    <p:sldId id="263" r:id="rId15"/>
    <p:sldId id="264" r:id="rId16"/>
  </p:sldIdLst>
  <p:sldSz cx="18288000" cy="10287000"/>
  <p:notesSz cx="6858000" cy="9144000"/>
  <p:embeddedFontLs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DM Sans Black" panose="020B0604020202020204" charset="0"/>
      <p:bold r:id="rId22"/>
      <p:boldItalic r:id="rId23"/>
    </p:embeddedFont>
    <p:embeddedFont>
      <p:font typeface="DM Sans ExtraLight" panose="020B0604020202020204" charset="0"/>
      <p:regular r:id="rId24"/>
      <p:bold r:id="rId25"/>
      <p:italic r:id="rId26"/>
      <p:boldItalic r:id="rId27"/>
    </p:embeddedFont>
    <p:embeddedFont>
      <p:font typeface="DM Sans Light" panose="020B0604020202020204" charset="0"/>
      <p:regular r:id="rId28"/>
      <p:bold r:id="rId29"/>
      <p:italic r:id="rId30"/>
      <p:boldItalic r:id="rId31"/>
    </p:embeddedFont>
    <p:embeddedFont>
      <p:font typeface="DM Sans SemiBold" panose="020B0604020202020204" charset="0"/>
      <p:regular r:id="rId32"/>
      <p:bold r:id="rId33"/>
      <p:italic r:id="rId34"/>
      <p:boldItalic r:id="rId35"/>
    </p:embeddedFont>
    <p:embeddedFont>
      <p:font typeface="Helvetica Neue" panose="020B0604020202020204" charset="0"/>
      <p:regular r:id="rId36"/>
      <p:bold r:id="rId37"/>
      <p:italic r:id="rId38"/>
      <p:boldItalic r:id="rId39"/>
    </p:embeddedFont>
    <p:embeddedFont>
      <p:font typeface="Play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94">
          <p15:clr>
            <a:srgbClr val="747775"/>
          </p15:clr>
        </p15:guide>
        <p15:guide id="2" orient="horz" pos="1928">
          <p15:clr>
            <a:srgbClr val="747775"/>
          </p15:clr>
        </p15:guide>
        <p15:guide id="3" pos="10838">
          <p15:clr>
            <a:srgbClr val="747775"/>
          </p15:clr>
        </p15:guide>
        <p15:guide id="4" orient="horz" pos="2968">
          <p15:clr>
            <a:srgbClr val="747775"/>
          </p15:clr>
        </p15:guide>
        <p15:guide id="5" orient="horz" pos="6210">
          <p15:clr>
            <a:srgbClr val="747775"/>
          </p15:clr>
        </p15:guide>
        <p15:guide id="6" orient="horz" pos="560">
          <p15:clr>
            <a:srgbClr val="747775"/>
          </p15:clr>
        </p15:guide>
        <p15:guide id="7" orient="horz" pos="2302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gLfbwE6yWihDUx3ypxqGgwCPG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338E-8287-413C-8668-10C85CD1D0B2}" v="4" dt="2026-01-29T14:05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pos="794"/>
        <p:guide orient="horz" pos="1928"/>
        <p:guide pos="10838"/>
        <p:guide orient="horz" pos="2968"/>
        <p:guide orient="horz" pos="6210"/>
        <p:guide orient="horz" pos="560"/>
        <p:guide orient="horz" pos="2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presProps" Target="presProps.xml"/><Relationship Id="rId20" Type="http://schemas.openxmlformats.org/officeDocument/2006/relationships/font" Target="fonts/font3.fntdata"/><Relationship Id="rId41" Type="http://schemas.openxmlformats.org/officeDocument/2006/relationships/font" Target="fonts/font24.fntdata"/><Relationship Id="rId52" Type="http://schemas.openxmlformats.org/officeDocument/2006/relationships/slide" Target="slides/slide16.xml"/><Relationship Id="rId53" Type="http://schemas.openxmlformats.org/officeDocument/2006/relationships/slide" Target="slides/slide17.xml"/><Relationship Id="rId54" Type="http://schemas.openxmlformats.org/officeDocument/2006/relationships/slide" Target="slides/slide18.xml"/><Relationship Id="rId55" Type="http://schemas.openxmlformats.org/officeDocument/2006/relationships/slide" Target="slides/slide19.xml"/><Relationship Id="rId56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c050a0a24b7bf936" providerId="LiveId" clId="{6372F581-0122-4FDE-A8B3-C5C4A6DCFBDE}"/>
    <pc:docChg chg="undo custSel modSld">
      <pc:chgData name="Felipe Lima" userId="c050a0a24b7bf936" providerId="LiveId" clId="{6372F581-0122-4FDE-A8B3-C5C4A6DCFBDE}" dt="2026-01-29T14:22:00.628" v="166" actId="6549"/>
      <pc:docMkLst>
        <pc:docMk/>
      </pc:docMkLst>
      <pc:sldChg chg="modSp mod">
        <pc:chgData name="Felipe Lima" userId="c050a0a24b7bf936" providerId="LiveId" clId="{6372F581-0122-4FDE-A8B3-C5C4A6DCFBDE}" dt="2026-01-29T14:21:16.173" v="158" actId="6549"/>
        <pc:sldMkLst>
          <pc:docMk/>
          <pc:sldMk cId="0" sldId="259"/>
        </pc:sldMkLst>
        <pc:spChg chg="mod">
          <ac:chgData name="Felipe Lima" userId="c050a0a24b7bf936" providerId="LiveId" clId="{6372F581-0122-4FDE-A8B3-C5C4A6DCFBDE}" dt="2026-01-29T14:21:16.173" v="158" actId="6549"/>
          <ac:spMkLst>
            <pc:docMk/>
            <pc:sldMk cId="0" sldId="259"/>
            <ac:spMk id="89" creationId="{00000000-0000-0000-0000-000000000000}"/>
          </ac:spMkLst>
        </pc:spChg>
      </pc:sldChg>
      <pc:sldChg chg="modSp mod">
        <pc:chgData name="Felipe Lima" userId="c050a0a24b7bf936" providerId="LiveId" clId="{6372F581-0122-4FDE-A8B3-C5C4A6DCFBDE}" dt="2026-01-29T14:21:31.600" v="160" actId="6549"/>
        <pc:sldMkLst>
          <pc:docMk/>
          <pc:sldMk cId="0" sldId="261"/>
        </pc:sldMkLst>
        <pc:spChg chg="mod">
          <ac:chgData name="Felipe Lima" userId="c050a0a24b7bf936" providerId="LiveId" clId="{6372F581-0122-4FDE-A8B3-C5C4A6DCFBDE}" dt="2026-01-28T18:14:41.864" v="46" actId="20577"/>
          <ac:spMkLst>
            <pc:docMk/>
            <pc:sldMk cId="0" sldId="261"/>
            <ac:spMk id="5" creationId="{0CBBB47E-EF85-03D6-6A88-7A7C621D977E}"/>
          </ac:spMkLst>
        </pc:spChg>
        <pc:spChg chg="mod">
          <ac:chgData name="Felipe Lima" userId="c050a0a24b7bf936" providerId="LiveId" clId="{6372F581-0122-4FDE-A8B3-C5C4A6DCFBDE}" dt="2026-01-29T14:21:31.600" v="160" actId="6549"/>
          <ac:spMkLst>
            <pc:docMk/>
            <pc:sldMk cId="0" sldId="261"/>
            <ac:spMk id="147" creationId="{00000000-0000-0000-0000-000000000000}"/>
          </ac:spMkLst>
        </pc:spChg>
      </pc:sldChg>
      <pc:sldChg chg="addSp delSp modSp mod">
        <pc:chgData name="Felipe Lima" userId="c050a0a24b7bf936" providerId="LiveId" clId="{6372F581-0122-4FDE-A8B3-C5C4A6DCFBDE}" dt="2026-01-29T14:21:50.460" v="164" actId="6549"/>
        <pc:sldMkLst>
          <pc:docMk/>
          <pc:sldMk cId="225290832" sldId="266"/>
        </pc:sldMkLst>
        <pc:spChg chg="mod">
          <ac:chgData name="Felipe Lima" userId="c050a0a24b7bf936" providerId="LiveId" clId="{6372F581-0122-4FDE-A8B3-C5C4A6DCFBDE}" dt="2026-01-29T14:21:50.460" v="164" actId="6549"/>
          <ac:spMkLst>
            <pc:docMk/>
            <pc:sldMk cId="225290832" sldId="266"/>
            <ac:spMk id="147" creationId="{285ED2EC-7AA9-0D8D-3425-7BE8D0C08A19}"/>
          </ac:spMkLst>
        </pc:spChg>
        <pc:picChg chg="add mod">
          <ac:chgData name="Felipe Lima" userId="c050a0a24b7bf936" providerId="LiveId" clId="{6372F581-0122-4FDE-A8B3-C5C4A6DCFBDE}" dt="2026-01-21T21:58:39.778" v="38" actId="1076"/>
          <ac:picMkLst>
            <pc:docMk/>
            <pc:sldMk cId="225290832" sldId="266"/>
            <ac:picMk id="8" creationId="{4975E46C-06FC-AF1C-2026-366CB906AC7A}"/>
          </ac:picMkLst>
        </pc:picChg>
      </pc:sldChg>
      <pc:sldChg chg="modSp mod">
        <pc:chgData name="Felipe Lima" userId="c050a0a24b7bf936" providerId="LiveId" clId="{6372F581-0122-4FDE-A8B3-C5C4A6DCFBDE}" dt="2026-01-29T14:21:54.915" v="165" actId="6549"/>
        <pc:sldMkLst>
          <pc:docMk/>
          <pc:sldMk cId="1391898486" sldId="267"/>
        </pc:sldMkLst>
        <pc:spChg chg="mod">
          <ac:chgData name="Felipe Lima" userId="c050a0a24b7bf936" providerId="LiveId" clId="{6372F581-0122-4FDE-A8B3-C5C4A6DCFBDE}" dt="2026-01-29T14:21:54.915" v="165" actId="6549"/>
          <ac:spMkLst>
            <pc:docMk/>
            <pc:sldMk cId="1391898486" sldId="267"/>
            <ac:spMk id="147" creationId="{30DE8D3F-3A8A-0CD8-9FD0-15A54362AA49}"/>
          </ac:spMkLst>
        </pc:spChg>
        <pc:graphicFrameChg chg="modGraphic">
          <ac:chgData name="Felipe Lima" userId="c050a0a24b7bf936" providerId="LiveId" clId="{6372F581-0122-4FDE-A8B3-C5C4A6DCFBDE}" dt="2026-01-29T14:08:20.061" v="157" actId="12385"/>
          <ac:graphicFrameMkLst>
            <pc:docMk/>
            <pc:sldMk cId="1391898486" sldId="267"/>
            <ac:graphicFrameMk id="8" creationId="{FA22577D-6D9B-EF32-9B86-3CB16E8F1C74}"/>
          </ac:graphicFrameMkLst>
        </pc:graphicFrameChg>
      </pc:sldChg>
      <pc:sldChg chg="addSp delSp modSp mod">
        <pc:chgData name="Felipe Lima" userId="c050a0a24b7bf936" providerId="LiveId" clId="{6372F581-0122-4FDE-A8B3-C5C4A6DCFBDE}" dt="2026-01-29T14:22:00.628" v="166" actId="6549"/>
        <pc:sldMkLst>
          <pc:docMk/>
          <pc:sldMk cId="3880482884" sldId="269"/>
        </pc:sldMkLst>
        <pc:spChg chg="mod">
          <ac:chgData name="Felipe Lima" userId="c050a0a24b7bf936" providerId="LiveId" clId="{6372F581-0122-4FDE-A8B3-C5C4A6DCFBDE}" dt="2026-01-29T14:22:00.628" v="166" actId="6549"/>
          <ac:spMkLst>
            <pc:docMk/>
            <pc:sldMk cId="3880482884" sldId="269"/>
            <ac:spMk id="147" creationId="{C77E314E-C1E0-9185-B568-A9703CF6A75F}"/>
          </ac:spMkLst>
        </pc:spChg>
        <pc:picChg chg="add mod">
          <ac:chgData name="Felipe Lima" userId="c050a0a24b7bf936" providerId="LiveId" clId="{6372F581-0122-4FDE-A8B3-C5C4A6DCFBDE}" dt="2026-01-21T21:52:22.294" v="15" actId="1076"/>
          <ac:picMkLst>
            <pc:docMk/>
            <pc:sldMk cId="3880482884" sldId="269"/>
            <ac:picMk id="9" creationId="{E2A06DA7-F591-FA97-E338-D35741D09A98}"/>
          </ac:picMkLst>
        </pc:picChg>
      </pc:sldChg>
      <pc:sldChg chg="modSp mod">
        <pc:chgData name="Felipe Lima" userId="c050a0a24b7bf936" providerId="LiveId" clId="{6372F581-0122-4FDE-A8B3-C5C4A6DCFBDE}" dt="2026-01-29T14:21:36.819" v="161" actId="6549"/>
        <pc:sldMkLst>
          <pc:docMk/>
          <pc:sldMk cId="578832553" sldId="270"/>
        </pc:sldMkLst>
        <pc:spChg chg="mod">
          <ac:chgData name="Felipe Lima" userId="c050a0a24b7bf936" providerId="LiveId" clId="{6372F581-0122-4FDE-A8B3-C5C4A6DCFBDE}" dt="2026-01-28T18:18:17.857" v="139" actId="20577"/>
          <ac:spMkLst>
            <pc:docMk/>
            <pc:sldMk cId="578832553" sldId="270"/>
            <ac:spMk id="4" creationId="{B25EA9C0-BE44-A682-3B2B-6F93F4445D9E}"/>
          </ac:spMkLst>
        </pc:spChg>
        <pc:spChg chg="mod">
          <ac:chgData name="Felipe Lima" userId="c050a0a24b7bf936" providerId="LiveId" clId="{6372F581-0122-4FDE-A8B3-C5C4A6DCFBDE}" dt="2026-01-29T14:21:36.819" v="161" actId="6549"/>
          <ac:spMkLst>
            <pc:docMk/>
            <pc:sldMk cId="578832553" sldId="270"/>
            <ac:spMk id="147" creationId="{F32503C6-210C-3485-CF09-8CFC78AC9003}"/>
          </ac:spMkLst>
        </pc:spChg>
      </pc:sldChg>
      <pc:sldChg chg="modSp mod">
        <pc:chgData name="Felipe Lima" userId="c050a0a24b7bf936" providerId="LiveId" clId="{6372F581-0122-4FDE-A8B3-C5C4A6DCFBDE}" dt="2026-01-29T14:21:41.551" v="162" actId="6549"/>
        <pc:sldMkLst>
          <pc:docMk/>
          <pc:sldMk cId="3712939806" sldId="271"/>
        </pc:sldMkLst>
        <pc:spChg chg="mod">
          <ac:chgData name="Felipe Lima" userId="c050a0a24b7bf936" providerId="LiveId" clId="{6372F581-0122-4FDE-A8B3-C5C4A6DCFBDE}" dt="2026-01-29T14:21:41.551" v="162" actId="6549"/>
          <ac:spMkLst>
            <pc:docMk/>
            <pc:sldMk cId="3712939806" sldId="271"/>
            <ac:spMk id="147" creationId="{3AF95F7A-C374-BF16-71B7-8031811C6310}"/>
          </ac:spMkLst>
        </pc:spChg>
      </pc:sldChg>
      <pc:sldChg chg="modSp mod">
        <pc:chgData name="Felipe Lima" userId="c050a0a24b7bf936" providerId="LiveId" clId="{6372F581-0122-4FDE-A8B3-C5C4A6DCFBDE}" dt="2026-01-29T14:21:45.865" v="163" actId="6549"/>
        <pc:sldMkLst>
          <pc:docMk/>
          <pc:sldMk cId="399458938" sldId="278"/>
        </pc:sldMkLst>
        <pc:spChg chg="mod">
          <ac:chgData name="Felipe Lima" userId="c050a0a24b7bf936" providerId="LiveId" clId="{6372F581-0122-4FDE-A8B3-C5C4A6DCFBDE}" dt="2026-01-29T14:21:45.865" v="163" actId="6549"/>
          <ac:spMkLst>
            <pc:docMk/>
            <pc:sldMk cId="399458938" sldId="278"/>
            <ac:spMk id="147" creationId="{A1648943-6BDD-85C1-C5E6-AA29BDCFC343}"/>
          </ac:spMkLst>
        </pc:spChg>
        <pc:graphicFrameChg chg="mod modGraphic">
          <ac:chgData name="Felipe Lima" userId="c050a0a24b7bf936" providerId="LiveId" clId="{6372F581-0122-4FDE-A8B3-C5C4A6DCFBDE}" dt="2026-01-29T14:07:44.897" v="155" actId="12385"/>
          <ac:graphicFrameMkLst>
            <pc:docMk/>
            <pc:sldMk cId="399458938" sldId="278"/>
            <ac:graphicFrameMk id="10" creationId="{22600252-0027-B51D-EDE8-027607ADE4F6}"/>
          </ac:graphicFrameMkLst>
        </pc:graphicFrameChg>
      </pc:sldChg>
      <pc:sldChg chg="modSp mod">
        <pc:chgData name="Felipe Lima" userId="c050a0a24b7bf936" providerId="LiveId" clId="{6372F581-0122-4FDE-A8B3-C5C4A6DCFBDE}" dt="2026-01-29T14:21:25.920" v="159" actId="6549"/>
        <pc:sldMkLst>
          <pc:docMk/>
          <pc:sldMk cId="1233229766" sldId="279"/>
        </pc:sldMkLst>
        <pc:spChg chg="mod">
          <ac:chgData name="Felipe Lima" userId="c050a0a24b7bf936" providerId="LiveId" clId="{6372F581-0122-4FDE-A8B3-C5C4A6DCFBDE}" dt="2026-01-29T14:21:25.920" v="159" actId="6549"/>
          <ac:spMkLst>
            <pc:docMk/>
            <pc:sldMk cId="1233229766" sldId="279"/>
            <ac:spMk id="89" creationId="{AFA40689-7145-E33E-49D6-20BA766B418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0:00 – 0:30 | CAPA STORMX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Aguarde a turma se acomodar, depois comece.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"Bom dia / boa tarde a todo mundo. Obrigado por estar aqui — essa apresentação é um treinamento interno que a StormX preparou especialmente para o time da Unilever. O objetivo é nivelamento: sair daqui entendendo o que é um Ad Server, como ele funciona, e quais ferramentas de mensuração e verificação a gente usa no dia a dia."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Avance para o próximo slide sem pressa.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0:30 – 1:00 | ADSERVER (capa do tema)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[Pausa curta na imagem]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"Antes de mergulhar nos conceitos, deixa eu apresentar quem vai estar do nosso lado nessa operação."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1:00 – 2:00 | AGENDA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"A gente vai passar por quatro blocos hoje. Primeiro, o organograma da equipe — quem são as pessoas que vocês vão trabalhar. Depois o bloco de Ad Server — o que é, como funciona, diferença entre Tag e Contador, e os players do mercado. Em seguida, Mensuração, com o Pixel da Kantar e Brand Lift. E por fim, Ad Verification — IAS, DoubleVerify e Moat. Fechamos com a Conclusão e abrimos para perguntas."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"Não precisa anotar tudo — o material fica com vocês depois."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2:00 – 3:30 | ORGANOGRAMA — LIDERANÇA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Apresente cada pessoa pelo nome e cargo, olhando para a turma.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"Tiago Domingos é o nosso Diretor de AdOps e Projetos — ele é a referência técnica e estratégica da conta. Lívia Bousquet cuida do Atendimento e é o elo com o cliente. Aline Calderan é a nossa Líder de Projetos — ela coordena o fluxo geral das campanhas. E a Carolina Dobner é a Gerente de Projetos, no dia a dia operacional."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3:30 – 4:30 | ORGANOGRAMA — EQUIPE ADOPS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"E aqui o time de AdOps que vai operar as campanhas de perto. Marcos Santos, João Braga e Felipe Lima. Esses são os nomes que vocês vão ver nos e-mails, nos chats e nas chamadas quando precisar de qualquer coisa relacionada a trafficking, tags ou relatórios."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"Agora que todo mundo se conhece — vamos pro conteúdo."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4:30 – 7:00 | O QUE É UM AD SERVER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"Bora começar do começo. O que é um Ad Server?"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"O nome parece mais complicado do que é. Ad Server — ou Servidor de Anúncios — é a plataforma que fica no meio do caminho entre o criativo e o usuário final. Ele armazena os banners, os vídeos, os rich media. Ele decide qual anúncio vai aparecer para quem, quando, e quantas vezes. E ele registra tudo: impressões, cliques, conversões."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"Três grupos usam o Ad Server: o anunciante, pra controlar a campanha. A agência, pra gerenciar as veiculações. E os veículos — os sites e apps onde os anúncios aparecem."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"Resumindo: o Ad Server é o maestro da campanha digital. Ele coordena quem toca o quê, quando."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7:00 – 10:00 | PRINCIPAIS PROCESSOS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"Tudo bem, mas como ele funciona na prática? Quatro etapas."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"CONFIGURAÇÃO: a gente sobe os criativos, define datas, formatos, segmentações, cria as tags. É o trabalho do AdOps antes de qualquer campanha ir ao ar."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"VEICULAÇÃO: quando o usuário abre uma página, o site chama o Ad Server via tag — em milissegundos, o Ad Server decide qual anúncio mostrar e entrega o criativo."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"MENSURAÇÃO: cada impressão, clique e conversão é registrado. O frequency capping impede o mesmo anúncio de aparecer mil vezes para a mesma pessoa."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"RELATÓRIOS: tudo isso vira dado. Performance por campanha, por criativo, por formato. É o que alimenta a otimização e o faturamento."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10:00 – 13:00 | TAG x CONTADOR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"Aqui tem um ponto que causa muita confusão — e eu quero deixar bem claro antes de avançar."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"TAG é o código que EXIBE o anúncio. Ela chama o Ad Server, renderiza o criativo na página. É o que o usuário de fato vê."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"CONTADOR — também chamado de pixel ou tracking — não exibe nada. Ele é invisível. Sua função é só rastrear eventos: uma impressão, um clique, uma conversão."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[PAUSA — faça a pergunta para a turma:]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"Pergunta: se a Tag já mede impressões e cliques, pra que serve o Contador?"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[Aguarde 3 segundos, depois responda:]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"O Contador serve pra medir eventos em lugares onde a Tag não está — por exemplo, numa página de confirmação de compra, ou pra cruzar dados entre plataformas diferentes."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Avance para o resumo.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ainda no bloco Tag x Contador | TABELA RESUMO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Deixe a tabela na tela por uns 10 segundos antes de comentar.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"A tabela resume bem: Tag = veiculação. Contador = mensuração. Os dois podem medir, mas só a Tag exibe."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13:00 – 14:30 | AD SERVERS DO MERCADO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"Quais são os Ad Servers que a gente vai ver no mercado?"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"Os dois principais para a nossa operação são o CM360 — Campaign Manager 360, do Google — e o Flashtalking, da Innovid. O CM360 é o padrão no Brasil: integra com Google Ads e DV360. O Flashtalking aparece mais em campanhas globais com criativos dinâmicos."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"Os outros — Adform, Xandr, Sizmek — são histórico de mercado, não aparecem no nosso dia a dia."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14:30 – 17:00 | CM360 x FLASHTALKING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"Os dois fazem a mesma coisa na base: distribuem anúncios, medem performance, geram relatório. Suportam Display, Vídeo e Rich Media."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"A diferença está em onde cada um brilha."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"CM360 é mais simples, está dentro do ecossistema Google — ideal quando a campanha usa DV360 ou Google Ads. É o nosso padrão aqui."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"Flashtalking tem interface mais técnica, mas entrega criativos dinâmicos muito mais avançados — ideal para campanhas globais da Unilever."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"Na prática: a escolha entre os dois não é livre — quem define é a estratégia da campanha e o que o cliente contratou."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MUDANÇA DE BLOCO: Mensuração.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25:30 – 27:00 | CONCLUSÃO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"Fechando então."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"AD SERVER é o coração. Tudo passa por ele — do criativo até o dado de performance. Tag serve pra exibir, Contador serve pra medir."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"CM360 e FLASHTALKING fazem a mesma função base, mas têm perfis diferentes. No Brasil, CM360. Campanhas globais com criativo dinâmico, Flashtalking."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"KANTAR e BRAND LIFT respondem a pergunta que realmente importa: não quantas impressões rodaram, mas se a marca cresceu."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"IAS e DOUBLEVERIFY protegem o investimento — garantindo que o anúncio apareceu no lugar certo, foi visto de verdade, e não foi gerado por robô."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"Resumindo: cada uma dessas ferramentas existe porque alguém precisou responder uma pergunta diferente. Conhecer cada uma é saber onde o dinheiro do cliente vai — e se está chegando certo."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Avance para slide de Dúvidas.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27:00 – 28:00 | DÚVIDAS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"É isso da minha parte. Agora é com vocês — o que ficou de dúvida?"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[Se ninguém perguntar de imediato, use uma dessas perguntas de quebra-gelo:]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"Alguém já teve que implementar uma tag na prática e não sabia o que estava fazendo? O que aconteceu?"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"Alguém já recebeu uma reclamação do cliente dizendo que o anúncio apareceu num lugar errado?"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Essas perguntas costumam revelar dúvidas reais que a turma não teria coragem de perguntar diretamente.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Encerramento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Agradeça a presença e reforce que o material fica disponível para consulta.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'Qualquer dúvida que surgir no dia a dia, pode chamar o time — a gente está aqui pra isso.'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Slide final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[Deixe na tela enquanto o Q&amp;A acontece ou até as pessoas saírem]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17:00 – 19:30 | PIXEL DA KANTAR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"Saindo do Ad Server, vamos falar de mensuração. E a Kantar é a ferramenta central nisso aqui na Unilever."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"O pixel da Kantar é um código invisível que fica dentro do anúncio. Quando alguém vê aquele anúncio, o pixel 'acorda' e registra que aquela pessoa foi exposta."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"A analogia: imagina um segurança numa loja que anota discretamente — 'esse cara entrou às 14h, foi direto pra seção de tênis, ficou 5 minutos e saiu sem comprar.' O pixel faz exatamente isso, mas no mundo digital."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"Com isso, a Kantar cruza com o painel deles — pessoas cadastradas que aceitaram ser monitoradas — e entende QUEM viu o anúncio: faixa etária, gênero, região."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Avance para Brand Lift.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19:30 – 21:30 | BRAND LIFT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"E aí vem a pergunta que toda marca quer responder: a campanha funcionou de verdade?"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"Sem pixel: só sabemos quantas vezes o anúncio apareceu."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"Com pixel Kantar: sabemos quem viu — e o Brand Lift mede o que mudou depois."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"Quatro métricas: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- AWARENESS: mais gente conheceu a marca?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- AD RECALL: as pessoas lembraram do anúncio?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- CONSIDERATION: a intenção de compra aumentou?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- FAVORABILITY: a percepção da marca melhorou?"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"É a diferença entre saber que 10 milhões viram o anúncio, e saber que 23% passaram a considerar a marca na próxima compra."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MUDANÇA DE BLOCO: Ad Verification.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21:30 – 23:00 | IAS — INTEGRAL AD SCIENCE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"Último bloco — Ad Verification. Aqui a gente fala de qualidade."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"O IAS monitora o ambiente onde o anúncio aparece. Três funções:"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"BRAND SAFETY: garante que o anúncio não apareça ao lado de fake news, violência ou conteúdo adulto. A marca da Unilever não pode aparecer em contextos que prejudiquem a imagem."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"VIEWABILITY: mede se o anúncio de fato ficou visível na tela. Um banner que aparece embaixo da página e ninguém vê conta como impressão — mas não deveria."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"IVT — Invalid Traffic: detecta e filtra bots. Impressões geradas por robôs são fraude."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"Analogia: o fiscal de qualidade do anúncio."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23:00 – 24:30 | DOUBLEVERIFY (DV)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"O DoubleVerify faz a mesma coisa que o IAS — com algumas diferenças importantes."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"BRAND SUITABILITY: não é só 'seguro / não seguro'. Permite categorias customizadas — por exemplo, uma marca pode bloquear conteúdo sobre saúde mental sem bloquear todo conteúdo sensível."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"BLOQUEIO EM TEMPO REAL: o IVT é bloqueado antes do anúncio ser exibido, não depois."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"ATTENTION METRICS: vai além da viewability — mede se o usuário de fato interagiu: hover, scroll, tempo de visualização."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"O DV é frequentemente preferido em operações globais pela granularidade do Brand Suitability."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⏱ 24:30 – 25:30 | MOAT (ORACLE ADVERTISING)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"O Moat foi pioneiro em mensuração de atenção — especialmente em vídeo — e durante muito tempo foi referência no mercado."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"Você ainda vai ver o nome Moat em relatórios históricos e em plataformas com o SDK deles instalado. Por isso é importante conhecer."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"MAS: a Oracle encerrou o Moat em 2023. Ele não aceita novos clientes. Se alguém pedir para ativar o Moat hoje — a resposta é que não é mais possível. Recomendação: migrar para IAS ou DoubleVerify."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 dirty="0">
                <a:latin typeface="Arial"/>
              </a:rPr>
              <a:t>→ Avance para Conclusão.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6914d2d1_0_148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a96914d2d1_0_148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a96914d2d1_0_14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8">
  <p:cSld name="TITLE_7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6914d2d1_0_189"/>
          <p:cNvSpPr txBox="1">
            <a:spLocks noGrp="1"/>
          </p:cNvSpPr>
          <p:nvPr>
            <p:ph type="title"/>
          </p:nvPr>
        </p:nvSpPr>
        <p:spPr>
          <a:xfrm>
            <a:off x="2286000" y="1683543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  <a:defRPr sz="9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g3a96914d2d1_0_189"/>
          <p:cNvSpPr txBox="1">
            <a:spLocks noGrp="1"/>
          </p:cNvSpPr>
          <p:nvPr>
            <p:ph type="body" idx="1"/>
          </p:nvPr>
        </p:nvSpPr>
        <p:spPr>
          <a:xfrm>
            <a:off x="2286000" y="5403055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marL="914400" lvl="1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2pPr>
            <a:lvl3pPr marL="1371600" lvl="2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3pPr>
            <a:lvl4pPr marL="1828800" lvl="3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4pPr>
            <a:lvl5pPr marL="2286000" lvl="4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5pPr>
            <a:lvl6pPr marL="2743200" lvl="5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6pPr>
            <a:lvl7pPr marL="3200400" lvl="6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  <a:defRPr sz="2800"/>
            </a:lvl7pPr>
            <a:lvl8pPr marL="3657600" lvl="7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○"/>
              <a:defRPr sz="2800"/>
            </a:lvl8pPr>
            <a:lvl9pPr marL="4114800" lvl="8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9pPr>
          </a:lstStyle>
          <a:p>
            <a:endParaRPr/>
          </a:p>
        </p:txBody>
      </p:sp>
      <p:sp>
        <p:nvSpPr>
          <p:cNvPr id="16" name="Google Shape;16;g3a96914d2d1_0_189"/>
          <p:cNvSpPr txBox="1">
            <a:spLocks noGrp="1"/>
          </p:cNvSpPr>
          <p:nvPr>
            <p:ph type="sldNum" idx="12"/>
          </p:nvPr>
        </p:nvSpPr>
        <p:spPr>
          <a:xfrm>
            <a:off x="16620276" y="9610208"/>
            <a:ext cx="41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ccfc1d022_0_209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96914d2d1_0_15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a96914d2d1_0_1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96914d2d1_0_15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4" name="Google Shape;24;g3a96914d2d1_0_15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5" name="Google Shape;25;g3a96914d2d1_0_15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a96914d2d1_0_15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8" name="Google Shape;28;g3a96914d2d1_0_15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a96914d2d1_0_159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a96914d2d1_0_15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96914d2d1_0_16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" name="Google Shape;33;g3a96914d2d1_0_16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96914d2d1_0_16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a96914d2d1_0_16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a96914d2d1_0_1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96914d2d1_0_171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a96914d2d1_0_17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96914d2d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a96914d2d1_0_17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a96914d2d1_0_17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a96914d2d1_0_17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g3a96914d2d1_0_17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6914d2d1_0_18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9" name="Google Shape;49;g3a96914d2d1_0_18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14d2d1_0_183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a96914d2d1_0_183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3" name="Google Shape;53;g3a96914d2d1_0_18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96914d2d1_0_18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fc1d022_0_398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96914d2d1_0_14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a96914d2d1_0_14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a96914d2d1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4.jpg"/><Relationship Id="rId7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11" Type="http://schemas.openxmlformats.org/officeDocument/2006/relationships/image" Target="../media/image5.png"/><Relationship Id="rId5" Type="http://schemas.openxmlformats.org/officeDocument/2006/relationships/slide" Target="slide6.xml"/><Relationship Id="rId10" Type="http://schemas.openxmlformats.org/officeDocument/2006/relationships/slide" Target="slide12.xml"/><Relationship Id="rId4" Type="http://schemas.openxmlformats.org/officeDocument/2006/relationships/slide" Target="slide4.xml"/><Relationship Id="rId9" Type="http://schemas.openxmlformats.org/officeDocument/2006/relationships/slide" Target="slide1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96914d2d1_0_10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150" y="4260025"/>
            <a:ext cx="6973700" cy="1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3ae24b5c77d_0_312"/>
          <p:cNvGrpSpPr/>
          <p:nvPr/>
        </p:nvGrpSpPr>
        <p:grpSpPr>
          <a:xfrm>
            <a:off x="1907347" y="319075"/>
            <a:ext cx="14473306" cy="9648850"/>
            <a:chOff x="1907347" y="319075"/>
            <a:chExt cx="14473306" cy="9648850"/>
          </a:xfrm>
        </p:grpSpPr>
        <p:pic>
          <p:nvPicPr>
            <p:cNvPr id="68" name="Google Shape;68;g3ae24b5c77d_0_3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7347" y="319075"/>
              <a:ext cx="14473306" cy="96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ae24b5c77d_0_312"/>
            <p:cNvSpPr txBox="1"/>
            <p:nvPr/>
          </p:nvSpPr>
          <p:spPr>
            <a:xfrm>
              <a:off x="5997590" y="7945252"/>
              <a:ext cx="62928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00" tIns="137100" rIns="137100" bIns="1371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pt-BR" sz="6800">
                  <a:solidFill>
                    <a:srgbClr val="15E6FC"/>
                  </a:solidFill>
                  <a:latin typeface="DM Sans"/>
                  <a:ea typeface="DM Sans"/>
                  <a:cs typeface="DM Sans"/>
                  <a:sym typeface="DM Sans"/>
                </a:rPr>
                <a:t>AdServer</a:t>
              </a:r>
              <a:endParaRPr sz="68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0" name="Google Shape;70;g3ae24b5c77d_0_312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</a:t>
            </a:r>
            <a:r>
              <a:rPr lang="pt-BR" sz="1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6914d2d1_0_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EQUIPE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01  Organograma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02  O que é um 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03  Principais Processos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04  Diferença entre Tag e Contador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05  Ad Servers mais conhecidos do mercado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06  CM360 x Flashtalking — Igualdades e Diferenças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MENSURAÇÃO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07  Pixel da Kantar — O que é?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08  Brand Lift — A campanha funcionou?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VERIFICATION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09  IAS — Integral Ad Science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10  DoubleVerify (DV)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11  Moat — Oracle Advertising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dirty="0">
                <a:solidFill>
                  <a:srgbClr val="14E6FC"/>
                </a:solidFill>
                <a:latin typeface="Arial"/>
              </a:rPr>
              <a:t>12  Conclusão</a:t>
            </a:r>
          </a:p>
        </p:txBody>
      </p:sp>
      <p:sp>
        <p:nvSpPr>
          <p:cNvPr id="77" name="Google Shape;77;g3a96914d2d1_0_491"/>
          <p:cNvSpPr txBox="1"/>
          <p:nvPr/>
        </p:nvSpPr>
        <p:spPr>
          <a:xfrm>
            <a:off x="1071005" y="922875"/>
            <a:ext cx="53034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a96914d2d1_0_491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9" name="Google Shape;79;g3a96914d2d1_0_491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a96914d2d1_0_491" descr="Tornado Whit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96914d2d1_0_49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a96914d2d1_0_491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ccfc1d022_0_10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ccfc1d022_0_10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142" b="0" i="0" u="none" strike="noStrike" cap="none" dirty="0">
              <a:solidFill>
                <a:srgbClr val="F2F2F2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90" name="Google Shape;90;g3accfc1d022_0_10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ccfc1d022_0_10"/>
          <p:cNvSpPr txBox="1"/>
          <p:nvPr/>
        </p:nvSpPr>
        <p:spPr>
          <a:xfrm>
            <a:off x="1071000" y="922875"/>
            <a:ext cx="7102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>
                <a:solidFill>
                  <a:srgbClr val="14DC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Organograma</a:t>
            </a:r>
            <a:endParaRPr sz="4800" b="1" i="0" u="none" strike="noStrike" cap="none">
              <a:solidFill>
                <a:srgbClr val="14DC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ccfc1d022_0_10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ccfc1d022_0_10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9E9A097-3357-8FF8-7B32-D4948EDC9F30}"/>
              </a:ext>
            </a:extLst>
          </p:cNvPr>
          <p:cNvGrpSpPr/>
          <p:nvPr/>
        </p:nvGrpSpPr>
        <p:grpSpPr>
          <a:xfrm>
            <a:off x="304800" y="2839263"/>
            <a:ext cx="4258500" cy="5273700"/>
            <a:chOff x="304800" y="2839263"/>
            <a:chExt cx="4258500" cy="5273700"/>
          </a:xfrm>
        </p:grpSpPr>
        <p:sp>
          <p:nvSpPr>
            <p:cNvPr id="87" name="Google Shape;87;g3accfc1d022_0_10"/>
            <p:cNvSpPr/>
            <p:nvPr/>
          </p:nvSpPr>
          <p:spPr>
            <a:xfrm>
              <a:off x="3048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accfc1d022_0_10"/>
            <p:cNvSpPr txBox="1"/>
            <p:nvPr/>
          </p:nvSpPr>
          <p:spPr>
            <a:xfrm>
              <a:off x="6281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Diretor</a:t>
              </a: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 xml:space="preserve">de </a:t>
              </a:r>
              <a:r>
                <a:rPr lang="pt-BR" sz="3713" b="1" i="0" u="none" strike="noStrike" cap="none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e Projetos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ccfc1d022_0_10"/>
            <p:cNvSpPr/>
            <p:nvPr/>
          </p:nvSpPr>
          <p:spPr>
            <a:xfrm>
              <a:off x="5333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ccfc1d022_0_10"/>
            <p:cNvSpPr/>
            <p:nvPr/>
          </p:nvSpPr>
          <p:spPr>
            <a:xfrm>
              <a:off x="14293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ccfc1d022_0_10"/>
            <p:cNvSpPr txBox="1"/>
            <p:nvPr/>
          </p:nvSpPr>
          <p:spPr>
            <a:xfrm>
              <a:off x="627966" y="5863547"/>
              <a:ext cx="36120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Tiago Domingos</a:t>
              </a:r>
              <a:endParaRPr sz="20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637" b="0" i="0" u="none" strike="noStrike" cap="none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tiago.santos@stormx.com.br</a:t>
              </a:r>
              <a:endParaRPr sz="2121" b="0" i="0" u="none" strike="noStrike" cap="none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55724AB-BD5B-5CA1-CB6D-30E254D9A64B}"/>
              </a:ext>
            </a:extLst>
          </p:cNvPr>
          <p:cNvGrpSpPr/>
          <p:nvPr/>
        </p:nvGrpSpPr>
        <p:grpSpPr>
          <a:xfrm>
            <a:off x="4791900" y="2839263"/>
            <a:ext cx="4258500" cy="5273700"/>
            <a:chOff x="4791900" y="2839263"/>
            <a:chExt cx="4258500" cy="5273700"/>
          </a:xfrm>
        </p:grpSpPr>
        <p:sp>
          <p:nvSpPr>
            <p:cNvPr id="98" name="Google Shape;98;g3accfc1d022_0_10"/>
            <p:cNvSpPr/>
            <p:nvPr/>
          </p:nvSpPr>
          <p:spPr>
            <a:xfrm>
              <a:off x="47919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ccfc1d022_0_10"/>
            <p:cNvSpPr txBox="1"/>
            <p:nvPr/>
          </p:nvSpPr>
          <p:spPr>
            <a:xfrm>
              <a:off x="51152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Diretora de Atendimento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ccfc1d022_0_10"/>
            <p:cNvSpPr/>
            <p:nvPr/>
          </p:nvSpPr>
          <p:spPr>
            <a:xfrm>
              <a:off x="50204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accfc1d022_0_10"/>
            <p:cNvSpPr/>
            <p:nvPr/>
          </p:nvSpPr>
          <p:spPr>
            <a:xfrm>
              <a:off x="59164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accfc1d022_0_10"/>
            <p:cNvSpPr txBox="1"/>
            <p:nvPr/>
          </p:nvSpPr>
          <p:spPr>
            <a:xfrm>
              <a:off x="5115066" y="5863547"/>
              <a:ext cx="36120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 xml:space="preserve">Livia </a:t>
              </a:r>
              <a:r>
                <a:rPr lang="pt-BR" sz="2037" b="1" i="0" u="none" strike="noStrike" cap="none" dirty="0" err="1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Bousquet</a:t>
              </a:r>
              <a:endParaRPr sz="2037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637" dirty="0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livia.bousquet</a:t>
              </a:r>
              <a:r>
                <a:rPr lang="pt-BR" sz="1637" b="0" i="0" u="none" strike="noStrike" cap="none" dirty="0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@stormx.com.br</a:t>
              </a:r>
              <a:endParaRPr sz="2121" b="0" i="0" u="none" strike="noStrike" cap="none" dirty="0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00B052D4-0C49-8D7F-2EB8-BA54E893C627}"/>
              </a:ext>
            </a:extLst>
          </p:cNvPr>
          <p:cNvGrpSpPr/>
          <p:nvPr/>
        </p:nvGrpSpPr>
        <p:grpSpPr>
          <a:xfrm>
            <a:off x="9279000" y="2839263"/>
            <a:ext cx="4258500" cy="5273700"/>
            <a:chOff x="9279000" y="2839263"/>
            <a:chExt cx="4258500" cy="5273700"/>
          </a:xfrm>
        </p:grpSpPr>
        <p:sp>
          <p:nvSpPr>
            <p:cNvPr id="103" name="Google Shape;103;g3accfc1d022_0_10"/>
            <p:cNvSpPr/>
            <p:nvPr/>
          </p:nvSpPr>
          <p:spPr>
            <a:xfrm>
              <a:off x="92790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ccfc1d022_0_10"/>
            <p:cNvSpPr txBox="1"/>
            <p:nvPr/>
          </p:nvSpPr>
          <p:spPr>
            <a:xfrm>
              <a:off x="96023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Líder de Projetos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ccfc1d022_0_10"/>
            <p:cNvSpPr/>
            <p:nvPr/>
          </p:nvSpPr>
          <p:spPr>
            <a:xfrm>
              <a:off x="95075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ccfc1d022_0_10"/>
            <p:cNvSpPr/>
            <p:nvPr/>
          </p:nvSpPr>
          <p:spPr>
            <a:xfrm>
              <a:off x="104035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ccfc1d022_0_10"/>
            <p:cNvSpPr txBox="1"/>
            <p:nvPr/>
          </p:nvSpPr>
          <p:spPr>
            <a:xfrm>
              <a:off x="9602166" y="5863547"/>
              <a:ext cx="36120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Aline Calderan</a:t>
              </a:r>
              <a:endParaRPr sz="19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aline.calderan@stormx.com.br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9CCA089-2280-B9A6-46D8-17EB2F0769A0}"/>
              </a:ext>
            </a:extLst>
          </p:cNvPr>
          <p:cNvGrpSpPr/>
          <p:nvPr/>
        </p:nvGrpSpPr>
        <p:grpSpPr>
          <a:xfrm>
            <a:off x="13766100" y="2839263"/>
            <a:ext cx="4258500" cy="5273700"/>
            <a:chOff x="13766100" y="2839263"/>
            <a:chExt cx="4258500" cy="5273700"/>
          </a:xfrm>
        </p:grpSpPr>
        <p:sp>
          <p:nvSpPr>
            <p:cNvPr id="108" name="Google Shape;108;g3accfc1d022_0_10"/>
            <p:cNvSpPr/>
            <p:nvPr/>
          </p:nvSpPr>
          <p:spPr>
            <a:xfrm>
              <a:off x="137661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accfc1d022_0_10"/>
            <p:cNvSpPr txBox="1"/>
            <p:nvPr/>
          </p:nvSpPr>
          <p:spPr>
            <a:xfrm>
              <a:off x="13927816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Gerente</a:t>
              </a: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de Projetos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accfc1d022_0_10"/>
            <p:cNvSpPr/>
            <p:nvPr/>
          </p:nvSpPr>
          <p:spPr>
            <a:xfrm>
              <a:off x="139946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accfc1d022_0_10"/>
            <p:cNvSpPr/>
            <p:nvPr/>
          </p:nvSpPr>
          <p:spPr>
            <a:xfrm>
              <a:off x="148906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accfc1d022_0_10"/>
            <p:cNvSpPr txBox="1"/>
            <p:nvPr/>
          </p:nvSpPr>
          <p:spPr>
            <a:xfrm>
              <a:off x="13927650" y="5863550"/>
              <a:ext cx="39354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Carolina Dobner</a:t>
              </a:r>
              <a:endParaRPr sz="19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carolina.dobner@stormx.com.br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>
          <a:extLst>
            <a:ext uri="{FF2B5EF4-FFF2-40B4-BE49-F238E27FC236}">
              <a16:creationId xmlns:a16="http://schemas.microsoft.com/office/drawing/2014/main" id="{CCB57463-9309-DB10-394B-0964A970F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ccfc1d022_0_10" descr="Tornado White.png">
            <a:extLst>
              <a:ext uri="{FF2B5EF4-FFF2-40B4-BE49-F238E27FC236}">
                <a16:creationId xmlns:a16="http://schemas.microsoft.com/office/drawing/2014/main" id="{58D9E240-4B76-B658-D95C-01ABB50227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ccfc1d022_0_10">
            <a:extLst>
              <a:ext uri="{FF2B5EF4-FFF2-40B4-BE49-F238E27FC236}">
                <a16:creationId xmlns:a16="http://schemas.microsoft.com/office/drawing/2014/main" id="{AFA40689-7145-E33E-49D6-20BA766B4180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142" b="0" i="0" u="none" strike="noStrike" cap="none" dirty="0">
              <a:solidFill>
                <a:srgbClr val="F2F2F2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90" name="Google Shape;90;g3accfc1d022_0_10">
            <a:extLst>
              <a:ext uri="{FF2B5EF4-FFF2-40B4-BE49-F238E27FC236}">
                <a16:creationId xmlns:a16="http://schemas.microsoft.com/office/drawing/2014/main" id="{E8562FD1-DE5E-3A76-B48D-7D6CD57BA1EE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ccfc1d022_0_10">
            <a:extLst>
              <a:ext uri="{FF2B5EF4-FFF2-40B4-BE49-F238E27FC236}">
                <a16:creationId xmlns:a16="http://schemas.microsoft.com/office/drawing/2014/main" id="{14D1C67F-AE43-2D7A-027A-6D184F7E2A5A}"/>
              </a:ext>
            </a:extLst>
          </p:cNvPr>
          <p:cNvSpPr txBox="1"/>
          <p:nvPr/>
        </p:nvSpPr>
        <p:spPr>
          <a:xfrm>
            <a:off x="1071000" y="922875"/>
            <a:ext cx="7102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>
                <a:solidFill>
                  <a:srgbClr val="14DC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Organograma</a:t>
            </a:r>
            <a:endParaRPr sz="4800" b="1" i="0" u="none" strike="noStrike" cap="none">
              <a:solidFill>
                <a:srgbClr val="14DC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ccfc1d022_0_10">
            <a:extLst>
              <a:ext uri="{FF2B5EF4-FFF2-40B4-BE49-F238E27FC236}">
                <a16:creationId xmlns:a16="http://schemas.microsoft.com/office/drawing/2014/main" id="{C1710F10-33B2-DB9F-08E2-0D9D99567CD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ccfc1d022_0_10">
            <a:extLst>
              <a:ext uri="{FF2B5EF4-FFF2-40B4-BE49-F238E27FC236}">
                <a16:creationId xmlns:a16="http://schemas.microsoft.com/office/drawing/2014/main" id="{6E15357A-2A0C-C996-734F-4C11497EAE57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A5FA2AA-98FD-6EE1-46BE-5316FF497596}"/>
              </a:ext>
            </a:extLst>
          </p:cNvPr>
          <p:cNvGrpSpPr/>
          <p:nvPr/>
        </p:nvGrpSpPr>
        <p:grpSpPr>
          <a:xfrm>
            <a:off x="304800" y="2839263"/>
            <a:ext cx="4258500" cy="5273700"/>
            <a:chOff x="304800" y="2839263"/>
            <a:chExt cx="4258500" cy="5273700"/>
          </a:xfrm>
        </p:grpSpPr>
        <p:sp>
          <p:nvSpPr>
            <p:cNvPr id="87" name="Google Shape;87;g3accfc1d022_0_10">
              <a:extLst>
                <a:ext uri="{FF2B5EF4-FFF2-40B4-BE49-F238E27FC236}">
                  <a16:creationId xmlns:a16="http://schemas.microsoft.com/office/drawing/2014/main" id="{F1724877-E2D2-79BF-E274-650B4B38EDB2}"/>
                </a:ext>
              </a:extLst>
            </p:cNvPr>
            <p:cNvSpPr/>
            <p:nvPr/>
          </p:nvSpPr>
          <p:spPr>
            <a:xfrm>
              <a:off x="3048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accfc1d022_0_10">
              <a:extLst>
                <a:ext uri="{FF2B5EF4-FFF2-40B4-BE49-F238E27FC236}">
                  <a16:creationId xmlns:a16="http://schemas.microsoft.com/office/drawing/2014/main" id="{D73A134A-E33B-F29B-AE5D-278F49F79D41}"/>
                </a:ext>
              </a:extLst>
            </p:cNvPr>
            <p:cNvSpPr txBox="1"/>
            <p:nvPr/>
          </p:nvSpPr>
          <p:spPr>
            <a:xfrm>
              <a:off x="6281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ccfc1d022_0_10">
              <a:extLst>
                <a:ext uri="{FF2B5EF4-FFF2-40B4-BE49-F238E27FC236}">
                  <a16:creationId xmlns:a16="http://schemas.microsoft.com/office/drawing/2014/main" id="{7CF8FD49-6ECE-5563-E7B3-E654A0CF23CE}"/>
                </a:ext>
              </a:extLst>
            </p:cNvPr>
            <p:cNvSpPr/>
            <p:nvPr/>
          </p:nvSpPr>
          <p:spPr>
            <a:xfrm>
              <a:off x="5333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ccfc1d022_0_10">
              <a:extLst>
                <a:ext uri="{FF2B5EF4-FFF2-40B4-BE49-F238E27FC236}">
                  <a16:creationId xmlns:a16="http://schemas.microsoft.com/office/drawing/2014/main" id="{D8E7694D-801A-716B-F852-C6CD32C3E70C}"/>
                </a:ext>
              </a:extLst>
            </p:cNvPr>
            <p:cNvSpPr/>
            <p:nvPr/>
          </p:nvSpPr>
          <p:spPr>
            <a:xfrm>
              <a:off x="14293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ccfc1d022_0_10">
              <a:extLst>
                <a:ext uri="{FF2B5EF4-FFF2-40B4-BE49-F238E27FC236}">
                  <a16:creationId xmlns:a16="http://schemas.microsoft.com/office/drawing/2014/main" id="{FF3C4A67-3D19-0394-FC22-51913801644B}"/>
                </a:ext>
              </a:extLst>
            </p:cNvPr>
            <p:cNvSpPr txBox="1"/>
            <p:nvPr/>
          </p:nvSpPr>
          <p:spPr>
            <a:xfrm>
              <a:off x="627966" y="5863547"/>
              <a:ext cx="3840600" cy="909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Marcos Santos</a:t>
              </a:r>
            </a:p>
            <a:p>
              <a:pPr marL="0" lvl="0" indent="0"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dirty="0">
                  <a:solidFill>
                    <a:srgbClr val="211A19"/>
                  </a:solidFill>
                  <a:latin typeface="DM Sans ExtraLight"/>
                  <a:sym typeface="DM Sans Light"/>
                </a:rPr>
                <a:t>marcos.santos@stormx.com.br</a:t>
              </a:r>
              <a:endParaRPr sz="1937" dirty="0">
                <a:solidFill>
                  <a:srgbClr val="211A19"/>
                </a:solidFill>
                <a:latin typeface="DM Sans ExtraLight"/>
                <a:sym typeface="DM Sans Light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AFEBC3E-5913-704E-D8FF-A388CB6891F0}"/>
              </a:ext>
            </a:extLst>
          </p:cNvPr>
          <p:cNvGrpSpPr/>
          <p:nvPr/>
        </p:nvGrpSpPr>
        <p:grpSpPr>
          <a:xfrm>
            <a:off x="4791900" y="2839263"/>
            <a:ext cx="4258500" cy="5273700"/>
            <a:chOff x="4791900" y="2839263"/>
            <a:chExt cx="4258500" cy="5273700"/>
          </a:xfrm>
        </p:grpSpPr>
        <p:sp>
          <p:nvSpPr>
            <p:cNvPr id="98" name="Google Shape;98;g3accfc1d022_0_10">
              <a:extLst>
                <a:ext uri="{FF2B5EF4-FFF2-40B4-BE49-F238E27FC236}">
                  <a16:creationId xmlns:a16="http://schemas.microsoft.com/office/drawing/2014/main" id="{89C8A7A2-17BB-032A-2C79-9AF72004EFA0}"/>
                </a:ext>
              </a:extLst>
            </p:cNvPr>
            <p:cNvSpPr/>
            <p:nvPr/>
          </p:nvSpPr>
          <p:spPr>
            <a:xfrm>
              <a:off x="47919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ccfc1d022_0_10">
              <a:extLst>
                <a:ext uri="{FF2B5EF4-FFF2-40B4-BE49-F238E27FC236}">
                  <a16:creationId xmlns:a16="http://schemas.microsoft.com/office/drawing/2014/main" id="{50261F97-945E-3503-C167-92EB1CB0BD1F}"/>
                </a:ext>
              </a:extLst>
            </p:cNvPr>
            <p:cNvSpPr txBox="1"/>
            <p:nvPr/>
          </p:nvSpPr>
          <p:spPr>
            <a:xfrm>
              <a:off x="51152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lvl="0">
                <a:lnSpc>
                  <a:spcPct val="80000"/>
                </a:lnSpc>
                <a:buClr>
                  <a:srgbClr val="211A19"/>
                </a:buClr>
                <a:buSzPts val="3713"/>
              </a:pPr>
              <a:r>
                <a:rPr lang="pt-BR" sz="3713" b="1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ccfc1d022_0_10">
              <a:extLst>
                <a:ext uri="{FF2B5EF4-FFF2-40B4-BE49-F238E27FC236}">
                  <a16:creationId xmlns:a16="http://schemas.microsoft.com/office/drawing/2014/main" id="{DD4599B9-5ED8-2BAA-CBA1-23CD6116B50B}"/>
                </a:ext>
              </a:extLst>
            </p:cNvPr>
            <p:cNvSpPr/>
            <p:nvPr/>
          </p:nvSpPr>
          <p:spPr>
            <a:xfrm>
              <a:off x="50204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accfc1d022_0_10">
              <a:extLst>
                <a:ext uri="{FF2B5EF4-FFF2-40B4-BE49-F238E27FC236}">
                  <a16:creationId xmlns:a16="http://schemas.microsoft.com/office/drawing/2014/main" id="{17A25B30-F8A2-22DA-4302-519930E2DB1D}"/>
                </a:ext>
              </a:extLst>
            </p:cNvPr>
            <p:cNvSpPr/>
            <p:nvPr/>
          </p:nvSpPr>
          <p:spPr>
            <a:xfrm>
              <a:off x="59164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accfc1d022_0_10">
              <a:extLst>
                <a:ext uri="{FF2B5EF4-FFF2-40B4-BE49-F238E27FC236}">
                  <a16:creationId xmlns:a16="http://schemas.microsoft.com/office/drawing/2014/main" id="{C151D196-7CE7-D48C-83E1-10A391454E65}"/>
                </a:ext>
              </a:extLst>
            </p:cNvPr>
            <p:cNvSpPr txBox="1"/>
            <p:nvPr/>
          </p:nvSpPr>
          <p:spPr>
            <a:xfrm>
              <a:off x="5115066" y="5863547"/>
              <a:ext cx="3612000" cy="909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João Braga</a:t>
              </a:r>
            </a:p>
            <a:p>
              <a:pPr>
                <a:buClr>
                  <a:srgbClr val="211A19"/>
                </a:buClr>
                <a:buSzPts val="1937"/>
              </a:pPr>
              <a:r>
                <a:rPr lang="pt-BR" sz="1937" dirty="0">
                  <a:solidFill>
                    <a:srgbClr val="211A19"/>
                  </a:solidFill>
                  <a:latin typeface="DM Sans ExtraLight"/>
                  <a:sym typeface="DM Sans Light"/>
                </a:rPr>
                <a:t>joao.braga@stormx.com.br</a:t>
              </a:r>
              <a:endParaRPr sz="1937" dirty="0">
                <a:solidFill>
                  <a:srgbClr val="211A19"/>
                </a:solidFill>
                <a:latin typeface="DM Sans ExtraLight"/>
                <a:sym typeface="DM Sans Light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4E33647-20E3-2D45-EEAC-7FCFB3E6EA7C}"/>
              </a:ext>
            </a:extLst>
          </p:cNvPr>
          <p:cNvGrpSpPr/>
          <p:nvPr/>
        </p:nvGrpSpPr>
        <p:grpSpPr>
          <a:xfrm>
            <a:off x="9279000" y="2839263"/>
            <a:ext cx="4258500" cy="5273700"/>
            <a:chOff x="9279000" y="2839263"/>
            <a:chExt cx="4258500" cy="5273700"/>
          </a:xfrm>
        </p:grpSpPr>
        <p:sp>
          <p:nvSpPr>
            <p:cNvPr id="103" name="Google Shape;103;g3accfc1d022_0_10">
              <a:extLst>
                <a:ext uri="{FF2B5EF4-FFF2-40B4-BE49-F238E27FC236}">
                  <a16:creationId xmlns:a16="http://schemas.microsoft.com/office/drawing/2014/main" id="{8DEFD449-4DFD-E00D-3D33-75EAF4DB536D}"/>
                </a:ext>
              </a:extLst>
            </p:cNvPr>
            <p:cNvSpPr/>
            <p:nvPr/>
          </p:nvSpPr>
          <p:spPr>
            <a:xfrm>
              <a:off x="92790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ccfc1d022_0_10">
              <a:extLst>
                <a:ext uri="{FF2B5EF4-FFF2-40B4-BE49-F238E27FC236}">
                  <a16:creationId xmlns:a16="http://schemas.microsoft.com/office/drawing/2014/main" id="{136D8CC0-5A72-4BE5-42E3-109422003350}"/>
                </a:ext>
              </a:extLst>
            </p:cNvPr>
            <p:cNvSpPr txBox="1"/>
            <p:nvPr/>
          </p:nvSpPr>
          <p:spPr>
            <a:xfrm>
              <a:off x="96023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lvl="0">
                <a:lnSpc>
                  <a:spcPct val="80000"/>
                </a:lnSpc>
                <a:buClr>
                  <a:srgbClr val="211A19"/>
                </a:buClr>
                <a:buSzPts val="3713"/>
              </a:pPr>
              <a:r>
                <a:rPr lang="pt-BR" sz="3713" b="1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ccfc1d022_0_10">
              <a:extLst>
                <a:ext uri="{FF2B5EF4-FFF2-40B4-BE49-F238E27FC236}">
                  <a16:creationId xmlns:a16="http://schemas.microsoft.com/office/drawing/2014/main" id="{4EA6BE3E-14ED-574A-1DAF-B5030E9AEA81}"/>
                </a:ext>
              </a:extLst>
            </p:cNvPr>
            <p:cNvSpPr/>
            <p:nvPr/>
          </p:nvSpPr>
          <p:spPr>
            <a:xfrm>
              <a:off x="95075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ccfc1d022_0_10">
              <a:extLst>
                <a:ext uri="{FF2B5EF4-FFF2-40B4-BE49-F238E27FC236}">
                  <a16:creationId xmlns:a16="http://schemas.microsoft.com/office/drawing/2014/main" id="{3E85C8C3-86CD-1F6E-11B5-75FD17C93D35}"/>
                </a:ext>
              </a:extLst>
            </p:cNvPr>
            <p:cNvSpPr/>
            <p:nvPr/>
          </p:nvSpPr>
          <p:spPr>
            <a:xfrm>
              <a:off x="104035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ccfc1d022_0_10">
              <a:extLst>
                <a:ext uri="{FF2B5EF4-FFF2-40B4-BE49-F238E27FC236}">
                  <a16:creationId xmlns:a16="http://schemas.microsoft.com/office/drawing/2014/main" id="{E0C2392C-9A6F-FF00-CFD4-892290D53CE5}"/>
                </a:ext>
              </a:extLst>
            </p:cNvPr>
            <p:cNvSpPr txBox="1"/>
            <p:nvPr/>
          </p:nvSpPr>
          <p:spPr>
            <a:xfrm>
              <a:off x="9602166" y="5863547"/>
              <a:ext cx="36120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Felipe Lima</a:t>
              </a:r>
              <a:endParaRPr sz="1937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 dirty="0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felipe.lima@stormx.com.br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322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lang="pt-BR" sz="1000" b="1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BBB47E-EF85-03D6-6A88-7A7C621D9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Ad Server (Servidor de Anúncios) é uma plataforma responsável por armazenar, distribuir, rastrear e reportar anúncios digitais.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Ele é usado por: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Anunciantes → controlar campanhas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Agências → gerenciar veiculações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Veículos/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Publishers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 → exibir anúncios corretamente</a:t>
            </a:r>
          </a:p>
          <a:p>
            <a:pPr marL="0" indent="0">
              <a:lnSpc>
                <a:spcPct val="200000"/>
              </a:lnSpc>
              <a:buNone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Funções principais: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Armazenar criativos (banners, vídeos, 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rich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 media)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Distribuir anúncios conforme regras (segmentação, datas, frequência)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Medir resultados (impressões, cliques, conversões)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Unificar relatórios e controle de campanhas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0F1900D3-D336-0207-62B4-9E5D7F70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1BB89C-4618-5B3D-145B-20CD4B96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0" y="2281006"/>
            <a:ext cx="10479233" cy="6986155"/>
          </a:xfrm>
          <a:prstGeom prst="rect">
            <a:avLst/>
          </a:prstGeom>
        </p:spPr>
      </p:pic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F32503C6-210C-3485-CF09-8CFC78AC900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DE01C-12FF-2AF3-A2BA-0A8441B2892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F7E7BB4D-C7CE-21E5-8CED-8DE89F3C4293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Processos de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DC487A27-E104-3F09-632D-A2153BED8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812D317C-6557-8269-952B-507A1D3B658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AE40A3EA-5803-B729-5327-884B68AD63E5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EA9C0-BE44-A682-3B2B-6F93F44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Configuração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Inserção de criativos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Definição de datas, formatos e segmentações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Criação de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/contadores de veiculação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Agilidade 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indepência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na gestão das taxonomias</a:t>
            </a:r>
          </a:p>
          <a:p>
            <a:pPr marL="508000" lvl="1" indent="0">
              <a:buNone/>
            </a:pPr>
            <a:r>
              <a:rPr lang="pt-BR" sz="1600">
                <a:solidFill>
                  <a:srgbClr val="494C67"/>
                </a:solidFill>
                <a:latin typeface="DM Sans"/>
              </a:rPr>
              <a:t>Auditoria dos dados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Veiculação do anúncio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O site/app chama o ad server via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ad server decide qual anúncio exibir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criativo é carregado para o usuário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Mensuração e rastreamento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Contagem de: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Aplicação de regras como: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Frequency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capping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(regra que limita quantas vezes um mesmo usuário vê 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um anúncio dentro de um período de tempo.)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Rotação de criativos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Relatórios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Performance por campanha, criativo ou formato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Dados usados para otimização e faturamento</a:t>
            </a:r>
          </a:p>
        </p:txBody>
      </p:sp>
    </p:spTree>
    <p:extLst>
      <p:ext uri="{BB962C8B-B14F-4D97-AF65-F5344CB8AC3E}">
        <p14:creationId xmlns:p14="http://schemas.microsoft.com/office/powerpoint/2010/main" val="57883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D42E2B6D-0C7A-8533-A224-CE694468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AF95F7A-C374-BF16-71B7-8031811C6310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0D9CA0BB-F92E-83A4-0969-CF5E550CE0E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C9BF8D57-0554-0B1B-B3EC-E17432F4A9F7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e Contador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525263A0-15B1-4828-14F6-35208353AF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5BB8D52F-043E-1666-A8B4-6DE0B39871B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776262CB-75FE-8425-32E2-025F6D534F9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7769096-7C0B-24D1-699D-969827CEF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Tag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(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Tag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de Veiculação)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É o código que exibe o anúncio no site ou app.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Características: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Chama o ad server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Renderiza o criativo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Pode conter regras (tamanho, formato,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fallback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)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8C76B27-F6DA-64F9-5144-BBC59D62F4B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Contador (Tracking / Pixel)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É usado apenas para rastreamento, não exibe anúncios.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Características: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Mede eventos específicos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Normalmente invisível (pixel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1x1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Pode contar: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1501B3C-FF05-38A8-A156-81C388CE5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05" y="5276793"/>
            <a:ext cx="6678559" cy="415285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806D4B6-80D0-7503-E8BA-FBC56A649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76" y="6667383"/>
            <a:ext cx="7522820" cy="131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93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8D8A4D08-D522-0501-A97D-B298C789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A1648943-6BDD-85C1-C5E6-AA29BDCFC34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9EDFB061-D804-E5B8-2920-A50BA9E47D3C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16810287-C68C-7992-C100-EBDDC4F7525A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e Contador (Resumo)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C1D030CD-3A96-05C4-BEC1-22AA3A462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EDA002D7-F5BC-1AAB-F542-62F48A809714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557FF53D-A8AE-7A3A-95C5-CE39F9B453A0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2600252-0027-B51D-EDE8-027607AD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66444"/>
              </p:ext>
            </p:extLst>
          </p:nvPr>
        </p:nvGraphicFramePr>
        <p:xfrm>
          <a:off x="639232" y="2404764"/>
          <a:ext cx="17025366" cy="6732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122">
                  <a:extLst>
                    <a:ext uri="{9D8B030D-6E8A-4147-A177-3AD203B41FA5}">
                      <a16:colId xmlns:a16="http://schemas.microsoft.com/office/drawing/2014/main" val="3635018633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1825949284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2181487887"/>
                    </a:ext>
                  </a:extLst>
                </a:gridCol>
              </a:tblGrid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Item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Tag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Contador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70917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Exibe anúncio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81762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Mede eventos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52425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Código visual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41146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principal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Veiculação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Mensuração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5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58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1A11E28-6528-8101-DDAB-8249F01A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285ED2EC-7AA9-0D8D-3425-7BE8D0C08A1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DF10E87A-0403-091D-A759-39F5AC89BE9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4595C7D-ECDD-19B0-579A-24783E2BF139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 Servers mais conhecidos do mercado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8944434F-0A60-2EF5-FA9D-3F82D42528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246B57DC-B1D7-07A1-A7D7-65BCB0E17BD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6725EFDB-9EF8-90CB-FAE7-E7A7BC4CF02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6C09A9-4C9B-DEC9-E48F-248D366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Campaign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Manager 360 (CM360) - Google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no mercado brasileiro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integração com Google Ads e DV360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Padrão em grandes anunciantes e agências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-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Innovid</a:t>
            </a: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em criativos dinâmicos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para campanhas globais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Alta personalização e controle criativo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Outros exemplos: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Adform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Sizmek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(descontinuado, mas histórico)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Smart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AdServer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Xandr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75E46C-06FC-AF1C-2026-366CB906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40" y="1769119"/>
            <a:ext cx="10790960" cy="71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57B790AF-AEE4-532E-EDE2-F45ABAA1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0DE8D3F-3A8A-0CD8-9FD0-15A54362AA4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7A1A4-A096-6311-D397-AD7F2D323CCA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FFF6D16-D8C5-F2FF-D68F-298151F20465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CM360 x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Flashtalking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4800" b="1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Igualdades e Diferenças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04F06156-694A-C2B0-B011-741CB4ACE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3E9B50B-3712-A10C-35A1-D6E24918E16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C78BD0CC-44D0-13B3-257C-6C3D9D0F22B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35F072-C8BB-A96E-FDB3-AA99587D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Igualdades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Ambos: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São ad servers completos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Distribuem anúncios e medem performance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Geram relatórios detalhados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Suportam: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Display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Vídeo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Rich Media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Usam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e contadores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510ACD-2C3E-0F9E-A68B-FB8F18D2711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Diferenças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A22577D-6D9B-EF32-9B86-3CB16E8F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64628"/>
              </p:ext>
            </p:extLst>
          </p:nvPr>
        </p:nvGraphicFramePr>
        <p:xfrm>
          <a:off x="9664800" y="3165056"/>
          <a:ext cx="7999800" cy="3383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76582">
                  <a:extLst>
                    <a:ext uri="{9D8B030D-6E8A-4147-A177-3AD203B41FA5}">
                      <a16:colId xmlns:a16="http://schemas.microsoft.com/office/drawing/2014/main" val="1783663173"/>
                    </a:ext>
                  </a:extLst>
                </a:gridCol>
                <a:gridCol w="2556618">
                  <a:extLst>
                    <a:ext uri="{9D8B030D-6E8A-4147-A177-3AD203B41FA5}">
                      <a16:colId xmlns:a16="http://schemas.microsoft.com/office/drawing/2014/main" val="1202029886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17012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Aspecto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CM360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Flashtalking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6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Empresa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Google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Innovid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Integração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Forte com Google (DV360, Ads)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 xml:space="preserve">Independente / </a:t>
                      </a: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cross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-plataforma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67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Criativos dinâmicos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Básico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Muito avançado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8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Personalização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Média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Alta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6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Interface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</a:t>
                      </a:r>
                      <a:r>
                        <a:rPr lang="pt-BR" dirty="0"/>
                        <a:t xml:space="preserve"> 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simples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 técnica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comum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Mercado Brasil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Grandes operações globais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6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9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DCF14B9-5367-0939-52E5-A0347E44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C77E314E-C1E0-9185-B568-A9703CF6A75F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5EC7797-4F87-960B-AD01-E82E75AA5AC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5F16D416-8B48-43B5-DF99-A2302698688C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BFD02462-6852-FD85-B5A8-601080DB5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2460289-7695-8852-97EB-01BBFBD2A10C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42D682A5-E261-75E4-4989-F1A2B882BA3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2EC03-5CC9-7E11-A0E2-059BFF5F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O coração da campanha digital: armazena, distribui, mede e reporta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Tag exibe o anúncio — Contador/Pixel rastreia o evento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CM360 vs Flashtalking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Mesma função base — CM360: ecossistema Google / Flashtalking: criação dinâmica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Mensuração (Kantar) + Ad Verification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Pixel + Brand Lift: saem de “quantas impressões” para “a marca cresceu?”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IAS e DoubleVerify garantem Brand Safety, Viewability e combate a fraudes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Moat: referência histórica em atenção e vídeo (encerrado em 2023)</a:t>
            </a:r>
          </a:p>
          <a:p>
            <a:pPr marL="0" indent="0">
              <a:lnSpc>
                <a:spcPct val="140000"/>
              </a:lnSpc>
              <a:spcBef>
                <a:spcPts val="300"/>
              </a:spcBef>
              <a:buNone/>
            </a:pPr>
            <a:r>
              <a:rPr lang="pt-BR" sz="1600" i="1" dirty="0">
                <a:solidFill>
                  <a:srgbClr val="484D67"/>
                </a:solidFill>
                <a:latin typeface="Arial"/>
              </a:rPr>
              <a:t>Conhecer cada ferramenta é saber onde o investimento em mídia vai — e se está chegando certo.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A06DA7-F591-FA97-E338-D35741D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004" y="1900985"/>
            <a:ext cx="10063596" cy="6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8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24b5c77d_0_33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g3ae24b5c77d_0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414" y="459110"/>
            <a:ext cx="14053171" cy="9368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ccfc1d022_0_27" descr="Umbrella Bubbles bw.m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ccfc1d022_0_27"/>
          <p:cNvSpPr txBox="1"/>
          <p:nvPr/>
        </p:nvSpPr>
        <p:spPr>
          <a:xfrm>
            <a:off x="793453" y="4417150"/>
            <a:ext cx="64779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ccfc1d022_0_27"/>
          <p:cNvSpPr txBox="1"/>
          <p:nvPr/>
        </p:nvSpPr>
        <p:spPr>
          <a:xfrm>
            <a:off x="793450" y="61459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ccfc1d022_0_27"/>
          <p:cNvSpPr txBox="1"/>
          <p:nvPr/>
        </p:nvSpPr>
        <p:spPr>
          <a:xfrm>
            <a:off x="793454" y="26740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ccfc1d022_0_27"/>
          <p:cNvSpPr txBox="1"/>
          <p:nvPr/>
        </p:nvSpPr>
        <p:spPr>
          <a:xfrm>
            <a:off x="4714530" y="7535675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800"/>
              <a:buFont typeface="Helvetica Neue"/>
              <a:buNone/>
            </a:pPr>
            <a:r>
              <a:rPr lang="pt-BR" sz="18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automate.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ccfc1d022_0_27" descr="Raio Light Beam.png"/>
          <p:cNvPicPr preferRelativeResize="0"/>
          <p:nvPr/>
        </p:nvPicPr>
        <p:blipFill rotWithShape="1">
          <a:blip r:embed="rId4">
            <a:alphaModFix/>
          </a:blip>
          <a:srcRect b="13366"/>
          <a:stretch/>
        </p:blipFill>
        <p:spPr>
          <a:xfrm>
            <a:off x="13285125" y="-1"/>
            <a:ext cx="3356399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ccfc1d022_0_27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2025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71" name="Google Shape;171;g3accfc1d022_0_27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EAFE2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accfc1d022_0_27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3accfc1d022_0_27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24b5c77d_0_301" descr="Umbrellas bw.m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e24b5c77d_0_30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3ae24b5c77d_0_301" title="_Logo_RGB_1 cop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5175" y="4554050"/>
            <a:ext cx="4637649" cy="1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Pixel da Kantar — O que é?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pt-BR" sz="2200" b="1" dirty="0">
                <a:solidFill>
                  <a:srgbClr val="484D67"/>
                </a:solidFill>
                <a:latin typeface="Arial"/>
              </a:rPr>
              <a:t>O que é o Pixel da Kantar?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É um código invisível inserido dentro de um anúncio ou página. Quando alguém vê aquele anúncio, o pixel “acorda” e registra a passagem daquele usuário.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Para que serve?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Registrar quem foi exposto ao anúncio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Cruzar com o painel Kantar: perfil de quem viu (idade, gênero, região)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Base para medir se a campanha funcionou de verdade</a:t>
            </a:r>
          </a:p>
        </p:txBody>
      </p:sp>
      <p:sp>
        <p:nvSpPr>
          <p:cNvPr id="6" name="analogy-box"/>
          <p:cNvSpPr txBox="1"/>
          <p:nvPr/>
        </p:nvSpPr>
        <p:spPr>
          <a:xfrm>
            <a:off x="8534400" y="1828800"/>
            <a:ext cx="7010400" cy="4800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A analogia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i="1" dirty="0">
                <a:solidFill>
                  <a:srgbClr val="484D67"/>
                </a:solidFill>
                <a:latin typeface="Arial"/>
              </a:rPr>
              <a:t>Imagina que você entra em uma loja física e o segurança discretamente anota no caderninho: “esse cara entrou às 14h, foi direto pra seção de tênis, ficou 5 minutos, e saiu sem comprar.”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84D67"/>
                </a:solidFill>
                <a:latin typeface="Arial"/>
              </a:rPr>
              <a:t>O pixel da Kantar faz exatamente isso — mas no mundo digital.</a:t>
            </a:r>
          </a:p>
        </p:txBody>
      </p:sp>
      <p:sp>
        <p:nvSpPr>
          <p:cNvPr id="7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9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Conclusão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7712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O coração da campanha digital: armazena, distribui, mede e reporta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Tag exibe o anúncio — Contador/Pixel rastreia o evento</a:t>
            </a:r>
          </a:p>
          <a:p>
            <a:pPr algn="l">
              <a:lnSpc>
                <a:spcPct val="130000"/>
              </a:lnSpc>
              <a:spcBef>
                <a:spcPts val="25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CM360 vs Flashtalking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Mesma função base — escolha depende da campanha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CM360: ecossistema Google, padrão no Brasil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Flashtalking: criativos dinâmicos e campanhas globais</a:t>
            </a:r>
          </a:p>
          <a:p>
            <a:pPr algn="l">
              <a:lnSpc>
                <a:spcPct val="130000"/>
              </a:lnSpc>
              <a:spcBef>
                <a:spcPts val="25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Mensuração — Kantar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Pixel registra quem viu o anúncio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Brand Lift mede lembrança, consideração e intenção de compra</a:t>
            </a:r>
          </a:p>
          <a:p>
            <a:pPr algn="l">
              <a:lnSpc>
                <a:spcPct val="130000"/>
              </a:lnSpc>
              <a:spcBef>
                <a:spcPts val="25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Verification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IAS e DoubleVerify: Brand Safety, Viewability e combate a fraudes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Moat: referência histórica em atenção e vídeo (encerrado em 2023)</a:t>
            </a:r>
          </a:p>
        </p:txBody>
      </p:sp>
      <p:sp>
        <p:nvSpPr>
          <p:cNvPr id="6" name="right-box"/>
          <p:cNvSpPr txBox="1"/>
          <p:nvPr/>
        </p:nvSpPr>
        <p:spPr>
          <a:xfrm>
            <a:off x="8534400" y="1828800"/>
            <a:ext cx="7010400" cy="7771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342900" tIns="342900" rIns="342900" bIns="342900" anchor="ctr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pt-BR" sz="2600" b="1" dirty="0">
                <a:solidFill>
                  <a:srgbClr val="14E6FC"/>
                </a:solidFill>
                <a:latin typeface="Arial"/>
              </a:rPr>
              <a:t>Na prática: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40000"/>
              </a:lnSpc>
              <a:buNone/>
            </a:pPr>
            <a:r>
              <a:rPr lang="pt-BR" sz="1900" i="1" dirty="0">
                <a:solidFill>
                  <a:srgbClr val="FFFFFF"/>
                </a:solidFill>
                <a:latin typeface="Arial"/>
              </a:rPr>
              <a:t>Conhecer cada ferramenta é saber onde o investimento em mídia vai — e se está chegando certo.</a:t>
            </a:r>
          </a:p>
        </p:txBody>
      </p:sp>
      <p:sp>
        <p:nvSpPr>
          <p:cNvPr id="7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IAS (Integral Ad Science)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que monitora a qualidade e segurança do ambiente onde o anúncio é exibido.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Safety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Garante que o anuncio nao apareca ao lado de conteudo improprio: fake news, violencia ou conteudo adulto.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anuncio realmente ficou visivel na tela do usuario pelo tempo minimo exigido.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Invalid Traffic (IVT)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Detecta e filtra cliques e impressoes fraudulentos gerados por bots — protegendo o investimento da marca.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Analogia: o fiscal de qualidade do anuncio — verifica se foi exibido no lugar certo, do jeito certo, para uma pessoa real.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DoubleVerify (DV)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Concorrente direto do IAS, com foco em verificacao independente e granular da midia digital.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Suitability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Controle mais granular sobre o contexto: nao e so 'seguro/nao seguro', mas categorias customizadas por marca.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Fraud e IVT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Bloqueia trafego invalido em tempo real, antes mesmo do anuncio ser exibido.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Metrics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Metrica mais nova: vai alem da viewability e mede se o usuario realmente prestou atencao ao anuncio.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Diferencial vs IAS: o DV e frequentemente preferido em operacoes globais pela granularidade do Brand Suitability e pelas Attention Metrics.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Moat (Oracle Advertising)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pioneira em verificacao e mensuracao de atencao. Hoje parte da Oracle Advertising.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anuncio ficou visivel pelo tempo suficiente para ser considerado uma impressao valida.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Analytics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Pioneira em rastrear interacoes do usuario com o anuncio: hover, scroll, tempo na tela.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Video Measurement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Especialista em medir qualidade de video: quartis de visualizacao, conclusao e som ativo.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⚠ Status atual: a Oracle encerrou o produto Moat em 2023. Ainda aparece em relatorios historicos e plataformas com SDK legado — mas nao aceita novos clientes.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896</Words>
  <Application>Microsoft Office PowerPoint</Application>
  <PresentationFormat>Personalizar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Helvetica Neue</vt:lpstr>
      <vt:lpstr>DM Sans Light</vt:lpstr>
      <vt:lpstr>Play</vt:lpstr>
      <vt:lpstr>DM Sans ExtraLight</vt:lpstr>
      <vt:lpstr>DM Sans</vt:lpstr>
      <vt:lpstr>Arial</vt:lpstr>
      <vt:lpstr>DM Sans Black</vt:lpstr>
      <vt:lpstr>DM Sans SemiBold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Aline Stormx</cp:lastModifiedBy>
  <cp:revision>8</cp:revision>
  <dcterms:modified xsi:type="dcterms:W3CDTF">2026-02-19T18:56:51Z</dcterms:modified>
</cp:coreProperties>
</file>