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301" r:id="rId61"/>
    <p:sldId id="290" r:id="rId57"/>
    <p:sldId id="261" r:id="rId7"/>
    <p:sldId id="270" r:id="rId8"/>
    <p:sldId id="278" r:id="rId10"/>
    <p:sldId id="266" r:id="rId11"/>
    <p:sldId id="267" r:id="rId12"/>
    <p:sldId id="291" r:id="rId58"/>
    <p:sldId id="281" r:id="rId52"/>
    <p:sldId id="300" r:id="rId60"/>
    <p:sldId id="292" r:id="rId59"/>
    <p:sldId id="283" r:id="rId54"/>
    <p:sldId id="284" r:id="rId55"/>
    <p:sldId id="285" r:id="rId56"/>
    <p:sldId id="269" r:id="rId13"/>
    <p:sldId id="262" r:id="rId14"/>
    <p:sldId id="263" r:id="rId15"/>
    <p:sldId id="264" r:id="rId16"/>
  </p:sldIdLst>
  <p:sldSz cx="18288000" cy="10287000"/>
  <p:notesSz cx="6858000" cy="9144000"/>
  <p:embeddedFontLst>
    <p:embeddedFont>
      <p:font typeface="DM Sans" pitchFamily="2" charset="0"/>
      <p:regular r:id="rId18"/>
      <p:bold r:id="rId19"/>
      <p:italic r:id="rId20"/>
      <p:boldItalic r:id="rId21"/>
    </p:embeddedFont>
    <p:embeddedFont>
      <p:font typeface="DM Sans Black" panose="020B0604020202020204" charset="0"/>
      <p:bold r:id="rId22"/>
      <p:boldItalic r:id="rId23"/>
    </p:embeddedFont>
    <p:embeddedFont>
      <p:font typeface="DM Sans ExtraLight" panose="020B0604020202020204" charset="0"/>
      <p:regular r:id="rId24"/>
      <p:bold r:id="rId25"/>
      <p:italic r:id="rId26"/>
      <p:boldItalic r:id="rId27"/>
    </p:embeddedFont>
    <p:embeddedFont>
      <p:font typeface="DM Sans Light" panose="020B0604020202020204" charset="0"/>
      <p:regular r:id="rId28"/>
      <p:bold r:id="rId29"/>
      <p:italic r:id="rId30"/>
      <p:boldItalic r:id="rId31"/>
    </p:embeddedFont>
    <p:embeddedFont>
      <p:font typeface="DM Sans SemiBold" panose="020B0604020202020204" charset="0"/>
      <p:regular r:id="rId32"/>
      <p:bold r:id="rId33"/>
      <p:italic r:id="rId34"/>
      <p:boldItalic r:id="rId35"/>
    </p:embeddedFont>
    <p:embeddedFont>
      <p:font typeface="Helvetica Neue" panose="020B0604020202020204" charset="0"/>
      <p:regular r:id="rId36"/>
      <p:bold r:id="rId37"/>
      <p:italic r:id="rId38"/>
      <p:boldItalic r:id="rId39"/>
    </p:embeddedFont>
    <p:embeddedFont>
      <p:font typeface="Play" panose="020B0604020202020204" charset="0"/>
      <p:regular r:id="rId40"/>
      <p:bold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794">
          <p15:clr>
            <a:srgbClr val="747775"/>
          </p15:clr>
        </p15:guide>
        <p15:guide id="2" orient="horz" pos="1928">
          <p15:clr>
            <a:srgbClr val="747775"/>
          </p15:clr>
        </p15:guide>
        <p15:guide id="3" pos="10838">
          <p15:clr>
            <a:srgbClr val="747775"/>
          </p15:clr>
        </p15:guide>
        <p15:guide id="4" orient="horz" pos="2968">
          <p15:clr>
            <a:srgbClr val="747775"/>
          </p15:clr>
        </p15:guide>
        <p15:guide id="5" orient="horz" pos="6210">
          <p15:clr>
            <a:srgbClr val="747775"/>
          </p15:clr>
        </p15:guide>
        <p15:guide id="6" orient="horz" pos="560">
          <p15:clr>
            <a:srgbClr val="747775"/>
          </p15:clr>
        </p15:guide>
        <p15:guide id="7" orient="horz" pos="2302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5" roundtripDataSignature="AMtx7mgLfbwE6yWihDUx3ypxqGgwCPG6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B6338E-8287-413C-8668-10C85CD1D0B2}" v="4" dt="2026-01-29T14:05:34.3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B344D84-9AFB-497E-A393-DC336BA19D2E}" styleName="Estilo Médio 3 - Ênfas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Estilo com Tema 2 - Ênfase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pos="794"/>
        <p:guide orient="horz" pos="1928"/>
        <p:guide pos="10838"/>
        <p:guide orient="horz" pos="2968"/>
        <p:guide orient="horz" pos="6210"/>
        <p:guide orient="horz" pos="560"/>
        <p:guide orient="horz" pos="230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font" Target="fonts/font22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font" Target="fonts/font23.fntdata"/><Relationship Id="rId45" Type="http://customschemas.google.com/relationships/presentationmetadata" Target="metadata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Relationship Id="rId46" Type="http://schemas.openxmlformats.org/officeDocument/2006/relationships/presProps" Target="presProps.xml"/><Relationship Id="rId20" Type="http://schemas.openxmlformats.org/officeDocument/2006/relationships/font" Target="fonts/font3.fntdata"/><Relationship Id="rId41" Type="http://schemas.openxmlformats.org/officeDocument/2006/relationships/font" Target="fonts/font24.fntdata"/><Relationship Id="rId52" Type="http://schemas.openxmlformats.org/officeDocument/2006/relationships/slide" Target="slides/slide16.xml"/><Relationship Id="rId54" Type="http://schemas.openxmlformats.org/officeDocument/2006/relationships/slide" Target="slides/slide18.xml"/><Relationship Id="rId55" Type="http://schemas.openxmlformats.org/officeDocument/2006/relationships/slide" Target="slides/slide19.xml"/><Relationship Id="rId56" Type="http://schemas.openxmlformats.org/officeDocument/2006/relationships/slide" Target="slides/slide20.xml"/><Relationship Id="rId57" Type="http://schemas.openxmlformats.org/officeDocument/2006/relationships/slide" Target="slides/slide21.xml"/><Relationship Id="rId58" Type="http://schemas.openxmlformats.org/officeDocument/2006/relationships/slide" Target="slides/slide22.xml"/><Relationship Id="rId59" Type="http://schemas.openxmlformats.org/officeDocument/2006/relationships/slide" Target="slides/slide23.xml"/><Relationship Id="rId60" Type="http://schemas.openxmlformats.org/officeDocument/2006/relationships/slide" Target="slides/slide24.xml"/><Relationship Id="rId61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Lima" userId="c050a0a24b7bf936" providerId="LiveId" clId="{6372F581-0122-4FDE-A8B3-C5C4A6DCFBDE}"/>
    <pc:docChg chg="undo custSel modSld">
      <pc:chgData name="Felipe Lima" userId="c050a0a24b7bf936" providerId="LiveId" clId="{6372F581-0122-4FDE-A8B3-C5C4A6DCFBDE}" dt="2026-01-29T14:22:00.628" v="166" actId="6549"/>
      <pc:docMkLst>
        <pc:docMk/>
      </pc:docMkLst>
      <pc:sldChg chg="modSp mod">
        <pc:chgData name="Felipe Lima" userId="c050a0a24b7bf936" providerId="LiveId" clId="{6372F581-0122-4FDE-A8B3-C5C4A6DCFBDE}" dt="2026-01-29T14:21:16.173" v="158" actId="6549"/>
        <pc:sldMkLst>
          <pc:docMk/>
          <pc:sldMk cId="0" sldId="259"/>
        </pc:sldMkLst>
        <pc:spChg chg="mod">
          <ac:chgData name="Felipe Lima" userId="c050a0a24b7bf936" providerId="LiveId" clId="{6372F581-0122-4FDE-A8B3-C5C4A6DCFBDE}" dt="2026-01-29T14:21:16.173" v="158" actId="6549"/>
          <ac:spMkLst>
            <pc:docMk/>
            <pc:sldMk cId="0" sldId="259"/>
            <ac:spMk id="89" creationId="{00000000-0000-0000-0000-000000000000}"/>
          </ac:spMkLst>
        </pc:spChg>
      </pc:sldChg>
      <pc:sldChg chg="modSp mod">
        <pc:chgData name="Felipe Lima" userId="c050a0a24b7bf936" providerId="LiveId" clId="{6372F581-0122-4FDE-A8B3-C5C4A6DCFBDE}" dt="2026-01-29T14:21:31.600" v="160" actId="6549"/>
        <pc:sldMkLst>
          <pc:docMk/>
          <pc:sldMk cId="0" sldId="261"/>
        </pc:sldMkLst>
        <pc:spChg chg="mod">
          <ac:chgData name="Felipe Lima" userId="c050a0a24b7bf936" providerId="LiveId" clId="{6372F581-0122-4FDE-A8B3-C5C4A6DCFBDE}" dt="2026-01-28T18:14:41.864" v="46" actId="20577"/>
          <ac:spMkLst>
            <pc:docMk/>
            <pc:sldMk cId="0" sldId="261"/>
            <ac:spMk id="5" creationId="{0CBBB47E-EF85-03D6-6A88-7A7C621D977E}"/>
          </ac:spMkLst>
        </pc:spChg>
        <pc:spChg chg="mod">
          <ac:chgData name="Felipe Lima" userId="c050a0a24b7bf936" providerId="LiveId" clId="{6372F581-0122-4FDE-A8B3-C5C4A6DCFBDE}" dt="2026-01-29T14:21:31.600" v="160" actId="6549"/>
          <ac:spMkLst>
            <pc:docMk/>
            <pc:sldMk cId="0" sldId="261"/>
            <ac:spMk id="147" creationId="{00000000-0000-0000-0000-000000000000}"/>
          </ac:spMkLst>
        </pc:spChg>
      </pc:sldChg>
      <pc:sldChg chg="addSp delSp modSp mod">
        <pc:chgData name="Felipe Lima" userId="c050a0a24b7bf936" providerId="LiveId" clId="{6372F581-0122-4FDE-A8B3-C5C4A6DCFBDE}" dt="2026-01-29T14:21:50.460" v="164" actId="6549"/>
        <pc:sldMkLst>
          <pc:docMk/>
          <pc:sldMk cId="225290832" sldId="266"/>
        </pc:sldMkLst>
        <pc:spChg chg="mod">
          <ac:chgData name="Felipe Lima" userId="c050a0a24b7bf936" providerId="LiveId" clId="{6372F581-0122-4FDE-A8B3-C5C4A6DCFBDE}" dt="2026-01-29T14:21:50.460" v="164" actId="6549"/>
          <ac:spMkLst>
            <pc:docMk/>
            <pc:sldMk cId="225290832" sldId="266"/>
            <ac:spMk id="147" creationId="{285ED2EC-7AA9-0D8D-3425-7BE8D0C08A19}"/>
          </ac:spMkLst>
        </pc:spChg>
        <pc:picChg chg="add mod">
          <ac:chgData name="Felipe Lima" userId="c050a0a24b7bf936" providerId="LiveId" clId="{6372F581-0122-4FDE-A8B3-C5C4A6DCFBDE}" dt="2026-01-21T21:58:39.778" v="38" actId="1076"/>
          <ac:picMkLst>
            <pc:docMk/>
            <pc:sldMk cId="225290832" sldId="266"/>
            <ac:picMk id="8" creationId="{4975E46C-06FC-AF1C-2026-366CB906AC7A}"/>
          </ac:picMkLst>
        </pc:picChg>
      </pc:sldChg>
      <pc:sldChg chg="modSp mod">
        <pc:chgData name="Felipe Lima" userId="c050a0a24b7bf936" providerId="LiveId" clId="{6372F581-0122-4FDE-A8B3-C5C4A6DCFBDE}" dt="2026-01-29T14:21:54.915" v="165" actId="6549"/>
        <pc:sldMkLst>
          <pc:docMk/>
          <pc:sldMk cId="1391898486" sldId="267"/>
        </pc:sldMkLst>
        <pc:spChg chg="mod">
          <ac:chgData name="Felipe Lima" userId="c050a0a24b7bf936" providerId="LiveId" clId="{6372F581-0122-4FDE-A8B3-C5C4A6DCFBDE}" dt="2026-01-29T14:21:54.915" v="165" actId="6549"/>
          <ac:spMkLst>
            <pc:docMk/>
            <pc:sldMk cId="1391898486" sldId="267"/>
            <ac:spMk id="147" creationId="{30DE8D3F-3A8A-0CD8-9FD0-15A54362AA49}"/>
          </ac:spMkLst>
        </pc:spChg>
        <pc:graphicFrameChg chg="modGraphic">
          <ac:chgData name="Felipe Lima" userId="c050a0a24b7bf936" providerId="LiveId" clId="{6372F581-0122-4FDE-A8B3-C5C4A6DCFBDE}" dt="2026-01-29T14:08:20.061" v="157" actId="12385"/>
          <ac:graphicFrameMkLst>
            <pc:docMk/>
            <pc:sldMk cId="1391898486" sldId="267"/>
            <ac:graphicFrameMk id="8" creationId="{FA22577D-6D9B-EF32-9B86-3CB16E8F1C74}"/>
          </ac:graphicFrameMkLst>
        </pc:graphicFrameChg>
      </pc:sldChg>
      <pc:sldChg chg="addSp delSp modSp mod">
        <pc:chgData name="Felipe Lima" userId="c050a0a24b7bf936" providerId="LiveId" clId="{6372F581-0122-4FDE-A8B3-C5C4A6DCFBDE}" dt="2026-01-29T14:22:00.628" v="166" actId="6549"/>
        <pc:sldMkLst>
          <pc:docMk/>
          <pc:sldMk cId="3880482884" sldId="269"/>
        </pc:sldMkLst>
        <pc:spChg chg="mod">
          <ac:chgData name="Felipe Lima" userId="c050a0a24b7bf936" providerId="LiveId" clId="{6372F581-0122-4FDE-A8B3-C5C4A6DCFBDE}" dt="2026-01-29T14:22:00.628" v="166" actId="6549"/>
          <ac:spMkLst>
            <pc:docMk/>
            <pc:sldMk cId="3880482884" sldId="269"/>
            <ac:spMk id="147" creationId="{C77E314E-C1E0-9185-B568-A9703CF6A75F}"/>
          </ac:spMkLst>
        </pc:spChg>
        <pc:picChg chg="add mod">
          <ac:chgData name="Felipe Lima" userId="c050a0a24b7bf936" providerId="LiveId" clId="{6372F581-0122-4FDE-A8B3-C5C4A6DCFBDE}" dt="2026-01-21T21:52:22.294" v="15" actId="1076"/>
          <ac:picMkLst>
            <pc:docMk/>
            <pc:sldMk cId="3880482884" sldId="269"/>
            <ac:picMk id="9" creationId="{E2A06DA7-F591-FA97-E338-D35741D09A98}"/>
          </ac:picMkLst>
        </pc:picChg>
      </pc:sldChg>
      <pc:sldChg chg="modSp mod">
        <pc:chgData name="Felipe Lima" userId="c050a0a24b7bf936" providerId="LiveId" clId="{6372F581-0122-4FDE-A8B3-C5C4A6DCFBDE}" dt="2026-01-29T14:21:36.819" v="161" actId="6549"/>
        <pc:sldMkLst>
          <pc:docMk/>
          <pc:sldMk cId="578832553" sldId="270"/>
        </pc:sldMkLst>
        <pc:spChg chg="mod">
          <ac:chgData name="Felipe Lima" userId="c050a0a24b7bf936" providerId="LiveId" clId="{6372F581-0122-4FDE-A8B3-C5C4A6DCFBDE}" dt="2026-01-28T18:18:17.857" v="139" actId="20577"/>
          <ac:spMkLst>
            <pc:docMk/>
            <pc:sldMk cId="578832553" sldId="270"/>
            <ac:spMk id="4" creationId="{B25EA9C0-BE44-A682-3B2B-6F93F4445D9E}"/>
          </ac:spMkLst>
        </pc:spChg>
        <pc:spChg chg="mod">
          <ac:chgData name="Felipe Lima" userId="c050a0a24b7bf936" providerId="LiveId" clId="{6372F581-0122-4FDE-A8B3-C5C4A6DCFBDE}" dt="2026-01-29T14:21:36.819" v="161" actId="6549"/>
          <ac:spMkLst>
            <pc:docMk/>
            <pc:sldMk cId="578832553" sldId="270"/>
            <ac:spMk id="147" creationId="{F32503C6-210C-3485-CF09-8CFC78AC9003}"/>
          </ac:spMkLst>
        </pc:spChg>
      </pc:sldChg>
      <pc:sldChg chg="modSp mod">
        <pc:chgData name="Felipe Lima" userId="c050a0a24b7bf936" providerId="LiveId" clId="{6372F581-0122-4FDE-A8B3-C5C4A6DCFBDE}" dt="2026-01-29T14:21:41.551" v="162" actId="6549"/>
        <pc:sldMkLst>
          <pc:docMk/>
          <pc:sldMk cId="3712939806" sldId="271"/>
        </pc:sldMkLst>
        <pc:spChg chg="mod">
          <ac:chgData name="Felipe Lima" userId="c050a0a24b7bf936" providerId="LiveId" clId="{6372F581-0122-4FDE-A8B3-C5C4A6DCFBDE}" dt="2026-01-29T14:21:41.551" v="162" actId="6549"/>
          <ac:spMkLst>
            <pc:docMk/>
            <pc:sldMk cId="3712939806" sldId="271"/>
            <ac:spMk id="147" creationId="{3AF95F7A-C374-BF16-71B7-8031811C6310}"/>
          </ac:spMkLst>
        </pc:spChg>
      </pc:sldChg>
      <pc:sldChg chg="modSp mod">
        <pc:chgData name="Felipe Lima" userId="c050a0a24b7bf936" providerId="LiveId" clId="{6372F581-0122-4FDE-A8B3-C5C4A6DCFBDE}" dt="2026-01-29T14:21:45.865" v="163" actId="6549"/>
        <pc:sldMkLst>
          <pc:docMk/>
          <pc:sldMk cId="399458938" sldId="278"/>
        </pc:sldMkLst>
        <pc:spChg chg="mod">
          <ac:chgData name="Felipe Lima" userId="c050a0a24b7bf936" providerId="LiveId" clId="{6372F581-0122-4FDE-A8B3-C5C4A6DCFBDE}" dt="2026-01-29T14:21:45.865" v="163" actId="6549"/>
          <ac:spMkLst>
            <pc:docMk/>
            <pc:sldMk cId="399458938" sldId="278"/>
            <ac:spMk id="147" creationId="{A1648943-6BDD-85C1-C5E6-AA29BDCFC343}"/>
          </ac:spMkLst>
        </pc:spChg>
        <pc:graphicFrameChg chg="mod modGraphic">
          <ac:chgData name="Felipe Lima" userId="c050a0a24b7bf936" providerId="LiveId" clId="{6372F581-0122-4FDE-A8B3-C5C4A6DCFBDE}" dt="2026-01-29T14:07:44.897" v="155" actId="12385"/>
          <ac:graphicFrameMkLst>
            <pc:docMk/>
            <pc:sldMk cId="399458938" sldId="278"/>
            <ac:graphicFrameMk id="10" creationId="{22600252-0027-B51D-EDE8-027607ADE4F6}"/>
          </ac:graphicFrameMkLst>
        </pc:graphicFrameChg>
      </pc:sldChg>
      <pc:sldChg chg="modSp mod">
        <pc:chgData name="Felipe Lima" userId="c050a0a24b7bf936" providerId="LiveId" clId="{6372F581-0122-4FDE-A8B3-C5C4A6DCFBDE}" dt="2026-01-29T14:21:25.920" v="159" actId="6549"/>
        <pc:sldMkLst>
          <pc:docMk/>
          <pc:sldMk cId="1233229766" sldId="279"/>
        </pc:sldMkLst>
        <pc:spChg chg="mod">
          <ac:chgData name="Felipe Lima" userId="c050a0a24b7bf936" providerId="LiveId" clId="{6372F581-0122-4FDE-A8B3-C5C4A6DCFBDE}" dt="2026-01-29T14:21:25.920" v="159" actId="6549"/>
          <ac:spMkLst>
            <pc:docMk/>
            <pc:sldMk cId="1233229766" sldId="279"/>
            <ac:spMk id="89" creationId="{AFA40689-7145-E33E-49D6-20BA766B4180}"/>
          </ac:spMkLst>
        </pc:spChg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0:00–0:30 | ABERTURA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Espere a turma sentar antes de falar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"Bom dia/boa tarde. Esse é um treinamento da StormX para o time da Unilever. Objetivo: entender o que é Ad Server, como funciona, e as ferramentas de mensuração e verificação do dia a dia."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0:30–1:00 | CAPA DO TEMA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curta — deixe a imagem respirar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"Antes de mergulhar nos conceitos, vou apresentar quem são as pessoas que vão estar do lado de vocês nessa operação."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1:00–2:00 | AGENDA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Apresente os 4 blocos: Equipe → Ad Server → Mensuração → Ad Verification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"Não precisa anotar tudo — o material fica com vocês depois."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4:30–7:00 | O QUE É UM AD SERVER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Ad Server = plataforma que armazena, distribui, rastreia e reporta anúncios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Quem usa: anunciante (controla a campanha) / agência (gerencia veiculações) / veículo (exibe corretamente)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Funções: armazenar criativos → distribuir por regras → medir resultados → unificar relatórios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"O Ad Server é o maestro da campanha digital."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"Qual a diferença entre Ad Server e DV360?"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DV360 é DSP — compra o espaço de mídia. Ad Server entrega o criativo nesse espaço e mede. Os dois trabalham juntos.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"Por que usar Ad Server se o veículo já tem relatório?"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O veículo mostra os melhores números dele. O Ad Server é o dado neutro e unificado da agência — comparável entre veículos diferentes.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7:00–10:00 | PRINCIPAIS PROCESSOS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4 etapas: Configuração → Veiculação → Mensuração → Relatórios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Configuração: subir criativos, datas, segmentações, criar tags (trabalho do AdOps antes do go-live)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Veiculação: usuário abre a página → site chama Ad Server via tag → Ad Server decide qual anúncio mostrar em milissegundos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Mensuração: conta impressões, cliques, conversões. Aplica frequency capping (limite de exibições por usuário)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Relatórios: dados viram performance por campanha/criativo/formato → otimização e faturamento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é frequency capping?"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Regra que limita quantas vezes o mesmo usuário vê o mesmo anúncio num período. Ex: máximo 3x por dia. Sem isso o usuário seria bombardeado com o mesmo banner.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acontece se a tag não funcionar?"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O anúncio não aparece ou aparece sem rastreamento. Por isso existe o processo de tag QA antes do go-live — o AdOps testa cada tag antes da campanha subir.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ainda bloco Tag x Contador | TABELA RESUMO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Deixe a tabela na tela por 10 segundos antes de comentar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"Tag = veiculação. Contador = mensuração. Os dois podem medir, mas só a Tag exibe."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13:00–14:30 | AD SERVERS DO MERCADO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CM360 (Google): padrão no Brasil, integra com Google Ads e DV360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Flashtalking (Innovid): criativos dinâmicos, campanhas globais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Outros (Adform, Xandr, Sizmek): histórico de mercado, não aparecem no dia a dia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"Tem algum Ad Server além desses que posso encontrar?"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Adform ainda opera em mercados europeus. Xandr foi adquirido pela Microsoft. Sizmek foi descontinuado — se aparecer em algum relatório antigo, é histórico.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14:30–17:00 | CM360 x FLASHTALKING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Igualdades: os dois distribuem anúncios, medem, geram relatório. Suportam Display, Vídeo e Rich Media.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CM360: mais simples, ecossistema Google, padrão no Brasil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Flashtalking: mais técnico, criativos dinâmicos avançados (DCO), campanhas globais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"A escolha não é livre — quem define é a estratégia e o que o cliente contratou."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"A gente usa os dois aqui na Unilever?"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Hoje o padrão é CM360. O Flashtalking aparece em iniciativas globais com criativo dinâmico complexo. Dúvida de qual usar → escale para a Aline ou Carolina.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"Tem impacto de usar CM360 com DV360 juntos?"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Pelo contrário — são feitos pra trabalhar juntos. Ambos são Google, integração é nativa.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BLOCO: MENSURAÇÃO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25:30–27:00 | CONCLUSÃO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Ad Server = coração da campanha. Tag exibe. Contador mede.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CM360 (Brasil/Google) vs Flashtalking (global/dinâmico) → mesma base, perfis diferentes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Kantar + Brand Lift = de "quantas impressões" para "a marca cresceu?"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IAS e DV = Brand Safety + Viewability + IVT. Moat = encerrado em 2023.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"Conhecer cada ferramenta é saber onde o investimento em mídia vai — e se está chegando certo."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Dúvidas.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27:00–28:00+ | DÚVIDAS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"É isso da minha parte. O que ficou de dúvida?"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💡 Se a sala ficar quieta, dispare uma dessas: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"Alguém já teve que implementar uma tag e não sabia o que estava fazendo?"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"Alguém já recebeu reclamação de anúncio aparecendo no lugar errado?"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Essas perguntas revelam dúvidas reais que a turma tem mas não pergunta diretamente.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Encerramento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Agradeça a presença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"Qualquer dúvida que surgir no dia a dia — pode chamar o time. A gente está aqui pra isso."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Lembre que o material fica disponível para consulta.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final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Deixe na tela enquanto o Q&amp;A acontece ou as pessoas saem.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17:00–19:30 | PIXEL DA KANTAR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Pixel = código invisível dentro do anúncio. Quando o usuário vê o anúncio, o pixel "acorda" e registra.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Analogia: segurança de loja que anota discretamente quem entrou, quando e por qual corredor — mas no digital.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Kantar cruza com painel próprio (pessoas cadastradas) → entende QUEM viu: faixa etária, gênero, região.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pixel da Kantar é uma tag ou um contador?"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É um contador. Não exibe nada — só registra a exposição. A diferença é que tem uma camada extra: cruza com o painel da Kantar para perfilar a audiência exposta.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"Todo anúncio tem pixel da Kantar?"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Não. Só campanhas que têm o estudo de Brand Lift contratado. O AdOps implementa o pixel nas tags quando o estudo está ativo.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21:30–23:00 | IAS — INTEGRAL AD SCIENCE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Monitora o AMBIENTE onde o anúncio aparece (não o anúncio em si)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Brand Safety: bloqueia contextos impróprios (fake news, violência, conteúdo adulto)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Viewability: confirma que o anúncio ficou visível na tela pelo tempo mínimo exigido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IVT (Invalid Traffic): detecta e filtra bots — impressões fraudulentas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"O fiscal de qualidade do anúncio."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acontece se o IAS bloquear um anúncio legítimo por engano?"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É um falso positivo — acontece. O AdOps pode abrir solicitação de revisão e criar exceções de whitelist. É parte da operação.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"Qual a diferença prática entre IAS e DoubleVerify?"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Os dois fazem Brand Safety, Viewability e IVT. A diferença: DV tem Brand Suitability mais granular e Attention Metrics. IAS é mais simples de operar e cobre bem a maioria dos casos. A escolha costuma ser definida pelo contrato do cliente.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23:00–24:30 | DOUBLEVERIFY (DV)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Concorrente direto do IAS, mas com diferenciais: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Brand Suitability: categorias customizadas por marca (não só seguro/não seguro)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Bloqueio de IVT em TEMPO REAL (antes do anúncio ser exibido, não depois)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Attention Metrics: vai além da viewability — mede hover, scroll, tempo de visualização real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DV é melhor que o IAS?"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Depende do caso. O DV tem mais granularidade e Attention Metrics — melhor para campanhas globais complexas. O IAS é mais simples e já cobre bem operações diretas. A escolha vem do contrato.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que são Attention Metrics na prática?"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É medir se o usuário de fato prestou atenção — não só se o anúncio estava na tela. Inclui: hover com mouse sobre o anúncio, tempo que o anúncio ficou em foco, scroll speed. É uma métrica mais sofisticada que viewability.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-body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24:30–25:30 | MOAT (ORACLE ADVERTISING)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Pioneiro em mensuração de atenção e vídeo — foi referência no mercado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Ainda aparece em relatórios históricos e plataformas com SDK legado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⚠ ENCERRADO em 2023 — não aceita novos clientes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Se cliente pedir Moat → explicar que foi descontinuado, recomendar IAS ou DV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P: "O Moat foi encerrado, mas aparece no relatório — o que eu digo pro cliente?"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R: "O Moat foi descontinuado pela Oracle em 2023. Os dados históricos continuam válidos para comparações de períodos anteriores. Para campanhas novas, a recomendação é usar IAS ou DoubleVerify." Se o cliente insistir → escale para a Aline ou Carolina.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Conclusão.</a:t>
            </a:r>
          </a:p>
        </p:txBody>
      </p:sp>
      <p:sp>
        <p:nvSpPr>
          <p:cNvPr id="3" name="slide-image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DE TRANSIÇÃO — Ad Server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"Vamos começar pelo Ad Server — o coração de tudo."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de 2 segundos na tela antes de avançar.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"O que é um Ad Server".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DE TRANSIÇÃO — Mensuração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"Agora que entendemos como o anúncio é entregue, vamos ver como medimos o impacto real."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de 2 segundos na tela antes de avançar.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"Pixel da Kantar".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⏱ SLIDE DE TRANSIÇÃO — Ad Verification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"Último bloco. Aqui a gente fala de qualidade — não de quanto o anúncio rodou, mas de como ele rodou."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• Pausa de 2 segundos na tela antes de avançar.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>→ Avance para "IAS — Integral Ad Science".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⏱ 19:30 – 21:30 | BRAND LIFT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• Sem pixel → volume. Com pixel Kantar → impacto.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• Brand Lift mede o que MUDOU na cabeça do consumidor depois de ver o anúncio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• 4 métricas: Awareness / Ad Recall / Consideration / Favorability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• "É a diferença entre saber que 10 milhões viram o anúncio, e saber que 23% passaram a considerar a marca."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❓ Q&amp;A provável: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P: "Com que frequência vem o relatório?"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R: Mid-flight (meio da campanha) e post-flight (ao final). Não é tempo real — é pesquisa com painel.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P: "O Brand Lift substitui impressão e clique?"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R: Não, complementa. Impressão/clique = entrega. Brand Lift = impacto. São camadas diferentes.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→ Avance. Mudança de bloco — Ad Verification.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b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noAutofit/>
          </a:bodyPr>
          <a:lstStyle/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⏱ 2:00 – 4:30 | ORGANOGRAMA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LIDERANÇA: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• Tiago Domingos → Diretor de AdOps e Projetos (referência técnica e estratégica)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• Livia Bousquet → Diretora de Atendimento (elo com o cliente)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• Aline Calderan → Líder de Projetos (coordena o fluxo das campanhas)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• Carolina Dobner → Gerente de Projetos (dia a dia operacional)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EQUIPE ADOPS: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• Marcos Santos, João Braga e Felipe Lima → trafficking, tags e relatórios no dia a dia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 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"Agora que todo mundo se conhece — vamos pro conteúdo."</a:t>
            </a:r>
          </a:p>
          <a:p>
            <a:pPr marL="0" indent="0" algn="l">
              <a:lnSpc>
                <a:spcPct val="11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pt-BR" sz="1000" dirty="0">
                <a:latin typeface="Arial"/>
              </a:rPr>
              <a:t xml:space="preserve">→ Avance.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96914d2d1_0_148"/>
          <p:cNvSpPr txBox="1">
            <a:spLocks noGrp="1"/>
          </p:cNvSpPr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>
            <a:endParaRPr/>
          </a:p>
        </p:txBody>
      </p:sp>
      <p:sp>
        <p:nvSpPr>
          <p:cNvPr id="11" name="Google Shape;11;g3a96914d2d1_0_148"/>
          <p:cNvSpPr txBox="1">
            <a:spLocks noGrp="1"/>
          </p:cNvSpPr>
          <p:nvPr>
            <p:ph type="subTitle" idx="1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" name="Google Shape;12;g3a96914d2d1_0_148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8">
  <p:cSld name="TITLE_7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96914d2d1_0_189"/>
          <p:cNvSpPr txBox="1">
            <a:spLocks noGrp="1"/>
          </p:cNvSpPr>
          <p:nvPr>
            <p:ph type="title"/>
          </p:nvPr>
        </p:nvSpPr>
        <p:spPr>
          <a:xfrm>
            <a:off x="2286000" y="1683543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  <a:defRPr sz="9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9pPr>
          </a:lstStyle>
          <a:p>
            <a:endParaRPr/>
          </a:p>
        </p:txBody>
      </p:sp>
      <p:sp>
        <p:nvSpPr>
          <p:cNvPr id="15" name="Google Shape;15;g3a96914d2d1_0_189"/>
          <p:cNvSpPr txBox="1">
            <a:spLocks noGrp="1"/>
          </p:cNvSpPr>
          <p:nvPr>
            <p:ph type="body" idx="1"/>
          </p:nvPr>
        </p:nvSpPr>
        <p:spPr>
          <a:xfrm>
            <a:off x="2286000" y="5403055"/>
            <a:ext cx="13716000" cy="24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1pPr>
            <a:lvl2pPr marL="914400" lvl="1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2pPr>
            <a:lvl3pPr marL="1371600" lvl="2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3pPr>
            <a:lvl4pPr marL="1828800" lvl="3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4pPr>
            <a:lvl5pPr marL="2286000" lvl="4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5pPr>
            <a:lvl6pPr marL="2743200" lvl="5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■"/>
              <a:defRPr sz="2800"/>
            </a:lvl6pPr>
            <a:lvl7pPr marL="3200400" lvl="6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●"/>
              <a:defRPr sz="2800"/>
            </a:lvl7pPr>
            <a:lvl8pPr marL="3657600" lvl="7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○"/>
              <a:defRPr sz="2800"/>
            </a:lvl8pPr>
            <a:lvl9pPr marL="4114800" lvl="8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■"/>
              <a:defRPr sz="2800"/>
            </a:lvl9pPr>
          </a:lstStyle>
          <a:p>
            <a:endParaRPr/>
          </a:p>
        </p:txBody>
      </p:sp>
      <p:sp>
        <p:nvSpPr>
          <p:cNvPr id="16" name="Google Shape;16;g3a96914d2d1_0_189"/>
          <p:cNvSpPr txBox="1">
            <a:spLocks noGrp="1"/>
          </p:cNvSpPr>
          <p:nvPr>
            <p:ph type="sldNum" idx="12"/>
          </p:nvPr>
        </p:nvSpPr>
        <p:spPr>
          <a:xfrm>
            <a:off x="16620276" y="9610208"/>
            <a:ext cx="410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TITLE_AND_BODY_15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ccfc1d022_0_209"/>
          <p:cNvSpPr txBox="1">
            <a:spLocks noGrp="1"/>
          </p:cNvSpPr>
          <p:nvPr>
            <p:ph type="sldNum" idx="12"/>
          </p:nvPr>
        </p:nvSpPr>
        <p:spPr>
          <a:xfrm>
            <a:off x="8996361" y="9810750"/>
            <a:ext cx="28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a96914d2d1_0_152"/>
          <p:cNvSpPr txBox="1">
            <a:spLocks noGrp="1"/>
          </p:cNvSpPr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21" name="Google Shape;21;g3a96914d2d1_0_15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a96914d2d1_0_155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24" name="Google Shape;24;g3a96914d2d1_0_155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25" name="Google Shape;25;g3a96914d2d1_0_155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a96914d2d1_0_159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28" name="Google Shape;28;g3a96914d2d1_0_159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29" name="Google Shape;29;g3a96914d2d1_0_159"/>
          <p:cNvSpPr txBox="1">
            <a:spLocks noGrp="1"/>
          </p:cNvSpPr>
          <p:nvPr>
            <p:ph type="body" idx="2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0" name="Google Shape;30;g3a96914d2d1_0_159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a96914d2d1_0_16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3" name="Google Shape;33;g3a96914d2d1_0_16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a96914d2d1_0_167"/>
          <p:cNvSpPr txBox="1">
            <a:spLocks noGrp="1"/>
          </p:cNvSpPr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g3a96914d2d1_0_167"/>
          <p:cNvSpPr txBox="1">
            <a:spLocks noGrp="1"/>
          </p:cNvSpPr>
          <p:nvPr>
            <p:ph type="body" idx="1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7" name="Google Shape;37;g3a96914d2d1_0_16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a96914d2d1_0_171"/>
          <p:cNvSpPr txBox="1">
            <a:spLocks noGrp="1"/>
          </p:cNvSpPr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40" name="Google Shape;40;g3a96914d2d1_0_17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a96914d2d1_0_174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a96914d2d1_0_174"/>
          <p:cNvSpPr txBox="1">
            <a:spLocks noGrp="1"/>
          </p:cNvSpPr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>
            <a:endParaRPr/>
          </a:p>
        </p:txBody>
      </p:sp>
      <p:sp>
        <p:nvSpPr>
          <p:cNvPr id="44" name="Google Shape;44;g3a96914d2d1_0_174"/>
          <p:cNvSpPr txBox="1">
            <a:spLocks noGrp="1"/>
          </p:cNvSpPr>
          <p:nvPr>
            <p:ph type="subTitle" idx="1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5" name="Google Shape;45;g3a96914d2d1_0_174"/>
          <p:cNvSpPr txBox="1">
            <a:spLocks noGrp="1"/>
          </p:cNvSpPr>
          <p:nvPr>
            <p:ph type="body" idx="2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46" name="Google Shape;46;g3a96914d2d1_0_17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a96914d2d1_0_180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</a:lstStyle>
          <a:p>
            <a:endParaRPr/>
          </a:p>
        </p:txBody>
      </p:sp>
      <p:sp>
        <p:nvSpPr>
          <p:cNvPr id="49" name="Google Shape;49;g3a96914d2d1_0_180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96914d2d1_0_183"/>
          <p:cNvSpPr txBox="1">
            <a:spLocks noGrp="1"/>
          </p:cNvSpPr>
          <p:nvPr>
            <p:ph type="title" hasCustomPrompt="1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52" name="Google Shape;52;g3a96914d2d1_0_183"/>
          <p:cNvSpPr txBox="1">
            <a:spLocks noGrp="1"/>
          </p:cNvSpPr>
          <p:nvPr>
            <p:ph type="body" idx="1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53" name="Google Shape;53;g3a96914d2d1_0_183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96914d2d1_0_18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4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ccfc1d022_0_398"/>
          <p:cNvSpPr txBox="1">
            <a:spLocks noGrp="1"/>
          </p:cNvSpPr>
          <p:nvPr>
            <p:ph type="sldNum" idx="12"/>
          </p:nvPr>
        </p:nvSpPr>
        <p:spPr>
          <a:xfrm>
            <a:off x="8996361" y="9810750"/>
            <a:ext cx="28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96914d2d1_0_14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3a96914d2d1_0_144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marR="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g3a96914d2d1_0_14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4.jpg"/><Relationship Id="rId7" Type="http://schemas.openxmlformats.org/officeDocument/2006/relationships/slide" Target="slide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7.xml"/><Relationship Id="rId11" Type="http://schemas.openxmlformats.org/officeDocument/2006/relationships/image" Target="../media/image5.png"/><Relationship Id="rId5" Type="http://schemas.openxmlformats.org/officeDocument/2006/relationships/slide" Target="slide6.xml"/><Relationship Id="rId10" Type="http://schemas.openxmlformats.org/officeDocument/2006/relationships/slide" Target="slide12.xml"/><Relationship Id="rId4" Type="http://schemas.openxmlformats.org/officeDocument/2006/relationships/slide" Target="slide25.xml"/><Relationship Id="rId9" Type="http://schemas.openxmlformats.org/officeDocument/2006/relationships/slide" Target="slide1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16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20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21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22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23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24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99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3a96914d2d1_0_10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57150" y="4260025"/>
            <a:ext cx="6973700" cy="17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g3ae24b5c77d_0_312"/>
          <p:cNvGrpSpPr/>
          <p:nvPr/>
        </p:nvGrpSpPr>
        <p:grpSpPr>
          <a:xfrm>
            <a:off x="1907347" y="319075"/>
            <a:ext cx="14473306" cy="9648850"/>
            <a:chOff x="1907347" y="319075"/>
            <a:chExt cx="14473306" cy="9648850"/>
          </a:xfrm>
        </p:grpSpPr>
        <p:pic>
          <p:nvPicPr>
            <p:cNvPr id="68" name="Google Shape;68;g3ae24b5c77d_0_3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07347" y="319075"/>
              <a:ext cx="14473306" cy="9648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g3ae24b5c77d_0_312"/>
            <p:cNvSpPr txBox="1"/>
            <p:nvPr/>
          </p:nvSpPr>
          <p:spPr>
            <a:xfrm>
              <a:off x="5997590" y="7945252"/>
              <a:ext cx="6292800" cy="111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00" tIns="137100" rIns="137100" bIns="137100" anchor="t" anchorCtr="0">
              <a:sp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800"/>
                <a:buFont typeface="Arial"/>
                <a:buNone/>
              </a:pPr>
              <a:r>
                <a:rPr lang="pt-BR" sz="6800">
                  <a:solidFill>
                    <a:srgbClr val="15E6FC"/>
                  </a:solidFill>
                  <a:latin typeface="DM Sans"/>
                  <a:ea typeface="DM Sans"/>
                  <a:cs typeface="DM Sans"/>
                  <a:sym typeface="DM Sans"/>
                </a:rPr>
                <a:t>AdServer</a:t>
              </a:r>
              <a:endParaRPr sz="6800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70" name="Google Shape;70;g3ae24b5c77d_0_312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</a:t>
            </a:r>
            <a:r>
              <a:rPr lang="pt-BR" sz="1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96914d2d1_0_49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EQUIPE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01  Organograma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 xml:space="preserve"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AD SERVER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02  O que é um Ad Server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03  Principais Processos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04  Diferença entre Tag e Contador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05  Ad Servers mais conhecidos do mercado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06  CM360 x Flashtalking — Igualdades e Diferenças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 xml:space="preserve"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MENSURAÇÃO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07  Pixel da Kantar — O que é?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08  Brand Lift — A campanha funcionou?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 xml:space="preserve"> 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dirty="0">
                <a:solidFill>
                  <a:srgbClr val="14E6FC"/>
                </a:solidFill>
                <a:latin typeface="Arial"/>
              </a:rPr>
              <a:t>AD VERIFICATION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09  IAS — Integral Ad Science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10  DoubleVerify (DV)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0" i="0" u="none" dirty="0">
                <a:solidFill>
                  <a:srgbClr val="FFFFFF"/>
                </a:solidFill>
                <a:latin typeface="Arial"/>
              </a:rPr>
              <a:t>11  Moat — Oracle Advertising</a:t>
            </a:r>
          </a:p>
          <a:p>
            <a:pPr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 b="0" i="0" u="none" dirty="0">
                <a:solidFill>
                  <a:srgbClr val="FFFFFF"/>
                </a:solidFill>
                <a:latin typeface="Arial"/>
              </a:rPr>
              <a:t xml:space="preserve"> 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b="1" i="0" u="none" dirty="0">
                <a:solidFill>
                  <a:srgbClr val="14E6FC"/>
                </a:solidFill>
                <a:latin typeface="Arial"/>
              </a:rPr>
              <a:t>12  Conclusão</a:t>
            </a:r>
          </a:p>
        </p:txBody>
      </p:sp>
      <p:sp>
        <p:nvSpPr>
          <p:cNvPr id="77" name="Google Shape;77;g3a96914d2d1_0_491"/>
          <p:cNvSpPr txBox="1"/>
          <p:nvPr/>
        </p:nvSpPr>
        <p:spPr>
          <a:xfrm>
            <a:off x="1071005" y="922875"/>
            <a:ext cx="53034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Agenda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g3a96914d2d1_0_491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r>
              <a:rPr lang="pt-BR" sz="1142" b="0" i="0" u="none" strike="noStrike" cap="none">
                <a:solidFill>
                  <a:srgbClr val="494C67"/>
                </a:solidFill>
                <a:latin typeface="DM Sans Black"/>
                <a:ea typeface="DM Sans Black"/>
                <a:cs typeface="DM Sans Black"/>
                <a:sym typeface="DM Sans Black"/>
              </a:rPr>
              <a:t>Unilever | Operação 2026</a:t>
            </a:r>
            <a:endParaRPr sz="1037" b="0" i="0" u="none" strike="noStrike" cap="none">
              <a:solidFill>
                <a:srgbClr val="494C67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79" name="Google Shape;79;g3a96914d2d1_0_491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g3a96914d2d1_0_491" descr="Tornado Whit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52399" y="766781"/>
            <a:ext cx="1090823" cy="107821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a96914d2d1_0_491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g3a96914d2d1_0_491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pt-BR" sz="1900" dirty="0">
                <a:solidFill>
                  <a:srgbClr val="494C67"/>
                </a:solidFill>
                <a:latin typeface="Arial"/>
              </a:rPr>
              <a:t xml:space="preserve">Pensa assim: você tem um banner pronto. Alguém precisa </a:t>
            </a:r>
            <a:r>
              <a:rPr lang="pt-BR" sz="1900" b="1" dirty="0">
                <a:solidFill>
                  <a:srgbClr val="14E6FC"/>
                </a:solidFill>
                <a:latin typeface="Arial"/>
              </a:rPr>
              <a:t>guardar</a:t>
            </a:r>
            <a:r>
              <a:rPr lang="pt-BR" sz="1900" dirty="0">
                <a:solidFill>
                  <a:srgbClr val="494C67"/>
                </a:solidFill>
                <a:latin typeface="Arial"/>
              </a:rPr>
              <a:t xml:space="preserve"> esse criativo, </a:t>
            </a:r>
            <a:r>
              <a:rPr lang="pt-BR" sz="1900" b="1" dirty="0">
                <a:solidFill>
                  <a:srgbClr val="14E6FC"/>
                </a:solidFill>
                <a:latin typeface="Arial"/>
              </a:rPr>
              <a:t>decidir</a:t>
            </a:r>
            <a:r>
              <a:rPr lang="pt-BR" sz="1900" dirty="0">
                <a:solidFill>
                  <a:srgbClr val="494C67"/>
                </a:solidFill>
                <a:latin typeface="Arial"/>
              </a:rPr>
              <a:t xml:space="preserve"> pra quem vai aparecer e quando, e </a:t>
            </a:r>
            <a:r>
              <a:rPr lang="pt-BR" sz="1900" b="1" dirty="0">
                <a:solidFill>
                  <a:srgbClr val="14E6FC"/>
                </a:solidFill>
                <a:latin typeface="Arial"/>
              </a:rPr>
              <a:t>medir</a:t>
            </a:r>
            <a:r>
              <a:rPr lang="pt-BR" sz="1900" dirty="0">
                <a:solidFill>
                  <a:srgbClr val="494C67"/>
                </a:solidFill>
                <a:latin typeface="Arial"/>
              </a:rPr>
              <a:t xml:space="preserve"> tudo que aconteceu. Esse alguém é o Ad Server.</a:t>
            </a:r>
          </a:p>
          <a:p>
            <a:pPr>
              <a:buNone/>
            </a:pPr>
            <a:endParaRPr lang="pt-BR" sz="19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1900" b="1" dirty="0">
                <a:solidFill>
                  <a:srgbClr val="484D67"/>
                </a:solidFill>
                <a:latin typeface="Arial"/>
              </a:rPr>
              <a:t>Quem usa: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Anunciante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 → controlar a campanha e ter os dados na mão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Agência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 → gerenciar as veiculações e entregar relatórios unificados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Veículos/Publishers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 → exibir o criativo corretamente no site ou app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1900" b="1" dirty="0">
                <a:solidFill>
                  <a:srgbClr val="484D67"/>
                </a:solidFill>
                <a:latin typeface="Arial"/>
              </a:rPr>
              <a:t>Quatro funções principais: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>→ Armazenar criativos (banners, vídeos, rich media)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>→ Distribuir conforme regras (segmentação, datas, frequência)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>→ Medir resultados (impressões, cliques, conversões)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>→ Unificar relatórios de todos os veículos num só lugar</a:t>
            </a:r>
          </a:p>
        </p:txBody>
      </p:sp>
      <p:sp>
        <p:nvSpPr>
          <p:cNvPr id="148" name="Google Shape;148;g3ae24b5c77d_0_266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que é um Ad Server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lang="pt-BR" sz="1000" b="1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CBBB47E-EF85-03D6-6A88-7A7C621D9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pt-BR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Ad Server (Servidor de Anúncios) é uma plataforma responsável por armazenar, distribuir, rastrear e reportar anúncios digitais.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494C6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pt-BR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Ele é usado por: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Anunciantes → controlar campanhas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Agências → gerenciar veiculações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Veículos/</a:t>
            </a:r>
            <a:r>
              <a:rPr lang="pt-BR" sz="2900" dirty="0" err="1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Publishers</a:t>
            </a: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 xml:space="preserve"> → exibir anúncios corretamente</a:t>
            </a:r>
          </a:p>
          <a:p>
            <a:pPr marL="0" indent="0">
              <a:lnSpc>
                <a:spcPct val="200000"/>
              </a:lnSpc>
              <a:buNone/>
            </a:pPr>
            <a:endParaRPr lang="pt-BR" dirty="0">
              <a:solidFill>
                <a:srgbClr val="494C6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pt-BR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Funções principais: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 xml:space="preserve">Armazenar criativos (banners, vídeos, </a:t>
            </a:r>
            <a:r>
              <a:rPr lang="pt-BR" sz="2900" dirty="0" err="1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rich</a:t>
            </a: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 xml:space="preserve"> media)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Distribuir anúncios conforme regras (segmentação, datas, frequência)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Medir resultados (impressões, cliques, conversões)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Unificar relatórios e controle de campanhas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0F1900D3-D336-0207-62B4-9E5D7F70A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E1BB89C-4618-5B3D-145B-20CD4B963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420" y="2281006"/>
            <a:ext cx="10479233" cy="6986155"/>
          </a:xfrm>
          <a:prstGeom prst="rect">
            <a:avLst/>
          </a:prstGeom>
        </p:spPr>
      </p:pic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F32503C6-210C-3485-CF09-8CFC78AC9003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B6DE01C-12FF-2AF3-A2BA-0A8441B28928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F7E7BB4D-C7CE-21E5-8CED-8DE89F3C4293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Principais Processos de um Ad Server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DC487A27-E104-3F09-632D-A2153BED8B4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812D317C-6557-8269-952B-507A1D3B6588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AE40A3EA-5803-B729-5327-884B68AD63E5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5EA9C0-BE44-A682-3B2B-6F93F4445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Configuração da campanha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Inserção de criativos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Definição de datas, formatos e segmentações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Criação de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tags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/contadores de veiculação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Agilidade e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indepência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na gestão das taxonomias</a:t>
            </a:r>
          </a:p>
          <a:p>
            <a:pPr marL="508000" lvl="1" indent="0">
              <a:buNone/>
            </a:pPr>
            <a:r>
              <a:rPr lang="pt-BR" sz="1600">
                <a:solidFill>
                  <a:srgbClr val="494C67"/>
                </a:solidFill>
                <a:latin typeface="DM Sans"/>
              </a:rPr>
              <a:t/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Veiculação do anúncio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O site/app chama o ad server via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ad server decide qual anúncio exibir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criativo é carregado para o usuário</a:t>
            </a:r>
          </a:p>
          <a:p>
            <a:pPr lvl="1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Mensuração e rastreamento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Contagem de: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Impressões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Cliques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Conversões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Aplicação de regras como: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Frequency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capping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(regra que limita quantas vezes um mesmo usuário vê 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um anúncio dentro de um período de tempo.)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Rotação de criativos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Relatórios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Performance por campanha, criativo ou formato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Dados usados para otimização e faturamento</a:t>
            </a:r>
          </a:p>
        </p:txBody>
      </p:sp>
    </p:spTree>
    <p:extLst>
      <p:ext uri="{BB962C8B-B14F-4D97-AF65-F5344CB8AC3E}">
        <p14:creationId xmlns:p14="http://schemas.microsoft.com/office/powerpoint/2010/main" val="578832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8D8A4D08-D522-0501-A97D-B298C789C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A1648943-6BDD-85C1-C5E6-AA29BDCFC343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9EDFB061-D804-E5B8-2920-A50BA9E47D3C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16810287-C68C-7992-C100-EBDDC4F7525A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Diferença entre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e Contador (Resumo)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C1D030CD-3A96-05C4-BEC1-22AA3A4628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EDA002D7-F5BC-1AAB-F542-62F48A809714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557FF53D-A8AE-7A3A-95C5-CE39F9B453A0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22600252-0027-B51D-EDE8-027607ADE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866444"/>
              </p:ext>
            </p:extLst>
          </p:nvPr>
        </p:nvGraphicFramePr>
        <p:xfrm>
          <a:off x="639232" y="2404764"/>
          <a:ext cx="17025366" cy="67329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75122">
                  <a:extLst>
                    <a:ext uri="{9D8B030D-6E8A-4147-A177-3AD203B41FA5}">
                      <a16:colId xmlns:a16="http://schemas.microsoft.com/office/drawing/2014/main" val="3635018633"/>
                    </a:ext>
                  </a:extLst>
                </a:gridCol>
                <a:gridCol w="5675122">
                  <a:extLst>
                    <a:ext uri="{9D8B030D-6E8A-4147-A177-3AD203B41FA5}">
                      <a16:colId xmlns:a16="http://schemas.microsoft.com/office/drawing/2014/main" val="1825949284"/>
                    </a:ext>
                  </a:extLst>
                </a:gridCol>
                <a:gridCol w="5675122">
                  <a:extLst>
                    <a:ext uri="{9D8B030D-6E8A-4147-A177-3AD203B41FA5}">
                      <a16:colId xmlns:a16="http://schemas.microsoft.com/office/drawing/2014/main" val="2181487887"/>
                    </a:ext>
                  </a:extLst>
                </a:gridCol>
              </a:tblGrid>
              <a:tr h="1346597"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Item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Tag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Contador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970917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Exibe anúncio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Não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181762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Mede eventos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352425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Código visual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Não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641146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Uso principal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Veiculação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Mensuração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650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458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F1A11E28-6528-8101-DDAB-8249F01A1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285ED2EC-7AA9-0D8D-3425-7BE8D0C08A19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DF10E87A-0403-091D-A759-39F5AC89BE92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04595C7D-ECDD-19B0-579A-24783E2BF139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 Servers mais conhecidos do mercado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8944434F-0A60-2EF5-FA9D-3F82D42528C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246B57DC-B1D7-07A1-A7D7-65BCB0E17BD8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6725EFDB-9EF8-90CB-FAE7-E7A7BC4CF02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6C09A9-4C9B-DEC9-E48F-248D3667D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Campaign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 xml:space="preserve"> Manager 360 (CM360) - Google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Muito usado no mercado brasileiro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Forte integração com Google Ads e DV360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Padrão em grandes anunciantes e agências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Flashtalking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 xml:space="preserve"> - </a:t>
            </a:r>
            <a:r>
              <a:rPr lang="pt-BR" sz="2000" dirty="0" err="1">
                <a:solidFill>
                  <a:srgbClr val="494C67"/>
                </a:solidFill>
                <a:latin typeface="DM Sans"/>
              </a:rPr>
              <a:t>Innovid</a:t>
            </a: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Forte em criativos dinâmicos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Muito usado para campanhas globais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Alta personalização e controle criativo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Outros exemplos:</a:t>
            </a: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Adform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Sizmek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(descontinuado, mas histórico)</a:t>
            </a: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Smart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AdServer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Xandr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975E46C-06FC-AF1C-2026-366CB906A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640" y="1769119"/>
            <a:ext cx="10790960" cy="719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0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57B790AF-AEE4-532E-EDE2-F45ABAA1E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30DE8D3F-3A8A-0CD8-9FD0-15A54362AA49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B67A1A4-A096-6311-D397-AD7F2D323CCA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0FFF6D16-D8C5-F2FF-D68F-298151F20465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D3B7F7"/>
              </a:buClr>
              <a:buSzPts val="5675"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CM360 x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Flashtalking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4800" b="1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Igualdades e Diferenças</a:t>
            </a:r>
            <a:endParaRPr lang="pt-BR" sz="4800" b="1" dirty="0">
              <a:solidFill>
                <a:srgbClr val="14E6FC"/>
              </a:solidFill>
              <a:latin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04F06156-694A-C2B0-B011-741CB4ACE1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D3E9B50B-3712-A10C-35A1-D6E24918E162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C78BD0CC-44D0-13B3-257C-6C3D9D0F22B7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35F072-C8BB-A96E-FDB3-AA99587D7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Igualdades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Ambos: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São ad servers completos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Distribuem anúncios e medem performance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Geram relatórios detalhados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Suportam: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Display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Vídeo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Rich Media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Usam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tags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 xml:space="preserve"> e contadores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EF510ACD-2C3E-0F9E-A68B-FB8F18D2711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Diferenças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FA22577D-6D9B-EF32-9B86-3CB16E8F1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864628"/>
              </p:ext>
            </p:extLst>
          </p:nvPr>
        </p:nvGraphicFramePr>
        <p:xfrm>
          <a:off x="9664800" y="3165056"/>
          <a:ext cx="7999800" cy="33832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776582">
                  <a:extLst>
                    <a:ext uri="{9D8B030D-6E8A-4147-A177-3AD203B41FA5}">
                      <a16:colId xmlns:a16="http://schemas.microsoft.com/office/drawing/2014/main" val="1783663173"/>
                    </a:ext>
                  </a:extLst>
                </a:gridCol>
                <a:gridCol w="2556618">
                  <a:extLst>
                    <a:ext uri="{9D8B030D-6E8A-4147-A177-3AD203B41FA5}">
                      <a16:colId xmlns:a16="http://schemas.microsoft.com/office/drawing/2014/main" val="1202029886"/>
                    </a:ext>
                  </a:extLst>
                </a:gridCol>
                <a:gridCol w="2666600">
                  <a:extLst>
                    <a:ext uri="{9D8B030D-6E8A-4147-A177-3AD203B41FA5}">
                      <a16:colId xmlns:a16="http://schemas.microsoft.com/office/drawing/2014/main" val="1701239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Aspecto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CM360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Flashtalking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264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Empresa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Google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Innovid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108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Integração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Forte com Google (DV360, Ads)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 xml:space="preserve">Independente / </a:t>
                      </a: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cross</a:t>
                      </a: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-plataforma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679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Criativos dinâmicos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Básico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Muito avançado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892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Personalização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Média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Alta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62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Interface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Mais</a:t>
                      </a:r>
                      <a:r>
                        <a:rPr lang="pt-BR" dirty="0"/>
                        <a:t xml:space="preserve"> </a:t>
                      </a: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simples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Mais técnica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317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Uso comum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Mercado Brasil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Grandes operações globais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964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1898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FDCF14B9-5367-0939-52E5-A0347E442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C77E314E-C1E0-9185-B568-A9703CF6A75F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5EC7797-4F87-960B-AD01-E82E75AA5AC8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5F16D416-8B48-43B5-DF99-A2302698688C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D3B7F7"/>
              </a:buClr>
              <a:buSzPts val="5675"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Conclusão</a:t>
            </a:r>
            <a:endParaRPr lang="pt-BR" sz="4800" b="1" dirty="0">
              <a:solidFill>
                <a:srgbClr val="14E6FC"/>
              </a:solidFill>
              <a:latin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BFD02462-6852-FD85-B5A8-601080DB55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D2460289-7695-8852-97EB-01BBFBD2A10C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42D682A5-E261-75E4-4989-F1A2B882BA3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 xml:space="preserve"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82EC03-5CC9-7E11-A0E2-059BFF5F9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Ad Server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O coração da campanha digital: armazena, distribui, mede e reporta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Tag exibe o anúncio — Contador/Pixel rastreia o evento</a:t>
            </a:r>
          </a:p>
          <a:p>
            <a:pPr marL="0" indent="0">
              <a:lnSpc>
                <a:spcPct val="150000"/>
              </a:lnSpc>
              <a:spcBef>
                <a:spcPts val="200"/>
              </a:spcBef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CM360 vs Flashtalking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Mesma função base — CM360: ecossistema Google / Flashtalking: criação dinâmica</a:t>
            </a:r>
          </a:p>
          <a:p>
            <a:pPr marL="0" indent="0">
              <a:lnSpc>
                <a:spcPct val="150000"/>
              </a:lnSpc>
              <a:spcBef>
                <a:spcPts val="200"/>
              </a:spcBef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Mensuração (Kantar) + Ad Verification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Pixel + Brand Lift: saem de “quantas impressões” para “a marca cresceu?”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IAS e DoubleVerify garantem Brand Safety, Viewability e combate a fraudes</a:t>
            </a:r>
          </a:p>
          <a:p>
            <a:pPr marL="342900" indent="0">
              <a:lnSpc>
                <a:spcPct val="130000"/>
              </a:lnSpc>
              <a:buNone/>
            </a:pPr>
            <a:r>
              <a:rPr lang="pt-BR" sz="1700" dirty="0">
                <a:solidFill>
                  <a:srgbClr val="494C67"/>
                </a:solidFill>
                <a:latin typeface="Arial"/>
              </a:rPr>
              <a:t>→ Moat: referência histórica em atenção e vídeo (encerrado em 2023)</a:t>
            </a:r>
          </a:p>
          <a:p>
            <a:pPr marL="0" indent="0">
              <a:lnSpc>
                <a:spcPct val="140000"/>
              </a:lnSpc>
              <a:spcBef>
                <a:spcPts val="300"/>
              </a:spcBef>
              <a:buNone/>
            </a:pPr>
            <a:r>
              <a:rPr lang="pt-BR" sz="1600" i="1" dirty="0">
                <a:solidFill>
                  <a:srgbClr val="484D67"/>
                </a:solidFill>
                <a:latin typeface="Arial"/>
              </a:rPr>
              <a:t>Conhecer cada ferramenta é saber onde o investimento em mídia vai — e se está chegando certo.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2A06DA7-F591-FA97-E338-D35741D09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1004" y="1900985"/>
            <a:ext cx="10063596" cy="670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482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e24b5c77d_0_336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9" name="Google Shape;159;g3ae24b5c77d_0_3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414" y="459110"/>
            <a:ext cx="14053171" cy="9368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g3accfc1d022_0_27" descr="Umbrella Bubbles bw.m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accfc1d022_0_27"/>
          <p:cNvSpPr txBox="1"/>
          <p:nvPr/>
        </p:nvSpPr>
        <p:spPr>
          <a:xfrm>
            <a:off x="793453" y="4417150"/>
            <a:ext cx="64779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accfc1d022_0_27"/>
          <p:cNvSpPr txBox="1"/>
          <p:nvPr/>
        </p:nvSpPr>
        <p:spPr>
          <a:xfrm>
            <a:off x="793450" y="6145950"/>
            <a:ext cx="65571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accfc1d022_0_27"/>
          <p:cNvSpPr txBox="1"/>
          <p:nvPr/>
        </p:nvSpPr>
        <p:spPr>
          <a:xfrm>
            <a:off x="793454" y="2674050"/>
            <a:ext cx="65571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accfc1d022_0_27"/>
          <p:cNvSpPr txBox="1"/>
          <p:nvPr/>
        </p:nvSpPr>
        <p:spPr>
          <a:xfrm>
            <a:off x="4714530" y="7535675"/>
            <a:ext cx="3271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800"/>
              <a:buFont typeface="Helvetica Neue"/>
              <a:buNone/>
            </a:pPr>
            <a:r>
              <a:rPr lang="pt-BR" sz="18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then automate.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g3accfc1d022_0_27" descr="Raio Light Beam.png"/>
          <p:cNvPicPr preferRelativeResize="0"/>
          <p:nvPr/>
        </p:nvPicPr>
        <p:blipFill rotWithShape="1">
          <a:blip r:embed="rId4">
            <a:alphaModFix/>
          </a:blip>
          <a:srcRect b="13366"/>
          <a:stretch/>
        </p:blipFill>
        <p:spPr>
          <a:xfrm>
            <a:off x="13285125" y="-1"/>
            <a:ext cx="3356399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accfc1d022_0_27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r>
              <a:rPr lang="pt-BR" sz="1142" b="0" i="0" u="none" strike="noStrike" cap="none">
                <a:solidFill>
                  <a:srgbClr val="494C67"/>
                </a:solidFill>
                <a:latin typeface="DM Sans Black"/>
                <a:ea typeface="DM Sans Black"/>
                <a:cs typeface="DM Sans Black"/>
                <a:sym typeface="DM Sans Black"/>
              </a:rPr>
              <a:t>Unilever | Operação 2026</a:t>
            </a:r>
            <a:endParaRPr sz="1037" b="0" i="0" u="none" strike="noStrike" cap="none">
              <a:solidFill>
                <a:srgbClr val="494C67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71" name="Google Shape;171;g3accfc1d022_0_27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EAFE2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accfc1d022_0_27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g3accfc1d022_0_27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g3ae24b5c77d_0_301" descr="Umbrellas bw.m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ae24b5c77d_0_301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0" name="Google Shape;180;g3ae24b5c77d_0_301" title="_Logo_RGB_1 copy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25175" y="4554050"/>
            <a:ext cx="4637649" cy="117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Pixel da Kantar — O que é?</a:t>
            </a:r>
          </a:p>
        </p:txBody>
      </p:sp>
      <p:sp>
        <p:nvSpPr>
          <p:cNvPr id="5" name="left-col"/>
          <p:cNvSpPr txBox="1"/>
          <p:nvPr/>
        </p:nvSpPr>
        <p:spPr>
          <a:xfrm>
            <a:off x="457200" y="1828800"/>
            <a:ext cx="7620000" cy="762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  <a:buNone/>
            </a:pPr>
            <a:r>
              <a:rPr lang="pt-BR" sz="2200" b="1" dirty="0">
                <a:solidFill>
                  <a:srgbClr val="484D67"/>
                </a:solidFill>
                <a:latin typeface="Arial"/>
              </a:rPr>
              <a:t>O que é o Pixel da Kantar?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>É um código invisível inserido dentro de um anúncio ou página. Quando alguém vê aquele anúncio, o pixel “acorda” e registra a passagem daquele usuário.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2000" b="1" dirty="0">
                <a:solidFill>
                  <a:srgbClr val="484D67"/>
                </a:solidFill>
                <a:latin typeface="Arial"/>
              </a:rPr>
              <a:t>Para que serve?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 xml:space="preserve"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Registrar quem foi exposto ao anúncio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 xml:space="preserve"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Cruzar com o painel Kantar: perfil de quem viu (idade, gênero, região)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14E6FC"/>
                </a:solidFill>
                <a:latin typeface="Arial"/>
              </a:rPr>
              <a:t xml:space="preserve">→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Base para medir se a campanha funcionou de verdade</a:t>
            </a:r>
          </a:p>
        </p:txBody>
      </p:sp>
      <p:sp>
        <p:nvSpPr>
          <p:cNvPr id="6" name="analogy-box"/>
          <p:cNvSpPr txBox="1"/>
          <p:nvPr/>
        </p:nvSpPr>
        <p:spPr>
          <a:xfrm>
            <a:off x="8534400" y="1828800"/>
            <a:ext cx="7010400" cy="4800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pt-BR" sz="2200" b="1" dirty="0">
                <a:solidFill>
                  <a:srgbClr val="14E6FC"/>
                </a:solidFill>
                <a:latin typeface="Arial"/>
              </a:rPr>
              <a:t>A analogia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i="1" dirty="0">
                <a:solidFill>
                  <a:srgbClr val="484D67"/>
                </a:solidFill>
                <a:latin typeface="Arial"/>
              </a:rPr>
              <a:t>Imagina que você entra em uma loja física e o segurança discretamente anota no caderninho: “esse cara entrou às 14h, foi direto pra seção de tênis, ficou 5 minutos, e saiu sem comprar.”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484D67"/>
                </a:solidFill>
                <a:latin typeface="Arial"/>
              </a:rPr>
              <a:t>O pixel da Kantar faz exatamente isso — mas no mundo digital.</a:t>
            </a:r>
          </a:p>
        </p:txBody>
      </p:sp>
      <p:sp>
        <p:nvSpPr>
          <p:cNvPr id="7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8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IAS (Integral Ad Science)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 xml:space="preserve"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Ferramenta que monitora a qualidade e segurança do ambiente onde o anúncio é exibido.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Brand Safety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Garante que o anúncio não apareça ao lado de conteúdo impróprio: fake news, violência ou conteúdo adulto.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Viewability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Mede se o anúncio realmente ficou visível na tela do usuário pelo tempo mínimo exigido.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Invalid Traffic (IVT)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Detecta e filtra cliques e impressoes fraudulentos gerados por bots — protegendo o investimento da marca.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Analogia: o fiscal de qualidade do anuncio — verifica se foi exibido no lugar certo, do jeito certo, para uma pessoa real.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DoubleVerify (DV)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 xml:space="preserve"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Concorrente direto do IAS, com foco em verificação independente e granular da mídia digital.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Brand Suitability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Controle mais granular sobre o contexto: não é só "seguro/não seguro", mas categorias customizadas por marca.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Fraud e IVT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Bloqueia tráfego inválido em tempo real, antes mesmo do anúncio ser exibido.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Attention Metrics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Métrica mais recente: vai além da viewability e mede se o usuário realmente prestou atenção ao anúncio.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Diferencial vs IAS: o DV é frequentemente preferido em operações globais pela granularidade do Brand Suitability e pelas Attention Metrics.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algn="ctr">
              <a:buNone/>
            </a:pPr>
            <a:endParaRPr sz="900" b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Ad Verification — Moat (Oracle Advertising)</a:t>
            </a:r>
          </a:p>
        </p:txBody>
      </p:sp>
      <p:sp>
        <p:nvSpPr>
          <p:cNvPr id="5" name="whatis"/>
          <p:cNvSpPr txBox="1"/>
          <p:nvPr/>
        </p:nvSpPr>
        <p:spPr>
          <a:xfrm>
            <a:off x="457200" y="1828800"/>
            <a:ext cx="15087600" cy="1143000"/>
          </a:xfrm>
          <a:prstGeom prst="roundRect">
            <a:avLst>
              <a:gd name="adj" fmla="val 5000"/>
            </a:avLst>
          </a:prstGeom>
          <a:solidFill>
            <a:srgbClr val="F0FEFF"/>
          </a:solidFill>
          <a:ln w="19050">
            <a:solidFill>
              <a:srgbClr val="14E6FC"/>
            </a:solidFill>
          </a:ln>
        </p:spPr>
        <p:txBody>
          <a:bodyPr wrap="square" lIns="228600" tIns="228600" rIns="228600" bIns="2286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800" b="1" dirty="0">
                <a:solidFill>
                  <a:srgbClr val="484D67"/>
                </a:solidFill>
                <a:latin typeface="Arial"/>
              </a:rPr>
              <a:t xml:space="preserve">O que é: 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>Ferramenta pioneira em verificação e mensuração de atenção. Hoje parte da Oracle Advertising.</a:t>
            </a:r>
          </a:p>
        </p:txBody>
      </p:sp>
      <p:sp>
        <p:nvSpPr>
          <p:cNvPr id="6" name="card1"/>
          <p:cNvSpPr txBox="1"/>
          <p:nvPr/>
        </p:nvSpPr>
        <p:spPr>
          <a:xfrm>
            <a:off x="457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Viewability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Mede se o anúncio ficou visível pelo tempo suficiente para ser considerado uma impressão válida.</a:t>
            </a:r>
          </a:p>
        </p:txBody>
      </p:sp>
      <p:sp>
        <p:nvSpPr>
          <p:cNvPr id="7" name="card2"/>
          <p:cNvSpPr txBox="1"/>
          <p:nvPr/>
        </p:nvSpPr>
        <p:spPr>
          <a:xfrm>
            <a:off x="5410200" y="3200400"/>
            <a:ext cx="47244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Attention Analytics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Pioneira em rastrear interações do usuário com o anúncio: hover, scroll, tempo de tela.</a:t>
            </a:r>
          </a:p>
        </p:txBody>
      </p:sp>
      <p:sp>
        <p:nvSpPr>
          <p:cNvPr id="8" name="card3"/>
          <p:cNvSpPr txBox="1"/>
          <p:nvPr/>
        </p:nvSpPr>
        <p:spPr>
          <a:xfrm>
            <a:off x="10363200" y="3200400"/>
            <a:ext cx="5181600" cy="50292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228600" tIns="228600" rIns="228600" bIns="228600" anchor="t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2000" b="1" dirty="0">
                <a:solidFill>
                  <a:srgbClr val="14E6FC"/>
                </a:solidFill>
                <a:latin typeface="Arial"/>
              </a:rPr>
              <a:t>Video Measurement</a:t>
            </a:r>
          </a:p>
          <a:p>
            <a:pPr>
              <a:buNone/>
            </a:pPr>
            <a:endParaRPr lang="pt-BR" sz="1700" dirty="0">
              <a:latin typeface="Arial"/>
            </a:endParaRPr>
          </a:p>
          <a:p>
            <a:pPr algn="l">
              <a:lnSpc>
                <a:spcPct val="120000"/>
              </a:lnSpc>
              <a:buNone/>
            </a:pPr>
            <a:r>
              <a:rPr lang="pt-BR" sz="1700" dirty="0">
                <a:solidFill>
                  <a:srgbClr val="FFFFFF"/>
                </a:solidFill>
                <a:latin typeface="Arial"/>
              </a:rPr>
              <a:t>Especialista em medir qualidade de vídeo: quartis de visualização, conclusão e som ativo.</a:t>
            </a:r>
          </a:p>
        </p:txBody>
      </p:sp>
      <p:sp>
        <p:nvSpPr>
          <p:cNvPr id="9" name="note"/>
          <p:cNvSpPr txBox="1"/>
          <p:nvPr/>
        </p:nvSpPr>
        <p:spPr>
          <a:xfrm>
            <a:off x="457200" y="8457600"/>
            <a:ext cx="15087600" cy="91440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txBody>
          <a:bodyPr wrap="square" lIns="228600" tIns="114300" rIns="228600" bIns="1143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500" i="1" dirty="0">
                <a:solidFill>
                  <a:srgbClr val="484D67"/>
                </a:solidFill>
                <a:latin typeface="Arial"/>
              </a:rPr>
              <a:t>⚠ Status atual: a Oracle encerrou o produto Moat em 2023. Ainda aparece em relatorios historicos e plataformas com SDK legado — mas nao aceita novos clientes.</a:t>
            </a:r>
          </a:p>
        </p:txBody>
      </p:sp>
      <p:sp>
        <p:nvSpPr>
          <p:cNvPr id="10" name="footer-left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11" name="footer-right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ubtitle"/>
          <p:cNvSpPr txBox="1"/>
          <p:nvPr/>
        </p:nvSpPr>
        <p:spPr>
          <a:xfrm>
            <a:off x="639233" y="304800"/>
            <a:ext cx="4000000" cy="2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75000"/>
                  </a:srgbClr>
                </a:solidFill>
                <a:latin typeface="Arial"/>
              </a:rPr>
              <a:t>BLOCO 1 DE 4</a:t>
            </a:r>
          </a:p>
        </p:txBody>
      </p:sp>
      <p:sp>
        <p:nvSpPr>
          <p:cNvPr id="4" name="bar"/>
          <p:cNvSpPr/>
          <p:nvPr/>
        </p:nvSpPr>
        <p:spPr>
          <a:xfrm>
            <a:off x="457200" y="2743200"/>
            <a:ext cx="76200" cy="4800000"/>
          </a:xfrm>
          <a:prstGeom prst="rect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 txBox="1"/>
          <p:nvPr/>
        </p:nvSpPr>
        <p:spPr>
          <a:xfrm>
            <a:off x="800000" y="2600000"/>
            <a:ext cx="96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6400" b="1" dirty="0">
                <a:solidFill>
                  <a:srgbClr val="14E6FC"/>
                </a:solidFill>
                <a:latin typeface="Arial"/>
              </a:rPr>
              <a:t>Ad Server</a:t>
            </a:r>
          </a:p>
        </p:txBody>
      </p:sp>
      <p:sp>
        <p:nvSpPr>
          <p:cNvPr id="6" name="definition"/>
          <p:cNvSpPr txBox="1"/>
          <p:nvPr/>
        </p:nvSpPr>
        <p:spPr>
          <a:xfrm>
            <a:off x="800000" y="4400000"/>
            <a:ext cx="98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pt-BR" sz="2000" dirty="0">
                <a:solidFill>
                  <a:srgbClr val="FFFFFF">
                    <a:alpha val="75000"/>
                  </a:srgbClr>
                </a:solidFill>
                <a:latin typeface="Arial"/>
              </a:rPr>
              <a:t>Plataforma responsável por armazenar, distribuir, rastrear e reportar anúncios digitais. É o maestro da campanha — decide qual criativo aparece, para quem, quando e quantas vezes.</a:t>
            </a:r>
          </a:p>
        </p:txBody>
      </p:sp>
      <p:sp>
        <p:nvSpPr>
          <p:cNvPr id="10" name="line0"/>
          <p:cNvSpPr/>
          <p:nvPr/>
        </p:nvSpPr>
        <p:spPr>
          <a:xfrm>
            <a:off x="10800000" y="320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75000"/>
                  </a:srgbClr>
                </a:solidFill>
                <a:latin typeface="Arial"/>
              </a:rPr>
              <a:t>Armazena criativos</a:t>
            </a:r>
          </a:p>
        </p:txBody>
      </p:sp>
      <p:sp>
        <p:nvSpPr>
          <p:cNvPr id="11" name="line1"/>
          <p:cNvSpPr/>
          <p:nvPr/>
        </p:nvSpPr>
        <p:spPr>
          <a:xfrm>
            <a:off x="10800000" y="358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75000"/>
                  </a:srgbClr>
                </a:solidFill>
                <a:latin typeface="Arial"/>
              </a:rPr>
              <a:t>Distribui por regras</a:t>
            </a:r>
          </a:p>
        </p:txBody>
      </p:sp>
      <p:sp>
        <p:nvSpPr>
          <p:cNvPr id="12" name="line2"/>
          <p:cNvSpPr/>
          <p:nvPr/>
        </p:nvSpPr>
        <p:spPr>
          <a:xfrm>
            <a:off x="10800000" y="396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75000"/>
                  </a:srgbClr>
                </a:solidFill>
                <a:latin typeface="Arial"/>
              </a:rPr>
              <a:t>Mede resultados</a:t>
            </a:r>
          </a:p>
        </p:txBody>
      </p:sp>
      <p:sp>
        <p:nvSpPr>
          <p:cNvPr id="13" name="line3"/>
          <p:cNvSpPr/>
          <p:nvPr/>
        </p:nvSpPr>
        <p:spPr>
          <a:xfrm>
            <a:off x="10800000" y="434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75000"/>
                  </a:srgbClr>
                </a:solidFill>
                <a:latin typeface="Arial"/>
              </a:rPr>
              <a:t>Unifica relatórios</a:t>
            </a:r>
          </a:p>
        </p:txBody>
      </p:sp>
      <p:sp>
        <p:nvSpPr>
          <p:cNvPr id="2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Stormx</a:t>
            </a:r>
          </a:p>
        </p:txBody>
      </p:sp>
      <p:sp>
        <p:nvSpPr>
          <p:cNvPr id="2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ubtitle"/>
          <p:cNvSpPr txBox="1"/>
          <p:nvPr/>
        </p:nvSpPr>
        <p:spPr>
          <a:xfrm>
            <a:off x="639233" y="304800"/>
            <a:ext cx="4000000" cy="2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50000"/>
                  </a:srgbClr>
                </a:solidFill>
                <a:latin typeface="Arial"/>
              </a:rPr>
              <a:t>BLOCO 3 DE 4</a:t>
            </a:r>
          </a:p>
        </p:txBody>
      </p:sp>
      <p:sp>
        <p:nvSpPr>
          <p:cNvPr id="4" name="bar"/>
          <p:cNvSpPr/>
          <p:nvPr/>
        </p:nvSpPr>
        <p:spPr>
          <a:xfrm>
            <a:off x="457200" y="2743200"/>
            <a:ext cx="76200" cy="4800000"/>
          </a:xfrm>
          <a:prstGeom prst="rect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 txBox="1"/>
          <p:nvPr/>
        </p:nvSpPr>
        <p:spPr>
          <a:xfrm>
            <a:off x="800000" y="2600000"/>
            <a:ext cx="96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6400" b="1" dirty="0">
                <a:solidFill>
                  <a:srgbClr val="14E6FC"/>
                </a:solidFill>
                <a:latin typeface="Arial"/>
              </a:rPr>
              <a:t>Mensuração</a:t>
            </a:r>
          </a:p>
        </p:txBody>
      </p:sp>
      <p:sp>
        <p:nvSpPr>
          <p:cNvPr id="6" name="definition"/>
          <p:cNvSpPr txBox="1"/>
          <p:nvPr/>
        </p:nvSpPr>
        <p:spPr>
          <a:xfrm>
            <a:off x="800000" y="4400000"/>
            <a:ext cx="98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pt-BR" sz="2000" dirty="0">
                <a:solidFill>
                  <a:srgbClr val="FFFFFF">
                    <a:alpha val="75000"/>
                  </a:srgbClr>
                </a:solidFill>
                <a:latin typeface="Arial"/>
              </a:rPr>
              <a:t>Ferramentas que medem o impacto real da campanha — não só quantas vezes o anúncio foi exibido, mas quem viu, e o que mudou depois na percepção da marca.</a:t>
            </a:r>
          </a:p>
        </p:txBody>
      </p:sp>
      <p:sp>
        <p:nvSpPr>
          <p:cNvPr id="10" name="line0"/>
          <p:cNvSpPr/>
          <p:nvPr/>
        </p:nvSpPr>
        <p:spPr>
          <a:xfrm>
            <a:off x="10800000" y="320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Pixel de rastreamento</a:t>
            </a:r>
          </a:p>
        </p:txBody>
      </p:sp>
      <p:sp>
        <p:nvSpPr>
          <p:cNvPr id="11" name="line1"/>
          <p:cNvSpPr/>
          <p:nvPr/>
        </p:nvSpPr>
        <p:spPr>
          <a:xfrm>
            <a:off x="10800000" y="358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Perfil da audiência exposta</a:t>
            </a:r>
          </a:p>
        </p:txBody>
      </p:sp>
      <p:sp>
        <p:nvSpPr>
          <p:cNvPr id="12" name="line2"/>
          <p:cNvSpPr/>
          <p:nvPr/>
        </p:nvSpPr>
        <p:spPr>
          <a:xfrm>
            <a:off x="10800000" y="396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Brand Lift</a:t>
            </a:r>
          </a:p>
        </p:txBody>
      </p:sp>
      <p:sp>
        <p:nvSpPr>
          <p:cNvPr id="13" name="line3"/>
          <p:cNvSpPr/>
          <p:nvPr/>
        </p:nvSpPr>
        <p:spPr>
          <a:xfrm>
            <a:off x="10800000" y="434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Awareness · Recall · Consideration</a:t>
            </a:r>
          </a:p>
        </p:txBody>
      </p:sp>
      <p:sp>
        <p:nvSpPr>
          <p:cNvPr id="2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Stormx</a:t>
            </a:r>
          </a:p>
        </p:txBody>
      </p:sp>
      <p:sp>
        <p:nvSpPr>
          <p:cNvPr id="2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subtitle"/>
          <p:cNvSpPr txBox="1"/>
          <p:nvPr/>
        </p:nvSpPr>
        <p:spPr>
          <a:xfrm>
            <a:off x="639233" y="304800"/>
            <a:ext cx="4000000" cy="25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50000"/>
                  </a:srgbClr>
                </a:solidFill>
                <a:latin typeface="Arial"/>
              </a:rPr>
              <a:t>BLOCO 4 DE 4</a:t>
            </a:r>
          </a:p>
        </p:txBody>
      </p:sp>
      <p:sp>
        <p:nvSpPr>
          <p:cNvPr id="4" name="bar"/>
          <p:cNvSpPr/>
          <p:nvPr/>
        </p:nvSpPr>
        <p:spPr>
          <a:xfrm>
            <a:off x="457200" y="2743200"/>
            <a:ext cx="76200" cy="4800000"/>
          </a:xfrm>
          <a:prstGeom prst="rect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title"/>
          <p:cNvSpPr txBox="1"/>
          <p:nvPr/>
        </p:nvSpPr>
        <p:spPr>
          <a:xfrm>
            <a:off x="800000" y="2600000"/>
            <a:ext cx="9600000" cy="1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6400" b="1" dirty="0">
                <a:solidFill>
                  <a:srgbClr val="14E6FC"/>
                </a:solidFill>
                <a:latin typeface="Arial"/>
              </a:rPr>
              <a:t>Ad Verification</a:t>
            </a:r>
          </a:p>
        </p:txBody>
      </p:sp>
      <p:sp>
        <p:nvSpPr>
          <p:cNvPr id="6" name="definition"/>
          <p:cNvSpPr txBox="1"/>
          <p:nvPr/>
        </p:nvSpPr>
        <p:spPr>
          <a:xfrm>
            <a:off x="800000" y="4400000"/>
            <a:ext cx="9800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lang="pt-BR" sz="2000" dirty="0">
                <a:solidFill>
                  <a:srgbClr val="FFFFFF">
                    <a:alpha val="75000"/>
                  </a:srgbClr>
                </a:solidFill>
                <a:latin typeface="Arial"/>
              </a:rPr>
              <a:t>Ferramentas que garantem que o anúncio foi exibido no lugar certo, para uma pessoa real, e de forma visível. Protegem o investimento da marca contra fraudes e contextos inadequados.</a:t>
            </a:r>
          </a:p>
        </p:txBody>
      </p:sp>
      <p:sp>
        <p:nvSpPr>
          <p:cNvPr id="10" name="line0"/>
          <p:cNvSpPr/>
          <p:nvPr/>
        </p:nvSpPr>
        <p:spPr>
          <a:xfrm>
            <a:off x="10800000" y="320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Brand Safety</a:t>
            </a:r>
          </a:p>
        </p:txBody>
      </p:sp>
      <p:sp>
        <p:nvSpPr>
          <p:cNvPr id="11" name="line1"/>
          <p:cNvSpPr/>
          <p:nvPr/>
        </p:nvSpPr>
        <p:spPr>
          <a:xfrm>
            <a:off x="10800000" y="358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Viewability</a:t>
            </a:r>
          </a:p>
        </p:txBody>
      </p:sp>
      <p:sp>
        <p:nvSpPr>
          <p:cNvPr id="12" name="line2"/>
          <p:cNvSpPr/>
          <p:nvPr/>
        </p:nvSpPr>
        <p:spPr>
          <a:xfrm>
            <a:off x="10800000" y="396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Invalid Traffic (IVT)</a:t>
            </a:r>
          </a:p>
        </p:txBody>
      </p:sp>
      <p:sp>
        <p:nvSpPr>
          <p:cNvPr id="13" name="line3"/>
          <p:cNvSpPr/>
          <p:nvPr/>
        </p:nvSpPr>
        <p:spPr>
          <a:xfrm>
            <a:off x="10800000" y="4340000"/>
            <a:ext cx="48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lang="pt-BR" sz="1600" dirty="0">
                <a:solidFill>
                  <a:srgbClr val="FFFFFF">
                    <a:alpha val="50000"/>
                  </a:srgbClr>
                </a:solidFill>
                <a:latin typeface="Arial"/>
              </a:rPr>
              <a:t>Attention Metrics</a:t>
            </a:r>
          </a:p>
        </p:txBody>
      </p:sp>
      <p:sp>
        <p:nvSpPr>
          <p:cNvPr id="2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Stormx</a:t>
            </a:r>
          </a:p>
        </p:txBody>
      </p:sp>
      <p:sp>
        <p:nvSpPr>
          <p:cNvPr id="2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FFFFFF">
                    <a:alpha val="40000"/>
                  </a:srgbClr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39233" y="304800"/>
            <a:ext cx="32000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endParaRPr sz="9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>
            <a:spAutoFit/>
          </a:bodyPr>
          <a:lstStyle/>
          <a:p>
            <a:pPr algn="l">
              <a:buNone/>
            </a:pPr>
            <a:r>
              <a:rPr lang="pt-BR" sz="4800" b="1" dirty="0">
                <a:solidFill>
                  <a:srgbClr val="14E6FC"/>
                </a:solidFill>
                <a:latin typeface="Arial"/>
              </a:rPr>
              <a:t>Brand Lift — A campanha funcionou?</a:t>
            </a:r>
          </a:p>
        </p:txBody>
      </p:sp>
      <p:sp>
        <p:nvSpPr>
          <p:cNvPr id="5" name="left"/>
          <p:cNvSpPr txBox="1"/>
          <p:nvPr/>
        </p:nvSpPr>
        <p:spPr>
          <a:xfrm>
            <a:off x="457200" y="1828800"/>
            <a:ext cx="7200000" cy="762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t">
            <a:spAutoFit/>
          </a:bodyPr>
          <a:lstStyle/>
          <a:p>
            <a:pPr algn="l">
              <a:lnSpc>
                <a:spcPct val="130000"/>
              </a:lnSpc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Sem pixel → sabemos só </a:t>
            </a:r>
            <a:r>
              <a:rPr lang="pt-BR" sz="1800" b="1" dirty="0">
                <a:solidFill>
                  <a:srgbClr val="484D67"/>
                </a:solidFill>
                <a:latin typeface="Arial"/>
              </a:rPr>
              <a:t>quantas vezes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 o anúncio apareceu.</a:t>
            </a:r>
          </a:p>
          <a:p>
            <a:pPr algn="l">
              <a:lnSpc>
                <a:spcPct val="130000"/>
              </a:lnSpc>
              <a:spcBef>
                <a:spcPts val="200"/>
              </a:spcBef>
              <a:buNone/>
            </a:pP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Com pixel Kantar → sabemos </a:t>
            </a:r>
            <a:r>
              <a:rPr lang="pt-BR" sz="1800" b="1" dirty="0">
                <a:solidFill>
                  <a:srgbClr val="14E6FC"/>
                </a:solidFill>
                <a:latin typeface="Arial"/>
              </a:rPr>
              <a:t>quem viu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 e </a:t>
            </a:r>
            <a:r>
              <a:rPr lang="pt-BR" sz="1800" b="1" dirty="0">
                <a:solidFill>
                  <a:srgbClr val="14E6FC"/>
                </a:solidFill>
                <a:latin typeface="Arial"/>
              </a:rPr>
              <a:t>o que mudou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 depois.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2000" b="1" dirty="0">
                <a:solidFill>
                  <a:srgbClr val="484D67"/>
                </a:solidFill>
                <a:latin typeface="Arial"/>
              </a:rPr>
              <a:t>O que o Brand Lift mede:</a:t>
            </a:r>
          </a:p>
          <a:p>
            <a:pPr marL="457200" algn="l">
              <a:lnSpc>
                <a:spcPct val="130000"/>
              </a:lnSpc>
              <a:spcBef>
                <a:spcPts val="150"/>
              </a:spcBef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Awareness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 → Mais gente conheceu a marca?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Ad Recall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 → As pessoas lembraram do anúncio?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Consideration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 → A intenção de compra aumentou?</a:t>
            </a:r>
          </a:p>
          <a:p>
            <a:pPr marL="457200" algn="l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14E6FC"/>
                </a:solidFill>
                <a:latin typeface="Arial"/>
              </a:rPr>
              <a:t>Favorability</a:t>
            </a:r>
            <a:r>
              <a:rPr lang="pt-BR" sz="1800" dirty="0">
                <a:solidFill>
                  <a:srgbClr val="494C67"/>
                </a:solidFill>
                <a:latin typeface="Arial"/>
              </a:rPr>
              <a:t xml:space="preserve"> → A percepção da marca melhorou?</a:t>
            </a:r>
          </a:p>
          <a:p>
            <a:pPr>
              <a:buNone/>
            </a:pPr>
            <a:endParaRPr lang="pt-BR" sz="1800" dirty="0">
              <a:latin typeface="Arial"/>
            </a:endParaRPr>
          </a:p>
          <a:p>
            <a:pPr algn="l">
              <a:lnSpc>
                <a:spcPct val="130000"/>
              </a:lnSpc>
              <a:buNone/>
            </a:pPr>
            <a:r>
              <a:rPr lang="pt-BR" sz="1700" i="1" dirty="0">
                <a:solidFill>
                  <a:srgbClr val="484D67"/>
                </a:solidFill>
                <a:latin typeface="Arial"/>
              </a:rPr>
              <a:t>“O pixel é o carimbo invisível. O Brand Lift é o resultado da prova.”</a:t>
            </a:r>
          </a:p>
        </p:txBody>
      </p:sp>
      <p:sp>
        <p:nvSpPr>
          <p:cNvPr id="6" name="right"/>
          <p:cNvSpPr txBox="1"/>
          <p:nvPr/>
        </p:nvSpPr>
        <p:spPr>
          <a:xfrm>
            <a:off x="8229600" y="1828800"/>
            <a:ext cx="7314600" cy="7620000"/>
          </a:xfrm>
          <a:prstGeom prst="roundRect">
            <a:avLst>
              <a:gd name="adj" fmla="val 5000"/>
            </a:avLst>
          </a:prstGeom>
          <a:solidFill>
            <a:srgbClr val="484D67"/>
          </a:solidFill>
          <a:ln>
            <a:noFill/>
          </a:ln>
        </p:spPr>
        <p:txBody>
          <a:bodyPr wrap="square" lIns="342900" tIns="342900" rIns="342900" bIns="342900" anchor="ctr">
            <a:spAutoFit/>
          </a:bodyPr>
          <a:lstStyle/>
          <a:p>
            <a:pPr algn="ctr">
              <a:lnSpc>
                <a:spcPct val="130000"/>
              </a:lnSpc>
              <a:buNone/>
            </a:pPr>
            <a:r>
              <a:rPr lang="pt-BR" sz="2200" b="1" dirty="0">
                <a:solidFill>
                  <a:srgbClr val="14E6FC"/>
                </a:solidFill>
                <a:latin typeface="Arial"/>
              </a:rPr>
              <a:t>Como funciona na prática?</a:t>
            </a:r>
          </a:p>
          <a:p>
            <a:pPr algn="ctr">
              <a:buNone/>
            </a:pPr>
            <a:endParaRPr lang="pt-BR" sz="1800" dirty="0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lang="pt-BR" sz="1800" dirty="0">
                <a:solidFill>
                  <a:srgbClr val="FFFFFF"/>
                </a:solidFill>
                <a:latin typeface="Arial"/>
              </a:rPr>
              <a:t>1. Pixel é ativado quando o usuário vê o anúncio</a:t>
            </a:r>
          </a:p>
          <a:p>
            <a:pPr algn="ctr">
              <a:buNone/>
            </a:pPr>
            <a:endParaRPr lang="pt-BR" sz="1800" dirty="0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lang="pt-BR" sz="1800" dirty="0">
                <a:solidFill>
                  <a:srgbClr val="FFFFFF"/>
                </a:solidFill>
                <a:latin typeface="Arial"/>
              </a:rPr>
              <a:t>2. Kantar cruza com o painel de pesquisa deles</a:t>
            </a:r>
          </a:p>
          <a:p>
            <a:pPr algn="ctr">
              <a:buNone/>
            </a:pPr>
            <a:endParaRPr lang="pt-BR" sz="1800" dirty="0">
              <a:latin typeface="Arial"/>
            </a:endParaRPr>
          </a:p>
          <a:p>
            <a:pPr algn="ctr">
              <a:lnSpc>
                <a:spcPct val="130000"/>
              </a:lnSpc>
              <a:buNone/>
            </a:pPr>
            <a:r>
              <a:rPr lang="pt-BR" sz="1800" dirty="0">
                <a:solidFill>
                  <a:srgbClr val="FFFFFF"/>
                </a:solidFill>
                <a:latin typeface="Arial"/>
              </a:rPr>
              <a:t>3. Gera relatório: a marca cresceu em lembrança, consideração e intenção de compra?</a:t>
            </a:r>
          </a:p>
        </p:txBody>
      </p:sp>
      <p:sp>
        <p:nvSpPr>
          <p:cNvPr id="7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8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t"/>
          <p:cNvSpPr/>
          <p:nvPr/>
        </p:nvSpPr>
        <p:spPr>
          <a:xfrm>
            <a:off x="304800" y="304802"/>
            <a:ext cx="228600" cy="2286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pill"/>
          <p:cNvSpPr/>
          <p:nvPr/>
        </p:nvSpPr>
        <p:spPr>
          <a:xfrm>
            <a:off x="600000" y="304800"/>
            <a:ext cx="3000000" cy="2286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buNone/>
            </a:pPr>
            <a:endParaRPr sz="8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itle"/>
          <p:cNvSpPr txBox="1"/>
          <p:nvPr/>
        </p:nvSpPr>
        <p:spPr>
          <a:xfrm>
            <a:off x="900000" y="700000"/>
            <a:ext cx="1000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114425" tIns="114425" rIns="114425" bIns="114425" anchor="ctr">
            <a:spAutoFit/>
          </a:bodyPr>
          <a:lstStyle/>
          <a:p>
            <a:pPr algn="l">
              <a:buNone/>
            </a:pPr>
            <a:r>
              <a:rPr lang="pt-BR" sz="3600" b="1" dirty="0">
                <a:solidFill>
                  <a:srgbClr val="14E6FC"/>
                </a:solidFill>
                <a:latin typeface="Arial"/>
              </a:rPr>
              <a:t>Organograma</a:t>
            </a:r>
          </a:p>
        </p:txBody>
      </p:sp>
      <p:sp>
        <p:nvSpPr>
          <p:cNvPr id="5" name="lbl1"/>
          <p:cNvSpPr txBox="1"/>
          <p:nvPr/>
        </p:nvSpPr>
        <p:spPr>
          <a:xfrm>
            <a:off x="457200" y="1400000"/>
            <a:ext cx="3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100" b="1" dirty="0">
                <a:solidFill>
                  <a:srgbClr val="14E6FC"/>
                </a:solidFill>
                <a:latin typeface="Arial"/>
              </a:rPr>
              <a:t>LIDERANÇA</a:t>
            </a:r>
          </a:p>
        </p:txBody>
      </p:sp>
      <p:sp>
        <p:nvSpPr>
          <p:cNvPr id="10" name="c10"/>
          <p:cNvSpPr txBox="1"/>
          <p:nvPr/>
        </p:nvSpPr>
        <p:spPr>
          <a:xfrm>
            <a:off x="457200" y="1750000"/>
            <a:ext cx="365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C8A8F0"/>
                </a:solidFill>
                <a:latin typeface="Arial"/>
              </a:rPr>
              <a:t>Diretor de AdOps e Projetos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Tiago Domingos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tiago.santos@stormx.com.br</a:t>
            </a:r>
          </a:p>
        </p:txBody>
      </p:sp>
      <p:sp>
        <p:nvSpPr>
          <p:cNvPr id="11" name="c11"/>
          <p:cNvSpPr txBox="1"/>
          <p:nvPr/>
        </p:nvSpPr>
        <p:spPr>
          <a:xfrm>
            <a:off x="4227200" y="1750000"/>
            <a:ext cx="365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C8A8F0"/>
                </a:solidFill>
                <a:latin typeface="Arial"/>
              </a:rPr>
              <a:t>Diretora de Atendimento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Livia Bousquet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livia.bousquet@stormx.com.br</a:t>
            </a:r>
          </a:p>
        </p:txBody>
      </p:sp>
      <p:sp>
        <p:nvSpPr>
          <p:cNvPr id="12" name="c12"/>
          <p:cNvSpPr txBox="1"/>
          <p:nvPr/>
        </p:nvSpPr>
        <p:spPr>
          <a:xfrm>
            <a:off x="7997200" y="1750000"/>
            <a:ext cx="365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C8A8F0"/>
                </a:solidFill>
                <a:latin typeface="Arial"/>
              </a:rPr>
              <a:t>Líder de Projetos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Aline Calderan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aline.calderan@stormx.com.br</a:t>
            </a:r>
          </a:p>
        </p:txBody>
      </p:sp>
      <p:sp>
        <p:nvSpPr>
          <p:cNvPr id="13" name="c13"/>
          <p:cNvSpPr txBox="1"/>
          <p:nvPr/>
        </p:nvSpPr>
        <p:spPr>
          <a:xfrm>
            <a:off x="11767200" y="1750000"/>
            <a:ext cx="365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C8A8F0"/>
                </a:solidFill>
                <a:latin typeface="Arial"/>
              </a:rPr>
              <a:t>Gerente de Projetos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Carolina Dobner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carolina.dobner@stormx.com.br</a:t>
            </a:r>
          </a:p>
        </p:txBody>
      </p:sp>
      <p:sp>
        <p:nvSpPr>
          <p:cNvPr id="20" name="lbl2"/>
          <p:cNvSpPr txBox="1"/>
          <p:nvPr/>
        </p:nvSpPr>
        <p:spPr>
          <a:xfrm>
            <a:off x="457200" y="4850000"/>
            <a:ext cx="3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</a:pPr>
            <a:r>
              <a:rPr lang="pt-BR" sz="1100" b="1" dirty="0">
                <a:solidFill>
                  <a:srgbClr val="14E6FC"/>
                </a:solidFill>
                <a:latin typeface="Arial"/>
              </a:rPr>
              <a:t>EQUIPE ADOPS</a:t>
            </a:r>
          </a:p>
        </p:txBody>
      </p:sp>
      <p:sp>
        <p:nvSpPr>
          <p:cNvPr id="21" name="c21"/>
          <p:cNvSpPr txBox="1"/>
          <p:nvPr/>
        </p:nvSpPr>
        <p:spPr>
          <a:xfrm>
            <a:off x="457200" y="5100000"/>
            <a:ext cx="470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14E6FC"/>
                </a:solidFill>
                <a:latin typeface="Arial"/>
              </a:rPr>
              <a:t>AdOps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Marcos Santos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marcos.santos@stormx.com.br</a:t>
            </a:r>
          </a:p>
        </p:txBody>
      </p:sp>
      <p:sp>
        <p:nvSpPr>
          <p:cNvPr id="22" name="c22"/>
          <p:cNvSpPr txBox="1"/>
          <p:nvPr/>
        </p:nvSpPr>
        <p:spPr>
          <a:xfrm>
            <a:off x="5277200" y="5100000"/>
            <a:ext cx="470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14E6FC"/>
                </a:solidFill>
                <a:latin typeface="Arial"/>
              </a:rPr>
              <a:t>AdOps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João Braga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joao.braga@stormx.com.br</a:t>
            </a:r>
          </a:p>
        </p:txBody>
      </p:sp>
      <p:sp>
        <p:nvSpPr>
          <p:cNvPr id="23" name="c23"/>
          <p:cNvSpPr txBox="1"/>
          <p:nvPr/>
        </p:nvSpPr>
        <p:spPr>
          <a:xfrm>
            <a:off x="10097200" y="5100000"/>
            <a:ext cx="4700000" cy="3000000"/>
          </a:xfrm>
          <a:prstGeom prst="roundRect">
            <a:avLst>
              <a:gd name="adj" fmla="val 3000"/>
            </a:avLst>
          </a:prstGeom>
          <a:noFill/>
          <a:ln w="19050">
            <a:solidFill>
              <a:srgbClr val="E0E4F0"/>
            </a:solidFill>
          </a:ln>
        </p:spPr>
        <p:txBody>
          <a:bodyPr wrap="square" lIns="200000" tIns="200000" rIns="200000" bIns="200000" anchor="ctr">
            <a:sp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pt-BR" sz="1300" b="1" dirty="0">
                <a:solidFill>
                  <a:srgbClr val="14E6FC"/>
                </a:solidFill>
                <a:latin typeface="Arial"/>
              </a:rPr>
              <a:t>AdOps</a:t>
            </a:r>
          </a:p>
          <a:p>
            <a:pPr>
              <a:buNone/>
            </a:pPr>
            <a:endParaRPr lang="pt-BR" sz="1100" dirty="0">
              <a:latin typeface="Arial"/>
            </a:endParaRPr>
          </a:p>
          <a:p>
            <a:pPr algn="l">
              <a:buNone/>
            </a:pPr>
            <a:r>
              <a:rPr lang="pt-BR" sz="1300" b="1" dirty="0">
                <a:solidFill>
                  <a:srgbClr val="2C3050"/>
                </a:solidFill>
                <a:latin typeface="Arial"/>
              </a:rPr>
              <a:t>Felipe Lima</a:t>
            </a:r>
          </a:p>
          <a:p>
            <a:pPr algn="l">
              <a:buNone/>
            </a:pPr>
            <a:r>
              <a:rPr lang="pt-BR" sz="1000" dirty="0">
                <a:solidFill>
                  <a:srgbClr val="8088AA"/>
                </a:solidFill>
                <a:latin typeface="Arial"/>
              </a:rPr>
              <a:t>felipe.lima@stormx.com.br</a:t>
            </a:r>
          </a:p>
        </p:txBody>
      </p:sp>
      <p:sp>
        <p:nvSpPr>
          <p:cNvPr id="30" name="fl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l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Stormx</a:t>
            </a:r>
          </a:p>
        </p:txBody>
      </p:sp>
      <p:sp>
        <p:nvSpPr>
          <p:cNvPr id="31" name="fr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>
            <a:spAutoFit/>
          </a:bodyPr>
          <a:lstStyle/>
          <a:p>
            <a:pPr algn="r">
              <a:buNone/>
            </a:pPr>
            <a:r>
              <a:rPr lang="pt-BR" sz="1000" b="1" dirty="0">
                <a:solidFill>
                  <a:srgbClr val="484D67"/>
                </a:solidFill>
                <a:latin typeface="Arial"/>
              </a:rPr>
              <a:t>All rights reserved to Stormx @2026 // Digital Forward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1899</TotalTime>
  <Words>896</Words>
  <Application>Microsoft Office PowerPoint</Application>
  <PresentationFormat>Personalizar</PresentationFormat>
  <Paragraphs>212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4" baseType="lpstr">
      <vt:lpstr>Helvetica Neue</vt:lpstr>
      <vt:lpstr>DM Sans Light</vt:lpstr>
      <vt:lpstr>Play</vt:lpstr>
      <vt:lpstr>DM Sans ExtraLight</vt:lpstr>
      <vt:lpstr>DM Sans</vt:lpstr>
      <vt:lpstr>Arial</vt:lpstr>
      <vt:lpstr>DM Sans Black</vt:lpstr>
      <vt:lpstr>DM Sans SemiBold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Aline Stormx</cp:lastModifiedBy>
  <cp:revision>8</cp:revision>
  <dcterms:modified xsi:type="dcterms:W3CDTF">2026-02-19T18:56:51Z</dcterms:modified>
</cp:coreProperties>
</file>