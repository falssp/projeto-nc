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dizendo o objetivo da sessão: alinhar como preencher corretamente o RM_STORMX e o ADP para reduzir retrabalho. Mostrar o fluxo resumido: Camphouse → RM_STORMX → StormX — vai ser o fio condutor da apresentação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rápido pelos blocos da agenda — não precisa detalhar, só situar o time do que vem pela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lógica ponta a ponta: exportar do Camphouse, colar na aba Plano - Camphouse, preencher a aba do veículo, StormX processa e devolve a taxonomia. Reforçar: sempre que novas linhas forem adicionadas no Camphouse, repetir as etapas 3 e 4 (não é só na primeira vez). Ponto de atenção: esse é o slide-base — se o time entender bem esse fluxo, o resto da apresentação flui mais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são dois arquivos com papéis diferentes: RM_STORMX é o que o time preenche todo dia; ADP é o dicionário que alimenta os dropdowns. Frisar: o mídia não edita o ADP — só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o passo a passo: Exportar Stormx → copiar → colar em C3 com Colar Especial → Valores. Explicar por quê: Colar Especial → Valores evita que a formatação do Camphouse quebre a formatação da 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os 6 veículos e onde cada campanha se encaixa. Mencionar a novidade do PMax: toda campanha Performance Max precisa vir sinalizada como “pmax” no Campaign Local Extra.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as 4 cores uma a uma — essa é a base visual de tudo que vem depois, vale ir devagar aqui. Roxo = dropdown obrigatório. Amarelo = manual, sem caractere especial. Azul claro = automático, não editar. Cinza = preenchido pela StormX. Ponto de atenção: se o time confundir azul claro com amarelo, isso é a origem de boa parte dos erros de preenchimento — reforce a diferença.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exemplo prático: o número da Linha na aba do veículo puxa os dados daquela linha do Plano - Camphouse. Essa coluna vai aparecer de novo mais adiante (erros e regra de cancelamento) — vale marcar que ela é central.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as 3 fontes (Mandated Dimensions &amp; Values, Brand Pos Level, Campaign By Brand Pos). Regra prática: se um valor não aparece no dropdown, o problema está no cadastro do ADP — não é bug do RM_STORMX.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o hábito: sempre conferir a string gerada contra as abas de Taxo antes de enviar a solicitação. Mencionar o “Missing Campaigns” para campanhas sem CN Code ainda.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os 4 erros com exemplo rápido de cada: caracteres proibidos, Campaign Name genérico, Ad Name duplicado, cópia de Ad Group/Ad Name. Ponto de atenção: esse é um bom momento para perguntar se alguém já passou por um desses — costuma gerar identificação e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as 5 regras uma a uma, com ênfase em duas: só a StormX cria taxonomia, e responder o Jira quando solicitado (é o que mais atrasa prazo hoje).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muito claro os 3 pontos: aprovação de criativo é do mídia (CTA, destino, peculiaridades da peça); copiar e colar exatamente o que vem da RM; sempre informar o contato de envio dos materiais, principalmente quando vêm de Ad Server. Ponto de atenção: esse slide costuma gerar dúvida sobre até onde vai a responsabilidade da StormX — ver Q&amp;A correspondente.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as 3 categorias e o critério que decide entre elas: existe link de influenciador ou não. Repetir o erro mais comum: classificar como BRD uma campanha que tem influenciador (ou o oposto).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os 3 pontos: formato de data inconsistente (ISO x US), alteração na coluna G (cancelar + recriar, não só alterar), e a mensagem “Verificar Plano de Mídia”. Ponto de atenção: é o slide mais técnico da apresentação — ir com calma, principalmente na parte da coluna 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tabela e explicar que o prazo varia por volume de linhas (10 a 500). Reforçar: esses prazos valem para RM completa e sem pendência de asset — RM incompleta muda 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as tabelas de Tags e Contadores, explicando o “+ prazo” como o tempo de retorno da própria Flashtalking. Fechar com as regras gerais de atendimento (até 16h mesmo dia útil, após 16h próximo dia útil) e que eventualidades podem ser combinadas caso a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rápido pelos itens obrigatórios e pela lista de erros comuns — é o resumo prático antes de qualquer envio. Reforçar o campo Solicitante: como o acesso ao Jira é por e-mail de time (genérico e compartilhado), o nome de quem pediu precisa estar sempre preenchido — o e-mail sozinho não identifica ninguém.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Resumir os 4 pontos-chave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94C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training_pptx/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457200"/>
            <a:ext cx="1234440" cy="3657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7772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5" name="Text 1"/>
          <p:cNvSpPr/>
          <p:nvPr/>
        </p:nvSpPr>
        <p:spPr>
          <a:xfrm>
            <a:off x="932688" y="777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57784" y="85953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14173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Preenchimento do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 e do ADP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640080" y="31546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conectar o plano de mídia, as abas por veículo e o dicionário de nomenclatura — sem retrabalho.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949440" y="5212080"/>
            <a:ext cx="777240" cy="777240"/>
          </a:xfrm>
          <a:prstGeom prst="ellipse">
            <a:avLst/>
          </a:prstGeom>
          <a:solidFill>
            <a:srgbClr val="5A5D7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949440" y="5212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629400" y="60350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Camphouse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726680" y="5596128"/>
            <a:ext cx="457200" cy="0"/>
          </a:xfrm>
          <a:prstGeom prst="line">
            <a:avLst/>
          </a:prstGeom>
          <a:noFill/>
          <a:ln w="19050">
            <a:solidFill>
              <a:srgbClr val="6B6E85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8595360" y="5212080"/>
            <a:ext cx="777240" cy="777240"/>
          </a:xfrm>
          <a:prstGeom prst="ellipse">
            <a:avLst/>
          </a:prstGeom>
          <a:solidFill>
            <a:srgbClr val="FFAB4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95360" y="5212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8275320" y="60350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9372600" y="5596128"/>
            <a:ext cx="457200" cy="0"/>
          </a:xfrm>
          <a:prstGeom prst="line">
            <a:avLst/>
          </a:prstGeom>
          <a:noFill/>
          <a:ln w="19050">
            <a:solidFill>
              <a:srgbClr val="6B6E85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10241280" y="5212080"/>
            <a:ext cx="777240" cy="777240"/>
          </a:xfrm>
          <a:prstGeom prst="ellipse">
            <a:avLst/>
          </a:prstGeom>
          <a:solidFill>
            <a:srgbClr val="5A5D7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241280" y="5212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9921240" y="60350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 ·  All rights reserved to Stormx © 2026 // Digital Forward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94C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training_pptx/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457200"/>
            <a:ext cx="1234440" cy="3657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59436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5" name="Text 1"/>
          <p:cNvSpPr/>
          <p:nvPr/>
        </p:nvSpPr>
        <p:spPr>
          <a:xfrm>
            <a:off x="841248" y="594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466344" y="67665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7" name="Image 1" descr="/home/claude/training_pptx/icon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12070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9" name="Text 4"/>
          <p:cNvSpPr/>
          <p:nvPr/>
        </p:nvSpPr>
        <p:spPr>
          <a:xfrm>
            <a:off x="1005840" y="19659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geral — do Camphouse ao StormX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1005840" y="24231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 na prática — importar e preencher por veículo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005840" y="28803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cores — o que editar e o que não editar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005840" y="33375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ADP — de onde vêm os valores e como validar nomenclatura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005840" y="3794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Implementação, responsabilidades e Influenciadores (BRD/INF/UGC)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005840" y="42519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SLAs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005840" y="47091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final — erros comuns antes de enviar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 ·  All rights reserved to Stormx © 2026 // Digital Forward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fluxo completo, do plano ao ad server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59636" y="1709928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59636" y="1709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2402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Camphouse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2743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o plano de mídia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(opção Exportar Stormx)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72968" y="2848356"/>
            <a:ext cx="283464" cy="201168"/>
          </a:xfrm>
          <a:prstGeom prst="rightArrow">
            <a:avLst/>
          </a:prstGeom>
          <a:solidFill>
            <a:srgbClr val="0097A7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196596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94276" y="1709928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94276" y="1709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611880" y="22402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- Camphouse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657600" y="2743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 em C3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Colar Especial → Valores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07608" y="2848356"/>
            <a:ext cx="283464" cy="201168"/>
          </a:xfrm>
          <a:prstGeom prst="rightArrow">
            <a:avLst/>
          </a:prstGeom>
          <a:solidFill>
            <a:srgbClr val="0097A7"/>
          </a:solidFill>
          <a:ln/>
        </p:spPr>
      </p:sp>
      <p:sp>
        <p:nvSpPr>
          <p:cNvPr id="19" name="Shape 16"/>
          <p:cNvSpPr/>
          <p:nvPr/>
        </p:nvSpPr>
        <p:spPr>
          <a:xfrm>
            <a:off x="6309360" y="196596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494C67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28916" y="1709928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28916" y="1709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446520" y="22402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 por veículo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492240" y="2743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Google, Programmatic, YouTube,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e TikTok, Pinterest/Snapchat/X, Flashtalking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842248" y="2848356"/>
            <a:ext cx="283464" cy="201168"/>
          </a:xfrm>
          <a:prstGeom prst="rightArrow">
            <a:avLst/>
          </a:prstGeom>
          <a:solidFill>
            <a:srgbClr val="0097A7"/>
          </a:solidFill>
          <a:ln/>
        </p:spPr>
      </p:sp>
      <p:sp>
        <p:nvSpPr>
          <p:cNvPr id="25" name="Shape 22"/>
          <p:cNvSpPr/>
          <p:nvPr/>
        </p:nvSpPr>
        <p:spPr>
          <a:xfrm>
            <a:off x="9144000" y="196596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163556" y="1709928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163556" y="1709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281160" y="22402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326880" y="2743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 a solicitação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devolve a taxonomia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Repita as etapas 3–4 sempre que novas linhas forem adicionadas no Camphouse.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 x ADP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0299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operacional de solicitação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246888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" y="246888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o plano exportado do Camphouse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97180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97180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 por veículo para preencher a solicitação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47472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" y="347472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cores define o que editar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397764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86384" y="397764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que você preenche todo dia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80760" y="1737360"/>
            <a:ext cx="0" cy="402336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ADP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55080" y="20299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Dicionário mestre de nomenclatura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355080" y="246888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92824" y="246888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Mandated Dimensions &amp; Values (regras globais)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55080" y="297180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92824" y="297180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Pos Level / Campaign By Brand Pos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55080" y="347472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592824" y="347472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 os dropdowns do RM_STORMX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355080" y="397764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592824" y="397764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fonte de verdade para validar a string final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Importando o plano do Camphouse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80160" y="17647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114800" y="17647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Camphouse, exportar o plano usando a opção “Exportar Stormx”. O sistema gera um arquivo Excel.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80160" y="263347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114800" y="263347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aba “Plano - Camphouse”, copiar todos os dados do arquivo exportado.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80160" y="35021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 como valores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114800" y="35021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 a partir da célula C3 usando Colar Especial → Valores. Evita conflitos de formatação.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169164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429768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617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novas linhas forem adicionadas no Camphouse: exporte novamente e copie apenas as linhas novas, colando abaixo da última linha (também com Colar Especial → Valores).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Selecionando a aba do veículo certo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18379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de busca e display Google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92024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18379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2628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 programática (DV360, TradeDesk etc.)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46720" y="169164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75320" y="192024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7" name="Text 14"/>
          <p:cNvSpPr/>
          <p:nvPr/>
        </p:nvSpPr>
        <p:spPr>
          <a:xfrm>
            <a:off x="8503920" y="18379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7532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específicas de vídeo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47472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370332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1" name="Text 18"/>
          <p:cNvSpPr/>
          <p:nvPr/>
        </p:nvSpPr>
        <p:spPr>
          <a:xfrm>
            <a:off x="1005840" y="362102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e TikTok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7240" y="4160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social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297680" y="347472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26280" y="370332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0" y="362102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Pinterest, Snapchat e X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526280" y="4160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social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046720" y="347472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75320" y="370332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9" name="Text 26"/>
          <p:cNvSpPr/>
          <p:nvPr/>
        </p:nvSpPr>
        <p:spPr>
          <a:xfrm>
            <a:off x="8503920" y="362102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Flashtalking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275320" y="4160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server — tags e contadores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Preencha a coluna Linha (G) com o número correspondente no Plano - Camphouse — é isso que conecta os dados automaticamente.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(PMax): campanhas de Performance Max devem sempre vir sinalizadas como “pmax” no campo Campaign Local Extra.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cores — o que editar (e o que não)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920240" cy="777240"/>
          </a:xfrm>
          <a:prstGeom prst="rect">
            <a:avLst/>
          </a:prstGeom>
          <a:solidFill>
            <a:srgbClr val="7B4B9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828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Roxo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468880" y="1828800"/>
            <a:ext cx="8869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0" y="18288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Selecionar via dropdown. Preenchimento obrigatório.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1920240" cy="77724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7432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Amarelo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468880" y="2743200"/>
            <a:ext cx="8869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0" y="27432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Preencher manualmente. Não usar caracteres especiais.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657600"/>
            <a:ext cx="1920240" cy="777240"/>
          </a:xfrm>
          <a:prstGeom prst="rect">
            <a:avLst/>
          </a:prstGeom>
          <a:solidFill>
            <a:srgbClr val="AEDFF7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6576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claro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468880" y="3657600"/>
            <a:ext cx="8869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0" y="36576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Preenchido automaticamente pela planilha. Não editar.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4572000"/>
            <a:ext cx="1920240" cy="777240"/>
          </a:xfrm>
          <a:prstGeom prst="rect">
            <a:avLst/>
          </a:prstGeom>
          <a:solidFill>
            <a:srgbClr val="B0B7BD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572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Cinza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2468880" y="4572000"/>
            <a:ext cx="8869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0" y="45720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Preenchido automaticamente pelo StormX.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coluna Linha (G): o elo entre as abas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- Camphouse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25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12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Brand X, CN00456, Google Search...
</a:t>
            </a:r>
            <a:pPr indent="0" marL="0">
              <a:lnSpc>
                <a:spcPts val="2600"/>
              </a:lnSpc>
              <a:buNone/>
            </a:pPr>
            <a:r>
              <a:rPr lang="en-US" sz="125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13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Brand X, CN00456, Meta...
</a:t>
            </a:r>
            <a:pPr indent="0" marL="0">
              <a:lnSpc>
                <a:spcPts val="2600"/>
              </a:lnSpc>
              <a:buNone/>
            </a:pPr>
            <a:r>
              <a:rPr lang="en-US" sz="125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14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Brand Y, CN00457, YouTube...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5661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linha do plano exportado tem um número — é essa referência que você informa na aba do veículo.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2651760"/>
            <a:ext cx="548640" cy="320040"/>
          </a:xfrm>
          <a:prstGeom prst="rightArrow">
            <a:avLst/>
          </a:prstGeom>
          <a:solidFill>
            <a:srgbClr val="0097A7"/>
          </a:solidFill>
          <a:ln/>
        </p:spPr>
      </p:sp>
      <p:sp>
        <p:nvSpPr>
          <p:cNvPr id="11" name="Shape 8"/>
          <p:cNvSpPr/>
          <p:nvPr/>
        </p:nvSpPr>
        <p:spPr>
          <a:xfrm>
            <a:off x="6675120" y="1737360"/>
            <a:ext cx="4937760" cy="2926080"/>
          </a:xfrm>
          <a:prstGeom prst="rect">
            <a:avLst/>
          </a:prstGeom>
          <a:solidFill>
            <a:srgbClr val="FFFFFF"/>
          </a:solidFill>
          <a:ln w="16510">
            <a:solidFill>
              <a:srgbClr val="0097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 do veículo (ex: Google)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49440" y="2377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Coluna G — Linha:  12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49440" y="278892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preencher esse número, a planilha puxa automaticamente os dados do plano (marca, CN Code, veículo) para os campos azul claro dessa linha.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49440" y="3886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disso, é só completar os campos roxo (dropdown) e amarelo (manual).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vêm os valores dos dropdowns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Mandated Dimensions &amp; Values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2860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globais de nomenclatura e codificação do ADP — a base de tudo.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29100" y="1783080"/>
            <a:ext cx="0" cy="265176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4340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Pos Level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43400" y="22860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 marca, posicionamento e mercado — define o “Brand Position” usado nas strings.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23860" y="1783080"/>
            <a:ext cx="0" cy="265176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By Brand Pos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38160" y="22860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campanhas e CN Codes vinculados a cada posicionamento de marca.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572000"/>
            <a:ext cx="1088136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47548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RM_STORMX consome esses valores para montar os dropdowns roxo. Se um valor não aparece na lista, o problema costuma estar no cadastro dentro do ADP — não no RM_STORMX.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Validando a string antes de enviar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1783080"/>
            <a:ext cx="10287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enviar a solicitação, confira a string gerada contra as abas de taxonomia (Taxo Google, Taxo YouTube, Taxo Programmatic, Taxo Meta e Tiktok, Taxo Pinterest/Snapchat/X, Taxo Flashtalking).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24912"/>
            <a:ext cx="1088136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2971800"/>
            <a:ext cx="10287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 ADP como fonte de verdade: se a nomenclatura no RM_STORMX diverge do dicionário mandatório, corrija no RM_STORMX — o ADP não deve ser editado por engano.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913632"/>
            <a:ext cx="1088136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3000" y="4160520"/>
            <a:ext cx="10287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novas (sem CN Code ainda) aparecem em “Missing Campaigns” — sinalize para o time responsável antes de seguir com o preenchimento.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recorrentes de nomenclatura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Caracteres proibidos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usar em nenhum campo da taxonomia: acentos, apóstrofo ('), travessão (– ou —), "_" (underscore) ou "|" (pipe). Use apenas letras sem acentuação, números e hífen (-).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200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Name genérico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5661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Proibido usar nome genérico (ex.: “Always On Non Search”), exceto enquanto o Campaign Name oficial do Global ainda não foi aprovado.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737360"/>
            <a:ext cx="0" cy="320040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73736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Name duplicado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46520" y="210312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permitido usar o mesmo Ad Name em mais de um Ad Group, mesmo com o asset idêntico. Cada Ad Group deve ter seu próprio Ad Name solicitado à StormX.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46520" y="32004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Cópia de Ad Group/Ad Name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46520" y="356616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duplicar Ad Groups ou Ad Names direto na plataforma (evite sufixos como “cópia”/“copy”). Mesmo com config. idêntica, solicitar sempre uma nova taxonomia à StormX.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Essas práticas comprometem a leitura dos dados e sujam o banco — sempre exigem retrabalho de correção.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importantes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591056"/>
            <a:ext cx="137160" cy="1371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481328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a StormX cria taxonomia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1819656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proibido preencher o ADP manualmente. Se chegar um ADP preenchido, a StormX solicita que a demanda seja descrita na task do Jira.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532888"/>
            <a:ext cx="137160" cy="1371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23160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subir campanha sem taxonomia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68680" y="2761488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em caso de urgência, com autorização do cliente por e-mail — e é obrigatório solicitar a taxonomia via Jira e corrigir a linha em até 24h.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474720"/>
            <a:ext cx="137160" cy="1371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364992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Taxonomia genérica é exceção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68680" y="370332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aceita fora do horário comercial/feriado ou campanha urgente sem informações completas. Ajuste para a versão correta em até 24h úteis.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416552"/>
            <a:ext cx="137160" cy="1371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306824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Extra é a única edição permitida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68680" y="4645152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criada, a taxonomia não pode ser alterada — exceto o Campo Extra, que a agência pode ajustar. Toda alteração deve ser avisada à StormX em até 24h.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5358384"/>
            <a:ext cx="137160" cy="1371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5248656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o Jira quando solicitado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68680" y="5586984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 StormX pede mais informação no ticket para seguir com a taxonomia, a demanda fica parada até a resposta do mídia — isso atrasa a criação e compromete o SLA.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Implementação: responsabilidades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de criativos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214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StormX pode apoiar na revisão, mas quem valida o criativo é o mídia — é quem conhece as peculiaridades da peça (CTA, destino/URL correto, formato). A responsabilidade final pela aprovação do criativo é do mídia.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e colar o que vem na RM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53872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implementar na plataforma, o mídia deve copiar e colar exatamente a taxonomia gerada na RM — nunca retranscrever ou digitar de novo. Reduz erro de transcrição e mantém a string idêntica à validada.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4572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Informar os contatos de envio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495604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indicar para quem os materiais criados devem ser enviados — principalmente quando vêm de Ad Server (Flashtalking). Sem o contato certo, a entrega do material trava.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de Influenciadores — BRD, INF e UGC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463040" cy="86868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78308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103120" y="1783080"/>
            <a:ext cx="9509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31720" y="1856232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influenciador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331720" y="2185416"/>
            <a:ext cx="905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da marca (Brand Say). Não deve ter nenhum link de influenciador associado.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807208"/>
            <a:ext cx="1463040" cy="868680"/>
          </a:xfrm>
          <a:prstGeom prst="rect">
            <a:avLst/>
          </a:prstGeom>
          <a:solidFill>
            <a:srgbClr val="494C6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80720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103120" y="2807208"/>
            <a:ext cx="9509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31720" y="288036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influenciador — handle da marca + do influenciador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331720" y="3209544"/>
            <a:ext cx="905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 com influenciador usando Brand Handle e Influencer Handle no Galileo. Link do influenciador é obrigatório.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831336"/>
            <a:ext cx="1463040" cy="868680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831336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2103120" y="3831336"/>
            <a:ext cx="9509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331720" y="3904488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influenciador — apenas handle do influenciador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2331720" y="4233672"/>
            <a:ext cx="905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 com influenciador usando somente o Influencer Handle no Galileo. Link do influenciador é obrigatório.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901184"/>
            <a:ext cx="1088136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4901184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mais comum: classificar como BRD uma campanha que na verdade tem influenciador (ou o contrário). Antes de classificar, confirme se existe link de influenciador — se existir, a classificação nunca pode ser BRD.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 e alterações — cuidados importantes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de data inconsistente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Confira se “Data de Início” e “Data Fim” estão no mesmo formato em todas as linhas do Plano - Camphouse. É comum vir misturado — algumas linhas em ISO (2026-05-01), outras em US (05/31/2026), na mesma coluna. Isso pode gerar leitura errada de data na taxonomia.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175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Alteração na coluna Linha (G)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3337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pedido muda o valor da coluna G, não trate como alteração simples: o G puxa automaticamente os campos azul claro daquela linha, e mudar o G muda esses campos também — mesmo que o pedido só liste outras colunas. Cancele a linha atual e crie uma nova solicitação.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25196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389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“Verificar Plano de Mídia”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4709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 SEERRO: em vez de mostrar #N/A quando a fórmula não encontra correspondência no Plano - Camphouse, a planilha mostra esse aviso. Se aparecer em qualquer coluna da linha, volte à aba Plano/Plano - Camphouse, confira a Linha (G) e ajuste antes de enviar.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SLAs — RM Completa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554480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17830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Qtd de linhas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103120" y="1783080"/>
            <a:ext cx="1883664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76272" y="1783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986784" y="1783080"/>
            <a:ext cx="1883664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59936" y="1783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Alteração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70448" y="1783080"/>
            <a:ext cx="1883664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1783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54112" y="1783080"/>
            <a:ext cx="2377440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27264" y="17830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(linha implementada)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131552" y="1783080"/>
            <a:ext cx="1481328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04704" y="17830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(total)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224028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22402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103120" y="22402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176272" y="22402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45min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986784" y="22402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59936" y="22402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20min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870448" y="22402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0" y="22402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754112" y="22402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27264" y="22402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dias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10131552" y="2240280"/>
            <a:ext cx="148132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204704" y="22402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48640" y="2697480"/>
            <a:ext cx="1554480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1792" y="26974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2103120" y="26974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76272" y="2697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3986784" y="26974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059936" y="2697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5870448" y="26974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0" y="2697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754112" y="2697480"/>
            <a:ext cx="2377440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27264" y="26974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dias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10131552" y="2697480"/>
            <a:ext cx="1481328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204704" y="26974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dias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548640" y="315468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1792" y="31546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2103120" y="31546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176272" y="3154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3986784" y="31546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059936" y="3154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5870448" y="31546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0" y="3154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7754112" y="31546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827264" y="31546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dias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10131552" y="3154680"/>
            <a:ext cx="148132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0204704" y="31546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dias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548640" y="3611880"/>
            <a:ext cx="1554480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21792" y="36118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2103120" y="36118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176272" y="36118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8h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3986784" y="36118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059936" y="36118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</a:t>
            </a:r>
            <a:endParaRPr lang="en-US" sz="1150" dirty="0"/>
          </a:p>
        </p:txBody>
      </p:sp>
      <p:sp>
        <p:nvSpPr>
          <p:cNvPr id="61" name="Shape 58"/>
          <p:cNvSpPr/>
          <p:nvPr/>
        </p:nvSpPr>
        <p:spPr>
          <a:xfrm>
            <a:off x="5870448" y="36118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943600" y="36118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1150" dirty="0"/>
          </a:p>
        </p:txBody>
      </p:sp>
      <p:sp>
        <p:nvSpPr>
          <p:cNvPr id="63" name="Shape 60"/>
          <p:cNvSpPr/>
          <p:nvPr/>
        </p:nvSpPr>
        <p:spPr>
          <a:xfrm>
            <a:off x="7754112" y="3611880"/>
            <a:ext cx="2377440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827264" y="36118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dias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10131552" y="3611880"/>
            <a:ext cx="1481328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204704" y="36118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dias</a:t>
            </a:r>
            <a:endParaRPr lang="en-US" sz="1150" dirty="0"/>
          </a:p>
        </p:txBody>
      </p:sp>
      <p:sp>
        <p:nvSpPr>
          <p:cNvPr id="67" name="Shape 64"/>
          <p:cNvSpPr/>
          <p:nvPr/>
        </p:nvSpPr>
        <p:spPr>
          <a:xfrm>
            <a:off x="548640" y="406908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21792" y="40690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150" dirty="0"/>
          </a:p>
        </p:txBody>
      </p:sp>
      <p:sp>
        <p:nvSpPr>
          <p:cNvPr id="69" name="Shape 66"/>
          <p:cNvSpPr/>
          <p:nvPr/>
        </p:nvSpPr>
        <p:spPr>
          <a:xfrm>
            <a:off x="2103120" y="40690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176272" y="4069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16h</a:t>
            </a:r>
            <a:endParaRPr lang="en-US" sz="1150" dirty="0"/>
          </a:p>
        </p:txBody>
      </p:sp>
      <p:sp>
        <p:nvSpPr>
          <p:cNvPr id="71" name="Shape 68"/>
          <p:cNvSpPr/>
          <p:nvPr/>
        </p:nvSpPr>
        <p:spPr>
          <a:xfrm>
            <a:off x="3986784" y="40690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059936" y="4069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10h</a:t>
            </a:r>
            <a:endParaRPr lang="en-US" sz="1150" dirty="0"/>
          </a:p>
        </p:txBody>
      </p:sp>
      <p:sp>
        <p:nvSpPr>
          <p:cNvPr id="73" name="Shape 70"/>
          <p:cNvSpPr/>
          <p:nvPr/>
        </p:nvSpPr>
        <p:spPr>
          <a:xfrm>
            <a:off x="5870448" y="40690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943600" y="4069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1150" dirty="0"/>
          </a:p>
        </p:txBody>
      </p:sp>
      <p:sp>
        <p:nvSpPr>
          <p:cNvPr id="75" name="Shape 72"/>
          <p:cNvSpPr/>
          <p:nvPr/>
        </p:nvSpPr>
        <p:spPr>
          <a:xfrm>
            <a:off x="7754112" y="40690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827264" y="40690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dias</a:t>
            </a:r>
            <a:endParaRPr lang="en-US" sz="1150" dirty="0"/>
          </a:p>
        </p:txBody>
      </p:sp>
      <p:sp>
        <p:nvSpPr>
          <p:cNvPr id="77" name="Shape 74"/>
          <p:cNvSpPr/>
          <p:nvPr/>
        </p:nvSpPr>
        <p:spPr>
          <a:xfrm>
            <a:off x="10131552" y="4069080"/>
            <a:ext cx="148132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10204704" y="40690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dias</a:t>
            </a:r>
            <a:endParaRPr lang="en-US" sz="1150" dirty="0"/>
          </a:p>
        </p:txBody>
      </p:sp>
      <p:sp>
        <p:nvSpPr>
          <p:cNvPr id="79" name="Text 76"/>
          <p:cNvSpPr/>
          <p:nvPr/>
        </p:nvSpPr>
        <p:spPr>
          <a:xfrm>
            <a:off x="548640" y="46177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Prazos considerando a RM completa (sem pendências) e assets recebidos.</a:t>
            </a:r>
            <a:endParaRPr lang="en-US" sz="1150" dirty="0"/>
          </a:p>
        </p:txBody>
      </p:sp>
      <p:sp>
        <p:nvSpPr>
          <p:cNvPr id="80" name="Shape 77"/>
          <p:cNvSpPr/>
          <p:nvPr/>
        </p:nvSpPr>
        <p:spPr>
          <a:xfrm>
            <a:off x="548640" y="5074920"/>
            <a:ext cx="11064240" cy="1234440"/>
          </a:xfrm>
          <a:prstGeom prst="rect">
            <a:avLst/>
          </a:prstGeom>
          <a:solidFill>
            <a:srgbClr val="FDF3E7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22960" y="5230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Dores que afetam o prazo</a:t>
            </a:r>
            <a:endParaRPr lang="en-US" sz="1500" dirty="0"/>
          </a:p>
        </p:txBody>
      </p:sp>
      <p:sp>
        <p:nvSpPr>
          <p:cNvPr id="82" name="Text 79"/>
          <p:cNvSpPr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incompleta, sem asset ou tarefa não criada no Jira: nesses casos, o prazo passa a depender do mídia (a ser definido) — o SLA acima só vale quando a solicitação chega completa.</a:t>
            </a:r>
            <a:endParaRPr lang="en-US" sz="1200" dirty="0"/>
          </a:p>
        </p:txBody>
      </p:sp>
      <p:sp>
        <p:nvSpPr>
          <p:cNvPr id="84" name="Text 80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85" name="Text 81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86" name="Text 82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SLAs — Flashtalking e regras gerais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Flashtalking · Tags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1463040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205740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011680" y="2057400"/>
            <a:ext cx="1965960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84832" y="205740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77640" y="2057400"/>
            <a:ext cx="1965960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50792" y="205740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Alteração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242316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242316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011680" y="2423160"/>
            <a:ext cx="1965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84832" y="242316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45min +48h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977640" y="2423160"/>
            <a:ext cx="1965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50792" y="242316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20min +4h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2788920"/>
            <a:ext cx="1463040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" y="278892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011680" y="2788920"/>
            <a:ext cx="1965960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84832" y="278892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 +48h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788920"/>
            <a:ext cx="1965960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50792" y="278892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 +4h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" y="315468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1792" y="315468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011680" y="3154680"/>
            <a:ext cx="1965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084832" y="315468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+48h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154680"/>
            <a:ext cx="1965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050792" y="315468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 +4h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48640" y="36118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prazo = retorno de resposta da Flashtalking. Assets enviados à StormX, que solicita a criação à Flash; preview avaliado pelo mídia.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172200" y="1691640"/>
            <a:ext cx="0" cy="274320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46520" y="169164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Flashtalking · Contadores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446520" y="2057400"/>
            <a:ext cx="1463040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19672" y="205740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909560" y="2057400"/>
            <a:ext cx="1847088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982712" y="205740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9756648" y="2057400"/>
            <a:ext cx="1847088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829800" y="205740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Alteração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446520" y="242316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19672" y="242316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909560" y="2423160"/>
            <a:ext cx="184708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982712" y="242316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45min +4h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9756648" y="2423160"/>
            <a:ext cx="184708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829800" y="242316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20min +4h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446520" y="2788920"/>
            <a:ext cx="1463040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19672" y="278892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7909560" y="2788920"/>
            <a:ext cx="1847088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982712" y="278892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+4h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9756648" y="2788920"/>
            <a:ext cx="1847088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829800" y="278892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 +4h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446520" y="315468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519672" y="315468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7909560" y="3154680"/>
            <a:ext cx="184708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982712" y="315468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16h +4h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9756648" y="3154680"/>
            <a:ext cx="184708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829800" y="315468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10h +4h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6446520" y="361188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Prazos de contadores já incluem o retorno de resposta da Flashtalking (até 4h).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548640" y="461772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48640" y="4754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gerais de atendimento</a:t>
            </a:r>
            <a:endParaRPr lang="en-US" sz="1500" dirty="0"/>
          </a:p>
        </p:txBody>
      </p:sp>
      <p:sp>
        <p:nvSpPr>
          <p:cNvPr id="62" name="Text 59"/>
          <p:cNvSpPr/>
          <p:nvPr/>
        </p:nvSpPr>
        <p:spPr>
          <a:xfrm>
            <a:off x="548640" y="5166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786384" y="5166360"/>
            <a:ext cx="106436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16h: atendimento no mesmo dia útil.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548640" y="55321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786384" y="5532120"/>
            <a:ext cx="106436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16h: atendimento no próximo dia útil.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548640" y="58978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786384" y="5897880"/>
            <a:ext cx="106436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Eventualidades fora da rotina podem ser combinadas caso a caso com o time StormX.</a:t>
            </a:r>
            <a:endParaRPr lang="en-US" sz="1200" dirty="0"/>
          </a:p>
        </p:txBody>
      </p:sp>
      <p:sp>
        <p:nvSpPr>
          <p:cNvPr id="69" name="Text 65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70" name="Text 66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71" name="Text 67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final e erros comuns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Obrigatório preencher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2402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" y="2240280"/>
            <a:ext cx="4974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da solicitação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697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6384" y="2697480"/>
            <a:ext cx="4974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Solicitado por (responsável)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1546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6384" y="3154680"/>
            <a:ext cx="4974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 envio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79476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acesso ao Jira é feito por e-mail de time (genérico e compartilhado) — por isso, o nome de quem está pedindo precisa sempre estar no campo Solicitante. Sem isso, ninguém sabe quem fez a solicitação.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80760" y="1783080"/>
            <a:ext cx="0" cy="297180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1783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comuns a evitar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55080" y="2240280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92824" y="2240280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caracteres especiais em campos amarelos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55080" y="2569464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92824" y="2569464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 campos azul claro manualmente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55080" y="2898648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92824" y="2898648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Esquecer de exportar de novo ao adicionar linhas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55080" y="3227832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92824" y="3227832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 sem usar Colar Especial → Valores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55080" y="3557016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92824" y="3557016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de data inconsistente no plano colado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55080" y="3886200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592824" y="3886200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Alterar a coluna G sem cancelar/recriar a linha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355080" y="4215384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592824" y="4215384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Ignorar “Verificar Plano de Mídia” em alguma coluna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470916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4892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ouro: consistência. Toda e qualquer mídia precisa ter sempre o mesmo comportamento em qualquer situação, seguindo as originais já validadas.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94C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training_pptx/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457200"/>
            <a:ext cx="1234440" cy="3657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64008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5" name="Text 1"/>
          <p:cNvSpPr/>
          <p:nvPr/>
        </p:nvSpPr>
        <p:spPr>
          <a:xfrm>
            <a:off x="932688" y="640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57784" y="72237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levar desse treinamento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640080" y="2359152"/>
            <a:ext cx="109728" cy="109728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9" name="Text 5"/>
          <p:cNvSpPr/>
          <p:nvPr/>
        </p:nvSpPr>
        <p:spPr>
          <a:xfrm>
            <a:off x="960120" y="22128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 = onde você preenche a solicitação por veículo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017520"/>
            <a:ext cx="109728" cy="109728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11" name="Text 7"/>
          <p:cNvSpPr/>
          <p:nvPr/>
        </p:nvSpPr>
        <p:spPr>
          <a:xfrm>
            <a:off x="960120" y="287121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ADP = de onde vêm os valores e como validar a nomenclatura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40080" y="3675888"/>
            <a:ext cx="109728" cy="109728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13" name="Text 9"/>
          <p:cNvSpPr/>
          <p:nvPr/>
        </p:nvSpPr>
        <p:spPr>
          <a:xfrm>
            <a:off x="960120" y="352958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(G) conecta o Plano - Camphouse às abas de veículo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40080" y="4334256"/>
            <a:ext cx="109728" cy="109728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15" name="Text 11"/>
          <p:cNvSpPr/>
          <p:nvPr/>
        </p:nvSpPr>
        <p:spPr>
          <a:xfrm>
            <a:off x="960120" y="41879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cores define o que editar — e o que nunca editar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4008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 Fale com o time StormX / Taxonomia.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 ·  All rights reserved to Stormx © 2026 // Digital Forward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2026-07-25T20:34:06Z</dcterms:created>
  <dcterms:modified xsi:type="dcterms:W3CDTF">2026-07-25T20:34:06Z</dcterms:modified>
</cp:coreProperties>
</file>