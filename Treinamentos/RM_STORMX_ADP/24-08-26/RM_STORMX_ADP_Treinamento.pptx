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  <p:sldId id="276" r:id="rId27"/>
    <p:sldId id="277" r:id="rId28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  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dizendo o objetivo da sessão: alinhar como preencher corretamente o RM_STORMX e o ADP para reduzir retrabalho. Mostrar o fluxo resumido: Camphouse → RM_STORMX → StormX — vai ser o fio condutor da apresentação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pelos blocos da agenda — não precisa detalhar, só situar o time do que vem pela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lógica ponta a ponta: exportar do Camphouse, colar na aba Plano - Camphouse, preencher a aba do veículo, StormX processa e devolve a taxonomia. Reforçar: sempre que novas linhas forem adicionadas no Camphouse, repetir as etapas 3 e 4 (não é só na primeira vez). Ponto de atenção: esse é o slide-base — se o time entender bem esse fluxo, o resto da apresentação flui mais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são dois arquivos com papéis diferentes: RM_STORMX é o que o time preenche todo dia; ADP é o dicionário que alimenta os dropdowns. Frisar: o mídia não edita o ADP — só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 passo a passo: Exportar Stormx → copiar → colar em C3 com Colar Especial → Valores. Explicar por quê: Colar Especial → Valores evita que a formatação do Camphouse quebre a formatação da 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os 6 veículos e onde cada campanha se encaixa. Para campanhas Google PMax, mencionar que existem regras específicas de taxonomia — o detalhe está no slide de Regras de Taxonomia (Google — PMax).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as 4 cores uma a uma — essa é a base visual de tudo que vem depois, vale ir devagar aqui. Roxo = dropdown obrigatório. Amarelo = manual, sem caractere especial. Azul claro = automático, não editar. Cinza = preenchido pela StormX. Ponto de atenção: se o time confundir azul claro com amarelo, isso é a origem de boa parte dos erros de preenchimento — reforce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exemplo prático: o número da Linha na aba do veículo puxa os dados daquela linha do Plano - Camphouse. Essa coluna vai aparecer de novo mais adiante (erros e regra de cancelamento) — vale marcar que ela é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3 fontes (Mandated Dimensions &amp; Values, Brand Pos Level, Campaign By Brand Pos). Regra prática: se um valor não aparece no dropdown, o problema está no cadastro do ADP — não é bug do RM_STORMX.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o hábito: sempre conferir a string gerada contra as abas de Taxo antes de enviar a solicitação. Mencionar o “Missing Campaigns” para campanhas sem CN Code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os 4 erros com exemplo rápido de cada: caracteres proibidos, Campaign Name genérico, Ad Name duplicado, cópia de Ad Group/Ad Name. Ponto de atenção: esse é um bom momento para perguntar se alguém já passou por um desses — costuma gerar identificação e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as 5 regras uma a uma, com ênfase em duas: só a StormX cria taxonomia, e responder o Jira quando solicitado (é o que mais atrasa prazo hoje).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muito claro os 3 pontos: aprovação de criativo é do mídia (CTA, destino, peculiaridades da peça); copiar e colar exatamente o que vem da RM; sempre informar o contato de envio dos materiais, principalmente quando vêm de Ad Server. Ponto de atenção: esse slide costuma gerar dúvida sobre até onde vai a responsabilidade da StormX — ver Q&amp;A correspondente.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3 categorias e o critério que decide entre elas: existe link de influenciador ou não. Repetir o erro mais comum: classificar como BRD uma campanha que tem influenciador (ou o oposto).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os 3 pontos: formato de data inconsistente (ISO x US), alteração na coluna G (cancelar + recriar, não só alterar), e a mensagem “Verificar Plano de Mídia”. Ponto de atenção: é o slide mais técnico da apresentação — ir com calma, principalmente na parte da coluna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tabela e explicar que o prazo varia por volume de linhas (10 a 500). Reforçar: esses prazos valem para RM completa e sem pendência de asset — RM incompleta muda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tabelas de Tags e Contadores, explicando o “+ prazo” como o tempo de retorno da própria Flashtalking. Fechar com as regras gerais de atendimento (até 16h mesmo dia útil, após 16h próximo dia útil) e que eventualidades podem ser combinadas caso 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pelos itens obrigatórios e pela lista de erros comuns — é o resumo prático antes de qualquer envio. Reforçar o campo Solicitante: como o acesso ao Jira é por e-mail de time (genérico e compartilhado), o nome de quem pediu precisa estar sempre preenchido — o e-mail sozinho não identifica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os 4 pontos-chave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este slide como resumo visual das principais regras de taxonomia. Não é necessário detalhar cada item — o objetivo é mostrar que existe uma referência consolidada. Para detalhes completos (strings, diff de taxonomia, limites por plataforma), indicar o HTML de treinamento, que tem a biblioteca interativa com busca e filtros.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este slide como resumo visual das principais regras de taxonomia. Não é necessário detalhar cada item — o objetivo é mostrar que existe uma referência consolidada. Para detalhes completos (strings, diff de taxonomia, limites por plataforma), indicar o HTML de treinamento, que tem a biblioteca interativa com busca e filtros.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este slide como resumo visual das principais regras de taxonomia. Não é necessário detalhar cada item — o objetivo é mostrar que existe uma referência consolidada. Para detalhes completos (strings, diff de taxonomia, limites por plataforma), indicar o HTML de treinamento, que tem a biblioteca interativa com busca e filtros.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7772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57784" y="85953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4173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 do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e do ADP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640080" y="31546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conectar o plano de mídia, as abas por veículo e o dicionário de nomenclatura — sem retrabalho.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0" y="5212080"/>
            <a:ext cx="777240" cy="777240"/>
          </a:xfrm>
          <a:prstGeom prst="ellipse">
            <a:avLst/>
          </a:prstGeom>
          <a:solidFill>
            <a:srgbClr val="5A5D7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4944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2940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Camphouse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26680" y="5596128"/>
            <a:ext cx="457200" cy="0"/>
          </a:xfrm>
          <a:prstGeom prst="line">
            <a:avLst/>
          </a:prstGeom>
          <a:noFill/>
          <a:ln w="19050">
            <a:solidFill>
              <a:srgbClr val="6B6E85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8595360" y="5212080"/>
            <a:ext cx="777240" cy="777240"/>
          </a:xfrm>
          <a:prstGeom prst="ellipse">
            <a:avLst/>
          </a:prstGeom>
          <a:solidFill>
            <a:srgbClr val="FFAB4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9536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827532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372600" y="5596128"/>
            <a:ext cx="457200" cy="0"/>
          </a:xfrm>
          <a:prstGeom prst="line">
            <a:avLst/>
          </a:prstGeom>
          <a:noFill/>
          <a:ln w="19050">
            <a:solidFill>
              <a:srgbClr val="6B6E85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10241280" y="5212080"/>
            <a:ext cx="777240" cy="777240"/>
          </a:xfrm>
          <a:prstGeom prst="ellipse">
            <a:avLst/>
          </a:prstGeom>
          <a:solidFill>
            <a:srgbClr val="5A5D7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24128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9921240" y="60350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59436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841248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66344" y="67665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7" name="Image 1" descr="/home/claude/training_pptx/ico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12070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9" name="Text 4"/>
          <p:cNvSpPr/>
          <p:nvPr/>
        </p:nvSpPr>
        <p:spPr>
          <a:xfrm>
            <a:off x="1005840" y="1965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geral — do Camphouse ao StormX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005840" y="2423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na prática — importar e preencher por veículo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005840" y="28803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— o que editar e o que não editar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05840" y="33375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 — de onde vêm os valores e como validar nomenclatura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05840" y="37947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Implementação, responsabilidades e Influenciadores (BRD/INF/UGC)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005840" y="42519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05840" y="47091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— erros comuns antes de enviar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completo, do plano ao ad server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5963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5963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Camphouse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o plano de mídia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(opção Exportar Stormx)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427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427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1188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- Camphouse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65760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em C3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Colar Especial → Valores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0760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494C67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2891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2891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4652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por veículo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9224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Programmatic, YouTube,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 TikTok, Pinterest/Snapchat/X, Flashtalking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42248" y="2848356"/>
            <a:ext cx="283464" cy="201168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0" y="1965960"/>
            <a:ext cx="2514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63556" y="170992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63556" y="1709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281160" y="22402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326880" y="2743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 a solicitação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devolve a taxonomia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Repita as etapas 3–4 sempre que novas linhas forem adicionadas no Camphouse.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x ADP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operacional de solicitação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246888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o plano exportado do Camphouse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97180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 por veículo para preencher a solicitação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4747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" y="347472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define o que editar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9776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6384" y="397764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que você preenche todo dia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737360"/>
            <a:ext cx="0" cy="40233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20299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 mestre de nomenclatura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24688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92824" y="246888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Dimensions &amp; Values (regras globais)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97180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92824" y="297180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 Level / Campaign By Brand Pos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34747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92824" y="347472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os dropdowns do RM_STORMX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397764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92824" y="3977640"/>
            <a:ext cx="4974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fonte de verdade para validar a string final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Importando o plano do Camphouse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17647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0" y="17647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Camphouse, exportar o plano usando a opção “Exportar Stormx”. O sistema gera um arquivo Excel.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26334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4800" y="263347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“Plano - Camphouse”, copiar todos os dados do arquivo exportado.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3502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como valores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14800" y="35021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a partir da célula C3 usando Colar Especial → Valores. Evita conflitos de formatação.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novas linhas forem adicionadas no Camphouse: exporte novamente e copie apenas as linhas novas, colando abaixo da última linha (também com Colar Especial → Valores).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Selecionando a aba do veículo certo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de busca e display Google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2628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 programática (DV360, TradeDesk etc.)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16916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75320" y="192024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7" name="Text 14"/>
          <p:cNvSpPr/>
          <p:nvPr/>
        </p:nvSpPr>
        <p:spPr>
          <a:xfrm>
            <a:off x="8503920" y="18379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753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específicas de vídeo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 TikTok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social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9768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2628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Pinterest, Snapchat e X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2628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social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46720" y="347472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75320" y="3703320"/>
            <a:ext cx="128016" cy="128016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9" name="Text 26"/>
          <p:cNvSpPr/>
          <p:nvPr/>
        </p:nvSpPr>
        <p:spPr>
          <a:xfrm>
            <a:off x="850392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75320" y="4160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server — tags e contadores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a coluna Linha (G) com o número correspondente no Plano - Camphouse — é isso que conecta os dados automaticamente.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Google PMax têm regras específicas de taxonomia — consulte as Regras de Taxonomia antes de implementar.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— o que editar (e o que não)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920240" cy="777240"/>
          </a:xfrm>
          <a:prstGeom prst="rect">
            <a:avLst/>
          </a:prstGeom>
          <a:solidFill>
            <a:srgbClr val="7B4B9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Roxo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468880" y="18288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18288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 via dropdown. Preenchimento obrigatório.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1920240" cy="7772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Amarelo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68880" y="27432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manualmente. Não usar caracteres especiais.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1920240" cy="777240"/>
          </a:xfrm>
          <a:prstGeom prst="rect">
            <a:avLst/>
          </a:prstGeom>
          <a:solidFill>
            <a:srgbClr val="AEDFF7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6576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claro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468880" y="36576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0" y="36576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Preenchido automaticamente pela planilha. Não editar.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solidFill>
            <a:srgbClr val="B0B7BD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572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468880" y="4572000"/>
            <a:ext cx="8869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0" y="4572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Preenchido automaticamente pelo StormX.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coluna Linha (G): o elo entre as abas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- Camphouse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12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Google Search...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13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Meta...
</a:t>
            </a:r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14</a:t>
            </a:r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Brand X, CN00456, YouTube...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do plano exportado tem um número — é essa referência que você informa na aba do veículo.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548640" cy="320040"/>
          </a:xfrm>
          <a:prstGeom prst="rightArrow">
            <a:avLst/>
          </a:prstGeom>
          <a:solidFill>
            <a:srgbClr val="0097A7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1737360"/>
            <a:ext cx="4937760" cy="2926080"/>
          </a:xfrm>
          <a:prstGeom prst="rect">
            <a:avLst/>
          </a:prstGeom>
          <a:solidFill>
            <a:srgbClr val="FFFFFF"/>
          </a:solidFill>
          <a:ln w="1651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do veículo (ex: Google)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4944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 G — Linha:  12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278892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preencher esse número, a planilha puxa automaticamente os dados do plano (marca, CN Code, veículo) para os campos azul claro dessa linha.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3886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disso, é só completar os campos roxo (dropdown) e amarelo (manual).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vêm os valores dos dropdowns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Mandated Dimensions &amp; Values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globais de nomenclatura e codificação do ADP — a base de tudo.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29100" y="1783080"/>
            <a:ext cx="0" cy="26517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4340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 Level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4340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marca, posicionamento e mercado — define o “Brand Position” usado nas strings.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23860" y="1783080"/>
            <a:ext cx="0" cy="265176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By Brand Pos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38160" y="22860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campanhas e CN Codes vinculados a cada posicionamento de marca.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572000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RM_STORMX consome esses valores para montar os dropdowns roxo. Se um valor não aparece na lista, o problema costuma estar no cadastro dentro do ADP — não no RM_STORMX.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Validando a string antes de enviar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78308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enviar a solicitação, confira a string gerada contra as abas de taxonomia (Taxo Google, Taxo YouTube, Taxo Programmatic, Taxo Meta e Tiktok, Taxo Pinterest/Snapchat/X, Taxo Flashtalking).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97180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 ADP como fonte de verdade: se a nomenclatura no RM_STORMX diverge do dicionário mandatório, corrija no RM_STORMX — o ADP não deve ser editado por engano.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913632"/>
            <a:ext cx="1088136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4160520"/>
            <a:ext cx="10287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novas (sem CN Code ainda) aparecem em “Missing Campaigns” — sinalize para o time responsável antes de seguir com o preenchimento.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recorrentes de nomenclatura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proibidos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usar em nenhum campo da taxonomia: acentos, apóstrofo ('), travessão (– ou —), "_" (underscore) ou "|" (pipe). Use apenas letras sem acentuação, números e hífen (-).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Name genérico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usar nome genérico (ex.: “Always On Non Search”), exceto enquanto o Campaign Name oficial do Global ainda não foi aprovado.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0" cy="32004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Name duplicado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permitido usar o mesmo Ad Name em mais de um Ad Group, mesmo com o asset idêntico. Cada Ad Group deve ter seu próprio Ad Name solicitado à StormX.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de Ad Group/Ad Name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66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duplicar Ad Groups ou Ad Names direto na plataforma (evite sufixos como “cópia”/“copy”). Mesmo com config. idêntica, solicitar sempre uma nova taxonomia à StormX.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Essas práticas comprometem a leitura dos dados e sujam o banco — sempre exigem retrabalho de correção.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importantes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591056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481328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 StormX cria taxonomia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1819656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proibido preencher o ADP manualmente. Se chegar um ADP preenchido, a StormX solicita que a demanda seja descrita na task do Jira.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532888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23160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subir campanha sem taxonomia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2761488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em caso de urgência, com autorização do cliente por e-mail — e é obrigatório solicitar a taxonomia via Jira e corrigir a linha em até 24h.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364992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 genérica é exceção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370332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aceita fora do horário comercial/feriado ou campanha urgente sem informações completas. Ajuste para a versão correta em até 24h úteis.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416552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306824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Extra é a única edição permitida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68680" y="4645152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criada, a taxonomia não pode ser alterada — exceto o Campo Extra, que a agência pode ajustar. Toda alteração deve ser avisada à StormX em até 24h.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358384"/>
            <a:ext cx="137160" cy="13716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48656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o Jira quando solicitado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" y="5586984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StormX pede mais informação no ticket para seguir com a taxonomia, a demanda fica parada até a resposta do mídia — isso atrasa a criação e compromete o SLA.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Implementação: responsabilidades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de criativos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214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StormX pode apoiar na revisão, mas quem valida o criativo é o mídia — é quem conhece as peculiaridades da peça (CTA, destino/URL correto, formato). A responsabilidade final pela aprovação do criativo é do mídia.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e colar o que vem na RM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3872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implementar na plataforma, o mídia deve copiar e colar exatamente a taxonomia gerada na RM — nunca retranscrever ou digitar de novo. Reduz erro de transcrição e mantém a string idêntica à validada.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 os contatos de envio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495604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indicar para quem os materiais criados devem ser enviados — principalmente quando vêm de Ad Server (Flashtalking). Sem o contato certo, a entrega do material trava.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de Influenciadores — BRD, INF e UGC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8308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03120" y="1783080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856232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influenciador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31720" y="2185416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da marca (Brand Say). Não deve ter nenhum link de influenciador associado.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807208"/>
            <a:ext cx="1463040" cy="868680"/>
          </a:xfrm>
          <a:prstGeom prst="rect">
            <a:avLst/>
          </a:prstGeom>
          <a:solidFill>
            <a:srgbClr val="494C6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80720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103120" y="2807208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31720" y="288036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influenciador — handle da marca + do influenciador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331720" y="3209544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com influenciador usando Brand Handle e Influencer Handle no Galileo. Link do influenciador é obrigatório.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831336"/>
            <a:ext cx="1463040" cy="868680"/>
          </a:xfrm>
          <a:prstGeom prst="rect">
            <a:avLst/>
          </a:prstGeom>
          <a:solidFill>
            <a:srgbClr val="FFAB4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831336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103120" y="3831336"/>
            <a:ext cx="9509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31720" y="3904488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influenciador — apenas handle do influenciador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331720" y="4233672"/>
            <a:ext cx="9052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com influenciador usando somente o Influencer Handle no Galileo. Link do influenciador é obrigatório.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901184"/>
            <a:ext cx="1088136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901184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mais comum: classificar como BRD uma campanha que na verdade tem influenciador (ou o contrário). Antes de classificar, confirme se existe link de influenciador — se existir, a classificação nunca pode ser BRD.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 e alterações — cuidados importantes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data inconsistente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se “Data de Início” e “Data Fim” estão no mesmo formato em todas as linhas do Plano - Camphouse. É comum vir misturado — algumas linhas em ISO (2026-05-01), outras em US (05/31/2026), na mesma coluna. Isso pode gerar leitura errada de data na taxonomia.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 na coluna Linha (G)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337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pedido muda o valor da coluna G, não trate como alteração simples: o G puxa automaticamente os campos azul claro daquela linha, e mudar o G muda esses campos também — mesmo que o pedido só liste outras colunas. Cancele a linha atual e crie uma nova solicitação.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389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“Verificar Plano de Mídia”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SEERRO: em vez de mostrar #N/A quando a fórmula não encontra correspondência no Plano - Camphouse, a planilha mostra esse aviso. Se aparecer em qualquer coluna da linha, volte à aba Plano/Plano - Camphouse, confira a Linha (G) e ajuste antes de enviar.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 — RM Completa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554480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7830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 de linhas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03120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76272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86784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9936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70448" y="1783080"/>
            <a:ext cx="1883664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783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54112" y="1783080"/>
            <a:ext cx="2377440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27264" y="17830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(linha implementada)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131552" y="1783080"/>
            <a:ext cx="1481328" cy="45720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04704" y="17830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(total)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2402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2402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103120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76272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986784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9936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870448" y="22402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22402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54112" y="22402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27264" y="22402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131552" y="22402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04704" y="22402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48640" y="2697480"/>
            <a:ext cx="155448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26974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2103120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76272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3986784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059936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870448" y="26974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0" y="2697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754112" y="2697480"/>
            <a:ext cx="237744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7264" y="2697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dias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10131552" y="2697480"/>
            <a:ext cx="1481328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04704" y="26974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dias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48640" y="31546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1546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2103120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176272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986784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59936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870448" y="31546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0" y="31546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754112" y="31546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27264" y="31546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dias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10131552" y="31546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204704" y="31546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548640" y="3611880"/>
            <a:ext cx="155448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1792" y="36118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2103120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76272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3986784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59936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</a:t>
            </a:r>
            <a:endParaRPr lang="en-US" sz="1150" dirty="0"/>
          </a:p>
        </p:txBody>
      </p:sp>
      <p:sp>
        <p:nvSpPr>
          <p:cNvPr id="61" name="Shape 58"/>
          <p:cNvSpPr/>
          <p:nvPr/>
        </p:nvSpPr>
        <p:spPr>
          <a:xfrm>
            <a:off x="5870448" y="3611880"/>
            <a:ext cx="1883664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943600" y="36118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50" dirty="0"/>
          </a:p>
        </p:txBody>
      </p:sp>
      <p:sp>
        <p:nvSpPr>
          <p:cNvPr id="63" name="Shape 60"/>
          <p:cNvSpPr/>
          <p:nvPr/>
        </p:nvSpPr>
        <p:spPr>
          <a:xfrm>
            <a:off x="7754112" y="3611880"/>
            <a:ext cx="2377440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827264" y="36118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dias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10131552" y="3611880"/>
            <a:ext cx="1481328" cy="45720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204704" y="36118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48640" y="40690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21792" y="406908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150" dirty="0"/>
          </a:p>
        </p:txBody>
      </p:sp>
      <p:sp>
        <p:nvSpPr>
          <p:cNvPr id="69" name="Shape 66"/>
          <p:cNvSpPr/>
          <p:nvPr/>
        </p:nvSpPr>
        <p:spPr>
          <a:xfrm>
            <a:off x="2103120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76272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</a:t>
            </a:r>
            <a:endParaRPr lang="en-US" sz="1150" dirty="0"/>
          </a:p>
        </p:txBody>
      </p:sp>
      <p:sp>
        <p:nvSpPr>
          <p:cNvPr id="71" name="Shape 68"/>
          <p:cNvSpPr/>
          <p:nvPr/>
        </p:nvSpPr>
        <p:spPr>
          <a:xfrm>
            <a:off x="3986784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059936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</a:t>
            </a:r>
            <a:endParaRPr lang="en-US" sz="1150" dirty="0"/>
          </a:p>
        </p:txBody>
      </p:sp>
      <p:sp>
        <p:nvSpPr>
          <p:cNvPr id="73" name="Shape 70"/>
          <p:cNvSpPr/>
          <p:nvPr/>
        </p:nvSpPr>
        <p:spPr>
          <a:xfrm>
            <a:off x="5870448" y="4069080"/>
            <a:ext cx="188366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943600" y="40690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50" dirty="0"/>
          </a:p>
        </p:txBody>
      </p:sp>
      <p:sp>
        <p:nvSpPr>
          <p:cNvPr id="75" name="Shape 72"/>
          <p:cNvSpPr/>
          <p:nvPr/>
        </p:nvSpPr>
        <p:spPr>
          <a:xfrm>
            <a:off x="7754112" y="406908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827264" y="40690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dias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10131552" y="4069080"/>
            <a:ext cx="14813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0204704" y="40690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dias</a:t>
            </a:r>
            <a:endParaRPr lang="en-US" sz="1150" dirty="0"/>
          </a:p>
        </p:txBody>
      </p:sp>
      <p:sp>
        <p:nvSpPr>
          <p:cNvPr id="79" name="Text 76"/>
          <p:cNvSpPr/>
          <p:nvPr/>
        </p:nvSpPr>
        <p:spPr>
          <a:xfrm>
            <a:off x="548640" y="46177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considerando a RM completa (sem pendências) e assets recebidos.</a:t>
            </a:r>
            <a:endParaRPr lang="en-US" sz="1150" dirty="0"/>
          </a:p>
        </p:txBody>
      </p:sp>
      <p:sp>
        <p:nvSpPr>
          <p:cNvPr id="80" name="Shape 77"/>
          <p:cNvSpPr/>
          <p:nvPr/>
        </p:nvSpPr>
        <p:spPr>
          <a:xfrm>
            <a:off x="548640" y="5074920"/>
            <a:ext cx="11064240" cy="1234440"/>
          </a:xfrm>
          <a:prstGeom prst="rect">
            <a:avLst/>
          </a:prstGeom>
          <a:solidFill>
            <a:srgbClr val="FDF3E7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Dores que afetam o prazo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incompleta, sem asset ou tarefa não criada no Jira: nesses casos, o prazo passa a depender do mídia (a ser definido) — o SLA acima só vale quando a solicitação chega completa.</a:t>
            </a:r>
            <a:endParaRPr lang="en-US" sz="1200" dirty="0"/>
          </a:p>
        </p:txBody>
      </p:sp>
      <p:sp>
        <p:nvSpPr>
          <p:cNvPr id="84" name="Text 8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85" name="Text 8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86" name="Text 8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SLAs — Flashtalking e regras gerais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 · Tags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146304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057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11680" y="2057400"/>
            <a:ext cx="196596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84832" y="205740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77640" y="2057400"/>
            <a:ext cx="196596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0792" y="205740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4231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4231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011680" y="242316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84832" y="2423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 +48h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77640" y="242316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50792" y="24231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 +4h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146304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27889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011680" y="2788920"/>
            <a:ext cx="196596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84832" y="278892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 +48h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77640" y="2788920"/>
            <a:ext cx="196596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0792" y="278892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+4h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315468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" y="31546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011680" y="315468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84832" y="315468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+48h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77640" y="3154680"/>
            <a:ext cx="1965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50792" y="315468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+4h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prazo = retorno de resposta da Flashtalking. Assets enviados à StormX, que solicita a criação à Flash; preview avaliado pelo mídia.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1691640"/>
            <a:ext cx="0" cy="27432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16916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Flashtalking · Contadores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446520" y="2057400"/>
            <a:ext cx="1463040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19672" y="205740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909560" y="2057400"/>
            <a:ext cx="1847088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82712" y="20574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756648" y="2057400"/>
            <a:ext cx="1847088" cy="365760"/>
          </a:xfrm>
          <a:prstGeom prst="rect">
            <a:avLst/>
          </a:prstGeom>
          <a:solidFill>
            <a:srgbClr val="EFF1F6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29800" y="205740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Alteração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446520" y="24231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19672" y="242316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909560" y="242316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82712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45min +4h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756648" y="242316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829800" y="24231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20min +4h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446520" y="2788920"/>
            <a:ext cx="1463040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9672" y="278892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909560" y="2788920"/>
            <a:ext cx="1847088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82712" y="27889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+4h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9756648" y="2788920"/>
            <a:ext cx="1847088" cy="365760"/>
          </a:xfrm>
          <a:prstGeom prst="rect">
            <a:avLst/>
          </a:prstGeom>
          <a:solidFill>
            <a:srgbClr val="F4F5F8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29800" y="278892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 +4h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446520" y="315468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19672" y="3154680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7909560" y="315468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82712" y="31546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 +4h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9756648" y="3154680"/>
            <a:ext cx="184708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29800" y="31546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 +4h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446520" y="36118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de contadores já incluem o retorno de resposta da Flashtalking (até 4h).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548640" y="461772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gerais de atendimento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548640" y="5166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786384" y="516636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16h: atendimento no mesmo dia útil.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548640" y="55321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786384" y="553212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16h: atendimento no próximo dia útil.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548640" y="5897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786384" y="5897880"/>
            <a:ext cx="106436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Eventualidades fora da rotina podem ser combinadas caso a caso com o time StormX.</a:t>
            </a:r>
            <a:endParaRPr lang="en-US" sz="1200" dirty="0"/>
          </a:p>
        </p:txBody>
      </p:sp>
      <p:sp>
        <p:nvSpPr>
          <p:cNvPr id="69" name="Text 6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71" name="Text 6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final e erros comuns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Obrigatório preencher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" y="22402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 solicitação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" y="26974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Solicitado por (responsável)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1546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3154680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envio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79476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acesso ao Jira é feito por e-mail de time (genérico e compartilhado) — por isso, o nome de quem está pedindo precisa sempre estar no campo Solicitante. Sem isso, ninguém sabe quem fez a solicitação.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1783080"/>
            <a:ext cx="0" cy="29718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comuns a evitar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55080" y="2240280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92824" y="2240280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caracteres especiais em campos amarelos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2569464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92824" y="2569464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campos azul claro manualmente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55080" y="2898648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92824" y="2898648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Esquecer de exportar de novo ao adicionar linhas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227832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92824" y="3227832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sem usar Colar Especial → Valores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3557016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92824" y="3557016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data inconsistente no plano colado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3886200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92824" y="3886200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Alterar a coluna G sem cancelar/recriar a linha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55080" y="4215384"/>
            <a:ext cx="201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92824" y="4215384"/>
            <a:ext cx="506577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“Verificar Plano de Mídia” em alguma coluna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consistência. Toda e qualquer mídia precisa ter sempre o mesmo comportamento em qualquer situação, seguindo as originais já validadas.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94C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training_pptx/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6400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5" name="Text 1"/>
          <p:cNvSpPr/>
          <p:nvPr/>
        </p:nvSpPr>
        <p:spPr>
          <a:xfrm>
            <a:off x="932688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57784" y="72237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levar desse treinamento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9" name="Text 5"/>
          <p:cNvSpPr/>
          <p:nvPr/>
        </p:nvSpPr>
        <p:spPr>
          <a:xfrm>
            <a:off x="960120" y="2212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RM_STORMX = onde você preenche a solicitação por veículo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17520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28712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ADP = de onde vêm os valores e como validar a nomenclatura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3675888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35295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(G) conecta o Plano - Camphouse às abas de veículo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40080" y="4334256"/>
            <a:ext cx="109728" cy="109728"/>
          </a:xfrm>
          <a:prstGeom prst="ellipse">
            <a:avLst/>
          </a:prstGeom>
          <a:solidFill>
            <a:srgbClr val="FFAB40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41879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cores define o que editar — e o que nunca editar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008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Fale com o time StormX / Taxonomia.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 ·  All rights reserved to Stormx © 2026 // Digital Forward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Taxonomia — Geral (1/2)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 por Plataforma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usar a taxonomia de uma plataforma em outra. Cada plataforma tem estrutura própria — misturar compromete o banco.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Name Duplicado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asset = Ad Name diferente por Ad Group. ID único — solicitar individualmente à StormX.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0" cy="32004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de Ad Group/Ad Name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duplicar direto na plataforma — sufixos "cópia"/"copy" quebram a taxonomia. Sempre solicitar nova taxonomia à StormX.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Caracteres Especiais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66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Proibido: acentos, apóstrofo ('), travessão (—), underscore (_) e pipe (|). Usar apenas letras, números e hífen (-).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de Caracteres: não reduzir por conta própria. Comunicar a StormX quando houver limitação técnica da plataforma.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Taxonomia — Geral (2/2) e Google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 Genérica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só em urgência ou fora do horário comercial. Corrigir para versão definitiva em até 24h úteis via Jira.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Name e Campaign Local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Genérico só enquanto o Global não aprovou o nome oficial. Assim que chegar, todas as taxonomias devem ser ajustadas.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0" cy="32004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PMax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Ad Group: quebra extra de Format Type Local no Campaign (valor: "pmax"). Publisher = "google-pmax".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 e Demand Gen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66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Search: Publisher = "google-search". Demand Gen: Publisher = "google-ads" (Google) ou "youtube" (YouTube).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5B5E7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84632" y="539496"/>
            <a:ext cx="201168" cy="201168"/>
          </a:xfrm>
          <a:prstGeom prst="ellipse">
            <a:avLst/>
          </a:prstGeom>
          <a:solidFill>
            <a:srgbClr val="14D7FF"/>
          </a:solidFill>
          <a:ln/>
        </p:spPr>
      </p:sp>
      <p:pic>
        <p:nvPicPr>
          <p:cNvPr id="5" name="Image 0" descr="/home/claude/training_pptx/ic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875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— TikTok, YouTube, Twitter e Flashtalking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— Branded Mission e Branded Buzz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não extrai dados desses formatos. Solicitar duas taxonomias à StormX: uma para TikTok e outra de compra direta. Mesmo ID.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Shop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análise. Só taxonomia de Campaign. Solicitar na aba TikTok — campos Publisher, Format e Location extras no freetext.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0" cy="320040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— Amplify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210312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 Amplify não têm Ad Name. Publisher = "Twitter-Amplify".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2004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— Masthead CPH e Flashtalking via API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356616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Masthead CPH: preencher na planilha de Compra Direta com Buying Type "cph". Flashtalking: Ad Group + Ad Name unificados em Placement Name.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DCDE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565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4C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0" y="6565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© 2026 // Digital Forward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430000" y="65653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3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2026-07-25T20:34:06Z</dcterms:created>
  <dcterms:modified xsi:type="dcterms:W3CDTF">2026-07-25T20:34:06Z</dcterms:modified>
</cp:coreProperties>
</file>