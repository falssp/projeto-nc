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itGYfeq5SKwu+kr4c055v88Nt3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9077C7-0632-4EF3-9967-33A70EFA990F}">
  <a:tblStyle styleId="{959077C7-0632-4EF3-9967-33A70EFA990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Abertura do treinamento com agência, Stormx e </a:t>
            </a:r>
            <a:r>
              <a:rPr lang="en-US"/>
              <a:t>Innovid</a:t>
            </a:r>
            <a:r>
              <a:rPr lang="en-US"/>
              <a:t>. Objetivo, alinhar o fluxo da operação, as regras de taxonomia e o papel de cada time.</a:t>
            </a:r>
            <a:endParaRPr/>
          </a:p>
        </p:txBody>
      </p:sp>
      <p:sp>
        <p:nvSpPr>
          <p:cNvPr id="23" name="Google Shape;2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Fluxo do processo em 6 etapas. 01, solicitação de tasks pelo Jira, feita pela Initiative e pela Cadastra. 02, a Stormx valida e distribui as tasks do Jira, preenche o Galileo e o FreeText conforme o ADP, cria a taxonomia e a URL parametrizada e faz a validação automatizada da taxonomia criada. 03, criação de contadores e tags, pela </a:t>
            </a:r>
            <a:r>
              <a:rPr lang="en-US"/>
              <a:t>Innovid</a:t>
            </a:r>
            <a:r>
              <a:rPr lang="en-US"/>
              <a:t>. 04, QA, pela Stormx. 05, implementação, pela Initiative e pela Cadastra. 06, report diário e QA automatizado, pela Stormx. Stormx é o time de AdOps responsável pela criação e distribuição das taxonomias. </a:t>
            </a:r>
            <a:r>
              <a:rPr lang="en-US"/>
              <a:t>Innovid</a:t>
            </a:r>
            <a:r>
              <a:rPr lang="en-US"/>
              <a:t> é o AdServer responsável pela criação de rastreadores.</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Taxonomia é o sistema de nomenclatura padronizado aplicado a Campaign, Ad Group e Ad Name em todos os veículos digitais, garantindo que qualquer pessoa, em qualquer momento, entenda exatamente o que cada campanha representa. Erros na implementação da taxonomia, como quebra de estrutura, confusão entre plataformas ou campos fora do padrão da UL Brasil, podem impedir que os dados da campanha sejam contabilizados no dashboard de métricas, incluindo investimento, impressões e cliques. Isso impacta o RROI, controle global da UL sobre o retorno dos investimentos, pois há investimento realizado sem os dados correspondentes para análise. Atenção, temos uma janela de 30 dias para corrigir a taxonomia na plataforma e no banco de dados, garantindo que os dados sejam contabilizados no dashboard e no RROI. A taxonomia é composta por dois tipos de campos obrigatórios. Campos Galileo, mandatórios Global, são padronizados globalmente pela Unilever, garantem consistência e governança internacional, são separados por underscore e não podem ser adicionados, removidos ou alterados sem autorização da UL Global. Campos Freetext, mandatórios Brasil, são definidos localmente para complementar as informações do mercado brasileiro e são separados por pipe. Como são mandatórios do Brasil, não precisamos aguardar a aprovação da UL Global para incluir ou alterar opções de dropdown, mas é necessário alinhar as mudanças com a UL Brasil antes de seguir.</a:t>
            </a:r>
            <a:endParaRPr/>
          </a:p>
        </p:txBody>
      </p:sp>
      <p:sp>
        <p:nvSpPr>
          <p:cNvPr id="76" name="Google Shape;7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Rotina semanal. Na segunda às 7h a UL Global aprova as solicitações. Na sexta o Global envia as atualizações do Galileo e do UNCC e a Stormx inclui as novidades no ADP. Na segunda seguinte, até às 17h, a Stormx envia aos times a nova versão do ADP, com as inclusões de Galileo e FreeText, que são solicitações dos mídias, e atualiza a RM online disponível no SharePoint com as mesmas novidades. CN Code. Sempre que o mídia precisar de uma campanha que ainda não está na lista do Global, a inclusão deve ser solicitada à UL Global pelo time da Unilever responsável pela campanha, marketing ou mídia da BU. A UL Global aprova às segundas, às 7h, e envia as atualizações do UNCC às sextas. Por isso a campanha pode ainda não ter sido incluída. Há duas opções, aguardar a próxima atualização da UL Global ou consultar a UL Brasil para saber se as linhas podem ser criadas antes da inclusão no UNCC. Se a UL Brasil autorizar, ela envia o CN Code e o Campaign, que devem ser idênticos aos cadastrados no UNCC. O mídia formaliza o acordo por e-mail para a Stormx, com o print da autorização da UL Brasil. Ao receber, a Stormx cadastra os dois na RM versão 6.0. Campaign Name. É o nome da campanha global, definido diretamente pelo Global da Unilever. A Stormx recebe a atualização das campanhas globais todas as sextas e inclui essas informações no ADP enviado aos mídias toda segunda em uma nova versão. Para criar um Campaign Name, os mídias solicitam diretamente à Unilever, que aprova e envia a atualização do Global à Stormx às sextas.</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 Camphouse é o sistema online onde os planos de mídia são cadastrados e aprovados, com acesso da agência e da Unilever. O mídia da agência cadastra o plano e envia para aprovação da UL. Quem controla o Camphouse é a UL Brasil, que ajusta as informações e inclui novas opções de dropdown. Ele já traz as regras e definições do UNCC Global e da documentação criada pela UL Brasil, então o mídia precisa preencher tudo de acordo com elas. Uma informação preenchida errada no Camphouse vai estar errada na RM e chegar errada para a Stormx, podendo ser repassada para a taxonomia. Nas campanhas digitais, a Stormx também precisa estar no fluxo para ter visão do que foi pedido e já incluir as novidades no ADP e no dicionário. Quando algo novo chega ao mídia pelo Camphouse e não é repassado para a Stormx, ela precisa consultar a UL, o que atrasa a demanda. Com a linha aprovada, o mídia já pode exportar o plano e preencher a RM.</a:t>
            </a:r>
            <a:endParaRPr/>
          </a:p>
        </p:txBody>
      </p:sp>
      <p:sp>
        <p:nvSpPr>
          <p:cNvPr id="147" name="Google Shape;1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RM é um documento online enviado pelos mídias e que contém o briefing e o plano de mídia com todas as informações necessárias para que a Stormx desenvolva a taxonomia. Além de centralizar essas informações, a RM funciona também como controle de status das solicitações. Todas as solicitações devem ser registradas na RM e devidamente sinalizadas na task correspondente do Jira. A Stormx é a única responsável por atualizar os dados estruturais da RM, incluindo criação de novos campos, alteração de regras, inclusão de novas listas suspensas e ajustes de lógica. Essas atualizações podem ocorrer de acordo com as atualizações semanais do Galileo, novidades ou ajustes no FreeText, inclusão de novas opções de dropdown, alterações estruturais necessárias para adequação a novos planos de mídia e ajustes técnicos que impactem a padronização da taxonomia. Apenas a Stormx pode criar novas versões da RM e realizar alterações estruturais. O time de mídia deve sempre usar a versão mais recente e, para cada campanha, criar apenas uma cópia dessa versão, nunca uma nova versão. Cada campanha deve ter apenas uma RM ativa. Não é permitido criar RMs adicionais para uma campanha que já possui uma RM em aberto, pois isso gera duplicidade de informações e compromete o controle de status das solicitações. Se já existir uma RM aberta, ela deve ser utilizada até o encerramento da campanha. Caso seja necessário migrar para uma nova versão, a RM anterior deve ser desativada, garantindo que apenas uma RM esteja ativa por campanha. Ajustes de taxonomia ou novas solicitações para a mesma campanha devem ser feitos na RM ativa, garantindo organização, rastreabilidade e centralização das informações. Caso identifique que falta alguma opção de dropdown na RM, solicitar à Carolina da Stormx a inclusão.</a:t>
            </a:r>
            <a:endParaRPr/>
          </a:p>
        </p:txBody>
      </p:sp>
      <p:sp>
        <p:nvSpPr>
          <p:cNvPr id="180" name="Google Shape;1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Antes de iniciar o preenchimento da RM, é necessário incluir o Plano de Mídia na aba Plano - Camphouse da RM. Para isso, exportar o plano de mídia utilizando a opção Export Stormx, feito por Alexandre Parma. O sistema gera um arquivo Excel. Copiar todos os dados do arquivo exportado e colar na aba Plano - Camphouse a partir da célula C3, utilizando Colar Especial, Valores, para evitar conflitos de formatação. Depois, acessar a aba correspondente ao veículo da campanha, Google, Programmatic, YouTube, Meta e TikTok, Pinterest, Snapchat e Twitter, </a:t>
            </a:r>
            <a:r>
              <a:rPr lang="en-US"/>
              <a:t>Innovid</a:t>
            </a:r>
            <a:r>
              <a:rPr lang="en-US"/>
              <a:t>. Na coluna Linha, informar o número da linha correspondente no plano para que os dados sejam preenchidos automaticamente. Alguns campos não são preenchidos automaticamente e exigem atenção manual. Campos roxos devem ser selecionados via dropdown. Campos amarelos são de preenchimento livre, sem uso de caracteres especiais. Nas últimas colunas da RM, na cor roxo claro, o time de AdOps preenche as taxonomias criadas, o ID, da Stormx ou da </a:t>
            </a:r>
            <a:r>
              <a:rPr lang="en-US"/>
              <a:t>Innovid</a:t>
            </a:r>
            <a:r>
              <a:rPr lang="en-US"/>
              <a:t>, a URL parametrizada e os contadores. A RM precisa estar completamente preenchida para que o AdOps dê início à criação da taxonomia. Caso esteja faltando alguma informação, o AdOps está autorizado a recusar seguir com a demanda. Novas linhas no Camphouse. Caso novas linhas sejam adicionadas ao plano de mídia após o preenchimento inicial da RM, é necessário atualizar a RM. Exportar novamente o plano, copiar apenas as novas linhas e colar logo abaixo da última linha já preenchida na aba Plano - Camphouse, com Colar Especial, Valores.</a:t>
            </a:r>
            <a:endParaRPr/>
          </a:p>
        </p:txBody>
      </p:sp>
      <p:sp>
        <p:nvSpPr>
          <p:cNvPr id="212" name="Google Shape;21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Cada tipo de pedido tem um status na RM e uma sinalização na task do Jira. Novo pedido, preencher todas as colunas da linha, status Solicitado para Stormx e criar a task no Jira com o link da RM. Alteração, destacar em amarelo as células alteradas, status Alterar e sinalizar na task do Jira qual linha e coluna foi alterada. Cancelamento, status Cancelar e informar na task do Jira qual linha deve ser cancelada. Prorrogação da data de implementação. Sempre que uma linha de campanha prevista no plano de mídia não for implementada na data originalmente planejada, o mídia deve sinalizar a Stormx para que seja realizado o QA da linha após a implementação. Passo a passo, alterar o status da linha na RM para Prorrogado, atualizar a data de início, destacando em amarelo, e sinalizar na task do Jira qual linha sofreu prorrogação.</a:t>
            </a:r>
            <a:endParaRPr/>
          </a:p>
        </p:txBody>
      </p:sp>
      <p:sp>
        <p:nvSpPr>
          <p:cNvPr id="241" name="Google Shape;24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que a Stormx possa iniciar o desenvolvimento das taxonomias, é necessário que os mídias criem uma tarefa no Jira contendo todas as informações necessárias para a solicitação. O link da RM, com o plano de mídia integrado, deve ser incluído na descrição da task. Caso a campanha seja implementada via tag, as peças também devem ser enviadas, seja via link drive, dropbox ou wetransfer. Essa tarefa será a task pai da campanha e permanecerá com o status Em andamento até o seu encerramento. Durante toda a campanha, novas solicitações de taxonomias, alterações, cancelamentos e prorrogações devem ser sinalizados na task pai e atualizados na RM, conforme o fluxo definido. A partir dessa solicitação, a Stormx cria as subtarefas internas para controle das demandas, desenvolvimento das taxonomias e acompanhamento do QA, que corresponde à validação da taxonomia após a implementação realizada pelos mídias da Initiative. SLA. O atendimento e a operação funcionam das 9h30 às 18h30, de segunda a sexta. Solicitações recebidas até às 16h são atendidas no mesmo dia. Após as 16h serão atendidas no dia seguinte. Solicitações urgentes devem ser informadas até às 12h do dia vigente. War Room deve ser informado com 3 dias úteis de antecedência. O SLA não contempla a criação de rastreadores da </a:t>
            </a:r>
            <a:r>
              <a:rPr lang="en-US"/>
              <a:t>Innovid</a:t>
            </a:r>
            <a:r>
              <a:rPr lang="en-US"/>
              <a:t>.</a:t>
            </a:r>
            <a:endParaRPr/>
          </a:p>
        </p:txBody>
      </p:sp>
      <p:sp>
        <p:nvSpPr>
          <p:cNvPr id="271" name="Google Shape;2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consultar qual e-mail corresponde ao seu time, acesse a planilha de acesso ao Jira Stormx. Acesse o link do 1Password correspondente ao seu time. Faça login no Google, em accounts.google.com, utilizando o e-mail, a senha e o token disponíveis no 1Password. Acesse o Jira e clique em Continuar com o Google. Não é necessário informar e-mail e senha diretamente na plataforma. Qualquer pessoa com acesso ao 1Password consegue acessar o Jira. Como os logins são separados por time, é importante confirmar que está utilizando o e-mail correto do seu time antes de abrir uma tarefa, para que a demanda não seja criada em nome de outro time.</a:t>
            </a:r>
            <a:endParaRPr/>
          </a:p>
        </p:txBody>
      </p:sp>
      <p:sp>
        <p:nvSpPr>
          <p:cNvPr id="301" name="Google Shape;3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Criação. Após receber a solicitação via RM Online e Jira, o time de AdOps cria as taxonomias com base nas informações preenchidas na RM, no plano de mídia e nas regras da UL Brasil e da UL Global. Antes da entrega, todas as taxonomias passam por uma validação automatizada em um sistema validador, que verifica se a estrutura e os campos estão de acordo com as regras estabelecidas, garantindo a padronização e a qualidade dos dados. Por isso, é importante que todas as informações da RM estejam preenchidas corretamente e de acordo com a documentação da UL Brasil e as regras da UL Global. Entrega. TikTok, Meta e YouTube, as taxonomias são incluídas na RM e o status é atualizado para Concluído Stormx. Pinterest, Twitter, Compra Direta, Amazon DSP e Programática, pode ser necessário solicitar tags ou contadores à </a:t>
            </a:r>
            <a:r>
              <a:rPr lang="en-US"/>
              <a:t>Innovid</a:t>
            </a:r>
            <a:r>
              <a:rPr lang="en-US"/>
              <a:t>, com prazo de entrega de 48 horas. Quando houver necessidade de envelopamento, o time de mídia deve incluir o link das peças na RM. Destinatários. Para Kinesso, incluímos taxonomias e contadores na RM. Para veículos externos, incluímos apenas as taxonomias, e a </a:t>
            </a:r>
            <a:r>
              <a:rPr lang="en-US"/>
              <a:t>Innovid</a:t>
            </a:r>
            <a:r>
              <a:rPr lang="en-US"/>
              <a:t> envia as informações aos destinatários. Pontos de atenção. A taxonomia deve ser utilizada exatamente como foi entregue pela Stormx, sem alterações. Caso seja necessário algum ajuste, ele deve ser solicitado via Jira. Antes da implementação, confira se a taxonomia corresponde à plataforma e à linha correta do plano de mídia.</a:t>
            </a:r>
            <a:endParaRPr/>
          </a:p>
        </p:txBody>
      </p:sp>
      <p:sp>
        <p:nvSpPr>
          <p:cNvPr id="328" name="Google Shape;32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Meta, TikTok e YouTube. Para cada linha solicitada na RM, criamos um ID único, que é incluído no Ad Name e relacionado à Campaign ou IO, ao Ad Group e ao Line Item. Esse ID é exclusivo e não pode ser reutilizado em outras linhas. Por isso, o time de mídia precisa garantir que a Campaign ou IO, o Ad Group e o Ad Name pertençam ao mesmo ID. Misturar informações de IDs diferentes gera divergências na implementação. Sempre que o mesmo anúncio precisar ser implementado em campanhas, IOs ou Ad Groups diferentes, cada linha deve ser solicitada individualmente na RM, para que seja criado um ID específico para cada uma. Pinterest, Twitter, Amazon DSP, Programática e Compra Direta. Nesses veículos, a </a:t>
            </a:r>
            <a:r>
              <a:rPr lang="en-US"/>
              <a:t>Innovid</a:t>
            </a:r>
            <a:r>
              <a:rPr lang="en-US"/>
              <a:t> também gera um ID único para cada Placement, que deve ser respeitado durante a implementação. Atenção, cada linha precisa estar vinculada ao seu ID correspondente. Não reutilize IDs nem misture informações de linhas diferentes.</a:t>
            </a:r>
            <a:endParaRPr/>
          </a:p>
        </p:txBody>
      </p:sp>
      <p:sp>
        <p:nvSpPr>
          <p:cNvPr id="371" name="Google Shape;37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 ADP é enviado a </a:t>
            </a:r>
            <a:r>
              <a:rPr lang="en-US"/>
              <a:t>Innovid</a:t>
            </a:r>
            <a:r>
              <a:rPr lang="en-US"/>
              <a:t> por e-mail, em uma thread com instruções e solicitação dos rastreadores. Nessa thread, todos os envolvidos da campanha são adicionados, temos mídias, Kinesso e, caso seja uma campanha via </a:t>
            </a:r>
            <a:r>
              <a:rPr lang="en-US"/>
              <a:t>Innovid</a:t>
            </a:r>
            <a:r>
              <a:rPr lang="en-US"/>
              <a:t>, é incluído também o responsável do veículo, por exemplo, Globo. Durante o processo, ajustes são feitos conforme solicitado pelo AdServer que, após confirmação, nos envia o ADP atualizado. Com isso, a Stormx adiciona o ADP, enviado pela </a:t>
            </a:r>
            <a:r>
              <a:rPr lang="en-US"/>
              <a:t>Innovid</a:t>
            </a:r>
            <a:r>
              <a:rPr lang="en-US"/>
              <a:t>, na tarefa principal do Jira e informa aos mídias para darem continuidade na campanha. Caso no meio do processo seja necessário fazer alterações na taxonomia, na peça, se for via contador, ou o período da campanha será outro, é necessário enviar para a Stormx via Jira ou Teams para que o responsável da BU, na Stormx, envie para a </a:t>
            </a:r>
            <a:r>
              <a:rPr lang="en-US"/>
              <a:t>Innovid</a:t>
            </a:r>
            <a:r>
              <a:rPr lang="en-US"/>
              <a:t> a alteração na thread e eles sigam com a nova solicitação. Exemplo de thread, ADP | Brilhante | Diamond | 2026 | </a:t>
            </a:r>
            <a:r>
              <a:rPr lang="en-US"/>
              <a:t>Innovid</a:t>
            </a:r>
            <a:r>
              <a:rPr lang="en-US"/>
              <a:t>. Grupos Teams. Os grupos do Microsoft Teams devem ser utilizados exclusivamente para alinhamentos entre Stormx, Initiative e </a:t>
            </a:r>
            <a:r>
              <a:rPr lang="en-US"/>
              <a:t>Innovid</a:t>
            </a:r>
            <a:r>
              <a:rPr lang="en-US"/>
              <a:t>, garantindo que todos os envolvidos acompanhem as definições da operação. Utilize para alinhamentos que envolvam a </a:t>
            </a:r>
            <a:r>
              <a:rPr lang="en-US"/>
              <a:t>Innovid</a:t>
            </a:r>
            <a:r>
              <a:rPr lang="en-US"/>
              <a:t> e dúvidas e definições técnicas. Não utilize para solicitações que envolvam a taxonomia, alterações na RM, cancelamentos ou prorrogações de linhas. Importante, todas as solicitações que envolvam a taxonomia devem ser registradas na RM e sinalizadas na task do Jira.</a:t>
            </a:r>
            <a:endParaRPr/>
          </a:p>
        </p:txBody>
      </p:sp>
      <p:sp>
        <p:nvSpPr>
          <p:cNvPr id="406" name="Google Shape;40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Solicitação de TAGs, em 7 passos. 01, agência ou Stormx envia o ADP e as peças da campanha. 02, o CS/Ops da </a:t>
            </a:r>
            <a:r>
              <a:rPr lang="en-US"/>
              <a:t>Innovid</a:t>
            </a:r>
            <a:r>
              <a:rPr lang="en-US"/>
              <a:t> valida o ADP. 03, o Creative/QA valida as peças. 04, peças validadas, pelo Creative/QA. 05, o CS/Ops faz a criação da campanha, associa as peças e envia os previews para a validação. 06, a agência ou Stormx valida os previews. 07, o CS/Ops libera as TAGs, verifica as contabilizações e as discrepâncias. Solicitação de Trackings, em 2 passos. 01, a agência ou Stormx envia o ADP. 02, o CS/Ops da </a:t>
            </a:r>
            <a:r>
              <a:rPr lang="en-US"/>
              <a:t>Innovid</a:t>
            </a:r>
            <a:r>
              <a:rPr lang="en-US"/>
              <a:t> valida o ADP, cria a campanha, libera os contadores e verifica as contabilizações e as discrepâncias. Observação, os contadores de social são inseridos no ADP e implementados pela agência.</a:t>
            </a:r>
            <a:endParaRPr/>
          </a:p>
        </p:txBody>
      </p:sp>
      <p:sp>
        <p:nvSpPr>
          <p:cNvPr id="440" name="Google Shape;44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h55e8012936a262e7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h55e8012936a262e7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Solicitação de TAGs, em 7 passos. 01, agência ou Stormx envia o ADP e as peças da campanha. 02, o CS/Ops da Innovid valida o ADP. 03, o Creative/QA valida as peças. 04, peças validadas, pelo Creative/QA. 05, o CS/Ops faz a criação da campanha, associa as peças e envia os previews para a validação. 06, a agência ou Stormx valida os previews. 07, o CS/Ops libera as TAGs, verifica as contabilizações e as discrepâncias. Solicitação de Trackings, em 2 passos. 01, a agência ou Stormx envia o ADP. 02, o CS/Ops da Innovid valida o ADP, cria a campanha, libera os contadores e verifica as contabilizações e as discrepâncias. Observação, os contadores de social são inseridos no ADP e implementados pela agência.</a:t>
            </a:r>
            <a:endParaRPr/>
          </a:p>
        </p:txBody>
      </p:sp>
      <p:sp>
        <p:nvSpPr>
          <p:cNvPr id="490" name="Google Shape;490;h55e8012936a262e7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55e8012936a262e7_1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h55e8012936a262e7_1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Solicitação de TAGs, em 7 passos. 01, agência ou Stormx envia o ADP e as peças da campanha. 02, o CS/Ops da Innovid valida o ADP. 03, o Creative/QA valida as peças. 04, peças validadas, pelo Creative/QA. 05, o CS/Ops faz a criação da campanha, associa as peças e envia os previews para a validação. 06, a agência ou Stormx valida os previews. 07, o CS/Ops libera as TAGs, verifica as contabilizações e as discrepâncias. Solicitação de Trackings, em 2 passos. 01, a agência ou Stormx envia o ADP. 02, o CS/Ops da Innovid valida o ADP, cria a campanha, libera os contadores e verifica as contabilizações e as discrepâncias. Observação, os contadores de social são inseridos no ADP e implementados pela agência.</a:t>
            </a:r>
            <a:endParaRPr/>
          </a:p>
        </p:txBody>
      </p:sp>
      <p:sp>
        <p:nvSpPr>
          <p:cNvPr id="512" name="Google Shape;512;h55e8012936a262e7_1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h55e8012936a262e7_1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h55e8012936a262e7_1_1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Solicitação de TAGs, em 7 passos. 01, agência ou Stormx envia o ADP e as peças da campanha. 02, o CS/Ops da Innovid valida o ADP. 03, o Creative/QA valida as peças. 04, peças validadas, pelo Creative/QA. 05, o CS/Ops faz a criação da campanha, associa as peças e envia os previews para a validação. 06, a agência ou Stormx valida os previews. 07, o CS/Ops libera as TAGs, verifica as contabilizações e as discrepâncias. Solicitação de Trackings, em 2 passos. 01, a agência ou Stormx envia o ADP. 02, o CS/Ops da Innovid valida o ADP, cria a campanha, libera os contadores e verifica as contabilizações e as discrepâncias. Observação, os contadores de social são inseridos no ADP e implementados pela agência.</a:t>
            </a:r>
            <a:endParaRPr/>
          </a:p>
        </p:txBody>
      </p:sp>
      <p:sp>
        <p:nvSpPr>
          <p:cNvPr id="544" name="Google Shape;544;h55e8012936a262e7_1_1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Placement Type, tipo de veiculação do placement. HTML, formatos display aceitos via TAG. VAST, formatos de vídeo aceitos via TAG. Pixel, formatos aceitos somente com contadores de impressões e ou cliques. Native, formato Native aceito via TAG. Áudio, formato de áudio aceito via TAG. Multi-Tracker, podemos criar vários contadores de impressões e ou cliques para um único placement. Demais campos. Pixel Impression 3rd, pixel de impressões de terceiros. Pixel Click 3rd, pixel de cliques de terceiros. Clickthrough URL, URL de direcionamento do placement. Cost Model, modelo de compra do placement ou package. Booked Units, quantidade de impressões, cliques ou ações contratados para o placement ou package. Media Cost Rate, custo por unidade de tudo o que foi contratado para o placement ou package. Booked Cost ou ThirdParty ID, valor total do placement ou pacote. É imprescindível o envio do Booked Cost ou ThirdParty ID.</a:t>
            </a:r>
            <a:endParaRPr/>
          </a:p>
        </p:txBody>
      </p:sp>
      <p:sp>
        <p:nvSpPr>
          <p:cNvPr id="560" name="Google Shape;56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Specs para vídeo. Tamanho máximo de 15 MB. File types, MOV, MP4, MPEG, MPG, AVI e WMV. Duração máxima de 900 segundos. Bitrate para display HTML em banner video, de 900 a 2400 kbps. Bitrate para vídeo criativo via VAST, de 15 a 30 mbps. Aspect ratio 16 por 9 ou 4 por 3. Codec H264, MPEG4 ou WMV. Specs para display. Deve conter o manifest, manifest.js, com nome do arquivo HTML do criativo, largura e altura em pixels, com valor inteiro, ClickTagCount, com valor inteiro, e variáveis dinâmicas ou valores de instant ad, com limite de 50. Deve conter todo o HTML e os assets relevantes ao criativo. Não pode exceder o limite máximo de 500 MB. Standard Ad, até 300 KB. Specs para áudio. File types, MP3, OGG, M4A e AAC, somente suportados. Duração mínima de 1 segundo. Tamanho máximo de 100 MB. Audio bitrate de 192 Kbps ou mais. Sample rate de pelo menos 44.1 kHz. Loudness de menos 16 LUFS, com mais ou menos 1.5 LUFS, e TPL igual ou menor que menos 2.0 dB. Dimensões 0x0. Suporte a VAST 2.0 e VAST 4.1.</a:t>
            </a:r>
            <a:endParaRPr/>
          </a:p>
        </p:txBody>
      </p:sp>
      <p:sp>
        <p:nvSpPr>
          <p:cNvPr id="618" name="Google Shape;61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Horário de funcionamento. O atendimento e operação funcionam das 10h às 19h, de segunda a sexta. Solicitações enviadas entre 17h e 19h serão analisadas no mesmo dia ou no dia seguinte, no primeiro horário, de acordo com a fila de solicitações. Para casos e solicitações urgentes, é importante que sinalizem a </a:t>
            </a:r>
            <a:r>
              <a:rPr lang="en-US"/>
              <a:t>Innovid</a:t>
            </a:r>
            <a:r>
              <a:rPr lang="en-US"/>
              <a:t> com o máximo de antecedência possível para que se organizem internamente e consigam realizar o atendimento e suporte necessário. Validação e upload de materiais publicitários. Todos os materiais devem ser enviados respeitando as especificações técnicas do sistema e as especificações do site onde a campanha será veiculada. O prazo para validação e upload de peças é de 48h, dias úteis, desde que estejam dentro das especificações técnicas e de arte. Correções serão enviadas de volta à agência, e cada envio de atualizações inicia um novo prazo. A viabilidade e o prazo final serão determinados após análise da requisição. Dúvidas técnicas devem ser direcionadas a creative.as@adsmovil.com, com prazo de resposta de 4h úteis. O time criativo não tem responsabilidade e não faz nenhum tipo de validação da arte ou animação da peça que já foi aprovada pelo cliente e nenhum tipo de alteração neste sentido. Tráfego, execução e envio de tags. A execução do ADP na plataforma, o attachment de peças e URLs e o processo de tráfego e envio de tags têm prazo de programação entre 2 e 48h, dias úteis, considerando que as informações estejam corretas no ADP e que as peças estejam dentro das specs. Caso contrário, haverá maior tempo de execução e operação, dependendo do tipo de suporte e ajuste necessário, e isso impactará todo o processo operacional de programação da campanha. Diárias. Todas as diárias devem ser sinalizadas no ADP para que a </a:t>
            </a:r>
            <a:r>
              <a:rPr lang="en-US"/>
              <a:t>Innovid</a:t>
            </a:r>
            <a:r>
              <a:rPr lang="en-US"/>
              <a:t> possa dar prioridade máxima na validação do formato, programação e envio da tag, para que o publisher inicie o processo de validação e QA dentro do SLA preciso. As peças precisam ser enviadas com no mínimo 72h, dias úteis, de antecedência para a </a:t>
            </a:r>
            <a:r>
              <a:rPr lang="en-US"/>
              <a:t>Innovid</a:t>
            </a:r>
            <a:r>
              <a:rPr lang="en-US"/>
              <a:t> ter tempo hábil nos testes que serão efetuados e em possíveis ajustes solicitados pelo publisher. Discrepâncias. A </a:t>
            </a:r>
            <a:r>
              <a:rPr lang="en-US"/>
              <a:t>Innovid</a:t>
            </a:r>
            <a:r>
              <a:rPr lang="en-US"/>
              <a:t> realiza a comparação dos dados quando a veiculação é compra direta com o portal. As discrepâncias acima de 10% na veiculação no Desktop e 20% no Mobile são analisadas para a </a:t>
            </a:r>
            <a:r>
              <a:rPr lang="en-US"/>
              <a:t>Innovid</a:t>
            </a:r>
            <a:r>
              <a:rPr lang="en-US"/>
              <a:t> detectar o motivo. O prazo para início da análise depende da cooperação do portal, mas normalmente é de 48h, e a resolução do caso varia de acordo com a dificuldade encontrada.</a:t>
            </a:r>
            <a:endParaRPr/>
          </a:p>
        </p:txBody>
      </p:sp>
      <p:sp>
        <p:nvSpPr>
          <p:cNvPr id="636" name="Google Shape;63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Cada campanha deve ter uma thread do ADP e todas as solicitações para as campanhas devem ser realizadas nas respectivas threads, para uma organização melhor e para manter os históricos de solicitações. Quando a entrega do placement for por Tag, a criação das peças deve seguir as specs da </a:t>
            </a:r>
            <a:r>
              <a:rPr lang="en-US"/>
              <a:t>Innovid</a:t>
            </a:r>
            <a:r>
              <a:rPr lang="en-US"/>
              <a:t>. Quando for por Tracking, deve seguir as specs do publisher. Caso haja dúvida se o formato da campanha deve seguir por Tag ou Tracking, questionar o time de CS da </a:t>
            </a:r>
            <a:r>
              <a:rPr lang="en-US"/>
              <a:t>Innovid</a:t>
            </a:r>
            <a:r>
              <a:rPr lang="en-US"/>
              <a:t>. Para social somente são aceitos contadores, mas para as demais veiculações deve-se priorizar a veiculação via TAG. Nada deve ser veiculado sem a TAG ou o contador da </a:t>
            </a:r>
            <a:r>
              <a:rPr lang="en-US"/>
              <a:t>Innovid</a:t>
            </a:r>
            <a:r>
              <a:rPr lang="en-US"/>
              <a:t> sem a autorização do cliente, uma vez que a </a:t>
            </a:r>
            <a:r>
              <a:rPr lang="en-US"/>
              <a:t>Innovid</a:t>
            </a:r>
            <a:r>
              <a:rPr lang="en-US"/>
              <a:t> tem de entregar os dados auditados para o cliente. Sempre manter o e-mail unilever.as@adsmovil.com para todas as solicitações, para que toda a equipe de CS fique em cópia. Double Verify. Toda vez que for solicitada uma nova campanha para a criação do lado da </a:t>
            </a:r>
            <a:r>
              <a:rPr lang="en-US"/>
              <a:t>Innovid</a:t>
            </a:r>
            <a:r>
              <a:rPr lang="en-US"/>
              <a:t>, a agência precisa criar uma nova campanha na Double Verify. Sempre lembrar de inserir as informações de Campaign ID da </a:t>
            </a:r>
            <a:r>
              <a:rPr lang="en-US"/>
              <a:t>Innovid</a:t>
            </a:r>
            <a:r>
              <a:rPr lang="en-US"/>
              <a:t>, que se encontra no campo Campaign ID no cabeçalho do ADP, e todos os publishers que vão veicular na campanha.</a:t>
            </a:r>
            <a:endParaRPr/>
          </a:p>
        </p:txBody>
      </p:sp>
      <p:sp>
        <p:nvSpPr>
          <p:cNvPr id="662" name="Google Shape;66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Segunda-feira, extração do dashboard de taxonomias implementadas, pela Stormx, e recebimento do export do banco de dados da agência, pela Initiative. De segunda a quarta-feira, cruzamento das bases, validação linha a linha, identificação dos erros e alinhamento com o time de AdOps para correção das taxonomias, responsabilidade da Stormx. Até quarta-feira, inclusão das taxonomias na planilha de Correção, indicando os responsáveis por cada ajuste, time de mídia na plataforma ou Engenharia no banco de dados, responsabilidade da Stormx. Até sexta-feira, conclusão das correções pelos times responsáveis, responsabilidade da Initiative. Segunda-feira seguinte, novo export para validar se os erros foram corrigidos, Initiative e Stormx.</a:t>
            </a:r>
            <a:endParaRPr/>
          </a:p>
        </p:txBody>
      </p:sp>
      <p:sp>
        <p:nvSpPr>
          <p:cNvPr id="700" name="Google Shape;70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Fluxo diário. Diariamente, o time de AdOps Stormx recebe alertas sobre novas taxonomias inseridas no banco de dados e sobre eventuais erros. Caso haja erro, o time reporta ao responsável no mesmo dia. Fluxo mensal, RROI. No final de cada mês, exportamos a base completa para validação. Os erros identificados seguem o mesmo fluxo de correção. É fundamental cumprir os prazos para garantir que os dados sejam contabilizados corretamente no dashboard e no RROI. Correção de erros em DV360 e YouTube. Insertion Order, quando o IO tem mais de 120 caracteres e a plataforma não permite a substituição por limitação de caracteres, o ajuste é feito diretamente no banco de dados pela engenharia. Ad Name, por conta de uma limitação da plataforma, os erros de Ad Name devem ser corrigidos tanto na plataforma quanto no banco de dados. É responsabilidade do mídia informar ao time de BI sobre a taxonomia reduzida e enviar a taxonomia correta, para que o engenheiro de dados faça o ajuste assim que ela for identificada no banco.</a:t>
            </a:r>
            <a:endParaRPr/>
          </a:p>
        </p:txBody>
      </p:sp>
      <p:sp>
        <p:nvSpPr>
          <p:cNvPr id="732" name="Google Shape;73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Taxonomia por plataforma. É proibido usar a taxonomia de uma plataforma em outra. Cada plataforma tem estrutura própria e misturar compromete o banco. Ad Name duplicado. O mesmo asset precisa de Ad Name diferente por Ad Group. O ID é único e deve ser solicitado individualmente à Stormx. Cópia de Ad Group ou Ad Name. Nunca duplicar direto na plataforma, pois sufixos cópia ou copy quebram a taxonomia. Sempre solicitar nova taxonomia à Stormx. Caracteres especiais. É proibido usar acentos, apóstrofo, travessão, underscore e pipe. Usar apenas letras, números e hífen. Taxonomia genérica. Exceção para quando o criativo ainda não chegou e a implementação será em feriado ou fora do horário comercial. Segue a estrutura correta da taxonomia, com algumas informações genéricas, e o time tem 24h para solicitar o ajuste com os dados corretos. Campaign Name e Campaign Local. O Campaign Local, campanha local do Brasil, deve ser sempre igual ao Campaign Name, global, salvo mediante aprovação da UL Brasil. É permitido adicionar informações extras no Campaign Local Extra, que deve ser solicitado pelo mídia para que a Stormx crie e cadastre no ADP. É proibido o uso de Campaign Name genérico, como Always On Non Search, sendo autorizado apenas caso o Campaign Name solicitado pelo mídia ainda não tenha sido aprovado. Assim que o Global enviar o Campaign Name oficial, todas as taxonomias devem ser ajustadas para refletir o novo nome.</a:t>
            </a:r>
            <a:endParaRPr/>
          </a:p>
        </p:txBody>
      </p:sp>
      <p:sp>
        <p:nvSpPr>
          <p:cNvPr id="747" name="Google Shape;74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TikTok Shop. Na plataforma do TikTok Shop só é permitido preencher o Campaign, não existe Ad Group nem Ad Name. Por isso a Stormx envia uma taxonomia de Campaign personalizada para a plataforma. Como esse tipo de campanha não é extraído via API, o mídia precisa preencher os dados na planilha manual de compra direta. Mesmo sendo compra direta, o BI criou uma regra para que a taxonomia preenchida seja lida como TikTok, com a estrutura normal da plataforma. Por isso a Stormx entrega 4 taxonomias na RM. Campaign, Ad Group e Ad Name vão na planilha de compra direta e ficam nas primeiras colunas de taxonomia da RM. O Campaign de TikTok Shop vai na plataforma e fica mais ao final da RM. Google PMax. Sem Ad Group, quebra extra de Format Type Local no Campaign, valor pmax. Publisher google-pmax. Google Search e Demand Gen. Search, Publisher google-search. Demand Gen, Publisher google-ads para Google ou youtube para YouTube. Twitter Amplify. Campanhas Amplify não têm Ad Name. Publisher na RM, Twitter-Amplify. YouTube Masthead CPH. Preencher na planilha de Compra Direta com Buying Type cph. </a:t>
            </a:r>
            <a:r>
              <a:rPr lang="en-US"/>
              <a:t>Innovid</a:t>
            </a:r>
            <a:r>
              <a:rPr lang="en-US"/>
              <a:t> via API. Ad Group e Ad Name unificados em Placement Name.</a:t>
            </a:r>
            <a:endParaRPr/>
          </a:p>
        </p:txBody>
      </p:sp>
      <p:sp>
        <p:nvSpPr>
          <p:cNvPr id="777" name="Google Shape;77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p:cSld name="CAPA">
    <p:bg>
      <p:bgPr>
        <a:blipFill>
          <a:blip r:embed="rId2">
            <a:alphaModFix/>
          </a:blip>
          <a:stretch>
            <a:fillRect/>
          </a:stretch>
        </a:blipFill>
      </p:bgPr>
    </p:bg>
    <p:spTree>
      <p:nvGrpSpPr>
        <p:cNvPr id="10" name="Shape 10"/>
        <p:cNvGrpSpPr/>
        <p:nvPr/>
      </p:nvGrpSpPr>
      <p:grpSpPr>
        <a:xfrm>
          <a:off x="0" y="0"/>
          <a:ext cx="0" cy="0"/>
          <a:chOff x="0" y="0"/>
          <a:chExt cx="0" cy="0"/>
        </a:xfrm>
      </p:grpSpPr>
      <p:pic>
        <p:nvPicPr>
          <p:cNvPr descr="/home/claude/deck15/assets/logo.png" id="11" name="Google Shape;11;p24"/>
          <p:cNvPicPr preferRelativeResize="0"/>
          <p:nvPr/>
        </p:nvPicPr>
        <p:blipFill rotWithShape="1">
          <a:blip r:embed="rId3">
            <a:alphaModFix/>
          </a:blip>
          <a:srcRect b="0" l="0" r="0" t="0"/>
          <a:stretch/>
        </p:blipFill>
        <p:spPr>
          <a:xfrm>
            <a:off x="2825496" y="2130552"/>
            <a:ext cx="3483864" cy="8833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UDO">
  <p:cSld name="CONTEUDO">
    <p:bg>
      <p:bgPr>
        <a:solidFill>
          <a:schemeClr val="lt1"/>
        </a:solidFill>
      </p:bgPr>
    </p:bg>
    <p:spTree>
      <p:nvGrpSpPr>
        <p:cNvPr id="12" name="Shape 12"/>
        <p:cNvGrpSpPr/>
        <p:nvPr/>
      </p:nvGrpSpPr>
      <p:grpSpPr>
        <a:xfrm>
          <a:off x="0" y="0"/>
          <a:ext cx="0" cy="0"/>
          <a:chOff x="0" y="0"/>
          <a:chExt cx="0" cy="0"/>
        </a:xfrm>
      </p:grpSpPr>
      <p:sp>
        <p:nvSpPr>
          <p:cNvPr id="13" name="Google Shape;13;p25"/>
          <p:cNvSpPr/>
          <p:nvPr/>
        </p:nvSpPr>
        <p:spPr>
          <a:xfrm>
            <a:off x="320040" y="152705"/>
            <a:ext cx="1280160" cy="137160"/>
          </a:xfrm>
          <a:prstGeom prst="roundRect">
            <a:avLst>
              <a:gd fmla="val 46667"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600"/>
              <a:buFont typeface="Arial"/>
              <a:buNone/>
            </a:pPr>
            <a:r>
              <a:rPr b="0" i="0" lang="en-US" sz="600" u="none" cap="none" strike="noStrike">
                <a:solidFill>
                  <a:schemeClr val="lt1"/>
                </a:solidFill>
                <a:latin typeface="Arial"/>
                <a:ea typeface="Arial"/>
                <a:cs typeface="Arial"/>
                <a:sym typeface="Arial"/>
              </a:rPr>
              <a:t>Unilever | Operação 2026</a:t>
            </a:r>
            <a:endParaRPr b="0" i="0" sz="600" u="none" cap="none" strike="noStrike">
              <a:solidFill>
                <a:schemeClr val="dk1"/>
              </a:solidFill>
              <a:latin typeface="Arial"/>
              <a:ea typeface="Arial"/>
              <a:cs typeface="Arial"/>
              <a:sym typeface="Arial"/>
            </a:endParaRPr>
          </a:p>
        </p:txBody>
      </p:sp>
      <p:sp>
        <p:nvSpPr>
          <p:cNvPr id="14" name="Google Shape;14;p25"/>
          <p:cNvSpPr/>
          <p:nvPr/>
        </p:nvSpPr>
        <p:spPr>
          <a:xfrm>
            <a:off x="152705" y="146304"/>
            <a:ext cx="137160" cy="13716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home/claude/deck15/assets/tornado.png" id="15" name="Google Shape;15;p25"/>
          <p:cNvPicPr preferRelativeResize="0"/>
          <p:nvPr/>
        </p:nvPicPr>
        <p:blipFill rotWithShape="1">
          <a:blip r:embed="rId2">
            <a:alphaModFix/>
          </a:blip>
          <a:srcRect b="0" l="0" r="0" t="0"/>
          <a:stretch/>
        </p:blipFill>
        <p:spPr>
          <a:xfrm>
            <a:off x="91440" y="384048"/>
            <a:ext cx="530352" cy="525780"/>
          </a:xfrm>
          <a:prstGeom prst="rect">
            <a:avLst/>
          </a:prstGeom>
          <a:noFill/>
          <a:ln>
            <a:noFill/>
          </a:ln>
        </p:spPr>
      </p:pic>
      <p:sp>
        <p:nvSpPr>
          <p:cNvPr id="16" name="Google Shape;16;p25"/>
          <p:cNvSpPr/>
          <p:nvPr/>
        </p:nvSpPr>
        <p:spPr>
          <a:xfrm>
            <a:off x="54864" y="4846320"/>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600"/>
              <a:buFont typeface="Arial"/>
              <a:buNone/>
            </a:pPr>
            <a:r>
              <a:rPr b="1" i="0" lang="en-US" sz="600" u="none" cap="none" strike="noStrike">
                <a:solidFill>
                  <a:schemeClr val="dk2"/>
                </a:solidFill>
                <a:latin typeface="Arial"/>
                <a:ea typeface="Arial"/>
                <a:cs typeface="Arial"/>
                <a:sym typeface="Arial"/>
              </a:rPr>
              <a:t>Stormx for Unilever</a:t>
            </a:r>
            <a:endParaRPr b="0" i="0" sz="600" u="none" cap="none" strike="noStrike">
              <a:solidFill>
                <a:schemeClr val="dk1"/>
              </a:solidFill>
              <a:latin typeface="Arial"/>
              <a:ea typeface="Arial"/>
              <a:cs typeface="Arial"/>
              <a:sym typeface="Arial"/>
            </a:endParaRPr>
          </a:p>
        </p:txBody>
      </p:sp>
      <p:sp>
        <p:nvSpPr>
          <p:cNvPr id="17" name="Google Shape;17;p25"/>
          <p:cNvSpPr/>
          <p:nvPr/>
        </p:nvSpPr>
        <p:spPr>
          <a:xfrm>
            <a:off x="5669280" y="4846320"/>
            <a:ext cx="338328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dk2"/>
              </a:buClr>
              <a:buSzPts val="600"/>
              <a:buFont typeface="Arial"/>
              <a:buNone/>
            </a:pPr>
            <a:r>
              <a:rPr b="1" i="0" lang="en-US" sz="600" u="none" cap="none" strike="noStrike">
                <a:solidFill>
                  <a:schemeClr val="dk2"/>
                </a:solidFill>
                <a:latin typeface="Arial"/>
                <a:ea typeface="Arial"/>
                <a:cs typeface="Arial"/>
                <a:sym typeface="Arial"/>
              </a:rPr>
              <a:t>All rights reserved to Stormx @2026 // Digital Forward</a:t>
            </a:r>
            <a:endParaRPr b="0" i="0" sz="600" u="none" cap="none" strike="noStrike">
              <a:solidFill>
                <a:schemeClr val="dk1"/>
              </a:solidFill>
              <a:latin typeface="Arial"/>
              <a:ea typeface="Arial"/>
              <a:cs typeface="Arial"/>
              <a:sym typeface="Arial"/>
            </a:endParaRPr>
          </a:p>
        </p:txBody>
      </p:sp>
      <p:sp>
        <p:nvSpPr>
          <p:cNvPr id="18" name="Google Shape;18;p25"/>
          <p:cNvSpPr txBox="1"/>
          <p:nvPr>
            <p:ph type="title"/>
          </p:nvPr>
        </p:nvSpPr>
        <p:spPr>
          <a:xfrm>
            <a:off x="685800" y="365760"/>
            <a:ext cx="8001000" cy="594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accent1"/>
              </a:buClr>
              <a:buSzPts val="2200"/>
              <a:buFont typeface="Arial"/>
              <a:buNone/>
              <a:defRPr b="1" i="0" sz="2200" u="none" cap="none" strike="noStrik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12.jpg"/><Relationship Id="rId5"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1"/>
          <p:cNvSpPr txBox="1"/>
          <p:nvPr/>
        </p:nvSpPr>
        <p:spPr>
          <a:xfrm>
            <a:off x="457200" y="86868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Treinamento Operação Unilever 2026</a:t>
            </a:r>
            <a:endParaRPr b="0" i="0" sz="1800" u="none" cap="none" strike="noStrike">
              <a:solidFill>
                <a:schemeClr val="dk1"/>
              </a:solidFill>
              <a:latin typeface="Arial"/>
              <a:ea typeface="Arial"/>
              <a:cs typeface="Arial"/>
              <a:sym typeface="Arial"/>
            </a:endParaRPr>
          </a:p>
        </p:txBody>
      </p:sp>
      <p:sp>
        <p:nvSpPr>
          <p:cNvPr id="26" name="Google Shape;26;p1"/>
          <p:cNvSpPr txBox="1"/>
          <p:nvPr/>
        </p:nvSpPr>
        <p:spPr>
          <a:xfrm>
            <a:off x="457200" y="128016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0" i="0" lang="en-US" sz="1300" u="none" cap="none" strike="noStrike">
                <a:solidFill>
                  <a:schemeClr val="lt1"/>
                </a:solidFill>
                <a:latin typeface="Arial"/>
                <a:ea typeface="Arial"/>
                <a:cs typeface="Arial"/>
                <a:sym typeface="Arial"/>
              </a:rPr>
              <a:t>Agência, Stormx e </a:t>
            </a:r>
            <a:r>
              <a:rPr lang="en-US" sz="1300">
                <a:solidFill>
                  <a:schemeClr val="lt1"/>
                </a:solidFill>
              </a:rPr>
              <a:t>Innovid</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Processo e Escopo</a:t>
            </a:r>
            <a:endParaRPr sz="2200"/>
          </a:p>
        </p:txBody>
      </p:sp>
      <p:sp>
        <p:nvSpPr>
          <p:cNvPr id="33" name="Google Shape;33;p2"/>
          <p:cNvSpPr txBox="1"/>
          <p:nvPr/>
        </p:nvSpPr>
        <p:spPr>
          <a:xfrm>
            <a:off x="457200" y="1234440"/>
            <a:ext cx="80467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2600"/>
              <a:buFont typeface="Arial"/>
              <a:buNone/>
            </a:pPr>
            <a:r>
              <a:rPr b="1" i="0" lang="en-US" sz="2600" u="none" cap="none" strike="noStrike">
                <a:solidFill>
                  <a:schemeClr val="accent2"/>
                </a:solidFill>
                <a:latin typeface="Arial"/>
                <a:ea typeface="Arial"/>
                <a:cs typeface="Arial"/>
                <a:sym typeface="Arial"/>
              </a:rPr>
              <a:t>01</a:t>
            </a:r>
            <a:endParaRPr b="0" i="0" sz="2600" u="none" cap="none" strike="noStrike">
              <a:solidFill>
                <a:schemeClr val="dk1"/>
              </a:solidFill>
              <a:latin typeface="Arial"/>
              <a:ea typeface="Arial"/>
              <a:cs typeface="Arial"/>
              <a:sym typeface="Arial"/>
            </a:endParaRPr>
          </a:p>
        </p:txBody>
      </p:sp>
      <p:sp>
        <p:nvSpPr>
          <p:cNvPr id="34" name="Google Shape;34;p2"/>
          <p:cNvSpPr txBox="1"/>
          <p:nvPr/>
        </p:nvSpPr>
        <p:spPr>
          <a:xfrm>
            <a:off x="1426464" y="1234440"/>
            <a:ext cx="33832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2600"/>
              <a:buFont typeface="Arial"/>
              <a:buNone/>
            </a:pPr>
            <a:r>
              <a:rPr b="1" i="0" lang="en-US" sz="2600" u="none" cap="none" strike="noStrike">
                <a:solidFill>
                  <a:schemeClr val="accent2"/>
                </a:solidFill>
                <a:latin typeface="Arial"/>
                <a:ea typeface="Arial"/>
                <a:cs typeface="Arial"/>
                <a:sym typeface="Arial"/>
              </a:rPr>
              <a:t>02</a:t>
            </a:r>
            <a:endParaRPr b="0" i="0" sz="2600" u="none" cap="none" strike="noStrike">
              <a:solidFill>
                <a:schemeClr val="dk1"/>
              </a:solidFill>
              <a:latin typeface="Arial"/>
              <a:ea typeface="Arial"/>
              <a:cs typeface="Arial"/>
              <a:sym typeface="Arial"/>
            </a:endParaRPr>
          </a:p>
        </p:txBody>
      </p:sp>
      <p:sp>
        <p:nvSpPr>
          <p:cNvPr id="35" name="Google Shape;35;p2"/>
          <p:cNvSpPr txBox="1"/>
          <p:nvPr/>
        </p:nvSpPr>
        <p:spPr>
          <a:xfrm>
            <a:off x="4974336" y="1234440"/>
            <a:ext cx="80467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2600"/>
              <a:buFont typeface="Arial"/>
              <a:buNone/>
            </a:pPr>
            <a:r>
              <a:rPr b="1" i="0" lang="en-US" sz="2600" u="none" cap="none" strike="noStrike">
                <a:solidFill>
                  <a:schemeClr val="accent2"/>
                </a:solidFill>
                <a:latin typeface="Arial"/>
                <a:ea typeface="Arial"/>
                <a:cs typeface="Arial"/>
                <a:sym typeface="Arial"/>
              </a:rPr>
              <a:t>03</a:t>
            </a:r>
            <a:endParaRPr b="0" i="0" sz="2600" u="none" cap="none" strike="noStrike">
              <a:solidFill>
                <a:schemeClr val="dk1"/>
              </a:solidFill>
              <a:latin typeface="Arial"/>
              <a:ea typeface="Arial"/>
              <a:cs typeface="Arial"/>
              <a:sym typeface="Arial"/>
            </a:endParaRPr>
          </a:p>
        </p:txBody>
      </p:sp>
      <p:sp>
        <p:nvSpPr>
          <p:cNvPr id="36" name="Google Shape;36;p2"/>
          <p:cNvSpPr txBox="1"/>
          <p:nvPr/>
        </p:nvSpPr>
        <p:spPr>
          <a:xfrm>
            <a:off x="5943600" y="1234440"/>
            <a:ext cx="80467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2600"/>
              <a:buFont typeface="Arial"/>
              <a:buNone/>
            </a:pPr>
            <a:r>
              <a:rPr b="1" i="0" lang="en-US" sz="2600" u="none" cap="none" strike="noStrike">
                <a:solidFill>
                  <a:schemeClr val="accent2"/>
                </a:solidFill>
                <a:latin typeface="Arial"/>
                <a:ea typeface="Arial"/>
                <a:cs typeface="Arial"/>
                <a:sym typeface="Arial"/>
              </a:rPr>
              <a:t>04</a:t>
            </a:r>
            <a:endParaRPr b="0" i="0" sz="2600" u="none" cap="none" strike="noStrike">
              <a:solidFill>
                <a:schemeClr val="dk1"/>
              </a:solidFill>
              <a:latin typeface="Arial"/>
              <a:ea typeface="Arial"/>
              <a:cs typeface="Arial"/>
              <a:sym typeface="Arial"/>
            </a:endParaRPr>
          </a:p>
        </p:txBody>
      </p:sp>
      <p:sp>
        <p:nvSpPr>
          <p:cNvPr id="37" name="Google Shape;37;p2"/>
          <p:cNvSpPr txBox="1"/>
          <p:nvPr/>
        </p:nvSpPr>
        <p:spPr>
          <a:xfrm>
            <a:off x="6912864" y="1234440"/>
            <a:ext cx="80467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2600"/>
              <a:buFont typeface="Arial"/>
              <a:buNone/>
            </a:pPr>
            <a:r>
              <a:rPr b="1" i="0" lang="en-US" sz="2600" u="none" cap="none" strike="noStrike">
                <a:solidFill>
                  <a:schemeClr val="accent2"/>
                </a:solidFill>
                <a:latin typeface="Arial"/>
                <a:ea typeface="Arial"/>
                <a:cs typeface="Arial"/>
                <a:sym typeface="Arial"/>
              </a:rPr>
              <a:t>05</a:t>
            </a:r>
            <a:endParaRPr b="0" i="0" sz="2600" u="none" cap="none" strike="noStrike">
              <a:solidFill>
                <a:schemeClr val="dk1"/>
              </a:solidFill>
              <a:latin typeface="Arial"/>
              <a:ea typeface="Arial"/>
              <a:cs typeface="Arial"/>
              <a:sym typeface="Arial"/>
            </a:endParaRPr>
          </a:p>
        </p:txBody>
      </p:sp>
      <p:sp>
        <p:nvSpPr>
          <p:cNvPr id="38" name="Google Shape;38;p2"/>
          <p:cNvSpPr txBox="1"/>
          <p:nvPr/>
        </p:nvSpPr>
        <p:spPr>
          <a:xfrm>
            <a:off x="7882128" y="1234440"/>
            <a:ext cx="80467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2600"/>
              <a:buFont typeface="Arial"/>
              <a:buNone/>
            </a:pPr>
            <a:r>
              <a:rPr b="1" i="0" lang="en-US" sz="2600" u="none" cap="none" strike="noStrike">
                <a:solidFill>
                  <a:schemeClr val="accent2"/>
                </a:solidFill>
                <a:latin typeface="Arial"/>
                <a:ea typeface="Arial"/>
                <a:cs typeface="Arial"/>
                <a:sym typeface="Arial"/>
              </a:rPr>
              <a:t>06</a:t>
            </a:r>
            <a:endParaRPr b="0" i="0" sz="2600" u="none" cap="none" strike="noStrike">
              <a:solidFill>
                <a:schemeClr val="dk1"/>
              </a:solidFill>
              <a:latin typeface="Arial"/>
              <a:ea typeface="Arial"/>
              <a:cs typeface="Arial"/>
              <a:sym typeface="Arial"/>
            </a:endParaRPr>
          </a:p>
        </p:txBody>
      </p:sp>
      <p:sp>
        <p:nvSpPr>
          <p:cNvPr id="39" name="Google Shape;39;p2"/>
          <p:cNvSpPr/>
          <p:nvPr/>
        </p:nvSpPr>
        <p:spPr>
          <a:xfrm>
            <a:off x="457200"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txBox="1"/>
          <p:nvPr/>
        </p:nvSpPr>
        <p:spPr>
          <a:xfrm>
            <a:off x="466344"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Solicitação de tasks pelo Jira</a:t>
            </a:r>
            <a:endParaRPr b="0" i="0" sz="750" u="none" cap="none" strike="noStrike">
              <a:solidFill>
                <a:schemeClr val="dk1"/>
              </a:solidFill>
              <a:latin typeface="Arial"/>
              <a:ea typeface="Arial"/>
              <a:cs typeface="Arial"/>
              <a:sym typeface="Arial"/>
            </a:endParaRPr>
          </a:p>
        </p:txBody>
      </p:sp>
      <p:cxnSp>
        <p:nvCxnSpPr>
          <p:cNvPr id="41" name="Google Shape;41;p2"/>
          <p:cNvCxnSpPr/>
          <p:nvPr/>
        </p:nvCxnSpPr>
        <p:spPr>
          <a:xfrm>
            <a:off x="1271016" y="2491740"/>
            <a:ext cx="146304" cy="0"/>
          </a:xfrm>
          <a:prstGeom prst="straightConnector1">
            <a:avLst/>
          </a:prstGeom>
          <a:noFill/>
          <a:ln cap="flat" cmpd="sng" w="22225">
            <a:solidFill>
              <a:schemeClr val="dk2"/>
            </a:solidFill>
            <a:prstDash val="solid"/>
            <a:round/>
            <a:headEnd len="sm" w="sm" type="none"/>
            <a:tailEnd len="med" w="med" type="triangle"/>
          </a:ln>
        </p:spPr>
      </p:cxnSp>
      <p:sp>
        <p:nvSpPr>
          <p:cNvPr id="42" name="Google Shape;42;p2"/>
          <p:cNvSpPr/>
          <p:nvPr/>
        </p:nvSpPr>
        <p:spPr>
          <a:xfrm>
            <a:off x="1426464"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txBox="1"/>
          <p:nvPr/>
        </p:nvSpPr>
        <p:spPr>
          <a:xfrm>
            <a:off x="1435608"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Validação e distribuição de tasks Jira</a:t>
            </a:r>
            <a:endParaRPr b="0" i="0" sz="750" u="none" cap="none" strike="noStrike">
              <a:solidFill>
                <a:schemeClr val="dk1"/>
              </a:solidFill>
              <a:latin typeface="Arial"/>
              <a:ea typeface="Arial"/>
              <a:cs typeface="Arial"/>
              <a:sym typeface="Arial"/>
            </a:endParaRPr>
          </a:p>
        </p:txBody>
      </p:sp>
      <p:sp>
        <p:nvSpPr>
          <p:cNvPr id="44" name="Google Shape;44;p2"/>
          <p:cNvSpPr/>
          <p:nvPr/>
        </p:nvSpPr>
        <p:spPr>
          <a:xfrm>
            <a:off x="2286000"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2295144"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Preenchimento do Galileo e Freetext (conforme o ADP)</a:t>
            </a:r>
            <a:endParaRPr b="0" i="0" sz="750" u="none" cap="none" strike="noStrike">
              <a:solidFill>
                <a:schemeClr val="dk1"/>
              </a:solidFill>
              <a:latin typeface="Arial"/>
              <a:ea typeface="Arial"/>
              <a:cs typeface="Arial"/>
              <a:sym typeface="Arial"/>
            </a:endParaRPr>
          </a:p>
        </p:txBody>
      </p:sp>
      <p:sp>
        <p:nvSpPr>
          <p:cNvPr id="46" name="Google Shape;46;p2"/>
          <p:cNvSpPr/>
          <p:nvPr/>
        </p:nvSpPr>
        <p:spPr>
          <a:xfrm>
            <a:off x="3145536"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3154680"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Criação da taxonomia e URL parametrizada</a:t>
            </a:r>
            <a:endParaRPr b="0" i="0" sz="750" u="none" cap="none" strike="noStrike">
              <a:solidFill>
                <a:schemeClr val="dk1"/>
              </a:solidFill>
              <a:latin typeface="Arial"/>
              <a:ea typeface="Arial"/>
              <a:cs typeface="Arial"/>
              <a:sym typeface="Arial"/>
            </a:endParaRPr>
          </a:p>
        </p:txBody>
      </p:sp>
      <p:sp>
        <p:nvSpPr>
          <p:cNvPr id="48" name="Google Shape;48;p2"/>
          <p:cNvSpPr/>
          <p:nvPr/>
        </p:nvSpPr>
        <p:spPr>
          <a:xfrm>
            <a:off x="4005072"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txBox="1"/>
          <p:nvPr/>
        </p:nvSpPr>
        <p:spPr>
          <a:xfrm>
            <a:off x="4014216"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Validação automatizada da taxonomia criada</a:t>
            </a:r>
            <a:endParaRPr b="0" i="0" sz="750" u="none" cap="none" strike="noStrike">
              <a:solidFill>
                <a:schemeClr val="dk1"/>
              </a:solidFill>
              <a:latin typeface="Arial"/>
              <a:ea typeface="Arial"/>
              <a:cs typeface="Arial"/>
              <a:sym typeface="Arial"/>
            </a:endParaRPr>
          </a:p>
        </p:txBody>
      </p:sp>
      <p:cxnSp>
        <p:nvCxnSpPr>
          <p:cNvPr id="50" name="Google Shape;50;p2"/>
          <p:cNvCxnSpPr/>
          <p:nvPr/>
        </p:nvCxnSpPr>
        <p:spPr>
          <a:xfrm>
            <a:off x="4818888" y="2491740"/>
            <a:ext cx="146304" cy="0"/>
          </a:xfrm>
          <a:prstGeom prst="straightConnector1">
            <a:avLst/>
          </a:prstGeom>
          <a:noFill/>
          <a:ln cap="flat" cmpd="sng" w="22225">
            <a:solidFill>
              <a:schemeClr val="dk2"/>
            </a:solidFill>
            <a:prstDash val="solid"/>
            <a:round/>
            <a:headEnd len="sm" w="sm" type="none"/>
            <a:tailEnd len="med" w="med" type="triangle"/>
          </a:ln>
        </p:spPr>
      </p:cxnSp>
      <p:sp>
        <p:nvSpPr>
          <p:cNvPr id="51" name="Google Shape;51;p2"/>
          <p:cNvSpPr/>
          <p:nvPr/>
        </p:nvSpPr>
        <p:spPr>
          <a:xfrm>
            <a:off x="4974336"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txBox="1"/>
          <p:nvPr/>
        </p:nvSpPr>
        <p:spPr>
          <a:xfrm>
            <a:off x="4983480"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Criação de contadores e tags</a:t>
            </a:r>
            <a:endParaRPr b="0" i="0" sz="750" u="none" cap="none" strike="noStrike">
              <a:solidFill>
                <a:schemeClr val="dk1"/>
              </a:solidFill>
              <a:latin typeface="Arial"/>
              <a:ea typeface="Arial"/>
              <a:cs typeface="Arial"/>
              <a:sym typeface="Arial"/>
            </a:endParaRPr>
          </a:p>
        </p:txBody>
      </p:sp>
      <p:cxnSp>
        <p:nvCxnSpPr>
          <p:cNvPr id="53" name="Google Shape;53;p2"/>
          <p:cNvCxnSpPr/>
          <p:nvPr/>
        </p:nvCxnSpPr>
        <p:spPr>
          <a:xfrm>
            <a:off x="5788152" y="2491740"/>
            <a:ext cx="146304" cy="0"/>
          </a:xfrm>
          <a:prstGeom prst="straightConnector1">
            <a:avLst/>
          </a:prstGeom>
          <a:noFill/>
          <a:ln cap="flat" cmpd="sng" w="22225">
            <a:solidFill>
              <a:schemeClr val="dk2"/>
            </a:solidFill>
            <a:prstDash val="solid"/>
            <a:round/>
            <a:headEnd len="sm" w="sm" type="none"/>
            <a:tailEnd len="med" w="med" type="triangle"/>
          </a:ln>
        </p:spPr>
      </p:cxnSp>
      <p:sp>
        <p:nvSpPr>
          <p:cNvPr id="54" name="Google Shape;54;p2"/>
          <p:cNvSpPr/>
          <p:nvPr/>
        </p:nvSpPr>
        <p:spPr>
          <a:xfrm>
            <a:off x="5943600"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txBox="1"/>
          <p:nvPr/>
        </p:nvSpPr>
        <p:spPr>
          <a:xfrm>
            <a:off x="5952744"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QA</a:t>
            </a:r>
            <a:endParaRPr b="0" i="0" sz="750" u="none" cap="none" strike="noStrike">
              <a:solidFill>
                <a:schemeClr val="dk1"/>
              </a:solidFill>
              <a:latin typeface="Arial"/>
              <a:ea typeface="Arial"/>
              <a:cs typeface="Arial"/>
              <a:sym typeface="Arial"/>
            </a:endParaRPr>
          </a:p>
        </p:txBody>
      </p:sp>
      <p:cxnSp>
        <p:nvCxnSpPr>
          <p:cNvPr id="56" name="Google Shape;56;p2"/>
          <p:cNvCxnSpPr/>
          <p:nvPr/>
        </p:nvCxnSpPr>
        <p:spPr>
          <a:xfrm>
            <a:off x="6757416" y="2491740"/>
            <a:ext cx="146304" cy="0"/>
          </a:xfrm>
          <a:prstGeom prst="straightConnector1">
            <a:avLst/>
          </a:prstGeom>
          <a:noFill/>
          <a:ln cap="flat" cmpd="sng" w="22225">
            <a:solidFill>
              <a:schemeClr val="dk2"/>
            </a:solidFill>
            <a:prstDash val="solid"/>
            <a:round/>
            <a:headEnd len="sm" w="sm" type="none"/>
            <a:tailEnd len="med" w="med" type="triangle"/>
          </a:ln>
        </p:spPr>
      </p:cxnSp>
      <p:sp>
        <p:nvSpPr>
          <p:cNvPr id="57" name="Google Shape;57;p2"/>
          <p:cNvSpPr/>
          <p:nvPr/>
        </p:nvSpPr>
        <p:spPr>
          <a:xfrm>
            <a:off x="6912864"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txBox="1"/>
          <p:nvPr/>
        </p:nvSpPr>
        <p:spPr>
          <a:xfrm>
            <a:off x="6922008"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Implementação</a:t>
            </a:r>
            <a:endParaRPr b="0" i="0" sz="750" u="none" cap="none" strike="noStrike">
              <a:solidFill>
                <a:schemeClr val="dk1"/>
              </a:solidFill>
              <a:latin typeface="Arial"/>
              <a:ea typeface="Arial"/>
              <a:cs typeface="Arial"/>
              <a:sym typeface="Arial"/>
            </a:endParaRPr>
          </a:p>
        </p:txBody>
      </p:sp>
      <p:cxnSp>
        <p:nvCxnSpPr>
          <p:cNvPr id="59" name="Google Shape;59;p2"/>
          <p:cNvCxnSpPr/>
          <p:nvPr/>
        </p:nvCxnSpPr>
        <p:spPr>
          <a:xfrm>
            <a:off x="7726680" y="2491740"/>
            <a:ext cx="146304" cy="0"/>
          </a:xfrm>
          <a:prstGeom prst="straightConnector1">
            <a:avLst/>
          </a:prstGeom>
          <a:noFill/>
          <a:ln cap="flat" cmpd="sng" w="22225">
            <a:solidFill>
              <a:schemeClr val="dk2"/>
            </a:solidFill>
            <a:prstDash val="solid"/>
            <a:round/>
            <a:headEnd len="sm" w="sm" type="none"/>
            <a:tailEnd len="med" w="med" type="triangle"/>
          </a:ln>
        </p:spPr>
      </p:cxnSp>
      <p:sp>
        <p:nvSpPr>
          <p:cNvPr id="60" name="Google Shape;60;p2"/>
          <p:cNvSpPr/>
          <p:nvPr/>
        </p:nvSpPr>
        <p:spPr>
          <a:xfrm>
            <a:off x="7882128" y="1828800"/>
            <a:ext cx="804672" cy="1325880"/>
          </a:xfrm>
          <a:prstGeom prst="roundRect">
            <a:avLst>
              <a:gd fmla="val 11364" name="adj"/>
            </a:avLst>
          </a:prstGeom>
          <a:solidFill>
            <a:schemeClr val="dk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txBox="1"/>
          <p:nvPr/>
        </p:nvSpPr>
        <p:spPr>
          <a:xfrm>
            <a:off x="7891272" y="1828800"/>
            <a:ext cx="786384"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750"/>
              <a:buFont typeface="Arial"/>
              <a:buNone/>
            </a:pPr>
            <a:r>
              <a:rPr b="1" i="0" lang="en-US" sz="750" u="none" cap="none" strike="noStrike">
                <a:solidFill>
                  <a:schemeClr val="lt1"/>
                </a:solidFill>
                <a:latin typeface="Arial"/>
                <a:ea typeface="Arial"/>
                <a:cs typeface="Arial"/>
                <a:sym typeface="Arial"/>
              </a:rPr>
              <a:t>Report diário + QA automatizado</a:t>
            </a:r>
            <a:endParaRPr b="0" i="0" sz="750" u="none" cap="none" strike="noStrike">
              <a:solidFill>
                <a:schemeClr val="dk1"/>
              </a:solidFill>
              <a:latin typeface="Arial"/>
              <a:ea typeface="Arial"/>
              <a:cs typeface="Arial"/>
              <a:sym typeface="Arial"/>
            </a:endParaRPr>
          </a:p>
        </p:txBody>
      </p:sp>
      <p:pic>
        <p:nvPicPr>
          <p:cNvPr descr="Logo Initiative 1" id="62" name="Google Shape;62;p2"/>
          <p:cNvPicPr preferRelativeResize="0"/>
          <p:nvPr/>
        </p:nvPicPr>
        <p:blipFill rotWithShape="1">
          <a:blip r:embed="rId3">
            <a:alphaModFix/>
          </a:blip>
          <a:srcRect b="0" l="0" r="0" t="0"/>
          <a:stretch/>
        </p:blipFill>
        <p:spPr>
          <a:xfrm>
            <a:off x="576072" y="3291840"/>
            <a:ext cx="566928" cy="182880"/>
          </a:xfrm>
          <a:prstGeom prst="rect">
            <a:avLst/>
          </a:prstGeom>
          <a:noFill/>
          <a:ln>
            <a:noFill/>
          </a:ln>
        </p:spPr>
      </p:pic>
      <p:pic>
        <p:nvPicPr>
          <p:cNvPr descr="Cadastra" id="63" name="Google Shape;63;p2"/>
          <p:cNvPicPr preferRelativeResize="0"/>
          <p:nvPr/>
        </p:nvPicPr>
        <p:blipFill rotWithShape="1">
          <a:blip r:embed="rId4">
            <a:alphaModFix/>
          </a:blip>
          <a:srcRect b="0" l="0" r="0" t="0"/>
          <a:stretch/>
        </p:blipFill>
        <p:spPr>
          <a:xfrm>
            <a:off x="585216" y="3529584"/>
            <a:ext cx="548640" cy="82296"/>
          </a:xfrm>
          <a:prstGeom prst="rect">
            <a:avLst/>
          </a:prstGeom>
          <a:noFill/>
          <a:ln>
            <a:noFill/>
          </a:ln>
        </p:spPr>
      </p:pic>
      <p:pic>
        <p:nvPicPr>
          <p:cNvPr descr="Logo Stormx 2" id="64" name="Google Shape;64;p2"/>
          <p:cNvPicPr preferRelativeResize="0"/>
          <p:nvPr/>
        </p:nvPicPr>
        <p:blipFill rotWithShape="1">
          <a:blip r:embed="rId5">
            <a:alphaModFix/>
          </a:blip>
          <a:srcRect b="0" l="0" r="0" t="0"/>
          <a:stretch/>
        </p:blipFill>
        <p:spPr>
          <a:xfrm>
            <a:off x="2660904" y="3291840"/>
            <a:ext cx="914400" cy="164592"/>
          </a:xfrm>
          <a:prstGeom prst="rect">
            <a:avLst/>
          </a:prstGeom>
          <a:noFill/>
          <a:ln>
            <a:noFill/>
          </a:ln>
        </p:spPr>
      </p:pic>
      <p:pic>
        <p:nvPicPr>
          <p:cNvPr descr="Logo Stormx 4" id="65" name="Google Shape;65;p2"/>
          <p:cNvPicPr preferRelativeResize="0"/>
          <p:nvPr/>
        </p:nvPicPr>
        <p:blipFill rotWithShape="1">
          <a:blip r:embed="rId5">
            <a:alphaModFix/>
          </a:blip>
          <a:srcRect b="0" l="0" r="0" t="0"/>
          <a:stretch/>
        </p:blipFill>
        <p:spPr>
          <a:xfrm>
            <a:off x="5980176" y="3291840"/>
            <a:ext cx="731520" cy="128016"/>
          </a:xfrm>
          <a:prstGeom prst="rect">
            <a:avLst/>
          </a:prstGeom>
          <a:noFill/>
          <a:ln>
            <a:noFill/>
          </a:ln>
        </p:spPr>
      </p:pic>
      <p:pic>
        <p:nvPicPr>
          <p:cNvPr descr="Logo Initiative 5" id="66" name="Google Shape;66;p2"/>
          <p:cNvPicPr preferRelativeResize="0"/>
          <p:nvPr/>
        </p:nvPicPr>
        <p:blipFill rotWithShape="1">
          <a:blip r:embed="rId3">
            <a:alphaModFix/>
          </a:blip>
          <a:srcRect b="0" l="0" r="0" t="0"/>
          <a:stretch/>
        </p:blipFill>
        <p:spPr>
          <a:xfrm>
            <a:off x="7031736" y="3291840"/>
            <a:ext cx="566928" cy="182880"/>
          </a:xfrm>
          <a:prstGeom prst="rect">
            <a:avLst/>
          </a:prstGeom>
          <a:noFill/>
          <a:ln>
            <a:noFill/>
          </a:ln>
        </p:spPr>
      </p:pic>
      <p:pic>
        <p:nvPicPr>
          <p:cNvPr descr="Cadastra" id="67" name="Google Shape;67;p2"/>
          <p:cNvPicPr preferRelativeResize="0"/>
          <p:nvPr/>
        </p:nvPicPr>
        <p:blipFill rotWithShape="1">
          <a:blip r:embed="rId4">
            <a:alphaModFix/>
          </a:blip>
          <a:srcRect b="0" l="0" r="0" t="0"/>
          <a:stretch/>
        </p:blipFill>
        <p:spPr>
          <a:xfrm>
            <a:off x="7040880" y="3529584"/>
            <a:ext cx="548640" cy="82296"/>
          </a:xfrm>
          <a:prstGeom prst="rect">
            <a:avLst/>
          </a:prstGeom>
          <a:noFill/>
          <a:ln>
            <a:noFill/>
          </a:ln>
        </p:spPr>
      </p:pic>
      <p:pic>
        <p:nvPicPr>
          <p:cNvPr descr="Logo Stormx 6" id="68" name="Google Shape;68;p2"/>
          <p:cNvPicPr preferRelativeResize="0"/>
          <p:nvPr/>
        </p:nvPicPr>
        <p:blipFill rotWithShape="1">
          <a:blip r:embed="rId5">
            <a:alphaModFix/>
          </a:blip>
          <a:srcRect b="0" l="0" r="0" t="0"/>
          <a:stretch/>
        </p:blipFill>
        <p:spPr>
          <a:xfrm>
            <a:off x="7918704" y="3291840"/>
            <a:ext cx="731520" cy="128016"/>
          </a:xfrm>
          <a:prstGeom prst="rect">
            <a:avLst/>
          </a:prstGeom>
          <a:noFill/>
          <a:ln>
            <a:noFill/>
          </a:ln>
        </p:spPr>
      </p:pic>
      <p:cxnSp>
        <p:nvCxnSpPr>
          <p:cNvPr id="69" name="Google Shape;69;p2"/>
          <p:cNvCxnSpPr/>
          <p:nvPr/>
        </p:nvCxnSpPr>
        <p:spPr>
          <a:xfrm>
            <a:off x="1426464" y="3374136"/>
            <a:ext cx="1188720" cy="0"/>
          </a:xfrm>
          <a:prstGeom prst="straightConnector1">
            <a:avLst/>
          </a:prstGeom>
          <a:noFill/>
          <a:ln cap="flat" cmpd="sng" w="12700">
            <a:solidFill>
              <a:schemeClr val="accent1"/>
            </a:solidFill>
            <a:prstDash val="solid"/>
            <a:round/>
            <a:headEnd len="sm" w="sm" type="none"/>
            <a:tailEnd len="sm" w="sm" type="none"/>
          </a:ln>
        </p:spPr>
      </p:cxnSp>
      <p:cxnSp>
        <p:nvCxnSpPr>
          <p:cNvPr id="70" name="Google Shape;70;p2"/>
          <p:cNvCxnSpPr/>
          <p:nvPr/>
        </p:nvCxnSpPr>
        <p:spPr>
          <a:xfrm>
            <a:off x="3621024" y="3374136"/>
            <a:ext cx="1188720" cy="0"/>
          </a:xfrm>
          <a:prstGeom prst="straightConnector1">
            <a:avLst/>
          </a:prstGeom>
          <a:noFill/>
          <a:ln cap="flat" cmpd="sng" w="12700">
            <a:solidFill>
              <a:schemeClr val="accent1"/>
            </a:solidFill>
            <a:prstDash val="solid"/>
            <a:round/>
            <a:headEnd len="sm" w="sm" type="none"/>
            <a:tailEnd len="sm" w="sm" type="none"/>
          </a:ln>
        </p:spPr>
      </p:cxnSp>
      <p:sp>
        <p:nvSpPr>
          <p:cNvPr id="71" name="Google Shape;71;p2"/>
          <p:cNvSpPr txBox="1"/>
          <p:nvPr/>
        </p:nvSpPr>
        <p:spPr>
          <a:xfrm>
            <a:off x="457200" y="4069080"/>
            <a:ext cx="822960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Arial"/>
              <a:buNone/>
            </a:pPr>
            <a:r>
              <a:rPr b="1" i="0" lang="en-US" sz="1200" u="none" cap="none" strike="noStrike">
                <a:solidFill>
                  <a:schemeClr val="dk2"/>
                </a:solidFill>
                <a:latin typeface="Arial"/>
                <a:ea typeface="Arial"/>
                <a:cs typeface="Arial"/>
                <a:sym typeface="Arial"/>
              </a:rPr>
              <a:t>Stormx: </a:t>
            </a:r>
            <a:r>
              <a:rPr b="0" i="0" lang="en-US" sz="1200" u="none" cap="none" strike="noStrike">
                <a:solidFill>
                  <a:schemeClr val="dk2"/>
                </a:solidFill>
                <a:latin typeface="Arial"/>
                <a:ea typeface="Arial"/>
                <a:cs typeface="Arial"/>
                <a:sym typeface="Arial"/>
              </a:rPr>
              <a:t>o time de AdOps responsável pela criação e distribuição das taxonomias.</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chemeClr val="dk2"/>
              </a:buClr>
              <a:buSzPts val="1200"/>
              <a:buFont typeface="Arial"/>
              <a:buNone/>
            </a:pPr>
            <a:r>
              <a:rPr b="1" lang="en-US" sz="1200">
                <a:solidFill>
                  <a:schemeClr val="dk2"/>
                </a:solidFill>
              </a:rPr>
              <a:t>Innovid</a:t>
            </a:r>
            <a:r>
              <a:rPr b="1" i="0" lang="en-US" sz="1200" u="none" cap="none" strike="noStrike">
                <a:solidFill>
                  <a:schemeClr val="dk2"/>
                </a:solidFill>
                <a:latin typeface="Arial"/>
                <a:ea typeface="Arial"/>
                <a:cs typeface="Arial"/>
                <a:sym typeface="Arial"/>
              </a:rPr>
              <a:t>: </a:t>
            </a:r>
            <a:r>
              <a:rPr b="0" i="0" lang="en-US" sz="1200" u="none" cap="none" strike="noStrike">
                <a:solidFill>
                  <a:schemeClr val="dk2"/>
                </a:solidFill>
                <a:latin typeface="Arial"/>
                <a:ea typeface="Arial"/>
                <a:cs typeface="Arial"/>
                <a:sym typeface="Arial"/>
              </a:rPr>
              <a:t>o AdServer responsável pela criação de rastreadores.</a:t>
            </a:r>
            <a:endParaRPr b="0" i="0" sz="1200" u="none" cap="none" strike="noStrike">
              <a:solidFill>
                <a:schemeClr val="dk1"/>
              </a:solidFill>
              <a:latin typeface="Arial"/>
              <a:ea typeface="Arial"/>
              <a:cs typeface="Arial"/>
              <a:sym typeface="Arial"/>
            </a:endParaRPr>
          </a:p>
        </p:txBody>
      </p:sp>
      <p:pic>
        <p:nvPicPr>
          <p:cNvPr id="72" name="Google Shape;72;p2"/>
          <p:cNvPicPr preferRelativeResize="0"/>
          <p:nvPr/>
        </p:nvPicPr>
        <p:blipFill>
          <a:blip r:embed="rId6">
            <a:alphaModFix/>
          </a:blip>
          <a:stretch>
            <a:fillRect/>
          </a:stretch>
        </p:blipFill>
        <p:spPr>
          <a:xfrm>
            <a:off x="5034764" y="3260900"/>
            <a:ext cx="683800" cy="226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Taxonomia</a:t>
            </a:r>
            <a:endParaRPr sz="2200"/>
          </a:p>
        </p:txBody>
      </p:sp>
      <p:sp>
        <p:nvSpPr>
          <p:cNvPr id="79" name="Google Shape;79;p3"/>
          <p:cNvSpPr/>
          <p:nvPr/>
        </p:nvSpPr>
        <p:spPr>
          <a:xfrm>
            <a:off x="457200" y="1097280"/>
            <a:ext cx="2651760" cy="1005840"/>
          </a:xfrm>
          <a:prstGeom prst="roundRect">
            <a:avLst>
              <a:gd fmla="val 9091"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txBox="1"/>
          <p:nvPr/>
        </p:nvSpPr>
        <p:spPr>
          <a:xfrm>
            <a:off x="566928" y="1152144"/>
            <a:ext cx="2432304"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O que é</a:t>
            </a:r>
            <a:endParaRPr b="0" i="0" sz="1200" u="none" cap="none" strike="noStrike">
              <a:solidFill>
                <a:schemeClr val="dk1"/>
              </a:solidFill>
              <a:latin typeface="Arial"/>
              <a:ea typeface="Arial"/>
              <a:cs typeface="Arial"/>
              <a:sym typeface="Arial"/>
            </a:endParaRPr>
          </a:p>
        </p:txBody>
      </p:sp>
      <p:sp>
        <p:nvSpPr>
          <p:cNvPr id="81" name="Google Shape;81;p3"/>
          <p:cNvSpPr txBox="1"/>
          <p:nvPr/>
        </p:nvSpPr>
        <p:spPr>
          <a:xfrm>
            <a:off x="566928" y="1408176"/>
            <a:ext cx="2432304"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Sistema de nomenclatura padronizado de Campaign, Ad Group e Ad Name em todos os veículos digitais, para qualquer pessoa entender o que cada campanha representa.</a:t>
            </a:r>
            <a:endParaRPr b="0" i="0" sz="950" u="none" cap="none" strike="noStrike">
              <a:solidFill>
                <a:schemeClr val="dk1"/>
              </a:solidFill>
              <a:latin typeface="Arial"/>
              <a:ea typeface="Arial"/>
              <a:cs typeface="Arial"/>
              <a:sym typeface="Arial"/>
            </a:endParaRPr>
          </a:p>
        </p:txBody>
      </p:sp>
      <p:sp>
        <p:nvSpPr>
          <p:cNvPr id="82" name="Google Shape;82;p3"/>
          <p:cNvSpPr/>
          <p:nvPr/>
        </p:nvSpPr>
        <p:spPr>
          <a:xfrm>
            <a:off x="3246120" y="1097280"/>
            <a:ext cx="2651760" cy="1005840"/>
          </a:xfrm>
          <a:prstGeom prst="roundRect">
            <a:avLst>
              <a:gd fmla="val 9091"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txBox="1"/>
          <p:nvPr/>
        </p:nvSpPr>
        <p:spPr>
          <a:xfrm>
            <a:off x="3355848" y="1152144"/>
            <a:ext cx="2432304"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Por que importa</a:t>
            </a:r>
            <a:endParaRPr b="0" i="0" sz="1200" u="none" cap="none" strike="noStrike">
              <a:solidFill>
                <a:schemeClr val="dk1"/>
              </a:solidFill>
              <a:latin typeface="Arial"/>
              <a:ea typeface="Arial"/>
              <a:cs typeface="Arial"/>
              <a:sym typeface="Arial"/>
            </a:endParaRPr>
          </a:p>
        </p:txBody>
      </p:sp>
      <p:sp>
        <p:nvSpPr>
          <p:cNvPr id="84" name="Google Shape;84;p3"/>
          <p:cNvSpPr txBox="1"/>
          <p:nvPr/>
        </p:nvSpPr>
        <p:spPr>
          <a:xfrm>
            <a:off x="3355848" y="1408176"/>
            <a:ext cx="2432304"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Quebra de estrutura, confusão entre plataformas ou campo fora do padrão da UL Brasil podem tirar investimento, impressões e cliques do dashboard e do RROI.</a:t>
            </a:r>
            <a:endParaRPr b="0" i="0" sz="950" u="none" cap="none" strike="noStrike">
              <a:solidFill>
                <a:schemeClr val="dk1"/>
              </a:solidFill>
              <a:latin typeface="Arial"/>
              <a:ea typeface="Arial"/>
              <a:cs typeface="Arial"/>
              <a:sym typeface="Arial"/>
            </a:endParaRPr>
          </a:p>
        </p:txBody>
      </p:sp>
      <p:sp>
        <p:nvSpPr>
          <p:cNvPr id="85" name="Google Shape;85;p3"/>
          <p:cNvSpPr/>
          <p:nvPr/>
        </p:nvSpPr>
        <p:spPr>
          <a:xfrm>
            <a:off x="6035040" y="1097280"/>
            <a:ext cx="2651760" cy="1005840"/>
          </a:xfrm>
          <a:prstGeom prst="roundRect">
            <a:avLst>
              <a:gd fmla="val 909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txBox="1"/>
          <p:nvPr/>
        </p:nvSpPr>
        <p:spPr>
          <a:xfrm>
            <a:off x="6144768" y="1133856"/>
            <a:ext cx="243230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600"/>
              <a:buFont typeface="Arial"/>
              <a:buNone/>
            </a:pPr>
            <a:r>
              <a:rPr b="1" i="0" lang="en-US" sz="2600" u="none" cap="none" strike="noStrike">
                <a:solidFill>
                  <a:schemeClr val="accent1"/>
                </a:solidFill>
                <a:latin typeface="Arial"/>
                <a:ea typeface="Arial"/>
                <a:cs typeface="Arial"/>
                <a:sym typeface="Arial"/>
              </a:rPr>
              <a:t>30 dias</a:t>
            </a:r>
            <a:endParaRPr b="0" i="0" sz="2600" u="none" cap="none" strike="noStrike">
              <a:solidFill>
                <a:schemeClr val="dk1"/>
              </a:solidFill>
              <a:latin typeface="Arial"/>
              <a:ea typeface="Arial"/>
              <a:cs typeface="Arial"/>
              <a:sym typeface="Arial"/>
            </a:endParaRPr>
          </a:p>
        </p:txBody>
      </p:sp>
      <p:sp>
        <p:nvSpPr>
          <p:cNvPr id="87" name="Google Shape;87;p3"/>
          <p:cNvSpPr txBox="1"/>
          <p:nvPr/>
        </p:nvSpPr>
        <p:spPr>
          <a:xfrm>
            <a:off x="6144768" y="1591056"/>
            <a:ext cx="243230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950"/>
              <a:buFont typeface="Arial"/>
              <a:buNone/>
            </a:pPr>
            <a:r>
              <a:rPr b="0" i="0" lang="en-US" sz="950" u="none" cap="none" strike="noStrike">
                <a:solidFill>
                  <a:schemeClr val="lt1"/>
                </a:solidFill>
                <a:latin typeface="Arial"/>
                <a:ea typeface="Arial"/>
                <a:cs typeface="Arial"/>
                <a:sym typeface="Arial"/>
              </a:rPr>
              <a:t>de janela para corrigir na plataforma e no banco de dados e contabilizar no dashboard e no RROI.</a:t>
            </a:r>
            <a:endParaRPr b="0" i="0" sz="950" u="none" cap="none" strike="noStrike">
              <a:solidFill>
                <a:schemeClr val="dk1"/>
              </a:solidFill>
              <a:latin typeface="Arial"/>
              <a:ea typeface="Arial"/>
              <a:cs typeface="Arial"/>
              <a:sym typeface="Arial"/>
            </a:endParaRPr>
          </a:p>
        </p:txBody>
      </p:sp>
      <p:sp>
        <p:nvSpPr>
          <p:cNvPr id="88" name="Google Shape;88;p3"/>
          <p:cNvSpPr/>
          <p:nvPr/>
        </p:nvSpPr>
        <p:spPr>
          <a:xfrm>
            <a:off x="457200" y="2240280"/>
            <a:ext cx="8229600" cy="2395728"/>
          </a:xfrm>
          <a:prstGeom prst="roundRect">
            <a:avLst>
              <a:gd fmla="val 381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txBox="1"/>
          <p:nvPr/>
        </p:nvSpPr>
        <p:spPr>
          <a:xfrm>
            <a:off x="640080" y="2304288"/>
            <a:ext cx="78638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Estrutura da taxonomia: dois tipos de campos obrigatórios</a:t>
            </a:r>
            <a:endParaRPr b="0" i="0" sz="1200" u="none" cap="none" strike="noStrike">
              <a:solidFill>
                <a:schemeClr val="dk1"/>
              </a:solidFill>
              <a:latin typeface="Arial"/>
              <a:ea typeface="Arial"/>
              <a:cs typeface="Arial"/>
              <a:sym typeface="Arial"/>
            </a:endParaRPr>
          </a:p>
        </p:txBody>
      </p:sp>
      <p:sp>
        <p:nvSpPr>
          <p:cNvPr id="90" name="Google Shape;90;p3"/>
          <p:cNvSpPr/>
          <p:nvPr/>
        </p:nvSpPr>
        <p:spPr>
          <a:xfrm>
            <a:off x="640080" y="2615184"/>
            <a:ext cx="2834640" cy="256032"/>
          </a:xfrm>
          <a:prstGeom prst="roundRect">
            <a:avLst>
              <a:gd fmla="val 35714"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Campos Galileo (mandatórios Global)</a:t>
            </a:r>
            <a:endParaRPr b="0" i="0" sz="950" u="none" cap="none" strike="noStrike">
              <a:solidFill>
                <a:schemeClr val="dk1"/>
              </a:solidFill>
              <a:latin typeface="Arial"/>
              <a:ea typeface="Arial"/>
              <a:cs typeface="Arial"/>
              <a:sym typeface="Arial"/>
            </a:endParaRPr>
          </a:p>
        </p:txBody>
      </p:sp>
      <p:sp>
        <p:nvSpPr>
          <p:cNvPr id="91" name="Google Shape;91;p3"/>
          <p:cNvSpPr txBox="1"/>
          <p:nvPr/>
        </p:nvSpPr>
        <p:spPr>
          <a:xfrm>
            <a:off x="640080" y="2916936"/>
            <a:ext cx="37490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Padronizados pela Unilever, para consistência e governança internacional. Separados por </a:t>
            </a:r>
            <a:r>
              <a:rPr lang="en-US" sz="950">
                <a:solidFill>
                  <a:schemeClr val="dk2"/>
                </a:solidFill>
              </a:rPr>
              <a:t>“</a:t>
            </a:r>
            <a:r>
              <a:rPr b="0" i="0" lang="en-US" sz="950" u="none" cap="none" strike="noStrike">
                <a:solidFill>
                  <a:schemeClr val="dk2"/>
                </a:solidFill>
                <a:latin typeface="Arial"/>
                <a:ea typeface="Arial"/>
                <a:cs typeface="Arial"/>
                <a:sym typeface="Arial"/>
              </a:rPr>
              <a:t>_</a:t>
            </a:r>
            <a:r>
              <a:rPr lang="en-US" sz="950">
                <a:solidFill>
                  <a:schemeClr val="dk2"/>
                </a:solidFill>
              </a:rPr>
              <a:t>”</a:t>
            </a:r>
            <a:r>
              <a:rPr b="0" i="0" lang="en-US" sz="950" u="none" cap="none" strike="noStrike">
                <a:solidFill>
                  <a:schemeClr val="dk2"/>
                </a:solidFill>
                <a:latin typeface="Arial"/>
                <a:ea typeface="Arial"/>
                <a:cs typeface="Arial"/>
                <a:sym typeface="Arial"/>
              </a:rPr>
              <a:t>. Não podem ser adicionados, removidos ou alterados sem autorização da UL Global.</a:t>
            </a:r>
            <a:endParaRPr b="0" i="0" sz="950" u="none" cap="none" strike="noStrike">
              <a:solidFill>
                <a:schemeClr val="dk1"/>
              </a:solidFill>
              <a:latin typeface="Arial"/>
              <a:ea typeface="Arial"/>
              <a:cs typeface="Arial"/>
              <a:sym typeface="Arial"/>
            </a:endParaRPr>
          </a:p>
        </p:txBody>
      </p:sp>
      <p:sp>
        <p:nvSpPr>
          <p:cNvPr id="92" name="Google Shape;92;p3"/>
          <p:cNvSpPr/>
          <p:nvPr/>
        </p:nvSpPr>
        <p:spPr>
          <a:xfrm>
            <a:off x="4572000" y="2615184"/>
            <a:ext cx="2834640" cy="256032"/>
          </a:xfrm>
          <a:prstGeom prst="roundRect">
            <a:avLst>
              <a:gd fmla="val 35714"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Campos Freetext (mandatórios Brasil)</a:t>
            </a:r>
            <a:endParaRPr b="0" i="0" sz="950" u="none" cap="none" strike="noStrike">
              <a:solidFill>
                <a:schemeClr val="dk1"/>
              </a:solidFill>
              <a:latin typeface="Arial"/>
              <a:ea typeface="Arial"/>
              <a:cs typeface="Arial"/>
              <a:sym typeface="Arial"/>
            </a:endParaRPr>
          </a:p>
        </p:txBody>
      </p:sp>
      <p:sp>
        <p:nvSpPr>
          <p:cNvPr id="93" name="Google Shape;93;p3"/>
          <p:cNvSpPr txBox="1"/>
          <p:nvPr/>
        </p:nvSpPr>
        <p:spPr>
          <a:xfrm>
            <a:off x="4572000" y="2916936"/>
            <a:ext cx="39319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Definidos localmente, para complementar o mercado brasileiro. Separados por </a:t>
            </a:r>
            <a:r>
              <a:rPr lang="en-US" sz="950">
                <a:solidFill>
                  <a:schemeClr val="dk2"/>
                </a:solidFill>
              </a:rPr>
              <a:t>“</a:t>
            </a:r>
            <a:r>
              <a:rPr b="0" i="0" lang="en-US" sz="950" u="none" cap="none" strike="noStrike">
                <a:solidFill>
                  <a:schemeClr val="dk2"/>
                </a:solidFill>
                <a:latin typeface="Arial"/>
                <a:ea typeface="Arial"/>
                <a:cs typeface="Arial"/>
                <a:sym typeface="Arial"/>
              </a:rPr>
              <a:t>|</a:t>
            </a:r>
            <a:r>
              <a:rPr lang="en-US" sz="950">
                <a:solidFill>
                  <a:schemeClr val="dk2"/>
                </a:solidFill>
              </a:rPr>
              <a:t>”</a:t>
            </a:r>
            <a:r>
              <a:rPr b="0" i="0" lang="en-US" sz="950" u="none" cap="none" strike="noStrike">
                <a:solidFill>
                  <a:schemeClr val="dk2"/>
                </a:solidFill>
                <a:latin typeface="Arial"/>
                <a:ea typeface="Arial"/>
                <a:cs typeface="Arial"/>
                <a:sym typeface="Arial"/>
              </a:rPr>
              <a:t>. Dropdown novo não espera a UL Global, mas se alinha com a UL Brasil antes.</a:t>
            </a:r>
            <a:endParaRPr b="0" i="0" sz="950" u="none" cap="none" strike="noStrike">
              <a:solidFill>
                <a:schemeClr val="dk1"/>
              </a:solidFill>
              <a:latin typeface="Arial"/>
              <a:ea typeface="Arial"/>
              <a:cs typeface="Arial"/>
              <a:sym typeface="Arial"/>
            </a:endParaRPr>
          </a:p>
        </p:txBody>
      </p:sp>
      <p:sp>
        <p:nvSpPr>
          <p:cNvPr id="94" name="Google Shape;94;p3"/>
          <p:cNvSpPr txBox="1"/>
          <p:nvPr/>
        </p:nvSpPr>
        <p:spPr>
          <a:xfrm>
            <a:off x="640080" y="3456432"/>
            <a:ext cx="36576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Exemplo de taxonomia de Meta</a:t>
            </a:r>
            <a:endParaRPr b="0" i="0" sz="950" u="none" cap="none" strike="noStrike">
              <a:solidFill>
                <a:schemeClr val="dk1"/>
              </a:solidFill>
              <a:latin typeface="Arial"/>
              <a:ea typeface="Arial"/>
              <a:cs typeface="Arial"/>
              <a:sym typeface="Arial"/>
            </a:endParaRPr>
          </a:p>
        </p:txBody>
      </p:sp>
      <p:sp>
        <p:nvSpPr>
          <p:cNvPr id="95" name="Google Shape;95;p3"/>
          <p:cNvSpPr/>
          <p:nvPr/>
        </p:nvSpPr>
        <p:spPr>
          <a:xfrm>
            <a:off x="640080" y="3675888"/>
            <a:ext cx="86868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Campaign</a:t>
            </a:r>
            <a:endParaRPr b="0" i="0" sz="900" u="none" cap="none" strike="noStrike">
              <a:solidFill>
                <a:schemeClr val="dk1"/>
              </a:solidFill>
              <a:latin typeface="Arial"/>
              <a:ea typeface="Arial"/>
              <a:cs typeface="Arial"/>
              <a:sym typeface="Arial"/>
            </a:endParaRPr>
          </a:p>
        </p:txBody>
      </p:sp>
      <p:sp>
        <p:nvSpPr>
          <p:cNvPr id="96" name="Google Shape;96;p3"/>
          <p:cNvSpPr/>
          <p:nvPr/>
        </p:nvSpPr>
        <p:spPr>
          <a:xfrm>
            <a:off x="1572768" y="3675888"/>
            <a:ext cx="6949440" cy="256032"/>
          </a:xfrm>
          <a:prstGeom prst="roundRect">
            <a:avLst>
              <a:gd fmla="val 2142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txBox="1"/>
          <p:nvPr/>
        </p:nvSpPr>
        <p:spPr>
          <a:xfrm>
            <a:off x="1645920" y="3675888"/>
            <a:ext cx="6812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800"/>
              <a:buFont typeface="Courier New"/>
              <a:buNone/>
            </a:pPr>
            <a:r>
              <a:rPr b="1" i="0" lang="en-US" sz="800" u="none" cap="none" strike="noStrike">
                <a:solidFill>
                  <a:schemeClr val="dk2"/>
                </a:solidFill>
                <a:latin typeface="Courier New"/>
                <a:ea typeface="Courier New"/>
                <a:cs typeface="Courier New"/>
                <a:sym typeface="Courier New"/>
              </a:rPr>
              <a:t>cn010790-legacy-(hellmann's-world)_mayo_hellmann's_opauc_nocollab_awa_legacy</a:t>
            </a:r>
            <a:r>
              <a:rPr b="1" i="0" lang="en-US" sz="800" u="none" cap="none" strike="noStrike">
                <a:solidFill>
                  <a:schemeClr val="accent3"/>
                </a:solidFill>
                <a:latin typeface="Courier New"/>
                <a:ea typeface="Courier New"/>
                <a:cs typeface="Courier New"/>
                <a:sym typeface="Courier New"/>
              </a:rPr>
              <a:t>|brdlft-y|promo|na</a:t>
            </a:r>
            <a:endParaRPr b="0" i="0" sz="800" u="none" cap="none" strike="noStrike">
              <a:solidFill>
                <a:schemeClr val="dk1"/>
              </a:solidFill>
              <a:latin typeface="Arial"/>
              <a:ea typeface="Arial"/>
              <a:cs typeface="Arial"/>
              <a:sym typeface="Arial"/>
            </a:endParaRPr>
          </a:p>
        </p:txBody>
      </p:sp>
      <p:sp>
        <p:nvSpPr>
          <p:cNvPr id="98" name="Google Shape;98;p3"/>
          <p:cNvSpPr/>
          <p:nvPr/>
        </p:nvSpPr>
        <p:spPr>
          <a:xfrm>
            <a:off x="640080" y="3986784"/>
            <a:ext cx="86868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Ad Group</a:t>
            </a:r>
            <a:endParaRPr b="0" i="0" sz="900" u="none" cap="none" strike="noStrike">
              <a:solidFill>
                <a:schemeClr val="dk1"/>
              </a:solidFill>
              <a:latin typeface="Arial"/>
              <a:ea typeface="Arial"/>
              <a:cs typeface="Arial"/>
              <a:sym typeface="Arial"/>
            </a:endParaRPr>
          </a:p>
        </p:txBody>
      </p:sp>
      <p:sp>
        <p:nvSpPr>
          <p:cNvPr id="99" name="Google Shape;99;p3"/>
          <p:cNvSpPr/>
          <p:nvPr/>
        </p:nvSpPr>
        <p:spPr>
          <a:xfrm>
            <a:off x="1572768" y="3986784"/>
            <a:ext cx="6949440" cy="256032"/>
          </a:xfrm>
          <a:prstGeom prst="roundRect">
            <a:avLst>
              <a:gd fmla="val 2142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txBox="1"/>
          <p:nvPr/>
        </p:nvSpPr>
        <p:spPr>
          <a:xfrm>
            <a:off x="1645920" y="3986784"/>
            <a:ext cx="6812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800"/>
              <a:buFont typeface="Courier New"/>
              <a:buNone/>
            </a:pPr>
            <a:r>
              <a:rPr b="1" i="0" lang="en-US" sz="800" u="none" cap="none" strike="noStrike">
                <a:solidFill>
                  <a:schemeClr val="dk2"/>
                </a:solidFill>
                <a:latin typeface="Courier New"/>
                <a:ea typeface="Courier New"/>
                <a:cs typeface="Courier New"/>
                <a:sym typeface="Courier New"/>
              </a:rPr>
              <a:t>no1pd_int-fodrk-recipes_ad_25-55_legacy</a:t>
            </a:r>
            <a:r>
              <a:rPr b="1" i="0" lang="en-US" sz="800" u="none" cap="none" strike="noStrike">
                <a:solidFill>
                  <a:schemeClr val="accent3"/>
                </a:solidFill>
                <a:latin typeface="Courier New"/>
                <a:ea typeface="Courier New"/>
                <a:cs typeface="Courier New"/>
                <a:sym typeface="Courier New"/>
              </a:rPr>
              <a:t>|reach|meta|cpm|nacional|nac|behav|advantage</a:t>
            </a:r>
            <a:endParaRPr b="0" i="0" sz="800" u="none" cap="none" strike="noStrike">
              <a:solidFill>
                <a:schemeClr val="dk1"/>
              </a:solidFill>
              <a:latin typeface="Arial"/>
              <a:ea typeface="Arial"/>
              <a:cs typeface="Arial"/>
              <a:sym typeface="Arial"/>
            </a:endParaRPr>
          </a:p>
        </p:txBody>
      </p:sp>
      <p:sp>
        <p:nvSpPr>
          <p:cNvPr id="101" name="Google Shape;101;p3"/>
          <p:cNvSpPr/>
          <p:nvPr/>
        </p:nvSpPr>
        <p:spPr>
          <a:xfrm>
            <a:off x="640080" y="4297680"/>
            <a:ext cx="86868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Ad Name</a:t>
            </a:r>
            <a:endParaRPr b="0" i="0" sz="900" u="none" cap="none" strike="noStrike">
              <a:solidFill>
                <a:schemeClr val="dk1"/>
              </a:solidFill>
              <a:latin typeface="Arial"/>
              <a:ea typeface="Arial"/>
              <a:cs typeface="Arial"/>
              <a:sym typeface="Arial"/>
            </a:endParaRPr>
          </a:p>
        </p:txBody>
      </p:sp>
      <p:sp>
        <p:nvSpPr>
          <p:cNvPr id="102" name="Google Shape;102;p3"/>
          <p:cNvSpPr/>
          <p:nvPr/>
        </p:nvSpPr>
        <p:spPr>
          <a:xfrm>
            <a:off x="1572768" y="4297680"/>
            <a:ext cx="6949440" cy="256032"/>
          </a:xfrm>
          <a:prstGeom prst="roundRect">
            <a:avLst>
              <a:gd fmla="val 2142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txBox="1"/>
          <p:nvPr/>
        </p:nvSpPr>
        <p:spPr>
          <a:xfrm>
            <a:off x="1645920" y="4297680"/>
            <a:ext cx="6812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800"/>
              <a:buFont typeface="Courier New"/>
              <a:buNone/>
            </a:pPr>
            <a:r>
              <a:rPr b="1" i="0" lang="en-US" sz="800" u="none" cap="none" strike="noStrike">
                <a:solidFill>
                  <a:schemeClr val="dk2"/>
                </a:solidFill>
                <a:latin typeface="Courier New"/>
                <a:ea typeface="Courier New"/>
                <a:cs typeface="Courier New"/>
                <a:sym typeface="Courier New"/>
              </a:rPr>
              <a:t>legacy-promo-4x5-meta-15s_vid_brand_nshop_15s_na_bsay_na_fed-stor-reel</a:t>
            </a:r>
            <a:r>
              <a:rPr b="1" i="0" lang="en-US" sz="800" u="none" cap="none" strike="noStrike">
                <a:solidFill>
                  <a:schemeClr val="accent3"/>
                </a:solidFill>
                <a:latin typeface="Courier New"/>
                <a:ea typeface="Courier New"/>
                <a:cs typeface="Courier New"/>
                <a:sym typeface="Courier New"/>
              </a:rPr>
              <a:t>|brd|na|promo-15-SX00010803</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ADP, CN Code e Campaign Name</a:t>
            </a:r>
            <a:endParaRPr sz="2200"/>
          </a:p>
        </p:txBody>
      </p:sp>
      <p:sp>
        <p:nvSpPr>
          <p:cNvPr id="110" name="Google Shape;110;p4"/>
          <p:cNvSpPr txBox="1"/>
          <p:nvPr/>
        </p:nvSpPr>
        <p:spPr>
          <a:xfrm>
            <a:off x="457200" y="1051560"/>
            <a:ext cx="54864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Rotina semanal do ADP</a:t>
            </a:r>
            <a:endParaRPr b="0" i="0" sz="1200" u="none" cap="none" strike="noStrike">
              <a:solidFill>
                <a:schemeClr val="dk1"/>
              </a:solidFill>
              <a:latin typeface="Arial"/>
              <a:ea typeface="Arial"/>
              <a:cs typeface="Arial"/>
              <a:sym typeface="Arial"/>
            </a:endParaRPr>
          </a:p>
        </p:txBody>
      </p:sp>
      <p:sp>
        <p:nvSpPr>
          <p:cNvPr id="111" name="Google Shape;111;p4"/>
          <p:cNvSpPr/>
          <p:nvPr/>
        </p:nvSpPr>
        <p:spPr>
          <a:xfrm>
            <a:off x="457200" y="1307592"/>
            <a:ext cx="2468880" cy="1005840"/>
          </a:xfrm>
          <a:prstGeom prst="roundRect">
            <a:avLst>
              <a:gd fmla="val 9091"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txBox="1"/>
          <p:nvPr/>
        </p:nvSpPr>
        <p:spPr>
          <a:xfrm>
            <a:off x="594360" y="1371600"/>
            <a:ext cx="219456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Segunda, 7h</a:t>
            </a:r>
            <a:endParaRPr b="0" i="0" sz="1200" u="none" cap="none" strike="noStrike">
              <a:solidFill>
                <a:schemeClr val="dk1"/>
              </a:solidFill>
              <a:latin typeface="Arial"/>
              <a:ea typeface="Arial"/>
              <a:cs typeface="Arial"/>
              <a:sym typeface="Arial"/>
            </a:endParaRPr>
          </a:p>
        </p:txBody>
      </p:sp>
      <p:sp>
        <p:nvSpPr>
          <p:cNvPr id="113" name="Google Shape;113;p4"/>
          <p:cNvSpPr txBox="1"/>
          <p:nvPr/>
        </p:nvSpPr>
        <p:spPr>
          <a:xfrm>
            <a:off x="594360" y="1645920"/>
            <a:ext cx="21945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 UL Global aprova as solicitações.</a:t>
            </a:r>
            <a:endParaRPr b="0" i="0" sz="1000" u="none" cap="none" strike="noStrike">
              <a:solidFill>
                <a:schemeClr val="dk1"/>
              </a:solidFill>
              <a:latin typeface="Arial"/>
              <a:ea typeface="Arial"/>
              <a:cs typeface="Arial"/>
              <a:sym typeface="Arial"/>
            </a:endParaRPr>
          </a:p>
        </p:txBody>
      </p:sp>
      <p:cxnSp>
        <p:nvCxnSpPr>
          <p:cNvPr id="114" name="Google Shape;114;p4"/>
          <p:cNvCxnSpPr/>
          <p:nvPr/>
        </p:nvCxnSpPr>
        <p:spPr>
          <a:xfrm>
            <a:off x="2962656" y="1810512"/>
            <a:ext cx="338328" cy="0"/>
          </a:xfrm>
          <a:prstGeom prst="straightConnector1">
            <a:avLst/>
          </a:prstGeom>
          <a:noFill/>
          <a:ln cap="flat" cmpd="sng" w="22225">
            <a:solidFill>
              <a:schemeClr val="dk2"/>
            </a:solidFill>
            <a:prstDash val="solid"/>
            <a:round/>
            <a:headEnd len="sm" w="sm" type="none"/>
            <a:tailEnd len="med" w="med" type="triangle"/>
          </a:ln>
        </p:spPr>
      </p:cxnSp>
      <p:sp>
        <p:nvSpPr>
          <p:cNvPr id="115" name="Google Shape;115;p4"/>
          <p:cNvSpPr/>
          <p:nvPr/>
        </p:nvSpPr>
        <p:spPr>
          <a:xfrm>
            <a:off x="3337560" y="1307592"/>
            <a:ext cx="2468880" cy="1005840"/>
          </a:xfrm>
          <a:prstGeom prst="roundRect">
            <a:avLst>
              <a:gd fmla="val 9091"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txBox="1"/>
          <p:nvPr/>
        </p:nvSpPr>
        <p:spPr>
          <a:xfrm>
            <a:off x="3474720" y="1371600"/>
            <a:ext cx="219456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Sexta</a:t>
            </a:r>
            <a:endParaRPr b="0" i="0" sz="1200" u="none" cap="none" strike="noStrike">
              <a:solidFill>
                <a:schemeClr val="dk1"/>
              </a:solidFill>
              <a:latin typeface="Arial"/>
              <a:ea typeface="Arial"/>
              <a:cs typeface="Arial"/>
              <a:sym typeface="Arial"/>
            </a:endParaRPr>
          </a:p>
        </p:txBody>
      </p:sp>
      <p:sp>
        <p:nvSpPr>
          <p:cNvPr id="117" name="Google Shape;117;p4"/>
          <p:cNvSpPr txBox="1"/>
          <p:nvPr/>
        </p:nvSpPr>
        <p:spPr>
          <a:xfrm>
            <a:off x="3474720" y="1645920"/>
            <a:ext cx="21945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O Global envia a atualização do Galileo e do UNCC. A Stormx inclui as novidades no ADP.</a:t>
            </a:r>
            <a:endParaRPr b="0" i="0" sz="1000" u="none" cap="none" strike="noStrike">
              <a:solidFill>
                <a:schemeClr val="dk1"/>
              </a:solidFill>
              <a:latin typeface="Arial"/>
              <a:ea typeface="Arial"/>
              <a:cs typeface="Arial"/>
              <a:sym typeface="Arial"/>
            </a:endParaRPr>
          </a:p>
        </p:txBody>
      </p:sp>
      <p:cxnSp>
        <p:nvCxnSpPr>
          <p:cNvPr id="118" name="Google Shape;118;p4"/>
          <p:cNvCxnSpPr/>
          <p:nvPr/>
        </p:nvCxnSpPr>
        <p:spPr>
          <a:xfrm>
            <a:off x="5843016" y="1810512"/>
            <a:ext cx="338328" cy="0"/>
          </a:xfrm>
          <a:prstGeom prst="straightConnector1">
            <a:avLst/>
          </a:prstGeom>
          <a:noFill/>
          <a:ln cap="flat" cmpd="sng" w="22225">
            <a:solidFill>
              <a:schemeClr val="dk2"/>
            </a:solidFill>
            <a:prstDash val="solid"/>
            <a:round/>
            <a:headEnd len="sm" w="sm" type="none"/>
            <a:tailEnd len="med" w="med" type="triangle"/>
          </a:ln>
        </p:spPr>
      </p:cxnSp>
      <p:sp>
        <p:nvSpPr>
          <p:cNvPr id="119" name="Google Shape;119;p4"/>
          <p:cNvSpPr/>
          <p:nvPr/>
        </p:nvSpPr>
        <p:spPr>
          <a:xfrm>
            <a:off x="6217920" y="1307592"/>
            <a:ext cx="2468880" cy="1005840"/>
          </a:xfrm>
          <a:prstGeom prst="roundRect">
            <a:avLst>
              <a:gd fmla="val 9091"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txBox="1"/>
          <p:nvPr/>
        </p:nvSpPr>
        <p:spPr>
          <a:xfrm>
            <a:off x="6355080" y="1371600"/>
            <a:ext cx="219456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Segunda seguinte até 17h</a:t>
            </a:r>
            <a:endParaRPr b="0" i="0" sz="1200" u="none" cap="none" strike="noStrike">
              <a:solidFill>
                <a:schemeClr val="dk1"/>
              </a:solidFill>
              <a:latin typeface="Arial"/>
              <a:ea typeface="Arial"/>
              <a:cs typeface="Arial"/>
              <a:sym typeface="Arial"/>
            </a:endParaRPr>
          </a:p>
        </p:txBody>
      </p:sp>
      <p:sp>
        <p:nvSpPr>
          <p:cNvPr id="121" name="Google Shape;121;p4"/>
          <p:cNvSpPr txBox="1"/>
          <p:nvPr/>
        </p:nvSpPr>
        <p:spPr>
          <a:xfrm>
            <a:off x="6355080" y="1645920"/>
            <a:ext cx="21945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 Stormx envia aos times o novo ADP (Galileo e FreeText) e atualiza a RM online no SharePoint.</a:t>
            </a:r>
            <a:endParaRPr b="0" i="0" sz="1000" u="none" cap="none" strike="noStrike">
              <a:solidFill>
                <a:schemeClr val="dk1"/>
              </a:solidFill>
              <a:latin typeface="Arial"/>
              <a:ea typeface="Arial"/>
              <a:cs typeface="Arial"/>
              <a:sym typeface="Arial"/>
            </a:endParaRPr>
          </a:p>
        </p:txBody>
      </p:sp>
      <p:sp>
        <p:nvSpPr>
          <p:cNvPr id="122" name="Google Shape;122;p4"/>
          <p:cNvSpPr txBox="1"/>
          <p:nvPr/>
        </p:nvSpPr>
        <p:spPr>
          <a:xfrm>
            <a:off x="457200" y="2450592"/>
            <a:ext cx="64008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Campanha fora da lista do Global (CN Code)</a:t>
            </a:r>
            <a:endParaRPr b="0" i="0" sz="1200" u="none" cap="none" strike="noStrike">
              <a:solidFill>
                <a:schemeClr val="dk1"/>
              </a:solidFill>
              <a:latin typeface="Arial"/>
              <a:ea typeface="Arial"/>
              <a:cs typeface="Arial"/>
              <a:sym typeface="Arial"/>
            </a:endParaRPr>
          </a:p>
        </p:txBody>
      </p:sp>
      <p:sp>
        <p:nvSpPr>
          <p:cNvPr id="123" name="Google Shape;123;p4"/>
          <p:cNvSpPr/>
          <p:nvPr/>
        </p:nvSpPr>
        <p:spPr>
          <a:xfrm>
            <a:off x="457200" y="2706624"/>
            <a:ext cx="14630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txBox="1"/>
          <p:nvPr/>
        </p:nvSpPr>
        <p:spPr>
          <a:xfrm>
            <a:off x="548640" y="2761488"/>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Pedido à UL Global</a:t>
            </a:r>
            <a:endParaRPr b="0" i="0" sz="1000" u="none" cap="none" strike="noStrike">
              <a:solidFill>
                <a:schemeClr val="dk1"/>
              </a:solidFill>
              <a:latin typeface="Arial"/>
              <a:ea typeface="Arial"/>
              <a:cs typeface="Arial"/>
              <a:sym typeface="Arial"/>
            </a:endParaRPr>
          </a:p>
        </p:txBody>
      </p:sp>
      <p:sp>
        <p:nvSpPr>
          <p:cNvPr id="125" name="Google Shape;125;p4"/>
          <p:cNvSpPr txBox="1"/>
          <p:nvPr/>
        </p:nvSpPr>
        <p:spPr>
          <a:xfrm>
            <a:off x="548640" y="3145536"/>
            <a:ext cx="1280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Feito pelo time da Unilever responsável (marketing ou mídia da BU).</a:t>
            </a:r>
            <a:endParaRPr b="0" i="0" sz="950" u="none" cap="none" strike="noStrike">
              <a:solidFill>
                <a:schemeClr val="dk1"/>
              </a:solidFill>
              <a:latin typeface="Arial"/>
              <a:ea typeface="Arial"/>
              <a:cs typeface="Arial"/>
              <a:sym typeface="Arial"/>
            </a:endParaRPr>
          </a:p>
        </p:txBody>
      </p:sp>
      <p:cxnSp>
        <p:nvCxnSpPr>
          <p:cNvPr id="126" name="Google Shape;126;p4"/>
          <p:cNvCxnSpPr/>
          <p:nvPr/>
        </p:nvCxnSpPr>
        <p:spPr>
          <a:xfrm>
            <a:off x="1938528" y="3291840"/>
            <a:ext cx="192024" cy="0"/>
          </a:xfrm>
          <a:prstGeom prst="straightConnector1">
            <a:avLst/>
          </a:prstGeom>
          <a:noFill/>
          <a:ln cap="flat" cmpd="sng" w="22225">
            <a:solidFill>
              <a:schemeClr val="dk2"/>
            </a:solidFill>
            <a:prstDash val="solid"/>
            <a:round/>
            <a:headEnd len="sm" w="sm" type="none"/>
            <a:tailEnd len="med" w="med" type="triangle"/>
          </a:ln>
        </p:spPr>
      </p:cxnSp>
      <p:sp>
        <p:nvSpPr>
          <p:cNvPr id="127" name="Google Shape;127;p4"/>
          <p:cNvSpPr/>
          <p:nvPr/>
        </p:nvSpPr>
        <p:spPr>
          <a:xfrm>
            <a:off x="2148840" y="2706624"/>
            <a:ext cx="14630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txBox="1"/>
          <p:nvPr/>
        </p:nvSpPr>
        <p:spPr>
          <a:xfrm>
            <a:off x="2240280" y="2761488"/>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Aguardar ou consultar</a:t>
            </a:r>
            <a:endParaRPr b="0" i="0" sz="1000" u="none" cap="none" strike="noStrike">
              <a:solidFill>
                <a:schemeClr val="dk1"/>
              </a:solidFill>
              <a:latin typeface="Arial"/>
              <a:ea typeface="Arial"/>
              <a:cs typeface="Arial"/>
              <a:sym typeface="Arial"/>
            </a:endParaRPr>
          </a:p>
        </p:txBody>
      </p:sp>
      <p:sp>
        <p:nvSpPr>
          <p:cNvPr id="129" name="Google Shape;129;p4"/>
          <p:cNvSpPr txBox="1"/>
          <p:nvPr/>
        </p:nvSpPr>
        <p:spPr>
          <a:xfrm>
            <a:off x="2240280" y="3145536"/>
            <a:ext cx="1280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Esperar a próxima atualização da UL Global ou consultar a UL Brasil.</a:t>
            </a:r>
            <a:endParaRPr b="0" i="0" sz="950" u="none" cap="none" strike="noStrike">
              <a:solidFill>
                <a:schemeClr val="dk1"/>
              </a:solidFill>
              <a:latin typeface="Arial"/>
              <a:ea typeface="Arial"/>
              <a:cs typeface="Arial"/>
              <a:sym typeface="Arial"/>
            </a:endParaRPr>
          </a:p>
        </p:txBody>
      </p:sp>
      <p:cxnSp>
        <p:nvCxnSpPr>
          <p:cNvPr id="130" name="Google Shape;130;p4"/>
          <p:cNvCxnSpPr/>
          <p:nvPr/>
        </p:nvCxnSpPr>
        <p:spPr>
          <a:xfrm>
            <a:off x="3630168" y="3291840"/>
            <a:ext cx="192024" cy="0"/>
          </a:xfrm>
          <a:prstGeom prst="straightConnector1">
            <a:avLst/>
          </a:prstGeom>
          <a:noFill/>
          <a:ln cap="flat" cmpd="sng" w="22225">
            <a:solidFill>
              <a:schemeClr val="dk2"/>
            </a:solidFill>
            <a:prstDash val="solid"/>
            <a:round/>
            <a:headEnd len="sm" w="sm" type="none"/>
            <a:tailEnd len="med" w="med" type="triangle"/>
          </a:ln>
        </p:spPr>
      </p:cxnSp>
      <p:sp>
        <p:nvSpPr>
          <p:cNvPr id="131" name="Google Shape;131;p4"/>
          <p:cNvSpPr/>
          <p:nvPr/>
        </p:nvSpPr>
        <p:spPr>
          <a:xfrm>
            <a:off x="3840480" y="2706624"/>
            <a:ext cx="14630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txBox="1"/>
          <p:nvPr/>
        </p:nvSpPr>
        <p:spPr>
          <a:xfrm>
            <a:off x="3931920" y="2761488"/>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UL Brasil autoriza</a:t>
            </a:r>
            <a:endParaRPr b="0" i="0" sz="1000" u="none" cap="none" strike="noStrike">
              <a:solidFill>
                <a:schemeClr val="dk1"/>
              </a:solidFill>
              <a:latin typeface="Arial"/>
              <a:ea typeface="Arial"/>
              <a:cs typeface="Arial"/>
              <a:sym typeface="Arial"/>
            </a:endParaRPr>
          </a:p>
        </p:txBody>
      </p:sp>
      <p:sp>
        <p:nvSpPr>
          <p:cNvPr id="133" name="Google Shape;133;p4"/>
          <p:cNvSpPr txBox="1"/>
          <p:nvPr/>
        </p:nvSpPr>
        <p:spPr>
          <a:xfrm>
            <a:off x="3931920" y="3145536"/>
            <a:ext cx="1280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Envia o CN Code e o Campaign, idênticos aos do UNCC.</a:t>
            </a:r>
            <a:endParaRPr b="0" i="0" sz="950" u="none" cap="none" strike="noStrike">
              <a:solidFill>
                <a:schemeClr val="dk1"/>
              </a:solidFill>
              <a:latin typeface="Arial"/>
              <a:ea typeface="Arial"/>
              <a:cs typeface="Arial"/>
              <a:sym typeface="Arial"/>
            </a:endParaRPr>
          </a:p>
        </p:txBody>
      </p:sp>
      <p:cxnSp>
        <p:nvCxnSpPr>
          <p:cNvPr id="134" name="Google Shape;134;p4"/>
          <p:cNvCxnSpPr/>
          <p:nvPr/>
        </p:nvCxnSpPr>
        <p:spPr>
          <a:xfrm>
            <a:off x="5321808" y="3291840"/>
            <a:ext cx="192024" cy="0"/>
          </a:xfrm>
          <a:prstGeom prst="straightConnector1">
            <a:avLst/>
          </a:prstGeom>
          <a:noFill/>
          <a:ln cap="flat" cmpd="sng" w="22225">
            <a:solidFill>
              <a:schemeClr val="dk2"/>
            </a:solidFill>
            <a:prstDash val="solid"/>
            <a:round/>
            <a:headEnd len="sm" w="sm" type="none"/>
            <a:tailEnd len="med" w="med" type="triangle"/>
          </a:ln>
        </p:spPr>
      </p:cxnSp>
      <p:sp>
        <p:nvSpPr>
          <p:cNvPr id="135" name="Google Shape;135;p4"/>
          <p:cNvSpPr/>
          <p:nvPr/>
        </p:nvSpPr>
        <p:spPr>
          <a:xfrm>
            <a:off x="5532120" y="2706624"/>
            <a:ext cx="14630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txBox="1"/>
          <p:nvPr/>
        </p:nvSpPr>
        <p:spPr>
          <a:xfrm>
            <a:off x="5623560" y="2761488"/>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Mídia formaliza</a:t>
            </a:r>
            <a:endParaRPr b="0" i="0" sz="1000" u="none" cap="none" strike="noStrike">
              <a:solidFill>
                <a:schemeClr val="dk1"/>
              </a:solidFill>
              <a:latin typeface="Arial"/>
              <a:ea typeface="Arial"/>
              <a:cs typeface="Arial"/>
              <a:sym typeface="Arial"/>
            </a:endParaRPr>
          </a:p>
        </p:txBody>
      </p:sp>
      <p:sp>
        <p:nvSpPr>
          <p:cNvPr id="137" name="Google Shape;137;p4"/>
          <p:cNvSpPr txBox="1"/>
          <p:nvPr/>
        </p:nvSpPr>
        <p:spPr>
          <a:xfrm>
            <a:off x="5623560" y="3145536"/>
            <a:ext cx="1280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E-mail para a Stormx, com o print da autorização da UL Brasil.</a:t>
            </a:r>
            <a:endParaRPr b="0" i="0" sz="950" u="none" cap="none" strike="noStrike">
              <a:solidFill>
                <a:schemeClr val="dk1"/>
              </a:solidFill>
              <a:latin typeface="Arial"/>
              <a:ea typeface="Arial"/>
              <a:cs typeface="Arial"/>
              <a:sym typeface="Arial"/>
            </a:endParaRPr>
          </a:p>
        </p:txBody>
      </p:sp>
      <p:cxnSp>
        <p:nvCxnSpPr>
          <p:cNvPr id="138" name="Google Shape;138;p4"/>
          <p:cNvCxnSpPr/>
          <p:nvPr/>
        </p:nvCxnSpPr>
        <p:spPr>
          <a:xfrm>
            <a:off x="7013448" y="3291840"/>
            <a:ext cx="192024" cy="0"/>
          </a:xfrm>
          <a:prstGeom prst="straightConnector1">
            <a:avLst/>
          </a:prstGeom>
          <a:noFill/>
          <a:ln cap="flat" cmpd="sng" w="22225">
            <a:solidFill>
              <a:schemeClr val="dk2"/>
            </a:solidFill>
            <a:prstDash val="solid"/>
            <a:round/>
            <a:headEnd len="sm" w="sm" type="none"/>
            <a:tailEnd len="med" w="med" type="triangle"/>
          </a:ln>
        </p:spPr>
      </p:cxnSp>
      <p:sp>
        <p:nvSpPr>
          <p:cNvPr id="139" name="Google Shape;139;p4"/>
          <p:cNvSpPr/>
          <p:nvPr/>
        </p:nvSpPr>
        <p:spPr>
          <a:xfrm>
            <a:off x="7223760" y="2706624"/>
            <a:ext cx="14630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7315200" y="2761488"/>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Stormx cadastra</a:t>
            </a:r>
            <a:endParaRPr b="0" i="0" sz="1000" u="none" cap="none" strike="noStrike">
              <a:solidFill>
                <a:schemeClr val="dk1"/>
              </a:solidFill>
              <a:latin typeface="Arial"/>
              <a:ea typeface="Arial"/>
              <a:cs typeface="Arial"/>
              <a:sym typeface="Arial"/>
            </a:endParaRPr>
          </a:p>
        </p:txBody>
      </p:sp>
      <p:sp>
        <p:nvSpPr>
          <p:cNvPr id="141" name="Google Shape;141;p4"/>
          <p:cNvSpPr txBox="1"/>
          <p:nvPr/>
        </p:nvSpPr>
        <p:spPr>
          <a:xfrm>
            <a:off x="7315200" y="3145536"/>
            <a:ext cx="1280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CN Code e Campaign na RM versão 6.0.</a:t>
            </a:r>
            <a:endParaRPr b="0" i="0" sz="950" u="none" cap="none" strike="noStrike">
              <a:solidFill>
                <a:schemeClr val="dk1"/>
              </a:solidFill>
              <a:latin typeface="Arial"/>
              <a:ea typeface="Arial"/>
              <a:cs typeface="Arial"/>
              <a:sym typeface="Arial"/>
            </a:endParaRPr>
          </a:p>
        </p:txBody>
      </p:sp>
      <p:sp>
        <p:nvSpPr>
          <p:cNvPr id="142" name="Google Shape;142;p4"/>
          <p:cNvSpPr/>
          <p:nvPr/>
        </p:nvSpPr>
        <p:spPr>
          <a:xfrm>
            <a:off x="457200" y="4023360"/>
            <a:ext cx="8229600" cy="640080"/>
          </a:xfrm>
          <a:prstGeom prst="roundRect">
            <a:avLst>
              <a:gd fmla="val 14286"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txBox="1"/>
          <p:nvPr/>
        </p:nvSpPr>
        <p:spPr>
          <a:xfrm>
            <a:off x="640080" y="402336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000"/>
              <a:buFont typeface="Arial"/>
              <a:buNone/>
            </a:pPr>
            <a:r>
              <a:rPr b="1" i="0" lang="en-US" sz="1000" u="none" cap="none" strike="noStrike">
                <a:solidFill>
                  <a:schemeClr val="accent1"/>
                </a:solidFill>
                <a:latin typeface="Arial"/>
                <a:ea typeface="Arial"/>
                <a:cs typeface="Arial"/>
                <a:sym typeface="Arial"/>
              </a:rPr>
              <a:t>Campaign Name: </a:t>
            </a:r>
            <a:r>
              <a:rPr b="0" i="0" lang="en-US" sz="1000" u="none" cap="none" strike="noStrike">
                <a:solidFill>
                  <a:schemeClr val="lt1"/>
                </a:solidFill>
                <a:latin typeface="Arial"/>
                <a:ea typeface="Arial"/>
                <a:cs typeface="Arial"/>
                <a:sym typeface="Arial"/>
              </a:rPr>
              <a:t>nome da campanha global, definido pelo Global da Unilever. O</a:t>
            </a:r>
            <a:r>
              <a:rPr lang="en-US" sz="1000">
                <a:solidFill>
                  <a:schemeClr val="lt1"/>
                </a:solidFill>
              </a:rPr>
              <a:t>s DMCs</a:t>
            </a:r>
            <a:r>
              <a:rPr b="0" i="0" lang="en-US" sz="1000" u="none" cap="none" strike="noStrike">
                <a:solidFill>
                  <a:schemeClr val="lt1"/>
                </a:solidFill>
                <a:latin typeface="Arial"/>
                <a:ea typeface="Arial"/>
                <a:cs typeface="Arial"/>
                <a:sym typeface="Arial"/>
              </a:rPr>
              <a:t> solicitam diretamente à Unilever, que aprova e envia a atualização à Stormx às sextas. A Stormx inclui no ADP enviado aos mídias toda segunda.</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Plano de Mídia | Camphouse</a:t>
            </a:r>
            <a:endParaRPr sz="2200"/>
          </a:p>
        </p:txBody>
      </p:sp>
      <p:sp>
        <p:nvSpPr>
          <p:cNvPr id="150" name="Google Shape;150;p5"/>
          <p:cNvSpPr txBox="1"/>
          <p:nvPr/>
        </p:nvSpPr>
        <p:spPr>
          <a:xfrm>
            <a:off x="457200" y="105156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Arial"/>
              <a:buNone/>
            </a:pPr>
            <a:r>
              <a:rPr b="0" i="0" lang="en-US" sz="1200" u="none" cap="none" strike="noStrike">
                <a:solidFill>
                  <a:schemeClr val="dk2"/>
                </a:solidFill>
                <a:latin typeface="Arial"/>
                <a:ea typeface="Arial"/>
                <a:cs typeface="Arial"/>
                <a:sym typeface="Arial"/>
              </a:rPr>
              <a:t>Sistema online onde os planos de mídia são cadastrados e aprovados, com acesso da agência e da Unilever.</a:t>
            </a:r>
            <a:endParaRPr b="0" i="0" sz="1200" u="none" cap="none" strike="noStrike">
              <a:solidFill>
                <a:schemeClr val="dk1"/>
              </a:solidFill>
              <a:latin typeface="Arial"/>
              <a:ea typeface="Arial"/>
              <a:cs typeface="Arial"/>
              <a:sym typeface="Arial"/>
            </a:endParaRPr>
          </a:p>
        </p:txBody>
      </p:sp>
      <p:sp>
        <p:nvSpPr>
          <p:cNvPr id="151" name="Google Shape;151;p5"/>
          <p:cNvSpPr/>
          <p:nvPr/>
        </p:nvSpPr>
        <p:spPr>
          <a:xfrm>
            <a:off x="457200" y="1463040"/>
            <a:ext cx="1828800" cy="731520"/>
          </a:xfrm>
          <a:prstGeom prst="roundRect">
            <a:avLst>
              <a:gd fmla="val 125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548640" y="146304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Mídia cadastra o plano e envia para aprovação</a:t>
            </a:r>
            <a:endParaRPr b="0" i="0" sz="1050" u="none" cap="none" strike="noStrike">
              <a:solidFill>
                <a:schemeClr val="dk1"/>
              </a:solidFill>
              <a:latin typeface="Arial"/>
              <a:ea typeface="Arial"/>
              <a:cs typeface="Arial"/>
              <a:sym typeface="Arial"/>
            </a:endParaRPr>
          </a:p>
        </p:txBody>
      </p:sp>
      <p:sp>
        <p:nvSpPr>
          <p:cNvPr id="153" name="Google Shape;153;p5"/>
          <p:cNvSpPr/>
          <p:nvPr/>
        </p:nvSpPr>
        <p:spPr>
          <a:xfrm>
            <a:off x="914400" y="2249424"/>
            <a:ext cx="914400" cy="237744"/>
          </a:xfrm>
          <a:prstGeom prst="roundRect">
            <a:avLst>
              <a:gd fmla="val 38462"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Mídia</a:t>
            </a:r>
            <a:endParaRPr b="0" i="0" sz="950" u="none" cap="none" strike="noStrike">
              <a:solidFill>
                <a:schemeClr val="dk1"/>
              </a:solidFill>
              <a:latin typeface="Arial"/>
              <a:ea typeface="Arial"/>
              <a:cs typeface="Arial"/>
              <a:sym typeface="Arial"/>
            </a:endParaRPr>
          </a:p>
        </p:txBody>
      </p:sp>
      <p:cxnSp>
        <p:nvCxnSpPr>
          <p:cNvPr id="154" name="Google Shape;154;p5"/>
          <p:cNvCxnSpPr/>
          <p:nvPr/>
        </p:nvCxnSpPr>
        <p:spPr>
          <a:xfrm>
            <a:off x="2322576" y="1828800"/>
            <a:ext cx="231648" cy="0"/>
          </a:xfrm>
          <a:prstGeom prst="straightConnector1">
            <a:avLst/>
          </a:prstGeom>
          <a:noFill/>
          <a:ln cap="flat" cmpd="sng" w="22225">
            <a:solidFill>
              <a:schemeClr val="dk2"/>
            </a:solidFill>
            <a:prstDash val="solid"/>
            <a:round/>
            <a:headEnd len="sm" w="sm" type="none"/>
            <a:tailEnd len="med" w="med" type="triangle"/>
          </a:ln>
        </p:spPr>
      </p:cxnSp>
      <p:sp>
        <p:nvSpPr>
          <p:cNvPr id="155" name="Google Shape;155;p5"/>
          <p:cNvSpPr/>
          <p:nvPr/>
        </p:nvSpPr>
        <p:spPr>
          <a:xfrm>
            <a:off x="2590800" y="1463040"/>
            <a:ext cx="1828800" cy="731520"/>
          </a:xfrm>
          <a:prstGeom prst="roundRect">
            <a:avLst>
              <a:gd fmla="val 125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2682240" y="146304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UL aprova a linha</a:t>
            </a:r>
            <a:endParaRPr b="0" i="0" sz="1050" u="none" cap="none" strike="noStrike">
              <a:solidFill>
                <a:schemeClr val="dk1"/>
              </a:solidFill>
              <a:latin typeface="Arial"/>
              <a:ea typeface="Arial"/>
              <a:cs typeface="Arial"/>
              <a:sym typeface="Arial"/>
            </a:endParaRPr>
          </a:p>
        </p:txBody>
      </p:sp>
      <p:sp>
        <p:nvSpPr>
          <p:cNvPr id="157" name="Google Shape;157;p5"/>
          <p:cNvSpPr/>
          <p:nvPr/>
        </p:nvSpPr>
        <p:spPr>
          <a:xfrm>
            <a:off x="3048000" y="2249424"/>
            <a:ext cx="914400" cy="237744"/>
          </a:xfrm>
          <a:prstGeom prst="roundRect">
            <a:avLst>
              <a:gd fmla="val 38462" name="adj"/>
            </a:avLst>
          </a:prstGeom>
          <a:solidFill>
            <a:schemeClr val="accent5"/>
          </a:solidFill>
          <a:ln cap="flat" cmpd="sng" w="9525">
            <a:solidFill>
              <a:schemeClr val="accent5"/>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UL</a:t>
            </a:r>
            <a:endParaRPr b="0" i="0" sz="950" u="none" cap="none" strike="noStrike">
              <a:solidFill>
                <a:schemeClr val="dk1"/>
              </a:solidFill>
              <a:latin typeface="Arial"/>
              <a:ea typeface="Arial"/>
              <a:cs typeface="Arial"/>
              <a:sym typeface="Arial"/>
            </a:endParaRPr>
          </a:p>
        </p:txBody>
      </p:sp>
      <p:cxnSp>
        <p:nvCxnSpPr>
          <p:cNvPr id="158" name="Google Shape;158;p5"/>
          <p:cNvCxnSpPr/>
          <p:nvPr/>
        </p:nvCxnSpPr>
        <p:spPr>
          <a:xfrm>
            <a:off x="4456176" y="1828800"/>
            <a:ext cx="231648" cy="0"/>
          </a:xfrm>
          <a:prstGeom prst="straightConnector1">
            <a:avLst/>
          </a:prstGeom>
          <a:noFill/>
          <a:ln cap="flat" cmpd="sng" w="22225">
            <a:solidFill>
              <a:schemeClr val="dk2"/>
            </a:solidFill>
            <a:prstDash val="solid"/>
            <a:round/>
            <a:headEnd len="sm" w="sm" type="none"/>
            <a:tailEnd len="med" w="med" type="triangle"/>
          </a:ln>
        </p:spPr>
      </p:cxnSp>
      <p:sp>
        <p:nvSpPr>
          <p:cNvPr id="159" name="Google Shape;159;p5"/>
          <p:cNvSpPr/>
          <p:nvPr/>
        </p:nvSpPr>
        <p:spPr>
          <a:xfrm>
            <a:off x="4724400" y="1463040"/>
            <a:ext cx="1828800" cy="731520"/>
          </a:xfrm>
          <a:prstGeom prst="roundRect">
            <a:avLst>
              <a:gd fmla="val 125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txBox="1"/>
          <p:nvPr/>
        </p:nvSpPr>
        <p:spPr>
          <a:xfrm>
            <a:off x="4815840" y="146304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Mídia exporta o plano e preenche a RM</a:t>
            </a:r>
            <a:endParaRPr b="0" i="0" sz="1050" u="none" cap="none" strike="noStrike">
              <a:solidFill>
                <a:schemeClr val="dk1"/>
              </a:solidFill>
              <a:latin typeface="Arial"/>
              <a:ea typeface="Arial"/>
              <a:cs typeface="Arial"/>
              <a:sym typeface="Arial"/>
            </a:endParaRPr>
          </a:p>
        </p:txBody>
      </p:sp>
      <p:sp>
        <p:nvSpPr>
          <p:cNvPr id="161" name="Google Shape;161;p5"/>
          <p:cNvSpPr/>
          <p:nvPr/>
        </p:nvSpPr>
        <p:spPr>
          <a:xfrm>
            <a:off x="5181600" y="2249424"/>
            <a:ext cx="914400" cy="237744"/>
          </a:xfrm>
          <a:prstGeom prst="roundRect">
            <a:avLst>
              <a:gd fmla="val 38462"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Mídia</a:t>
            </a:r>
            <a:endParaRPr b="0" i="0" sz="950" u="none" cap="none" strike="noStrike">
              <a:solidFill>
                <a:schemeClr val="dk1"/>
              </a:solidFill>
              <a:latin typeface="Arial"/>
              <a:ea typeface="Arial"/>
              <a:cs typeface="Arial"/>
              <a:sym typeface="Arial"/>
            </a:endParaRPr>
          </a:p>
        </p:txBody>
      </p:sp>
      <p:cxnSp>
        <p:nvCxnSpPr>
          <p:cNvPr id="162" name="Google Shape;162;p5"/>
          <p:cNvCxnSpPr/>
          <p:nvPr/>
        </p:nvCxnSpPr>
        <p:spPr>
          <a:xfrm>
            <a:off x="6589776" y="1828800"/>
            <a:ext cx="231648" cy="0"/>
          </a:xfrm>
          <a:prstGeom prst="straightConnector1">
            <a:avLst/>
          </a:prstGeom>
          <a:noFill/>
          <a:ln cap="flat" cmpd="sng" w="22225">
            <a:solidFill>
              <a:schemeClr val="dk2"/>
            </a:solidFill>
            <a:prstDash val="solid"/>
            <a:round/>
            <a:headEnd len="sm" w="sm" type="none"/>
            <a:tailEnd len="med" w="med" type="triangle"/>
          </a:ln>
        </p:spPr>
      </p:cxnSp>
      <p:sp>
        <p:nvSpPr>
          <p:cNvPr id="163" name="Google Shape;163;p5"/>
          <p:cNvSpPr/>
          <p:nvPr/>
        </p:nvSpPr>
        <p:spPr>
          <a:xfrm>
            <a:off x="6858000" y="1463040"/>
            <a:ext cx="1828800" cy="731520"/>
          </a:xfrm>
          <a:prstGeom prst="roundRect">
            <a:avLst>
              <a:gd fmla="val 125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txBox="1"/>
          <p:nvPr/>
        </p:nvSpPr>
        <p:spPr>
          <a:xfrm>
            <a:off x="6949440" y="1463040"/>
            <a:ext cx="1645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Stormx cria a taxonomia</a:t>
            </a:r>
            <a:endParaRPr b="0" i="0" sz="1050" u="none" cap="none" strike="noStrike">
              <a:solidFill>
                <a:schemeClr val="dk1"/>
              </a:solidFill>
              <a:latin typeface="Arial"/>
              <a:ea typeface="Arial"/>
              <a:cs typeface="Arial"/>
              <a:sym typeface="Arial"/>
            </a:endParaRPr>
          </a:p>
        </p:txBody>
      </p:sp>
      <p:sp>
        <p:nvSpPr>
          <p:cNvPr id="165" name="Google Shape;165;p5"/>
          <p:cNvSpPr/>
          <p:nvPr/>
        </p:nvSpPr>
        <p:spPr>
          <a:xfrm>
            <a:off x="7315200" y="2249424"/>
            <a:ext cx="914400" cy="237744"/>
          </a:xfrm>
          <a:prstGeom prst="roundRect">
            <a:avLst>
              <a:gd fmla="val 38462"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Stormx</a:t>
            </a:r>
            <a:endParaRPr b="0" i="0" sz="950" u="none" cap="none" strike="noStrike">
              <a:solidFill>
                <a:schemeClr val="dk1"/>
              </a:solidFill>
              <a:latin typeface="Arial"/>
              <a:ea typeface="Arial"/>
              <a:cs typeface="Arial"/>
              <a:sym typeface="Arial"/>
            </a:endParaRPr>
          </a:p>
        </p:txBody>
      </p:sp>
      <p:sp>
        <p:nvSpPr>
          <p:cNvPr id="166" name="Google Shape;166;p5"/>
          <p:cNvSpPr/>
          <p:nvPr/>
        </p:nvSpPr>
        <p:spPr>
          <a:xfrm>
            <a:off x="457200" y="2697480"/>
            <a:ext cx="2651760" cy="155448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txBox="1"/>
          <p:nvPr/>
        </p:nvSpPr>
        <p:spPr>
          <a:xfrm>
            <a:off x="594360" y="277063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A UL Brasil controla</a:t>
            </a:r>
            <a:endParaRPr b="0" i="0" sz="1200" u="none" cap="none" strike="noStrike">
              <a:solidFill>
                <a:schemeClr val="dk1"/>
              </a:solidFill>
              <a:latin typeface="Arial"/>
              <a:ea typeface="Arial"/>
              <a:cs typeface="Arial"/>
              <a:sym typeface="Arial"/>
            </a:endParaRPr>
          </a:p>
        </p:txBody>
      </p:sp>
      <p:sp>
        <p:nvSpPr>
          <p:cNvPr id="168" name="Google Shape;168;p5"/>
          <p:cNvSpPr txBox="1"/>
          <p:nvPr/>
        </p:nvSpPr>
        <p:spPr>
          <a:xfrm>
            <a:off x="594360" y="3063240"/>
            <a:ext cx="237744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Quem controla o Camphouse é a UL Brasil: ajusta as informações e inclui novas opções de dropdown.</a:t>
            </a:r>
            <a:endParaRPr b="0" i="0" sz="950" u="none" cap="none" strike="noStrike">
              <a:solidFill>
                <a:schemeClr val="dk1"/>
              </a:solidFill>
              <a:latin typeface="Arial"/>
              <a:ea typeface="Arial"/>
              <a:cs typeface="Arial"/>
              <a:sym typeface="Arial"/>
            </a:endParaRPr>
          </a:p>
        </p:txBody>
      </p:sp>
      <p:sp>
        <p:nvSpPr>
          <p:cNvPr id="169" name="Google Shape;169;p5"/>
          <p:cNvSpPr/>
          <p:nvPr/>
        </p:nvSpPr>
        <p:spPr>
          <a:xfrm>
            <a:off x="3246120" y="2697480"/>
            <a:ext cx="2651760" cy="155448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txBox="1"/>
          <p:nvPr/>
        </p:nvSpPr>
        <p:spPr>
          <a:xfrm>
            <a:off x="3383280" y="277063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Regras e definições</a:t>
            </a:r>
            <a:endParaRPr b="0" i="0" sz="1200" u="none" cap="none" strike="noStrike">
              <a:solidFill>
                <a:schemeClr val="dk1"/>
              </a:solidFill>
              <a:latin typeface="Arial"/>
              <a:ea typeface="Arial"/>
              <a:cs typeface="Arial"/>
              <a:sym typeface="Arial"/>
            </a:endParaRPr>
          </a:p>
        </p:txBody>
      </p:sp>
      <p:sp>
        <p:nvSpPr>
          <p:cNvPr id="171" name="Google Shape;171;p5"/>
          <p:cNvSpPr txBox="1"/>
          <p:nvPr/>
        </p:nvSpPr>
        <p:spPr>
          <a:xfrm>
            <a:off x="3383280" y="3063240"/>
            <a:ext cx="237744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Traz as regras do UNCC Global e da documentação da UL Brasil. O mídia preenche tudo de acordo com elas. Informação errada no Camphouse fica errada na RM e chega errada para a Stormx, podendo ser repassada para a taxonomia.</a:t>
            </a:r>
            <a:endParaRPr b="0" i="0" sz="950" u="none" cap="none" strike="noStrike">
              <a:solidFill>
                <a:schemeClr val="dk1"/>
              </a:solidFill>
              <a:latin typeface="Arial"/>
              <a:ea typeface="Arial"/>
              <a:cs typeface="Arial"/>
              <a:sym typeface="Arial"/>
            </a:endParaRPr>
          </a:p>
        </p:txBody>
      </p:sp>
      <p:sp>
        <p:nvSpPr>
          <p:cNvPr id="172" name="Google Shape;172;p5"/>
          <p:cNvSpPr/>
          <p:nvPr/>
        </p:nvSpPr>
        <p:spPr>
          <a:xfrm>
            <a:off x="6035040" y="2697480"/>
            <a:ext cx="2651760" cy="155448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txBox="1"/>
          <p:nvPr/>
        </p:nvSpPr>
        <p:spPr>
          <a:xfrm>
            <a:off x="6172200" y="277063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Stormx no fluxo</a:t>
            </a:r>
            <a:endParaRPr b="0" i="0" sz="1200" u="none" cap="none" strike="noStrike">
              <a:solidFill>
                <a:schemeClr val="dk1"/>
              </a:solidFill>
              <a:latin typeface="Arial"/>
              <a:ea typeface="Arial"/>
              <a:cs typeface="Arial"/>
              <a:sym typeface="Arial"/>
            </a:endParaRPr>
          </a:p>
        </p:txBody>
      </p:sp>
      <p:sp>
        <p:nvSpPr>
          <p:cNvPr id="174" name="Google Shape;174;p5"/>
          <p:cNvSpPr txBox="1"/>
          <p:nvPr/>
        </p:nvSpPr>
        <p:spPr>
          <a:xfrm>
            <a:off x="6172200" y="3063240"/>
            <a:ext cx="237744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Nas campanhas digitais, a Stormx também entra no fluxo, para ver o que foi pedido e já incluir as novidades no ADP e no dicionário. Se algo novo chega ao mídia e não é repassado, é preciso consultar a UL, o que atrasa a demanda.</a:t>
            </a:r>
            <a:endParaRPr b="0" i="0" sz="950" u="none" cap="none" strike="noStrike">
              <a:solidFill>
                <a:schemeClr val="dk1"/>
              </a:solidFill>
              <a:latin typeface="Arial"/>
              <a:ea typeface="Arial"/>
              <a:cs typeface="Arial"/>
              <a:sym typeface="Arial"/>
            </a:endParaRPr>
          </a:p>
        </p:txBody>
      </p:sp>
      <p:sp>
        <p:nvSpPr>
          <p:cNvPr id="175" name="Google Shape;175;p5"/>
          <p:cNvSpPr/>
          <p:nvPr/>
        </p:nvSpPr>
        <p:spPr>
          <a:xfrm>
            <a:off x="457200" y="4343400"/>
            <a:ext cx="8229600" cy="320040"/>
          </a:xfrm>
          <a:prstGeom prst="roundRect">
            <a:avLst>
              <a:gd fmla="val 2857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txBox="1"/>
          <p:nvPr/>
        </p:nvSpPr>
        <p:spPr>
          <a:xfrm>
            <a:off x="640080" y="4343400"/>
            <a:ext cx="7863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Com a linha aprovada, o mídia já pode exportar o plano e preencher a RM.</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6"/>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RM | O que é, atualizações e versionamento</a:t>
            </a:r>
            <a:endParaRPr sz="2200"/>
          </a:p>
        </p:txBody>
      </p:sp>
      <p:sp>
        <p:nvSpPr>
          <p:cNvPr id="183" name="Google Shape;183;p6"/>
          <p:cNvSpPr/>
          <p:nvPr/>
        </p:nvSpPr>
        <p:spPr>
          <a:xfrm>
            <a:off x="457200" y="1097280"/>
            <a:ext cx="4023360" cy="1600200"/>
          </a:xfrm>
          <a:prstGeom prst="roundRect">
            <a:avLst>
              <a:gd fmla="val 5714"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txBox="1"/>
          <p:nvPr/>
        </p:nvSpPr>
        <p:spPr>
          <a:xfrm>
            <a:off x="594360" y="1161288"/>
            <a:ext cx="18288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O que é</a:t>
            </a:r>
            <a:endParaRPr b="0" i="0" sz="1200" u="none" cap="none" strike="noStrike">
              <a:solidFill>
                <a:schemeClr val="dk1"/>
              </a:solidFill>
              <a:latin typeface="Arial"/>
              <a:ea typeface="Arial"/>
              <a:cs typeface="Arial"/>
              <a:sym typeface="Arial"/>
            </a:endParaRPr>
          </a:p>
        </p:txBody>
      </p:sp>
      <p:sp>
        <p:nvSpPr>
          <p:cNvPr id="185" name="Google Shape;185;p6"/>
          <p:cNvSpPr/>
          <p:nvPr/>
        </p:nvSpPr>
        <p:spPr>
          <a:xfrm>
            <a:off x="2468880" y="1161288"/>
            <a:ext cx="1874520" cy="237744"/>
          </a:xfrm>
          <a:prstGeom prst="roundRect">
            <a:avLst>
              <a:gd fmla="val 38462"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00"/>
              <a:buFont typeface="Arial"/>
              <a:buNone/>
            </a:pPr>
            <a:r>
              <a:rPr b="1" i="0" lang="en-US" sz="900" u="none" cap="none" strike="noStrike">
                <a:solidFill>
                  <a:schemeClr val="lt1"/>
                </a:solidFill>
                <a:latin typeface="Arial"/>
                <a:ea typeface="Arial"/>
                <a:cs typeface="Arial"/>
                <a:sym typeface="Arial"/>
              </a:rPr>
              <a:t>RM_Stormx_2026_v6.0</a:t>
            </a:r>
            <a:endParaRPr b="0" i="0" sz="900" u="none" cap="none" strike="noStrike">
              <a:solidFill>
                <a:schemeClr val="dk1"/>
              </a:solidFill>
              <a:latin typeface="Arial"/>
              <a:ea typeface="Arial"/>
              <a:cs typeface="Arial"/>
              <a:sym typeface="Arial"/>
            </a:endParaRPr>
          </a:p>
        </p:txBody>
      </p:sp>
      <p:sp>
        <p:nvSpPr>
          <p:cNvPr id="186" name="Google Shape;186;p6"/>
          <p:cNvSpPr txBox="1"/>
          <p:nvPr/>
        </p:nvSpPr>
        <p:spPr>
          <a:xfrm>
            <a:off x="594360" y="1481328"/>
            <a:ext cx="374904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Documento online enviado pelos mídias, com o briefing</a:t>
            </a:r>
            <a:r>
              <a:rPr lang="en-US" sz="950">
                <a:solidFill>
                  <a:schemeClr val="dk2"/>
                </a:solidFill>
              </a:rPr>
              <a:t>,</a:t>
            </a:r>
            <a:r>
              <a:rPr b="0" i="0" lang="en-US" sz="950" u="none" cap="none" strike="noStrike">
                <a:solidFill>
                  <a:schemeClr val="dk2"/>
                </a:solidFill>
                <a:latin typeface="Arial"/>
                <a:ea typeface="Arial"/>
                <a:cs typeface="Arial"/>
                <a:sym typeface="Arial"/>
              </a:rPr>
              <a:t> o plano de mídia e todas as informações para a Stormx desenvolver a taxonomia. </a:t>
            </a:r>
            <a:endParaRPr b="0" i="0" sz="950" u="none" cap="none" strike="noStrike">
              <a:solidFill>
                <a:schemeClr val="dk2"/>
              </a:solidFill>
              <a:latin typeface="Arial"/>
              <a:ea typeface="Arial"/>
              <a:cs typeface="Arial"/>
              <a:sym typeface="Arial"/>
            </a:endParaRPr>
          </a:p>
          <a:p>
            <a:pPr indent="0" lvl="0" marL="0" marR="0" rtl="0" algn="l">
              <a:spcBef>
                <a:spcPts val="0"/>
              </a:spcBef>
              <a:spcAft>
                <a:spcPts val="0"/>
              </a:spcAft>
              <a:buClr>
                <a:schemeClr val="dk2"/>
              </a:buClr>
              <a:buSzPts val="950"/>
              <a:buFont typeface="Arial"/>
              <a:buNone/>
            </a:pPr>
            <a:r>
              <a:t/>
            </a:r>
            <a:endParaRPr sz="950">
              <a:solidFill>
                <a:schemeClr val="dk2"/>
              </a:solidFill>
            </a:endParaRPr>
          </a:p>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Centraliza as informações e controla o status das solicitações. </a:t>
            </a:r>
            <a:endParaRPr b="0" i="0" sz="950" u="none" cap="none" strike="noStrike">
              <a:solidFill>
                <a:schemeClr val="dk2"/>
              </a:solidFill>
              <a:latin typeface="Arial"/>
              <a:ea typeface="Arial"/>
              <a:cs typeface="Arial"/>
              <a:sym typeface="Arial"/>
            </a:endParaRPr>
          </a:p>
          <a:p>
            <a:pPr indent="0" lvl="0" marL="0" marR="0" rtl="0" algn="l">
              <a:spcBef>
                <a:spcPts val="0"/>
              </a:spcBef>
              <a:spcAft>
                <a:spcPts val="0"/>
              </a:spcAft>
              <a:buClr>
                <a:schemeClr val="dk2"/>
              </a:buClr>
              <a:buSzPts val="950"/>
              <a:buFont typeface="Arial"/>
              <a:buNone/>
            </a:pPr>
            <a:r>
              <a:t/>
            </a:r>
            <a:endParaRPr sz="950">
              <a:solidFill>
                <a:schemeClr val="dk2"/>
              </a:solidFill>
            </a:endParaRPr>
          </a:p>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Toda solicitação é registrada na RM e sinalizada na task do Jira.</a:t>
            </a:r>
            <a:endParaRPr b="0" i="0" sz="950" u="none" cap="none" strike="noStrike">
              <a:solidFill>
                <a:schemeClr val="dk1"/>
              </a:solidFill>
              <a:latin typeface="Arial"/>
              <a:ea typeface="Arial"/>
              <a:cs typeface="Arial"/>
              <a:sym typeface="Arial"/>
            </a:endParaRPr>
          </a:p>
        </p:txBody>
      </p:sp>
      <p:sp>
        <p:nvSpPr>
          <p:cNvPr id="187" name="Google Shape;187;p6"/>
          <p:cNvSpPr/>
          <p:nvPr/>
        </p:nvSpPr>
        <p:spPr>
          <a:xfrm>
            <a:off x="4663440" y="1097280"/>
            <a:ext cx="4023360" cy="1600200"/>
          </a:xfrm>
          <a:prstGeom prst="roundRect">
            <a:avLst>
              <a:gd fmla="val 5714"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txBox="1"/>
          <p:nvPr/>
        </p:nvSpPr>
        <p:spPr>
          <a:xfrm>
            <a:off x="4800600" y="1161288"/>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Quem atualiza a estrutura</a:t>
            </a:r>
            <a:endParaRPr b="0" i="0" sz="1200" u="none" cap="none" strike="noStrike">
              <a:solidFill>
                <a:schemeClr val="dk1"/>
              </a:solidFill>
              <a:latin typeface="Arial"/>
              <a:ea typeface="Arial"/>
              <a:cs typeface="Arial"/>
              <a:sym typeface="Arial"/>
            </a:endParaRPr>
          </a:p>
        </p:txBody>
      </p:sp>
      <p:sp>
        <p:nvSpPr>
          <p:cNvPr id="189" name="Google Shape;189;p6"/>
          <p:cNvSpPr txBox="1"/>
          <p:nvPr/>
        </p:nvSpPr>
        <p:spPr>
          <a:xfrm>
            <a:off x="4800600" y="1444752"/>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A Stormx é a única responsável pelos dados estruturais da RM: novos campos, regras, listas suspensas (dropdowns) e lógica. Isso muda conforme:</a:t>
            </a:r>
            <a:endParaRPr b="0" i="0" sz="950" u="none" cap="none" strike="noStrike">
              <a:solidFill>
                <a:schemeClr val="dk1"/>
              </a:solidFill>
              <a:latin typeface="Arial"/>
              <a:ea typeface="Arial"/>
              <a:cs typeface="Arial"/>
              <a:sym typeface="Arial"/>
            </a:endParaRPr>
          </a:p>
        </p:txBody>
      </p:sp>
      <p:sp>
        <p:nvSpPr>
          <p:cNvPr id="190" name="Google Shape;190;p6"/>
          <p:cNvSpPr/>
          <p:nvPr/>
        </p:nvSpPr>
        <p:spPr>
          <a:xfrm>
            <a:off x="4800600" y="2011680"/>
            <a:ext cx="109728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Galileo semanal</a:t>
            </a:r>
            <a:endParaRPr b="0" i="0" sz="900" u="none" cap="none" strike="noStrike">
              <a:solidFill>
                <a:schemeClr val="dk1"/>
              </a:solidFill>
              <a:latin typeface="Arial"/>
              <a:ea typeface="Arial"/>
              <a:cs typeface="Arial"/>
              <a:sym typeface="Arial"/>
            </a:endParaRPr>
          </a:p>
        </p:txBody>
      </p:sp>
      <p:sp>
        <p:nvSpPr>
          <p:cNvPr id="191" name="Google Shape;191;p6"/>
          <p:cNvSpPr/>
          <p:nvPr/>
        </p:nvSpPr>
        <p:spPr>
          <a:xfrm>
            <a:off x="5971032" y="2011680"/>
            <a:ext cx="73152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FreeText</a:t>
            </a:r>
            <a:endParaRPr b="0" i="0" sz="900" u="none" cap="none" strike="noStrike">
              <a:solidFill>
                <a:schemeClr val="dk1"/>
              </a:solidFill>
              <a:latin typeface="Arial"/>
              <a:ea typeface="Arial"/>
              <a:cs typeface="Arial"/>
              <a:sym typeface="Arial"/>
            </a:endParaRPr>
          </a:p>
        </p:txBody>
      </p:sp>
      <p:sp>
        <p:nvSpPr>
          <p:cNvPr id="192" name="Google Shape;192;p6"/>
          <p:cNvSpPr/>
          <p:nvPr/>
        </p:nvSpPr>
        <p:spPr>
          <a:xfrm>
            <a:off x="6775704" y="2011680"/>
            <a:ext cx="114300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Novos dropdowns</a:t>
            </a:r>
            <a:endParaRPr b="0" i="0" sz="900" u="none" cap="none" strike="noStrike">
              <a:solidFill>
                <a:schemeClr val="dk1"/>
              </a:solidFill>
              <a:latin typeface="Arial"/>
              <a:ea typeface="Arial"/>
              <a:cs typeface="Arial"/>
              <a:sym typeface="Arial"/>
            </a:endParaRPr>
          </a:p>
        </p:txBody>
      </p:sp>
      <p:sp>
        <p:nvSpPr>
          <p:cNvPr id="193" name="Google Shape;193;p6"/>
          <p:cNvSpPr/>
          <p:nvPr/>
        </p:nvSpPr>
        <p:spPr>
          <a:xfrm>
            <a:off x="4800600" y="2322576"/>
            <a:ext cx="146304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Novos planos de mídia</a:t>
            </a:r>
            <a:endParaRPr b="0" i="0" sz="900" u="none" cap="none" strike="noStrike">
              <a:solidFill>
                <a:schemeClr val="dk1"/>
              </a:solidFill>
              <a:latin typeface="Arial"/>
              <a:ea typeface="Arial"/>
              <a:cs typeface="Arial"/>
              <a:sym typeface="Arial"/>
            </a:endParaRPr>
          </a:p>
        </p:txBody>
      </p:sp>
      <p:sp>
        <p:nvSpPr>
          <p:cNvPr id="194" name="Google Shape;194;p6"/>
          <p:cNvSpPr/>
          <p:nvPr/>
        </p:nvSpPr>
        <p:spPr>
          <a:xfrm>
            <a:off x="6336792" y="2322576"/>
            <a:ext cx="2103120" cy="256032"/>
          </a:xfrm>
          <a:prstGeom prst="roundRect">
            <a:avLst>
              <a:gd fmla="val 35714"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Ajustes técnicos de padronização</a:t>
            </a:r>
            <a:endParaRPr b="0" i="0" sz="900" u="none" cap="none" strike="noStrike">
              <a:solidFill>
                <a:schemeClr val="dk1"/>
              </a:solidFill>
              <a:latin typeface="Arial"/>
              <a:ea typeface="Arial"/>
              <a:cs typeface="Arial"/>
              <a:sym typeface="Arial"/>
            </a:endParaRPr>
          </a:p>
        </p:txBody>
      </p:sp>
      <p:sp>
        <p:nvSpPr>
          <p:cNvPr id="195" name="Google Shape;195;p6"/>
          <p:cNvSpPr txBox="1"/>
          <p:nvPr/>
        </p:nvSpPr>
        <p:spPr>
          <a:xfrm>
            <a:off x="457200" y="2834640"/>
            <a:ext cx="54864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Versionamento e uso</a:t>
            </a:r>
            <a:endParaRPr b="0" i="0" sz="1200" u="none" cap="none" strike="noStrike">
              <a:solidFill>
                <a:schemeClr val="dk1"/>
              </a:solidFill>
              <a:latin typeface="Arial"/>
              <a:ea typeface="Arial"/>
              <a:cs typeface="Arial"/>
              <a:sym typeface="Arial"/>
            </a:endParaRPr>
          </a:p>
        </p:txBody>
      </p:sp>
      <p:sp>
        <p:nvSpPr>
          <p:cNvPr id="196" name="Google Shape;196;p6"/>
          <p:cNvSpPr/>
          <p:nvPr/>
        </p:nvSpPr>
        <p:spPr>
          <a:xfrm>
            <a:off x="457200" y="3108960"/>
            <a:ext cx="19202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txBox="1"/>
          <p:nvPr/>
        </p:nvSpPr>
        <p:spPr>
          <a:xfrm>
            <a:off x="566928" y="3163824"/>
            <a:ext cx="1700784"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Só a Stormx</a:t>
            </a:r>
            <a:endParaRPr b="0" i="0" sz="1050" u="none" cap="none" strike="noStrike">
              <a:solidFill>
                <a:schemeClr val="dk1"/>
              </a:solidFill>
              <a:latin typeface="Arial"/>
              <a:ea typeface="Arial"/>
              <a:cs typeface="Arial"/>
              <a:sym typeface="Arial"/>
            </a:endParaRPr>
          </a:p>
        </p:txBody>
      </p:sp>
      <p:sp>
        <p:nvSpPr>
          <p:cNvPr id="198" name="Google Shape;198;p6"/>
          <p:cNvSpPr txBox="1"/>
          <p:nvPr/>
        </p:nvSpPr>
        <p:spPr>
          <a:xfrm>
            <a:off x="566928" y="3429000"/>
            <a:ext cx="1700784"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Cria novas versões da RM e faz as alterações estruturais.</a:t>
            </a:r>
            <a:endParaRPr b="0" i="0" sz="950" u="none" cap="none" strike="noStrike">
              <a:solidFill>
                <a:schemeClr val="dk1"/>
              </a:solidFill>
              <a:latin typeface="Arial"/>
              <a:ea typeface="Arial"/>
              <a:cs typeface="Arial"/>
              <a:sym typeface="Arial"/>
            </a:endParaRPr>
          </a:p>
        </p:txBody>
      </p:sp>
      <p:sp>
        <p:nvSpPr>
          <p:cNvPr id="199" name="Google Shape;199;p6"/>
          <p:cNvSpPr/>
          <p:nvPr/>
        </p:nvSpPr>
        <p:spPr>
          <a:xfrm>
            <a:off x="2560320" y="3108960"/>
            <a:ext cx="19202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txBox="1"/>
          <p:nvPr/>
        </p:nvSpPr>
        <p:spPr>
          <a:xfrm>
            <a:off x="2670048" y="3163824"/>
            <a:ext cx="1700784"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Uma cópia por campanha</a:t>
            </a:r>
            <a:endParaRPr b="0" i="0" sz="1050" u="none" cap="none" strike="noStrike">
              <a:solidFill>
                <a:schemeClr val="dk1"/>
              </a:solidFill>
              <a:latin typeface="Arial"/>
              <a:ea typeface="Arial"/>
              <a:cs typeface="Arial"/>
              <a:sym typeface="Arial"/>
            </a:endParaRPr>
          </a:p>
        </p:txBody>
      </p:sp>
      <p:sp>
        <p:nvSpPr>
          <p:cNvPr id="201" name="Google Shape;201;p6"/>
          <p:cNvSpPr txBox="1"/>
          <p:nvPr/>
        </p:nvSpPr>
        <p:spPr>
          <a:xfrm>
            <a:off x="2670048" y="3429000"/>
            <a:ext cx="1700784"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O mídia usa sempre a versão mais recente e cria apenas uma cópia dela, nunca uma nova versão.</a:t>
            </a:r>
            <a:endParaRPr b="0" i="0" sz="950" u="none" cap="none" strike="noStrike">
              <a:solidFill>
                <a:schemeClr val="dk1"/>
              </a:solidFill>
              <a:latin typeface="Arial"/>
              <a:ea typeface="Arial"/>
              <a:cs typeface="Arial"/>
              <a:sym typeface="Arial"/>
            </a:endParaRPr>
          </a:p>
        </p:txBody>
      </p:sp>
      <p:sp>
        <p:nvSpPr>
          <p:cNvPr id="202" name="Google Shape;202;p6"/>
          <p:cNvSpPr/>
          <p:nvPr/>
        </p:nvSpPr>
        <p:spPr>
          <a:xfrm>
            <a:off x="4663440" y="3108960"/>
            <a:ext cx="19202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txBox="1"/>
          <p:nvPr/>
        </p:nvSpPr>
        <p:spPr>
          <a:xfrm>
            <a:off x="4773168" y="3163824"/>
            <a:ext cx="1700784"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Uma RM ativa</a:t>
            </a:r>
            <a:endParaRPr b="0" i="0" sz="1050" u="none" cap="none" strike="noStrike">
              <a:solidFill>
                <a:schemeClr val="dk1"/>
              </a:solidFill>
              <a:latin typeface="Arial"/>
              <a:ea typeface="Arial"/>
              <a:cs typeface="Arial"/>
              <a:sym typeface="Arial"/>
            </a:endParaRPr>
          </a:p>
        </p:txBody>
      </p:sp>
      <p:sp>
        <p:nvSpPr>
          <p:cNvPr id="204" name="Google Shape;204;p6"/>
          <p:cNvSpPr txBox="1"/>
          <p:nvPr/>
        </p:nvSpPr>
        <p:spPr>
          <a:xfrm>
            <a:off x="4773168" y="3429000"/>
            <a:ext cx="1700784"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Nova solicitação ou ajuste vão na RM ativa. Não criar RM adicional: gera duplicidade e compromete o controle de status.</a:t>
            </a:r>
            <a:endParaRPr b="0" i="0" sz="950" u="none" cap="none" strike="noStrike">
              <a:solidFill>
                <a:schemeClr val="dk1"/>
              </a:solidFill>
              <a:latin typeface="Arial"/>
              <a:ea typeface="Arial"/>
              <a:cs typeface="Arial"/>
              <a:sym typeface="Arial"/>
            </a:endParaRPr>
          </a:p>
        </p:txBody>
      </p:sp>
      <p:sp>
        <p:nvSpPr>
          <p:cNvPr id="205" name="Google Shape;205;p6"/>
          <p:cNvSpPr/>
          <p:nvPr/>
        </p:nvSpPr>
        <p:spPr>
          <a:xfrm>
            <a:off x="6766560" y="3108960"/>
            <a:ext cx="1920240" cy="1188720"/>
          </a:xfrm>
          <a:prstGeom prst="roundRect">
            <a:avLst>
              <a:gd fmla="val 769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txBox="1"/>
          <p:nvPr/>
        </p:nvSpPr>
        <p:spPr>
          <a:xfrm>
            <a:off x="6876288" y="3163824"/>
            <a:ext cx="1700784"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Migrar de versão</a:t>
            </a:r>
            <a:endParaRPr b="0" i="0" sz="1050" u="none" cap="none" strike="noStrike">
              <a:solidFill>
                <a:schemeClr val="dk1"/>
              </a:solidFill>
              <a:latin typeface="Arial"/>
              <a:ea typeface="Arial"/>
              <a:cs typeface="Arial"/>
              <a:sym typeface="Arial"/>
            </a:endParaRPr>
          </a:p>
        </p:txBody>
      </p:sp>
      <p:sp>
        <p:nvSpPr>
          <p:cNvPr id="207" name="Google Shape;207;p6"/>
          <p:cNvSpPr txBox="1"/>
          <p:nvPr/>
        </p:nvSpPr>
        <p:spPr>
          <a:xfrm>
            <a:off x="6876288" y="3429000"/>
            <a:ext cx="1700784" cy="8503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RM aberta é usada até o encerramento. Se for migrar, a RM anterior </a:t>
            </a:r>
            <a:r>
              <a:rPr lang="en-US" sz="950">
                <a:solidFill>
                  <a:schemeClr val="dk2"/>
                </a:solidFill>
              </a:rPr>
              <a:t>deve ser </a:t>
            </a:r>
            <a:r>
              <a:rPr b="0" i="0" lang="en-US" sz="950" u="none" cap="none" strike="noStrike">
                <a:solidFill>
                  <a:schemeClr val="dk2"/>
                </a:solidFill>
                <a:latin typeface="Arial"/>
                <a:ea typeface="Arial"/>
                <a:cs typeface="Arial"/>
                <a:sym typeface="Arial"/>
              </a:rPr>
              <a:t>desativada.</a:t>
            </a:r>
            <a:endParaRPr b="0" i="0" sz="950" u="none" cap="none" strike="noStrike">
              <a:solidFill>
                <a:schemeClr val="dk1"/>
              </a:solidFill>
              <a:latin typeface="Arial"/>
              <a:ea typeface="Arial"/>
              <a:cs typeface="Arial"/>
              <a:sym typeface="Arial"/>
            </a:endParaRPr>
          </a:p>
        </p:txBody>
      </p:sp>
      <p:sp>
        <p:nvSpPr>
          <p:cNvPr id="208" name="Google Shape;208;p6"/>
          <p:cNvSpPr txBox="1"/>
          <p:nvPr/>
        </p:nvSpPr>
        <p:spPr>
          <a:xfrm>
            <a:off x="457200" y="4389120"/>
            <a:ext cx="82296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Faltou uma opção de dropdown na RM? </a:t>
            </a:r>
            <a:r>
              <a:rPr b="0" i="0" lang="en-US" sz="1100" u="none" cap="none" strike="noStrike">
                <a:solidFill>
                  <a:schemeClr val="dk2"/>
                </a:solidFill>
                <a:latin typeface="Arial"/>
                <a:ea typeface="Arial"/>
                <a:cs typeface="Arial"/>
                <a:sym typeface="Arial"/>
              </a:rPr>
              <a:t>Solicitar a inclusão à Carolina (Stormx).</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7"/>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RM | Preenchimento</a:t>
            </a:r>
            <a:endParaRPr sz="2200"/>
          </a:p>
        </p:txBody>
      </p:sp>
      <p:sp>
        <p:nvSpPr>
          <p:cNvPr id="215" name="Google Shape;215;p7"/>
          <p:cNvSpPr/>
          <p:nvPr/>
        </p:nvSpPr>
        <p:spPr>
          <a:xfrm>
            <a:off x="457200" y="1097280"/>
            <a:ext cx="2468880" cy="155448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594360" y="118872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217" name="Google Shape;217;p7"/>
          <p:cNvSpPr txBox="1"/>
          <p:nvPr/>
        </p:nvSpPr>
        <p:spPr>
          <a:xfrm>
            <a:off x="1024128" y="1170432"/>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Exportar o plano</a:t>
            </a:r>
            <a:endParaRPr b="0" i="0" sz="1150" u="none" cap="none" strike="noStrike">
              <a:solidFill>
                <a:schemeClr val="dk1"/>
              </a:solidFill>
              <a:latin typeface="Arial"/>
              <a:ea typeface="Arial"/>
              <a:cs typeface="Arial"/>
              <a:sym typeface="Arial"/>
            </a:endParaRPr>
          </a:p>
        </p:txBody>
      </p:sp>
      <p:sp>
        <p:nvSpPr>
          <p:cNvPr id="218" name="Google Shape;218;p7"/>
          <p:cNvSpPr txBox="1"/>
          <p:nvPr/>
        </p:nvSpPr>
        <p:spPr>
          <a:xfrm>
            <a:off x="594360" y="1645920"/>
            <a:ext cx="21945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No Camphouse, opção "Export Stormx - feito por Alexandre Parma". O sistema gera um arquivo Excel.</a:t>
            </a:r>
            <a:endParaRPr b="0" i="0" sz="950" u="none" cap="none" strike="noStrike">
              <a:solidFill>
                <a:schemeClr val="dk1"/>
              </a:solidFill>
              <a:latin typeface="Arial"/>
              <a:ea typeface="Arial"/>
              <a:cs typeface="Arial"/>
              <a:sym typeface="Arial"/>
            </a:endParaRPr>
          </a:p>
        </p:txBody>
      </p:sp>
      <p:cxnSp>
        <p:nvCxnSpPr>
          <p:cNvPr id="219" name="Google Shape;219;p7"/>
          <p:cNvCxnSpPr/>
          <p:nvPr/>
        </p:nvCxnSpPr>
        <p:spPr>
          <a:xfrm>
            <a:off x="2953512" y="1874520"/>
            <a:ext cx="310896" cy="0"/>
          </a:xfrm>
          <a:prstGeom prst="straightConnector1">
            <a:avLst/>
          </a:prstGeom>
          <a:noFill/>
          <a:ln cap="flat" cmpd="sng" w="22225">
            <a:solidFill>
              <a:schemeClr val="dk2"/>
            </a:solidFill>
            <a:prstDash val="solid"/>
            <a:round/>
            <a:headEnd len="sm" w="sm" type="none"/>
            <a:tailEnd len="med" w="med" type="triangle"/>
          </a:ln>
        </p:spPr>
      </p:cxnSp>
      <p:sp>
        <p:nvSpPr>
          <p:cNvPr id="220" name="Google Shape;220;p7"/>
          <p:cNvSpPr/>
          <p:nvPr/>
        </p:nvSpPr>
        <p:spPr>
          <a:xfrm>
            <a:off x="3291840" y="1097280"/>
            <a:ext cx="2468880" cy="155448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3429000" y="118872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222" name="Google Shape;222;p7"/>
          <p:cNvSpPr txBox="1"/>
          <p:nvPr/>
        </p:nvSpPr>
        <p:spPr>
          <a:xfrm>
            <a:off x="3858768" y="1170432"/>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Colar na aba Plano - Camphouse</a:t>
            </a:r>
            <a:endParaRPr b="0" i="0" sz="1150" u="none" cap="none" strike="noStrike">
              <a:solidFill>
                <a:schemeClr val="dk1"/>
              </a:solidFill>
              <a:latin typeface="Arial"/>
              <a:ea typeface="Arial"/>
              <a:cs typeface="Arial"/>
              <a:sym typeface="Arial"/>
            </a:endParaRPr>
          </a:p>
        </p:txBody>
      </p:sp>
      <p:sp>
        <p:nvSpPr>
          <p:cNvPr id="223" name="Google Shape;223;p7"/>
          <p:cNvSpPr txBox="1"/>
          <p:nvPr/>
        </p:nvSpPr>
        <p:spPr>
          <a:xfrm>
            <a:off x="3429000" y="1645920"/>
            <a:ext cx="21945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Copiar todos os dados do arquivo e colar a partir da célula C3, com Colar Especial, Valores, para evitar conflitos de formatação.</a:t>
            </a:r>
            <a:endParaRPr b="0" i="0" sz="950" u="none" cap="none" strike="noStrike">
              <a:solidFill>
                <a:schemeClr val="dk1"/>
              </a:solidFill>
              <a:latin typeface="Arial"/>
              <a:ea typeface="Arial"/>
              <a:cs typeface="Arial"/>
              <a:sym typeface="Arial"/>
            </a:endParaRPr>
          </a:p>
        </p:txBody>
      </p:sp>
      <p:cxnSp>
        <p:nvCxnSpPr>
          <p:cNvPr id="224" name="Google Shape;224;p7"/>
          <p:cNvCxnSpPr/>
          <p:nvPr/>
        </p:nvCxnSpPr>
        <p:spPr>
          <a:xfrm>
            <a:off x="5788152" y="1874520"/>
            <a:ext cx="310896" cy="0"/>
          </a:xfrm>
          <a:prstGeom prst="straightConnector1">
            <a:avLst/>
          </a:prstGeom>
          <a:noFill/>
          <a:ln cap="flat" cmpd="sng" w="22225">
            <a:solidFill>
              <a:schemeClr val="dk2"/>
            </a:solidFill>
            <a:prstDash val="solid"/>
            <a:round/>
            <a:headEnd len="sm" w="sm" type="none"/>
            <a:tailEnd len="med" w="med" type="triangle"/>
          </a:ln>
        </p:spPr>
      </p:cxnSp>
      <p:sp>
        <p:nvSpPr>
          <p:cNvPr id="225" name="Google Shape;225;p7"/>
          <p:cNvSpPr/>
          <p:nvPr/>
        </p:nvSpPr>
        <p:spPr>
          <a:xfrm>
            <a:off x="6126480" y="1097280"/>
            <a:ext cx="2468880" cy="155448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6263640" y="118872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227" name="Google Shape;227;p7"/>
          <p:cNvSpPr txBox="1"/>
          <p:nvPr/>
        </p:nvSpPr>
        <p:spPr>
          <a:xfrm>
            <a:off x="6693408" y="1170432"/>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Abrir a aba do veículo</a:t>
            </a:r>
            <a:endParaRPr b="0" i="0" sz="1150" u="none" cap="none" strike="noStrike">
              <a:solidFill>
                <a:schemeClr val="dk1"/>
              </a:solidFill>
              <a:latin typeface="Arial"/>
              <a:ea typeface="Arial"/>
              <a:cs typeface="Arial"/>
              <a:sym typeface="Arial"/>
            </a:endParaRPr>
          </a:p>
        </p:txBody>
      </p:sp>
      <p:sp>
        <p:nvSpPr>
          <p:cNvPr id="228" name="Google Shape;228;p7"/>
          <p:cNvSpPr txBox="1"/>
          <p:nvPr/>
        </p:nvSpPr>
        <p:spPr>
          <a:xfrm>
            <a:off x="6263640" y="1645920"/>
            <a:ext cx="21945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Google, Programmatic, YouTube, Meta e TikTok, Pinterest, Snapchat e Twitter, </a:t>
            </a:r>
            <a:r>
              <a:rPr lang="en-US" sz="950">
                <a:solidFill>
                  <a:schemeClr val="dk2"/>
                </a:solidFill>
              </a:rPr>
              <a:t>Innovid</a:t>
            </a:r>
            <a:r>
              <a:rPr b="0" i="0" lang="en-US" sz="950" u="none" cap="none" strike="noStrike">
                <a:solidFill>
                  <a:schemeClr val="dk2"/>
                </a:solidFill>
                <a:latin typeface="Arial"/>
                <a:ea typeface="Arial"/>
                <a:cs typeface="Arial"/>
                <a:sym typeface="Arial"/>
              </a:rPr>
              <a:t>. Informar o número da linha na coluna Linha, para os dados virem automaticamente.</a:t>
            </a:r>
            <a:endParaRPr b="0" i="0" sz="950" u="none" cap="none" strike="noStrike">
              <a:solidFill>
                <a:schemeClr val="dk1"/>
              </a:solidFill>
              <a:latin typeface="Arial"/>
              <a:ea typeface="Arial"/>
              <a:cs typeface="Arial"/>
              <a:sym typeface="Arial"/>
            </a:endParaRPr>
          </a:p>
        </p:txBody>
      </p:sp>
      <p:sp>
        <p:nvSpPr>
          <p:cNvPr id="229" name="Google Shape;229;p7"/>
          <p:cNvSpPr txBox="1"/>
          <p:nvPr/>
        </p:nvSpPr>
        <p:spPr>
          <a:xfrm>
            <a:off x="457200" y="2761488"/>
            <a:ext cx="82296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Alguns campos não são preenchidos automaticamente e exigem atenção manual</a:t>
            </a:r>
            <a:endParaRPr b="0" i="0" sz="1200" u="none" cap="none" strike="noStrike">
              <a:solidFill>
                <a:schemeClr val="dk1"/>
              </a:solidFill>
              <a:latin typeface="Arial"/>
              <a:ea typeface="Arial"/>
              <a:cs typeface="Arial"/>
              <a:sym typeface="Arial"/>
            </a:endParaRPr>
          </a:p>
        </p:txBody>
      </p:sp>
      <p:sp>
        <p:nvSpPr>
          <p:cNvPr id="230" name="Google Shape;230;p7"/>
          <p:cNvSpPr/>
          <p:nvPr/>
        </p:nvSpPr>
        <p:spPr>
          <a:xfrm>
            <a:off x="457200" y="3063240"/>
            <a:ext cx="1920240" cy="640080"/>
          </a:xfrm>
          <a:prstGeom prst="roundRect">
            <a:avLst>
              <a:gd fmla="val 14286"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Roxo: dropdown, obrigatório</a:t>
            </a:r>
            <a:endParaRPr b="0" i="0" sz="950" u="none" cap="none" strike="noStrike">
              <a:solidFill>
                <a:schemeClr val="dk1"/>
              </a:solidFill>
              <a:latin typeface="Arial"/>
              <a:ea typeface="Arial"/>
              <a:cs typeface="Arial"/>
              <a:sym typeface="Arial"/>
            </a:endParaRPr>
          </a:p>
        </p:txBody>
      </p:sp>
      <p:sp>
        <p:nvSpPr>
          <p:cNvPr id="231" name="Google Shape;231;p7"/>
          <p:cNvSpPr/>
          <p:nvPr/>
        </p:nvSpPr>
        <p:spPr>
          <a:xfrm>
            <a:off x="2560320" y="3063240"/>
            <a:ext cx="1920240" cy="640080"/>
          </a:xfrm>
          <a:prstGeom prst="roundRect">
            <a:avLst>
              <a:gd fmla="val 14286" name="adj"/>
            </a:avLst>
          </a:prstGeom>
          <a:solidFill>
            <a:schemeClr val="accent4"/>
          </a:solidFill>
          <a:ln cap="flat" cmpd="sng" w="9525">
            <a:solidFill>
              <a:schemeClr val="accent4"/>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Amarelo: livre, sem caracteres especiais</a:t>
            </a:r>
            <a:endParaRPr b="0" i="0" sz="950" u="none" cap="none" strike="noStrike">
              <a:solidFill>
                <a:schemeClr val="dk1"/>
              </a:solidFill>
              <a:latin typeface="Arial"/>
              <a:ea typeface="Arial"/>
              <a:cs typeface="Arial"/>
              <a:sym typeface="Arial"/>
            </a:endParaRPr>
          </a:p>
        </p:txBody>
      </p:sp>
      <p:sp>
        <p:nvSpPr>
          <p:cNvPr id="232" name="Google Shape;232;p7"/>
          <p:cNvSpPr/>
          <p:nvPr/>
        </p:nvSpPr>
        <p:spPr>
          <a:xfrm>
            <a:off x="4663440" y="3063240"/>
            <a:ext cx="1920240" cy="640080"/>
          </a:xfrm>
          <a:prstGeom prst="roundRect">
            <a:avLst>
              <a:gd fmla="val 14286" name="adj"/>
            </a:avLst>
          </a:prstGeom>
          <a:solidFill>
            <a:schemeClr val="accent5"/>
          </a:solidFill>
          <a:ln cap="flat" cmpd="sng" w="9525">
            <a:solidFill>
              <a:schemeClr val="accent5"/>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Azul claro: automático, não editar</a:t>
            </a:r>
            <a:endParaRPr b="0" i="0" sz="950" u="none" cap="none" strike="noStrike">
              <a:solidFill>
                <a:schemeClr val="dk1"/>
              </a:solidFill>
              <a:latin typeface="Arial"/>
              <a:ea typeface="Arial"/>
              <a:cs typeface="Arial"/>
              <a:sym typeface="Arial"/>
            </a:endParaRPr>
          </a:p>
        </p:txBody>
      </p:sp>
      <p:sp>
        <p:nvSpPr>
          <p:cNvPr id="233" name="Google Shape;233;p7"/>
          <p:cNvSpPr/>
          <p:nvPr/>
        </p:nvSpPr>
        <p:spPr>
          <a:xfrm>
            <a:off x="6766560" y="3063240"/>
            <a:ext cx="1920240" cy="640080"/>
          </a:xfrm>
          <a:prstGeom prst="roundRect">
            <a:avLst>
              <a:gd fmla="val 14286" name="adj"/>
            </a:avLst>
          </a:prstGeom>
          <a:solidFill>
            <a:schemeClr val="accent6"/>
          </a:solidFill>
          <a:ln cap="flat" cmpd="sng" w="9525">
            <a:solidFill>
              <a:schemeClr val="accent6"/>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Roxo claro: AdOps (taxonomia, ID Stormx ou </a:t>
            </a:r>
            <a:r>
              <a:rPr b="1" lang="en-US" sz="950">
                <a:solidFill>
                  <a:schemeClr val="dk1"/>
                </a:solidFill>
              </a:rPr>
              <a:t>Innovid</a:t>
            </a:r>
            <a:r>
              <a:rPr b="1" i="0" lang="en-US" sz="950" u="none" cap="none" strike="noStrike">
                <a:solidFill>
                  <a:schemeClr val="dk1"/>
                </a:solidFill>
                <a:latin typeface="Arial"/>
                <a:ea typeface="Arial"/>
                <a:cs typeface="Arial"/>
                <a:sym typeface="Arial"/>
              </a:rPr>
              <a:t>, URL e contadores)</a:t>
            </a:r>
            <a:endParaRPr b="0" i="0" sz="950" u="none" cap="none" strike="noStrike">
              <a:solidFill>
                <a:schemeClr val="dk1"/>
              </a:solidFill>
              <a:latin typeface="Arial"/>
              <a:ea typeface="Arial"/>
              <a:cs typeface="Arial"/>
              <a:sym typeface="Arial"/>
            </a:endParaRPr>
          </a:p>
        </p:txBody>
      </p:sp>
      <p:sp>
        <p:nvSpPr>
          <p:cNvPr id="234" name="Google Shape;234;p7"/>
          <p:cNvSpPr/>
          <p:nvPr/>
        </p:nvSpPr>
        <p:spPr>
          <a:xfrm>
            <a:off x="457200" y="3840480"/>
            <a:ext cx="5394960" cy="822960"/>
          </a:xfrm>
          <a:prstGeom prst="roundRect">
            <a:avLst>
              <a:gd fmla="val 11111"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txBox="1"/>
          <p:nvPr/>
        </p:nvSpPr>
        <p:spPr>
          <a:xfrm>
            <a:off x="594360" y="3840480"/>
            <a:ext cx="51206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Novas linhas no Camphouse</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Exportar de novo o plano, copiar só as novas linhas e colar logo abaixo da última linha já preenchida, com Colar Especial, Valores.</a:t>
            </a:r>
            <a:endParaRPr b="0" i="0" sz="1100" u="none" cap="none" strike="noStrike">
              <a:solidFill>
                <a:schemeClr val="dk1"/>
              </a:solidFill>
              <a:latin typeface="Arial"/>
              <a:ea typeface="Arial"/>
              <a:cs typeface="Arial"/>
              <a:sym typeface="Arial"/>
            </a:endParaRPr>
          </a:p>
        </p:txBody>
      </p:sp>
      <p:sp>
        <p:nvSpPr>
          <p:cNvPr id="236" name="Google Shape;236;p7"/>
          <p:cNvSpPr/>
          <p:nvPr/>
        </p:nvSpPr>
        <p:spPr>
          <a:xfrm>
            <a:off x="6035040" y="3840480"/>
            <a:ext cx="2651760" cy="822960"/>
          </a:xfrm>
          <a:prstGeom prst="roundRect">
            <a:avLst>
              <a:gd fmla="val 1111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txBox="1"/>
          <p:nvPr/>
        </p:nvSpPr>
        <p:spPr>
          <a:xfrm>
            <a:off x="6172200" y="3840480"/>
            <a:ext cx="23774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RM incompleta: o AdOps está autorizado a recusar seguir com a demanda.</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8"/>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RM | Status e prorrogação</a:t>
            </a:r>
            <a:endParaRPr sz="2200"/>
          </a:p>
        </p:txBody>
      </p:sp>
      <p:sp>
        <p:nvSpPr>
          <p:cNvPr id="244" name="Google Shape;244;p8"/>
          <p:cNvSpPr/>
          <p:nvPr/>
        </p:nvSpPr>
        <p:spPr>
          <a:xfrm>
            <a:off x="457200" y="1097280"/>
            <a:ext cx="1920240" cy="3520440"/>
          </a:xfrm>
          <a:prstGeom prst="roundRect">
            <a:avLst>
              <a:gd fmla="val 476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txBox="1"/>
          <p:nvPr/>
        </p:nvSpPr>
        <p:spPr>
          <a:xfrm>
            <a:off x="594360" y="1207008"/>
            <a:ext cx="16459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Novo pedido</a:t>
            </a:r>
            <a:endParaRPr b="0" i="0" sz="1300" u="none" cap="none" strike="noStrike">
              <a:solidFill>
                <a:schemeClr val="dk1"/>
              </a:solidFill>
              <a:latin typeface="Arial"/>
              <a:ea typeface="Arial"/>
              <a:cs typeface="Arial"/>
              <a:sym typeface="Arial"/>
            </a:endParaRPr>
          </a:p>
        </p:txBody>
      </p:sp>
      <p:sp>
        <p:nvSpPr>
          <p:cNvPr id="246" name="Google Shape;246;p8"/>
          <p:cNvSpPr txBox="1"/>
          <p:nvPr/>
        </p:nvSpPr>
        <p:spPr>
          <a:xfrm>
            <a:off x="594360" y="178308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Status na RM</a:t>
            </a:r>
            <a:endParaRPr b="0" i="0" sz="1000" u="none" cap="none" strike="noStrike">
              <a:solidFill>
                <a:schemeClr val="dk1"/>
              </a:solidFill>
              <a:latin typeface="Arial"/>
              <a:ea typeface="Arial"/>
              <a:cs typeface="Arial"/>
              <a:sym typeface="Arial"/>
            </a:endParaRPr>
          </a:p>
        </p:txBody>
      </p:sp>
      <p:sp>
        <p:nvSpPr>
          <p:cNvPr id="247" name="Google Shape;247;p8"/>
          <p:cNvSpPr/>
          <p:nvPr/>
        </p:nvSpPr>
        <p:spPr>
          <a:xfrm>
            <a:off x="594360" y="2029968"/>
            <a:ext cx="1645920" cy="365760"/>
          </a:xfrm>
          <a:prstGeom prst="roundRect">
            <a:avLst>
              <a:gd fmla="val 25000"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Solicitado para Stormx</a:t>
            </a:r>
            <a:endParaRPr b="0" i="0" sz="1050" u="none" cap="none" strike="noStrike">
              <a:solidFill>
                <a:schemeClr val="dk1"/>
              </a:solidFill>
              <a:latin typeface="Arial"/>
              <a:ea typeface="Arial"/>
              <a:cs typeface="Arial"/>
              <a:sym typeface="Arial"/>
            </a:endParaRPr>
          </a:p>
        </p:txBody>
      </p:sp>
      <p:sp>
        <p:nvSpPr>
          <p:cNvPr id="248" name="Google Shape;248;p8"/>
          <p:cNvSpPr txBox="1"/>
          <p:nvPr/>
        </p:nvSpPr>
        <p:spPr>
          <a:xfrm>
            <a:off x="594360" y="260604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Ações</a:t>
            </a:r>
            <a:endParaRPr b="0" i="0" sz="1000" u="none" cap="none" strike="noStrike">
              <a:solidFill>
                <a:schemeClr val="dk1"/>
              </a:solidFill>
              <a:latin typeface="Arial"/>
              <a:ea typeface="Arial"/>
              <a:cs typeface="Arial"/>
              <a:sym typeface="Arial"/>
            </a:endParaRPr>
          </a:p>
        </p:txBody>
      </p:sp>
      <p:sp>
        <p:nvSpPr>
          <p:cNvPr id="249" name="Google Shape;249;p8"/>
          <p:cNvSpPr txBox="1"/>
          <p:nvPr/>
        </p:nvSpPr>
        <p:spPr>
          <a:xfrm>
            <a:off x="594360" y="2852928"/>
            <a:ext cx="164592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Preencher todas as colunas da linha</a:t>
            </a:r>
            <a:endParaRPr b="0" i="0" sz="105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Criar a task no Jira e incluir o link da RM</a:t>
            </a:r>
            <a:endParaRPr b="0" i="0" sz="1050" u="none" cap="none" strike="noStrike">
              <a:solidFill>
                <a:schemeClr val="dk1"/>
              </a:solidFill>
              <a:latin typeface="Arial"/>
              <a:ea typeface="Arial"/>
              <a:cs typeface="Arial"/>
              <a:sym typeface="Arial"/>
            </a:endParaRPr>
          </a:p>
        </p:txBody>
      </p:sp>
      <p:sp>
        <p:nvSpPr>
          <p:cNvPr id="250" name="Google Shape;250;p8"/>
          <p:cNvSpPr/>
          <p:nvPr/>
        </p:nvSpPr>
        <p:spPr>
          <a:xfrm>
            <a:off x="2560320" y="1097280"/>
            <a:ext cx="1920240" cy="3520440"/>
          </a:xfrm>
          <a:prstGeom prst="roundRect">
            <a:avLst>
              <a:gd fmla="val 476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txBox="1"/>
          <p:nvPr/>
        </p:nvSpPr>
        <p:spPr>
          <a:xfrm>
            <a:off x="2697480" y="1207008"/>
            <a:ext cx="16459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Pedido de alteração</a:t>
            </a:r>
            <a:endParaRPr b="0" i="0" sz="1300" u="none" cap="none" strike="noStrike">
              <a:solidFill>
                <a:schemeClr val="dk1"/>
              </a:solidFill>
              <a:latin typeface="Arial"/>
              <a:ea typeface="Arial"/>
              <a:cs typeface="Arial"/>
              <a:sym typeface="Arial"/>
            </a:endParaRPr>
          </a:p>
        </p:txBody>
      </p:sp>
      <p:sp>
        <p:nvSpPr>
          <p:cNvPr id="252" name="Google Shape;252;p8"/>
          <p:cNvSpPr txBox="1"/>
          <p:nvPr/>
        </p:nvSpPr>
        <p:spPr>
          <a:xfrm>
            <a:off x="2697480" y="178308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Status na RM</a:t>
            </a:r>
            <a:endParaRPr b="0" i="0" sz="1000" u="none" cap="none" strike="noStrike">
              <a:solidFill>
                <a:schemeClr val="dk1"/>
              </a:solidFill>
              <a:latin typeface="Arial"/>
              <a:ea typeface="Arial"/>
              <a:cs typeface="Arial"/>
              <a:sym typeface="Arial"/>
            </a:endParaRPr>
          </a:p>
        </p:txBody>
      </p:sp>
      <p:sp>
        <p:nvSpPr>
          <p:cNvPr id="253" name="Google Shape;253;p8"/>
          <p:cNvSpPr/>
          <p:nvPr/>
        </p:nvSpPr>
        <p:spPr>
          <a:xfrm>
            <a:off x="2697480" y="2029968"/>
            <a:ext cx="1645920" cy="365760"/>
          </a:xfrm>
          <a:prstGeom prst="roundRect">
            <a:avLst>
              <a:gd fmla="val 25000"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Alterar</a:t>
            </a:r>
            <a:endParaRPr b="0" i="0" sz="1050" u="none" cap="none" strike="noStrike">
              <a:solidFill>
                <a:schemeClr val="dk1"/>
              </a:solidFill>
              <a:latin typeface="Arial"/>
              <a:ea typeface="Arial"/>
              <a:cs typeface="Arial"/>
              <a:sym typeface="Arial"/>
            </a:endParaRPr>
          </a:p>
        </p:txBody>
      </p:sp>
      <p:sp>
        <p:nvSpPr>
          <p:cNvPr id="254" name="Google Shape;254;p8"/>
          <p:cNvSpPr txBox="1"/>
          <p:nvPr/>
        </p:nvSpPr>
        <p:spPr>
          <a:xfrm>
            <a:off x="2697480" y="260604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Ações</a:t>
            </a:r>
            <a:endParaRPr b="0" i="0" sz="1000" u="none" cap="none" strike="noStrike">
              <a:solidFill>
                <a:schemeClr val="dk1"/>
              </a:solidFill>
              <a:latin typeface="Arial"/>
              <a:ea typeface="Arial"/>
              <a:cs typeface="Arial"/>
              <a:sym typeface="Arial"/>
            </a:endParaRPr>
          </a:p>
        </p:txBody>
      </p:sp>
      <p:sp>
        <p:nvSpPr>
          <p:cNvPr id="255" name="Google Shape;255;p8"/>
          <p:cNvSpPr txBox="1"/>
          <p:nvPr/>
        </p:nvSpPr>
        <p:spPr>
          <a:xfrm>
            <a:off x="2697480" y="2852928"/>
            <a:ext cx="164592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Destacar em amarelo as células alteradas</a:t>
            </a:r>
            <a:endParaRPr b="0" i="0" sz="105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Sinalizar na task do Jira qual linha e coluna foi alterada</a:t>
            </a:r>
            <a:endParaRPr b="0" i="0" sz="1050" u="none" cap="none" strike="noStrike">
              <a:solidFill>
                <a:schemeClr val="dk1"/>
              </a:solidFill>
              <a:latin typeface="Arial"/>
              <a:ea typeface="Arial"/>
              <a:cs typeface="Arial"/>
              <a:sym typeface="Arial"/>
            </a:endParaRPr>
          </a:p>
        </p:txBody>
      </p:sp>
      <p:sp>
        <p:nvSpPr>
          <p:cNvPr id="256" name="Google Shape;256;p8"/>
          <p:cNvSpPr/>
          <p:nvPr/>
        </p:nvSpPr>
        <p:spPr>
          <a:xfrm>
            <a:off x="4663440" y="1097280"/>
            <a:ext cx="1920240" cy="3520440"/>
          </a:xfrm>
          <a:prstGeom prst="roundRect">
            <a:avLst>
              <a:gd fmla="val 476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txBox="1"/>
          <p:nvPr/>
        </p:nvSpPr>
        <p:spPr>
          <a:xfrm>
            <a:off x="4800600" y="1207008"/>
            <a:ext cx="16459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Cancelamento</a:t>
            </a:r>
            <a:endParaRPr b="0" i="0" sz="1300" u="none" cap="none" strike="noStrike">
              <a:solidFill>
                <a:schemeClr val="dk1"/>
              </a:solidFill>
              <a:latin typeface="Arial"/>
              <a:ea typeface="Arial"/>
              <a:cs typeface="Arial"/>
              <a:sym typeface="Arial"/>
            </a:endParaRPr>
          </a:p>
        </p:txBody>
      </p:sp>
      <p:sp>
        <p:nvSpPr>
          <p:cNvPr id="258" name="Google Shape;258;p8"/>
          <p:cNvSpPr txBox="1"/>
          <p:nvPr/>
        </p:nvSpPr>
        <p:spPr>
          <a:xfrm>
            <a:off x="4800600" y="178308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Status na RM</a:t>
            </a:r>
            <a:endParaRPr b="0" i="0" sz="1000" u="none" cap="none" strike="noStrike">
              <a:solidFill>
                <a:schemeClr val="dk1"/>
              </a:solidFill>
              <a:latin typeface="Arial"/>
              <a:ea typeface="Arial"/>
              <a:cs typeface="Arial"/>
              <a:sym typeface="Arial"/>
            </a:endParaRPr>
          </a:p>
        </p:txBody>
      </p:sp>
      <p:sp>
        <p:nvSpPr>
          <p:cNvPr id="259" name="Google Shape;259;p8"/>
          <p:cNvSpPr/>
          <p:nvPr/>
        </p:nvSpPr>
        <p:spPr>
          <a:xfrm>
            <a:off x="4800600" y="2029968"/>
            <a:ext cx="1645920" cy="365760"/>
          </a:xfrm>
          <a:prstGeom prst="roundRect">
            <a:avLst>
              <a:gd fmla="val 25000"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Cancelar</a:t>
            </a:r>
            <a:endParaRPr b="0" i="0" sz="1050" u="none" cap="none" strike="noStrike">
              <a:solidFill>
                <a:schemeClr val="dk1"/>
              </a:solidFill>
              <a:latin typeface="Arial"/>
              <a:ea typeface="Arial"/>
              <a:cs typeface="Arial"/>
              <a:sym typeface="Arial"/>
            </a:endParaRPr>
          </a:p>
        </p:txBody>
      </p:sp>
      <p:sp>
        <p:nvSpPr>
          <p:cNvPr id="260" name="Google Shape;260;p8"/>
          <p:cNvSpPr txBox="1"/>
          <p:nvPr/>
        </p:nvSpPr>
        <p:spPr>
          <a:xfrm>
            <a:off x="4800600" y="260604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Ações</a:t>
            </a:r>
            <a:endParaRPr b="0" i="0" sz="1000" u="none" cap="none" strike="noStrike">
              <a:solidFill>
                <a:schemeClr val="dk1"/>
              </a:solidFill>
              <a:latin typeface="Arial"/>
              <a:ea typeface="Arial"/>
              <a:cs typeface="Arial"/>
              <a:sym typeface="Arial"/>
            </a:endParaRPr>
          </a:p>
        </p:txBody>
      </p:sp>
      <p:sp>
        <p:nvSpPr>
          <p:cNvPr id="261" name="Google Shape;261;p8"/>
          <p:cNvSpPr txBox="1"/>
          <p:nvPr/>
        </p:nvSpPr>
        <p:spPr>
          <a:xfrm>
            <a:off x="4800600" y="2852928"/>
            <a:ext cx="164592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Informar na task do Jira qual linha deve ser cancelada</a:t>
            </a:r>
            <a:endParaRPr b="0" i="0" sz="1050" u="none" cap="none" strike="noStrike">
              <a:solidFill>
                <a:schemeClr val="dk1"/>
              </a:solidFill>
              <a:latin typeface="Arial"/>
              <a:ea typeface="Arial"/>
              <a:cs typeface="Arial"/>
              <a:sym typeface="Arial"/>
            </a:endParaRPr>
          </a:p>
        </p:txBody>
      </p:sp>
      <p:sp>
        <p:nvSpPr>
          <p:cNvPr id="262" name="Google Shape;262;p8"/>
          <p:cNvSpPr/>
          <p:nvPr/>
        </p:nvSpPr>
        <p:spPr>
          <a:xfrm>
            <a:off x="6766560" y="1097280"/>
            <a:ext cx="1920240" cy="3520440"/>
          </a:xfrm>
          <a:prstGeom prst="roundRect">
            <a:avLst>
              <a:gd fmla="val 476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txBox="1"/>
          <p:nvPr/>
        </p:nvSpPr>
        <p:spPr>
          <a:xfrm>
            <a:off x="6903720" y="1207008"/>
            <a:ext cx="16459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Prorrogação da data de implementação</a:t>
            </a:r>
            <a:endParaRPr b="0" i="0" sz="1300" u="none" cap="none" strike="noStrike">
              <a:solidFill>
                <a:schemeClr val="dk1"/>
              </a:solidFill>
              <a:latin typeface="Arial"/>
              <a:ea typeface="Arial"/>
              <a:cs typeface="Arial"/>
              <a:sym typeface="Arial"/>
            </a:endParaRPr>
          </a:p>
        </p:txBody>
      </p:sp>
      <p:sp>
        <p:nvSpPr>
          <p:cNvPr id="264" name="Google Shape;264;p8"/>
          <p:cNvSpPr txBox="1"/>
          <p:nvPr/>
        </p:nvSpPr>
        <p:spPr>
          <a:xfrm>
            <a:off x="6903720" y="178308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Status na RM</a:t>
            </a:r>
            <a:endParaRPr b="0" i="0" sz="1000" u="none" cap="none" strike="noStrike">
              <a:solidFill>
                <a:schemeClr val="dk1"/>
              </a:solidFill>
              <a:latin typeface="Arial"/>
              <a:ea typeface="Arial"/>
              <a:cs typeface="Arial"/>
              <a:sym typeface="Arial"/>
            </a:endParaRPr>
          </a:p>
        </p:txBody>
      </p:sp>
      <p:sp>
        <p:nvSpPr>
          <p:cNvPr id="265" name="Google Shape;265;p8"/>
          <p:cNvSpPr/>
          <p:nvPr/>
        </p:nvSpPr>
        <p:spPr>
          <a:xfrm>
            <a:off x="6903720" y="2029968"/>
            <a:ext cx="1645920" cy="365760"/>
          </a:xfrm>
          <a:prstGeom prst="roundRect">
            <a:avLst>
              <a:gd fmla="val 25000"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Prorrogado</a:t>
            </a:r>
            <a:endParaRPr b="0" i="0" sz="1050" u="none" cap="none" strike="noStrike">
              <a:solidFill>
                <a:schemeClr val="dk1"/>
              </a:solidFill>
              <a:latin typeface="Arial"/>
              <a:ea typeface="Arial"/>
              <a:cs typeface="Arial"/>
              <a:sym typeface="Arial"/>
            </a:endParaRPr>
          </a:p>
        </p:txBody>
      </p:sp>
      <p:sp>
        <p:nvSpPr>
          <p:cNvPr id="266" name="Google Shape;266;p8"/>
          <p:cNvSpPr txBox="1"/>
          <p:nvPr/>
        </p:nvSpPr>
        <p:spPr>
          <a:xfrm>
            <a:off x="6903720" y="260604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Ações</a:t>
            </a:r>
            <a:endParaRPr b="0" i="0" sz="1000" u="none" cap="none" strike="noStrike">
              <a:solidFill>
                <a:schemeClr val="dk1"/>
              </a:solidFill>
              <a:latin typeface="Arial"/>
              <a:ea typeface="Arial"/>
              <a:cs typeface="Arial"/>
              <a:sym typeface="Arial"/>
            </a:endParaRPr>
          </a:p>
        </p:txBody>
      </p:sp>
      <p:sp>
        <p:nvSpPr>
          <p:cNvPr id="267" name="Google Shape;267;p8"/>
          <p:cNvSpPr txBox="1"/>
          <p:nvPr/>
        </p:nvSpPr>
        <p:spPr>
          <a:xfrm>
            <a:off x="6903720" y="2852928"/>
            <a:ext cx="164592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Atualizar a data de início, em amarelo</a:t>
            </a:r>
            <a:endParaRPr b="0" i="0" sz="105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Sinalizar na task do Jira qual linha sofreu prorrogação</a:t>
            </a:r>
            <a:endParaRPr b="0" i="0" sz="105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chemeClr val="dk1"/>
              </a:buClr>
              <a:buSzPts val="1050"/>
              <a:buFont typeface="Arial"/>
              <a:buChar char="•"/>
            </a:pPr>
            <a:r>
              <a:rPr b="0" i="0" lang="en-US" sz="1050" u="none" cap="none" strike="noStrike">
                <a:solidFill>
                  <a:schemeClr val="dk1"/>
                </a:solidFill>
                <a:latin typeface="Arial"/>
                <a:ea typeface="Arial"/>
                <a:cs typeface="Arial"/>
                <a:sym typeface="Arial"/>
              </a:rPr>
              <a:t>A Stormx faz o QA da linha após a implementação</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9"/>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Jira e SLA</a:t>
            </a:r>
            <a:endParaRPr sz="2200"/>
          </a:p>
        </p:txBody>
      </p:sp>
      <p:sp>
        <p:nvSpPr>
          <p:cNvPr id="274" name="Google Shape;274;p9"/>
          <p:cNvSpPr/>
          <p:nvPr/>
        </p:nvSpPr>
        <p:spPr>
          <a:xfrm>
            <a:off x="457200" y="1097280"/>
            <a:ext cx="4114800" cy="3520440"/>
          </a:xfrm>
          <a:prstGeom prst="roundRect">
            <a:avLst>
              <a:gd fmla="val 259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txBox="1"/>
          <p:nvPr/>
        </p:nvSpPr>
        <p:spPr>
          <a:xfrm>
            <a:off x="640080" y="118872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Jira</a:t>
            </a:r>
            <a:endParaRPr b="0" i="0" sz="1300" u="none" cap="none" strike="noStrike">
              <a:solidFill>
                <a:schemeClr val="dk1"/>
              </a:solidFill>
              <a:latin typeface="Arial"/>
              <a:ea typeface="Arial"/>
              <a:cs typeface="Arial"/>
              <a:sym typeface="Arial"/>
            </a:endParaRPr>
          </a:p>
        </p:txBody>
      </p:sp>
      <p:sp>
        <p:nvSpPr>
          <p:cNvPr id="276" name="Google Shape;276;p9"/>
          <p:cNvSpPr/>
          <p:nvPr/>
        </p:nvSpPr>
        <p:spPr>
          <a:xfrm>
            <a:off x="640080" y="1554480"/>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277" name="Google Shape;277;p9"/>
          <p:cNvSpPr txBox="1"/>
          <p:nvPr/>
        </p:nvSpPr>
        <p:spPr>
          <a:xfrm>
            <a:off x="1051560" y="1536192"/>
            <a:ext cx="33832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Mídia cria a task</a:t>
            </a:r>
            <a:endParaRPr b="0" i="0" sz="1100" u="none" cap="none" strike="noStrike">
              <a:solidFill>
                <a:schemeClr val="dk1"/>
              </a:solidFill>
              <a:latin typeface="Arial"/>
              <a:ea typeface="Arial"/>
              <a:cs typeface="Arial"/>
              <a:sym typeface="Arial"/>
            </a:endParaRPr>
          </a:p>
        </p:txBody>
      </p:sp>
      <p:sp>
        <p:nvSpPr>
          <p:cNvPr id="278" name="Google Shape;278;p9"/>
          <p:cNvSpPr txBox="1"/>
          <p:nvPr/>
        </p:nvSpPr>
        <p:spPr>
          <a:xfrm>
            <a:off x="1051560" y="1783080"/>
            <a:ext cx="33832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Com todas as informações da solicitação e o link da RM (com o plano de mídia integrado) na descrição. Se a implementação for via tag, enviar também as peças, por link de drive, dropbox ou wetransfer.</a:t>
            </a:r>
            <a:endParaRPr b="0" i="0" sz="950" u="none" cap="none" strike="noStrike">
              <a:solidFill>
                <a:schemeClr val="dk1"/>
              </a:solidFill>
              <a:latin typeface="Arial"/>
              <a:ea typeface="Arial"/>
              <a:cs typeface="Arial"/>
              <a:sym typeface="Arial"/>
            </a:endParaRPr>
          </a:p>
        </p:txBody>
      </p:sp>
      <p:sp>
        <p:nvSpPr>
          <p:cNvPr id="279" name="Google Shape;279;p9"/>
          <p:cNvSpPr/>
          <p:nvPr/>
        </p:nvSpPr>
        <p:spPr>
          <a:xfrm>
            <a:off x="640080" y="2578608"/>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280" name="Google Shape;280;p9"/>
          <p:cNvSpPr txBox="1"/>
          <p:nvPr/>
        </p:nvSpPr>
        <p:spPr>
          <a:xfrm>
            <a:off x="1051560" y="2560320"/>
            <a:ext cx="33832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Task pai da campanha</a:t>
            </a:r>
            <a:endParaRPr b="0" i="0" sz="1100" u="none" cap="none" strike="noStrike">
              <a:solidFill>
                <a:schemeClr val="dk1"/>
              </a:solidFill>
              <a:latin typeface="Arial"/>
              <a:ea typeface="Arial"/>
              <a:cs typeface="Arial"/>
              <a:sym typeface="Arial"/>
            </a:endParaRPr>
          </a:p>
        </p:txBody>
      </p:sp>
      <p:sp>
        <p:nvSpPr>
          <p:cNvPr id="281" name="Google Shape;281;p9"/>
          <p:cNvSpPr txBox="1"/>
          <p:nvPr/>
        </p:nvSpPr>
        <p:spPr>
          <a:xfrm>
            <a:off x="1051560" y="2807208"/>
            <a:ext cx="33832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Fica Em andamento até o encerramento. Novas solicitações, alterações, cancelamentos e prorrogações são sinalizados nela e atualizados na RM.</a:t>
            </a:r>
            <a:endParaRPr b="0" i="0" sz="950" u="none" cap="none" strike="noStrike">
              <a:solidFill>
                <a:schemeClr val="dk1"/>
              </a:solidFill>
              <a:latin typeface="Arial"/>
              <a:ea typeface="Arial"/>
              <a:cs typeface="Arial"/>
              <a:sym typeface="Arial"/>
            </a:endParaRPr>
          </a:p>
        </p:txBody>
      </p:sp>
      <p:sp>
        <p:nvSpPr>
          <p:cNvPr id="282" name="Google Shape;282;p9"/>
          <p:cNvSpPr/>
          <p:nvPr/>
        </p:nvSpPr>
        <p:spPr>
          <a:xfrm>
            <a:off x="640080" y="3602736"/>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283" name="Google Shape;283;p9"/>
          <p:cNvSpPr txBox="1"/>
          <p:nvPr/>
        </p:nvSpPr>
        <p:spPr>
          <a:xfrm>
            <a:off x="1051560" y="3584448"/>
            <a:ext cx="33832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Stormx cria as subtarefas</a:t>
            </a:r>
            <a:endParaRPr b="0" i="0" sz="1100" u="none" cap="none" strike="noStrike">
              <a:solidFill>
                <a:schemeClr val="dk1"/>
              </a:solidFill>
              <a:latin typeface="Arial"/>
              <a:ea typeface="Arial"/>
              <a:cs typeface="Arial"/>
              <a:sym typeface="Arial"/>
            </a:endParaRPr>
          </a:p>
        </p:txBody>
      </p:sp>
      <p:sp>
        <p:nvSpPr>
          <p:cNvPr id="284" name="Google Shape;284;p9"/>
          <p:cNvSpPr txBox="1"/>
          <p:nvPr/>
        </p:nvSpPr>
        <p:spPr>
          <a:xfrm>
            <a:off x="1051560" y="3831336"/>
            <a:ext cx="33832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Internas, para controle das demandas, desenvolvimento das taxonomias e QA, a validação após a implementação feita pelos mídias da Initiative.</a:t>
            </a:r>
            <a:endParaRPr b="0" i="0" sz="950" u="none" cap="none" strike="noStrike">
              <a:solidFill>
                <a:schemeClr val="dk1"/>
              </a:solidFill>
              <a:latin typeface="Arial"/>
              <a:ea typeface="Arial"/>
              <a:cs typeface="Arial"/>
              <a:sym typeface="Arial"/>
            </a:endParaRPr>
          </a:p>
        </p:txBody>
      </p:sp>
      <p:sp>
        <p:nvSpPr>
          <p:cNvPr id="285" name="Google Shape;285;p9"/>
          <p:cNvSpPr/>
          <p:nvPr/>
        </p:nvSpPr>
        <p:spPr>
          <a:xfrm>
            <a:off x="4754880" y="1097280"/>
            <a:ext cx="3931920" cy="3520440"/>
          </a:xfrm>
          <a:prstGeom prst="roundRect">
            <a:avLst>
              <a:gd fmla="val 259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txBox="1"/>
          <p:nvPr/>
        </p:nvSpPr>
        <p:spPr>
          <a:xfrm>
            <a:off x="4937760" y="1188720"/>
            <a:ext cx="35661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SLA</a:t>
            </a:r>
            <a:endParaRPr b="0" i="0" sz="1300" u="none" cap="none" strike="noStrike">
              <a:solidFill>
                <a:schemeClr val="dk1"/>
              </a:solidFill>
              <a:latin typeface="Arial"/>
              <a:ea typeface="Arial"/>
              <a:cs typeface="Arial"/>
              <a:sym typeface="Arial"/>
            </a:endParaRPr>
          </a:p>
        </p:txBody>
      </p:sp>
      <p:sp>
        <p:nvSpPr>
          <p:cNvPr id="287" name="Google Shape;287;p9"/>
          <p:cNvSpPr txBox="1"/>
          <p:nvPr/>
        </p:nvSpPr>
        <p:spPr>
          <a:xfrm>
            <a:off x="4937760" y="1481328"/>
            <a:ext cx="3566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O atendimento e a operação funcionam das 9h30 às 18h30, de segunda a sexta</a:t>
            </a:r>
            <a:endParaRPr b="0" i="0" sz="1000" u="none" cap="none" strike="noStrike">
              <a:solidFill>
                <a:schemeClr val="dk1"/>
              </a:solidFill>
              <a:latin typeface="Arial"/>
              <a:ea typeface="Arial"/>
              <a:cs typeface="Arial"/>
              <a:sym typeface="Arial"/>
            </a:endParaRPr>
          </a:p>
        </p:txBody>
      </p:sp>
      <p:sp>
        <p:nvSpPr>
          <p:cNvPr id="288" name="Google Shape;288;p9"/>
          <p:cNvSpPr/>
          <p:nvPr/>
        </p:nvSpPr>
        <p:spPr>
          <a:xfrm>
            <a:off x="4937760" y="1901952"/>
            <a:ext cx="1737360" cy="493776"/>
          </a:xfrm>
          <a:prstGeom prst="roundRect">
            <a:avLst>
              <a:gd fmla="val 1851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txBox="1"/>
          <p:nvPr/>
        </p:nvSpPr>
        <p:spPr>
          <a:xfrm>
            <a:off x="5029200" y="1901952"/>
            <a:ext cx="1572768"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Até 16h</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atendidas no mesmo dia</a:t>
            </a:r>
            <a:endParaRPr b="0" i="0" sz="1100" u="none" cap="none" strike="noStrike">
              <a:solidFill>
                <a:schemeClr val="dk1"/>
              </a:solidFill>
              <a:latin typeface="Arial"/>
              <a:ea typeface="Arial"/>
              <a:cs typeface="Arial"/>
              <a:sym typeface="Arial"/>
            </a:endParaRPr>
          </a:p>
        </p:txBody>
      </p:sp>
      <p:sp>
        <p:nvSpPr>
          <p:cNvPr id="290" name="Google Shape;290;p9"/>
          <p:cNvSpPr/>
          <p:nvPr/>
        </p:nvSpPr>
        <p:spPr>
          <a:xfrm>
            <a:off x="6748272" y="1901952"/>
            <a:ext cx="1737360" cy="493776"/>
          </a:xfrm>
          <a:prstGeom prst="roundRect">
            <a:avLst>
              <a:gd fmla="val 1851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txBox="1"/>
          <p:nvPr/>
        </p:nvSpPr>
        <p:spPr>
          <a:xfrm>
            <a:off x="6839712" y="1901952"/>
            <a:ext cx="1572768"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Após 16h</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atendidas no dia seguinte</a:t>
            </a:r>
            <a:endParaRPr b="0" i="0" sz="1100" u="none" cap="none" strike="noStrike">
              <a:solidFill>
                <a:schemeClr val="dk1"/>
              </a:solidFill>
              <a:latin typeface="Arial"/>
              <a:ea typeface="Arial"/>
              <a:cs typeface="Arial"/>
              <a:sym typeface="Arial"/>
            </a:endParaRPr>
          </a:p>
        </p:txBody>
      </p:sp>
      <p:sp>
        <p:nvSpPr>
          <p:cNvPr id="292" name="Google Shape;292;p9"/>
          <p:cNvSpPr/>
          <p:nvPr/>
        </p:nvSpPr>
        <p:spPr>
          <a:xfrm>
            <a:off x="4937760" y="2468880"/>
            <a:ext cx="1737360" cy="493776"/>
          </a:xfrm>
          <a:prstGeom prst="roundRect">
            <a:avLst>
              <a:gd fmla="val 1851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txBox="1"/>
          <p:nvPr/>
        </p:nvSpPr>
        <p:spPr>
          <a:xfrm>
            <a:off x="5029200" y="2468880"/>
            <a:ext cx="1572768"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Urgência</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informar até 12h do dia vigente</a:t>
            </a:r>
            <a:endParaRPr b="0" i="0" sz="1100" u="none" cap="none" strike="noStrike">
              <a:solidFill>
                <a:schemeClr val="dk1"/>
              </a:solidFill>
              <a:latin typeface="Arial"/>
              <a:ea typeface="Arial"/>
              <a:cs typeface="Arial"/>
              <a:sym typeface="Arial"/>
            </a:endParaRPr>
          </a:p>
        </p:txBody>
      </p:sp>
      <p:sp>
        <p:nvSpPr>
          <p:cNvPr id="294" name="Google Shape;294;p9"/>
          <p:cNvSpPr/>
          <p:nvPr/>
        </p:nvSpPr>
        <p:spPr>
          <a:xfrm>
            <a:off x="6748272" y="2468880"/>
            <a:ext cx="1737360" cy="493776"/>
          </a:xfrm>
          <a:prstGeom prst="roundRect">
            <a:avLst>
              <a:gd fmla="val 1851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txBox="1"/>
          <p:nvPr/>
        </p:nvSpPr>
        <p:spPr>
          <a:xfrm>
            <a:off x="6839712" y="2468880"/>
            <a:ext cx="1572768"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War Room</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informar com 3 dias úteis de antecedência</a:t>
            </a:r>
            <a:endParaRPr b="0" i="0" sz="1100" u="none" cap="none" strike="noStrike">
              <a:solidFill>
                <a:schemeClr val="dk1"/>
              </a:solidFill>
              <a:latin typeface="Arial"/>
              <a:ea typeface="Arial"/>
              <a:cs typeface="Arial"/>
              <a:sym typeface="Arial"/>
            </a:endParaRPr>
          </a:p>
        </p:txBody>
      </p:sp>
      <p:graphicFrame>
        <p:nvGraphicFramePr>
          <p:cNvPr id="296" name="Google Shape;296;p9"/>
          <p:cNvGraphicFramePr/>
          <p:nvPr/>
        </p:nvGraphicFramePr>
        <p:xfrm>
          <a:off x="4937760" y="3090672"/>
          <a:ext cx="3000000" cy="3000000"/>
        </p:xfrm>
        <a:graphic>
          <a:graphicData uri="http://schemas.openxmlformats.org/drawingml/2006/table">
            <a:tbl>
              <a:tblPr>
                <a:noFill/>
                <a:tableStyleId>{959077C7-0632-4EF3-9967-33A70EFA990F}</a:tableStyleId>
              </a:tblPr>
              <a:tblGrid>
                <a:gridCol w="1005850"/>
                <a:gridCol w="640075"/>
                <a:gridCol w="548650"/>
                <a:gridCol w="640075"/>
                <a:gridCol w="731525"/>
              </a:tblGrid>
              <a:tr h="246900">
                <a:tc>
                  <a:txBody>
                    <a:bodyPr/>
                    <a:lstStyle/>
                    <a:p>
                      <a:pPr indent="0" lvl="0" marL="0" marR="0" rtl="0" algn="ctr">
                        <a:spcBef>
                          <a:spcPts val="0"/>
                        </a:spcBef>
                        <a:spcAft>
                          <a:spcPts val="0"/>
                        </a:spcAft>
                        <a:buClr>
                          <a:schemeClr val="dk2"/>
                        </a:buClr>
                        <a:buSzPts val="900"/>
                        <a:buFont typeface="Arial"/>
                        <a:buNone/>
                      </a:pPr>
                      <a:r>
                        <a:rPr b="1" lang="en-US" sz="900" u="none" cap="none" strike="noStrike">
                          <a:solidFill>
                            <a:schemeClr val="dk2"/>
                          </a:solidFill>
                          <a:latin typeface="Arial"/>
                          <a:ea typeface="Arial"/>
                          <a:cs typeface="Arial"/>
                          <a:sym typeface="Arial"/>
                        </a:rPr>
                        <a:t>Inserções</a:t>
                      </a:r>
                      <a:endParaRPr sz="90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2"/>
                        </a:buClr>
                        <a:buSzPts val="900"/>
                        <a:buFont typeface="Arial"/>
                        <a:buNone/>
                      </a:pPr>
                      <a:r>
                        <a:rPr b="1" lang="en-US" sz="900" u="none" cap="none" strike="noStrike">
                          <a:solidFill>
                            <a:schemeClr val="dk2"/>
                          </a:solidFill>
                          <a:latin typeface="Arial"/>
                          <a:ea typeface="Arial"/>
                          <a:cs typeface="Arial"/>
                          <a:sym typeface="Arial"/>
                        </a:rPr>
                        <a:t>Criação</a:t>
                      </a:r>
                      <a:endParaRPr sz="90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2"/>
                        </a:buClr>
                        <a:buSzPts val="900"/>
                        <a:buFont typeface="Arial"/>
                        <a:buNone/>
                      </a:pPr>
                      <a:r>
                        <a:rPr b="1" lang="en-US" sz="900" u="none" cap="none" strike="noStrike">
                          <a:solidFill>
                            <a:schemeClr val="dk2"/>
                          </a:solidFill>
                          <a:latin typeface="Arial"/>
                          <a:ea typeface="Arial"/>
                          <a:cs typeface="Arial"/>
                          <a:sym typeface="Arial"/>
                        </a:rPr>
                        <a:t>Alt.</a:t>
                      </a:r>
                      <a:endParaRPr sz="90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2"/>
                        </a:buClr>
                        <a:buSzPts val="900"/>
                        <a:buFont typeface="Arial"/>
                        <a:buNone/>
                      </a:pPr>
                      <a:r>
                        <a:rPr b="1" lang="en-US" sz="900" u="none" cap="none" strike="noStrike">
                          <a:solidFill>
                            <a:schemeClr val="dk2"/>
                          </a:solidFill>
                          <a:latin typeface="Arial"/>
                          <a:ea typeface="Arial"/>
                          <a:cs typeface="Arial"/>
                          <a:sym typeface="Arial"/>
                        </a:rPr>
                        <a:t>Pausas</a:t>
                      </a:r>
                      <a:endParaRPr sz="90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chemeClr val="dk2"/>
                        </a:buClr>
                        <a:buSzPts val="900"/>
                        <a:buFont typeface="Arial"/>
                        <a:buNone/>
                      </a:pPr>
                      <a:r>
                        <a:rPr b="1" lang="en-US" sz="900" u="none" cap="none" strike="noStrike">
                          <a:solidFill>
                            <a:schemeClr val="dk2"/>
                          </a:solidFill>
                          <a:latin typeface="Arial"/>
                          <a:ea typeface="Arial"/>
                          <a:cs typeface="Arial"/>
                          <a:sym typeface="Arial"/>
                        </a:rPr>
                        <a:t>QA</a:t>
                      </a:r>
                      <a:endParaRPr sz="90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r>
              <a:tr h="246900">
                <a:tc>
                  <a:txBody>
                    <a:bodyPr/>
                    <a:lstStyle/>
                    <a:p>
                      <a:pPr indent="0" lvl="0" marL="0" marR="0" rtl="0" algn="l">
                        <a:spcBef>
                          <a:spcPts val="0"/>
                        </a:spcBef>
                        <a:spcAft>
                          <a:spcPts val="0"/>
                        </a:spcAft>
                        <a:buClr>
                          <a:schemeClr val="dk1"/>
                        </a:buClr>
                        <a:buSzPts val="950"/>
                        <a:buFont typeface="Arial"/>
                        <a:buNone/>
                      </a:pPr>
                      <a:r>
                        <a:rPr b="1" lang="en-US" sz="950" u="none" cap="none" strike="noStrike">
                          <a:solidFill>
                            <a:schemeClr val="dk1"/>
                          </a:solidFill>
                          <a:latin typeface="Arial"/>
                          <a:ea typeface="Arial"/>
                          <a:cs typeface="Arial"/>
                          <a:sym typeface="Arial"/>
                        </a:rPr>
                        <a:t>Até 10</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1h</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30m</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10m</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8 dias</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46900">
                <a:tc>
                  <a:txBody>
                    <a:bodyPr/>
                    <a:lstStyle/>
                    <a:p>
                      <a:pPr indent="0" lvl="0" marL="0" marR="0" rtl="0" algn="l">
                        <a:spcBef>
                          <a:spcPts val="0"/>
                        </a:spcBef>
                        <a:spcAft>
                          <a:spcPts val="0"/>
                        </a:spcAft>
                        <a:buClr>
                          <a:schemeClr val="dk1"/>
                        </a:buClr>
                        <a:buSzPts val="950"/>
                        <a:buFont typeface="Arial"/>
                        <a:buNone/>
                      </a:pPr>
                      <a:r>
                        <a:rPr b="1" lang="en-US" sz="950" u="none" cap="none" strike="noStrike">
                          <a:solidFill>
                            <a:schemeClr val="dk1"/>
                          </a:solidFill>
                          <a:latin typeface="Arial"/>
                          <a:ea typeface="Arial"/>
                          <a:cs typeface="Arial"/>
                          <a:sym typeface="Arial"/>
                        </a:rPr>
                        <a:t>Até 40</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2h</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1h</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10m</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15 dias</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46900">
                <a:tc>
                  <a:txBody>
                    <a:bodyPr/>
                    <a:lstStyle/>
                    <a:p>
                      <a:pPr indent="0" lvl="0" marL="0" marR="0" rtl="0" algn="l">
                        <a:spcBef>
                          <a:spcPts val="0"/>
                        </a:spcBef>
                        <a:spcAft>
                          <a:spcPts val="0"/>
                        </a:spcAft>
                        <a:buClr>
                          <a:schemeClr val="dk1"/>
                        </a:buClr>
                        <a:buSzPts val="950"/>
                        <a:buFont typeface="Arial"/>
                        <a:buNone/>
                      </a:pPr>
                      <a:r>
                        <a:rPr b="1" lang="en-US" sz="950" u="none" cap="none" strike="noStrike">
                          <a:solidFill>
                            <a:schemeClr val="dk1"/>
                          </a:solidFill>
                          <a:latin typeface="Arial"/>
                          <a:ea typeface="Arial"/>
                          <a:cs typeface="Arial"/>
                          <a:sym typeface="Arial"/>
                        </a:rPr>
                        <a:t>Até 100</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5h</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3h</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20m</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15 dias</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246900">
                <a:tc>
                  <a:txBody>
                    <a:bodyPr/>
                    <a:lstStyle/>
                    <a:p>
                      <a:pPr indent="0" lvl="0" marL="0" marR="0" rtl="0" algn="l">
                        <a:spcBef>
                          <a:spcPts val="0"/>
                        </a:spcBef>
                        <a:spcAft>
                          <a:spcPts val="0"/>
                        </a:spcAft>
                        <a:buClr>
                          <a:schemeClr val="dk1"/>
                        </a:buClr>
                        <a:buSzPts val="950"/>
                        <a:buFont typeface="Arial"/>
                        <a:buNone/>
                      </a:pPr>
                      <a:r>
                        <a:rPr b="1" lang="en-US" sz="950" u="none" cap="none" strike="noStrike">
                          <a:solidFill>
                            <a:schemeClr val="dk1"/>
                          </a:solidFill>
                          <a:latin typeface="Arial"/>
                          <a:ea typeface="Arial"/>
                          <a:cs typeface="Arial"/>
                          <a:sym typeface="Arial"/>
                        </a:rPr>
                        <a:t>Acima de 100</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16h</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10h</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20m</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50"/>
                        <a:buFont typeface="Arial"/>
                        <a:buNone/>
                      </a:pPr>
                      <a:r>
                        <a:rPr lang="en-US" sz="950" u="none" cap="none" strike="noStrike">
                          <a:solidFill>
                            <a:schemeClr val="dk1"/>
                          </a:solidFill>
                          <a:latin typeface="Arial"/>
                          <a:ea typeface="Arial"/>
                          <a:cs typeface="Arial"/>
                          <a:sym typeface="Arial"/>
                        </a:rPr>
                        <a:t>20 dias</a:t>
                      </a:r>
                      <a:endParaRPr sz="950" u="none" cap="none" strike="noStrike">
                        <a:latin typeface="Arial"/>
                        <a:ea typeface="Arial"/>
                        <a:cs typeface="Arial"/>
                        <a:sym typeface="Arial"/>
                      </a:endParaRPr>
                    </a:p>
                  </a:txBody>
                  <a:tcPr marT="27425" marB="27425" marR="27425" marL="27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
        <p:nvSpPr>
          <p:cNvPr id="297" name="Google Shape;297;p9"/>
          <p:cNvSpPr txBox="1"/>
          <p:nvPr/>
        </p:nvSpPr>
        <p:spPr>
          <a:xfrm>
            <a:off x="4937760" y="4370832"/>
            <a:ext cx="35661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*Não contempla SLA de criação de rastreadores da </a:t>
            </a:r>
            <a:r>
              <a:rPr lang="en-US" sz="900">
                <a:solidFill>
                  <a:schemeClr val="dk2"/>
                </a:solidFill>
              </a:rPr>
              <a:t>Innovid</a:t>
            </a:r>
            <a:r>
              <a:rPr b="0" i="0" lang="en-US" sz="900" u="none" cap="none" strike="noStrike">
                <a:solidFill>
                  <a:schemeClr val="dk2"/>
                </a:solidFill>
                <a:latin typeface="Arial"/>
                <a:ea typeface="Arial"/>
                <a:cs typeface="Arial"/>
                <a:sym typeface="Arial"/>
              </a:rPr>
              <a:t>.</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0"/>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Jira | Como acessar</a:t>
            </a:r>
            <a:endParaRPr sz="2200"/>
          </a:p>
        </p:txBody>
      </p:sp>
      <p:sp>
        <p:nvSpPr>
          <p:cNvPr id="304" name="Google Shape;304;p10"/>
          <p:cNvSpPr/>
          <p:nvPr/>
        </p:nvSpPr>
        <p:spPr>
          <a:xfrm>
            <a:off x="457200" y="1188720"/>
            <a:ext cx="1828800" cy="2103120"/>
          </a:xfrm>
          <a:prstGeom prst="roundRect">
            <a:avLst>
              <a:gd fmla="val 50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1170432" y="1325880"/>
            <a:ext cx="402336" cy="4023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Arial"/>
              <a:buNone/>
            </a:pPr>
            <a:r>
              <a:rPr b="1" i="0" lang="en-US" sz="1400" u="none" cap="none" strike="noStrike">
                <a:solidFill>
                  <a:schemeClr val="lt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06" name="Google Shape;306;p10"/>
          <p:cNvSpPr txBox="1"/>
          <p:nvPr/>
        </p:nvSpPr>
        <p:spPr>
          <a:xfrm>
            <a:off x="566928" y="1847088"/>
            <a:ext cx="160934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Planilha de acesso</a:t>
            </a:r>
            <a:endParaRPr b="0" i="0" sz="1200" u="none" cap="none" strike="noStrike">
              <a:solidFill>
                <a:schemeClr val="dk1"/>
              </a:solidFill>
              <a:latin typeface="Arial"/>
              <a:ea typeface="Arial"/>
              <a:cs typeface="Arial"/>
              <a:sym typeface="Arial"/>
            </a:endParaRPr>
          </a:p>
        </p:txBody>
      </p:sp>
      <p:sp>
        <p:nvSpPr>
          <p:cNvPr id="307" name="Google Shape;307;p10"/>
          <p:cNvSpPr txBox="1"/>
          <p:nvPr/>
        </p:nvSpPr>
        <p:spPr>
          <a:xfrm>
            <a:off x="594360" y="2212848"/>
            <a:ext cx="155448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Consulte na Planilha de acesso ao Jira Stormx qual e-mail corresponde ao seu time.</a:t>
            </a:r>
            <a:endParaRPr b="0" i="0" sz="1000" u="none" cap="none" strike="noStrike">
              <a:solidFill>
                <a:schemeClr val="dk1"/>
              </a:solidFill>
              <a:latin typeface="Arial"/>
              <a:ea typeface="Arial"/>
              <a:cs typeface="Arial"/>
              <a:sym typeface="Arial"/>
            </a:endParaRPr>
          </a:p>
        </p:txBody>
      </p:sp>
      <p:cxnSp>
        <p:nvCxnSpPr>
          <p:cNvPr id="308" name="Google Shape;308;p10"/>
          <p:cNvCxnSpPr/>
          <p:nvPr/>
        </p:nvCxnSpPr>
        <p:spPr>
          <a:xfrm>
            <a:off x="2322576" y="2240280"/>
            <a:ext cx="231648" cy="0"/>
          </a:xfrm>
          <a:prstGeom prst="straightConnector1">
            <a:avLst/>
          </a:prstGeom>
          <a:noFill/>
          <a:ln cap="flat" cmpd="sng" w="22225">
            <a:solidFill>
              <a:schemeClr val="dk2"/>
            </a:solidFill>
            <a:prstDash val="solid"/>
            <a:round/>
            <a:headEnd len="sm" w="sm" type="none"/>
            <a:tailEnd len="med" w="med" type="triangle"/>
          </a:ln>
        </p:spPr>
      </p:cxnSp>
      <p:sp>
        <p:nvSpPr>
          <p:cNvPr id="309" name="Google Shape;309;p10"/>
          <p:cNvSpPr/>
          <p:nvPr/>
        </p:nvSpPr>
        <p:spPr>
          <a:xfrm>
            <a:off x="2590800" y="1188720"/>
            <a:ext cx="1828800" cy="2103120"/>
          </a:xfrm>
          <a:prstGeom prst="roundRect">
            <a:avLst>
              <a:gd fmla="val 50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3304032" y="1325880"/>
            <a:ext cx="402336" cy="4023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Arial"/>
              <a:buNone/>
            </a:pPr>
            <a:r>
              <a:rPr b="1" i="0" lang="en-US" sz="1400" u="none" cap="none" strike="noStrike">
                <a:solidFill>
                  <a:schemeClr val="lt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311" name="Google Shape;311;p10"/>
          <p:cNvSpPr txBox="1"/>
          <p:nvPr/>
        </p:nvSpPr>
        <p:spPr>
          <a:xfrm>
            <a:off x="2700528" y="1847088"/>
            <a:ext cx="160934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1Password</a:t>
            </a:r>
            <a:endParaRPr b="0" i="0" sz="1200" u="none" cap="none" strike="noStrike">
              <a:solidFill>
                <a:schemeClr val="dk1"/>
              </a:solidFill>
              <a:latin typeface="Arial"/>
              <a:ea typeface="Arial"/>
              <a:cs typeface="Arial"/>
              <a:sym typeface="Arial"/>
            </a:endParaRPr>
          </a:p>
        </p:txBody>
      </p:sp>
      <p:sp>
        <p:nvSpPr>
          <p:cNvPr id="312" name="Google Shape;312;p10"/>
          <p:cNvSpPr txBox="1"/>
          <p:nvPr/>
        </p:nvSpPr>
        <p:spPr>
          <a:xfrm>
            <a:off x="2727960" y="2212848"/>
            <a:ext cx="155448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Acesse o link do 1Password correspondente ao seu time.</a:t>
            </a:r>
            <a:endParaRPr b="0" i="0" sz="1000" u="none" cap="none" strike="noStrike">
              <a:solidFill>
                <a:schemeClr val="dk1"/>
              </a:solidFill>
              <a:latin typeface="Arial"/>
              <a:ea typeface="Arial"/>
              <a:cs typeface="Arial"/>
              <a:sym typeface="Arial"/>
            </a:endParaRPr>
          </a:p>
        </p:txBody>
      </p:sp>
      <p:cxnSp>
        <p:nvCxnSpPr>
          <p:cNvPr id="313" name="Google Shape;313;p10"/>
          <p:cNvCxnSpPr/>
          <p:nvPr/>
        </p:nvCxnSpPr>
        <p:spPr>
          <a:xfrm>
            <a:off x="4456176" y="2240280"/>
            <a:ext cx="231648" cy="0"/>
          </a:xfrm>
          <a:prstGeom prst="straightConnector1">
            <a:avLst/>
          </a:prstGeom>
          <a:noFill/>
          <a:ln cap="flat" cmpd="sng" w="22225">
            <a:solidFill>
              <a:schemeClr val="dk2"/>
            </a:solidFill>
            <a:prstDash val="solid"/>
            <a:round/>
            <a:headEnd len="sm" w="sm" type="none"/>
            <a:tailEnd len="med" w="med" type="triangle"/>
          </a:ln>
        </p:spPr>
      </p:cxnSp>
      <p:sp>
        <p:nvSpPr>
          <p:cNvPr id="314" name="Google Shape;314;p10"/>
          <p:cNvSpPr/>
          <p:nvPr/>
        </p:nvSpPr>
        <p:spPr>
          <a:xfrm>
            <a:off x="4724400" y="1188720"/>
            <a:ext cx="1828800" cy="2103120"/>
          </a:xfrm>
          <a:prstGeom prst="roundRect">
            <a:avLst>
              <a:gd fmla="val 50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0"/>
          <p:cNvSpPr/>
          <p:nvPr/>
        </p:nvSpPr>
        <p:spPr>
          <a:xfrm>
            <a:off x="5437632" y="1325880"/>
            <a:ext cx="402336" cy="4023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Arial"/>
              <a:buNone/>
            </a:pPr>
            <a:r>
              <a:rPr b="1" i="0" lang="en-US" sz="1400" u="none" cap="none" strike="noStrike">
                <a:solidFill>
                  <a:schemeClr val="lt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316" name="Google Shape;316;p10"/>
          <p:cNvSpPr txBox="1"/>
          <p:nvPr/>
        </p:nvSpPr>
        <p:spPr>
          <a:xfrm>
            <a:off x="4834128" y="1847088"/>
            <a:ext cx="160934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Login no Google</a:t>
            </a:r>
            <a:endParaRPr b="0" i="0" sz="1200" u="none" cap="none" strike="noStrike">
              <a:solidFill>
                <a:schemeClr val="dk1"/>
              </a:solidFill>
              <a:latin typeface="Arial"/>
              <a:ea typeface="Arial"/>
              <a:cs typeface="Arial"/>
              <a:sym typeface="Arial"/>
            </a:endParaRPr>
          </a:p>
        </p:txBody>
      </p:sp>
      <p:sp>
        <p:nvSpPr>
          <p:cNvPr id="317" name="Google Shape;317;p10"/>
          <p:cNvSpPr txBox="1"/>
          <p:nvPr/>
        </p:nvSpPr>
        <p:spPr>
          <a:xfrm>
            <a:off x="4861560" y="2212848"/>
            <a:ext cx="155448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Em accounts.google.com, use o e-mail, a senha e o token disponíveis no 1Password.</a:t>
            </a:r>
            <a:endParaRPr b="0" i="0" sz="1000" u="none" cap="none" strike="noStrike">
              <a:solidFill>
                <a:schemeClr val="dk1"/>
              </a:solidFill>
              <a:latin typeface="Arial"/>
              <a:ea typeface="Arial"/>
              <a:cs typeface="Arial"/>
              <a:sym typeface="Arial"/>
            </a:endParaRPr>
          </a:p>
        </p:txBody>
      </p:sp>
      <p:cxnSp>
        <p:nvCxnSpPr>
          <p:cNvPr id="318" name="Google Shape;318;p10"/>
          <p:cNvCxnSpPr/>
          <p:nvPr/>
        </p:nvCxnSpPr>
        <p:spPr>
          <a:xfrm>
            <a:off x="6589776" y="2240280"/>
            <a:ext cx="231648" cy="0"/>
          </a:xfrm>
          <a:prstGeom prst="straightConnector1">
            <a:avLst/>
          </a:prstGeom>
          <a:noFill/>
          <a:ln cap="flat" cmpd="sng" w="22225">
            <a:solidFill>
              <a:schemeClr val="dk2"/>
            </a:solidFill>
            <a:prstDash val="solid"/>
            <a:round/>
            <a:headEnd len="sm" w="sm" type="none"/>
            <a:tailEnd len="med" w="med" type="triangle"/>
          </a:ln>
        </p:spPr>
      </p:cxnSp>
      <p:sp>
        <p:nvSpPr>
          <p:cNvPr id="319" name="Google Shape;319;p10"/>
          <p:cNvSpPr/>
          <p:nvPr/>
        </p:nvSpPr>
        <p:spPr>
          <a:xfrm>
            <a:off x="6858000" y="1188720"/>
            <a:ext cx="1828800" cy="2103120"/>
          </a:xfrm>
          <a:prstGeom prst="roundRect">
            <a:avLst>
              <a:gd fmla="val 50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
          <p:cNvSpPr/>
          <p:nvPr/>
        </p:nvSpPr>
        <p:spPr>
          <a:xfrm>
            <a:off x="7571232" y="1325880"/>
            <a:ext cx="402336" cy="402336"/>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Arial"/>
              <a:buNone/>
            </a:pPr>
            <a:r>
              <a:rPr b="1" i="0" lang="en-US" sz="1400" u="none" cap="none" strike="noStrike">
                <a:solidFill>
                  <a:schemeClr val="lt1"/>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p:txBody>
      </p:sp>
      <p:sp>
        <p:nvSpPr>
          <p:cNvPr id="321" name="Google Shape;321;p10"/>
          <p:cNvSpPr txBox="1"/>
          <p:nvPr/>
        </p:nvSpPr>
        <p:spPr>
          <a:xfrm>
            <a:off x="6967728" y="1847088"/>
            <a:ext cx="1609344"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Jira</a:t>
            </a:r>
            <a:endParaRPr b="0" i="0" sz="1200" u="none" cap="none" strike="noStrike">
              <a:solidFill>
                <a:schemeClr val="dk1"/>
              </a:solidFill>
              <a:latin typeface="Arial"/>
              <a:ea typeface="Arial"/>
              <a:cs typeface="Arial"/>
              <a:sym typeface="Arial"/>
            </a:endParaRPr>
          </a:p>
        </p:txBody>
      </p:sp>
      <p:sp>
        <p:nvSpPr>
          <p:cNvPr id="322" name="Google Shape;322;p10"/>
          <p:cNvSpPr txBox="1"/>
          <p:nvPr/>
        </p:nvSpPr>
        <p:spPr>
          <a:xfrm>
            <a:off x="6995160" y="2212848"/>
            <a:ext cx="155448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Acesse o Jira e clique em Continuar com o Google. Não informe e-mail e senha diretamente na plataforma.</a:t>
            </a:r>
            <a:endParaRPr b="0" i="0" sz="1000" u="none" cap="none" strike="noStrike">
              <a:solidFill>
                <a:schemeClr val="dk1"/>
              </a:solidFill>
              <a:latin typeface="Arial"/>
              <a:ea typeface="Arial"/>
              <a:cs typeface="Arial"/>
              <a:sym typeface="Arial"/>
            </a:endParaRPr>
          </a:p>
        </p:txBody>
      </p:sp>
      <p:sp>
        <p:nvSpPr>
          <p:cNvPr id="323" name="Google Shape;323;p10"/>
          <p:cNvSpPr/>
          <p:nvPr/>
        </p:nvSpPr>
        <p:spPr>
          <a:xfrm>
            <a:off x="457200" y="3520440"/>
            <a:ext cx="8229600" cy="1097280"/>
          </a:xfrm>
          <a:prstGeom prst="roundRect">
            <a:avLst>
              <a:gd fmla="val 8333"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0"/>
          <p:cNvSpPr txBox="1"/>
          <p:nvPr/>
        </p:nvSpPr>
        <p:spPr>
          <a:xfrm>
            <a:off x="685800" y="3520440"/>
            <a:ext cx="77724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300"/>
              <a:buFont typeface="Arial"/>
              <a:buNone/>
            </a:pPr>
            <a:r>
              <a:rPr b="1" i="0" lang="en-US" sz="1300" u="none" cap="none" strike="noStrike">
                <a:solidFill>
                  <a:schemeClr val="accent1"/>
                </a:solidFill>
                <a:latin typeface="Arial"/>
                <a:ea typeface="Arial"/>
                <a:cs typeface="Arial"/>
                <a:sym typeface="Arial"/>
              </a:rPr>
              <a:t>Atenção</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lt1"/>
              </a:buClr>
              <a:buSzPts val="1100"/>
              <a:buFont typeface="Arial"/>
              <a:buNone/>
            </a:pPr>
            <a:r>
              <a:rPr b="0" i="0" lang="en-US" sz="1100" u="none" cap="none" strike="noStrike">
                <a:solidFill>
                  <a:schemeClr val="lt1"/>
                </a:solidFill>
                <a:latin typeface="Arial"/>
                <a:ea typeface="Arial"/>
                <a:cs typeface="Arial"/>
                <a:sym typeface="Arial"/>
              </a:rPr>
              <a:t>Qualquer pessoa com acesso ao 1Password consegue acessar o Jira. Como os logins são separados por time, confirme que está usando o e-mail correto do seu time antes de abrir uma tarefa, para a demanda não ser criada em nome de outro time.</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1"/>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Produção e entrega das taxonomias</a:t>
            </a:r>
            <a:endParaRPr sz="2200"/>
          </a:p>
        </p:txBody>
      </p:sp>
      <p:sp>
        <p:nvSpPr>
          <p:cNvPr id="331" name="Google Shape;331;p11"/>
          <p:cNvSpPr/>
          <p:nvPr/>
        </p:nvSpPr>
        <p:spPr>
          <a:xfrm>
            <a:off x="457200" y="1097280"/>
            <a:ext cx="1463040" cy="1371600"/>
          </a:xfrm>
          <a:prstGeom prst="roundRect">
            <a:avLst>
              <a:gd fmla="val 666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548640" y="1170432"/>
            <a:ext cx="274320" cy="27432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Arial"/>
              <a:buNone/>
            </a:pPr>
            <a:r>
              <a:rPr b="1" i="0" lang="en-US" sz="1000" u="none" cap="none" strike="noStrike">
                <a:solidFill>
                  <a:schemeClr val="lt1"/>
                </a:solidFill>
                <a:latin typeface="Arial"/>
                <a:ea typeface="Arial"/>
                <a:cs typeface="Arial"/>
                <a:sym typeface="Arial"/>
              </a:rPr>
              <a:t>1</a:t>
            </a:r>
            <a:endParaRPr b="0" i="0" sz="1000" u="none" cap="none" strike="noStrike">
              <a:solidFill>
                <a:schemeClr val="dk1"/>
              </a:solidFill>
              <a:latin typeface="Arial"/>
              <a:ea typeface="Arial"/>
              <a:cs typeface="Arial"/>
              <a:sym typeface="Arial"/>
            </a:endParaRPr>
          </a:p>
        </p:txBody>
      </p:sp>
      <p:sp>
        <p:nvSpPr>
          <p:cNvPr id="333" name="Google Shape;333;p11"/>
          <p:cNvSpPr txBox="1"/>
          <p:nvPr/>
        </p:nvSpPr>
        <p:spPr>
          <a:xfrm>
            <a:off x="896112" y="1170432"/>
            <a:ext cx="960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RM Online e Jira</a:t>
            </a:r>
            <a:endParaRPr b="0" i="0" sz="1000" u="none" cap="none" strike="noStrike">
              <a:solidFill>
                <a:schemeClr val="dk1"/>
              </a:solidFill>
              <a:latin typeface="Arial"/>
              <a:ea typeface="Arial"/>
              <a:cs typeface="Arial"/>
              <a:sym typeface="Arial"/>
            </a:endParaRPr>
          </a:p>
        </p:txBody>
      </p:sp>
      <p:sp>
        <p:nvSpPr>
          <p:cNvPr id="334" name="Google Shape;334;p11"/>
          <p:cNvSpPr txBox="1"/>
          <p:nvPr/>
        </p:nvSpPr>
        <p:spPr>
          <a:xfrm>
            <a:off x="548640" y="1536192"/>
            <a:ext cx="12801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A solicitação chega pela RM e pela task no Jira.</a:t>
            </a:r>
            <a:endParaRPr b="0" i="0" sz="950" u="none" cap="none" strike="noStrike">
              <a:solidFill>
                <a:schemeClr val="dk1"/>
              </a:solidFill>
              <a:latin typeface="Arial"/>
              <a:ea typeface="Arial"/>
              <a:cs typeface="Arial"/>
              <a:sym typeface="Arial"/>
            </a:endParaRPr>
          </a:p>
        </p:txBody>
      </p:sp>
      <p:cxnSp>
        <p:nvCxnSpPr>
          <p:cNvPr id="335" name="Google Shape;335;p11"/>
          <p:cNvCxnSpPr/>
          <p:nvPr/>
        </p:nvCxnSpPr>
        <p:spPr>
          <a:xfrm>
            <a:off x="1938528" y="1737360"/>
            <a:ext cx="192024" cy="0"/>
          </a:xfrm>
          <a:prstGeom prst="straightConnector1">
            <a:avLst/>
          </a:prstGeom>
          <a:noFill/>
          <a:ln cap="flat" cmpd="sng" w="22225">
            <a:solidFill>
              <a:schemeClr val="dk2"/>
            </a:solidFill>
            <a:prstDash val="solid"/>
            <a:round/>
            <a:headEnd len="sm" w="sm" type="none"/>
            <a:tailEnd len="med" w="med" type="triangle"/>
          </a:ln>
        </p:spPr>
      </p:cxnSp>
      <p:sp>
        <p:nvSpPr>
          <p:cNvPr id="336" name="Google Shape;336;p11"/>
          <p:cNvSpPr/>
          <p:nvPr/>
        </p:nvSpPr>
        <p:spPr>
          <a:xfrm>
            <a:off x="2148840" y="1097280"/>
            <a:ext cx="1463040" cy="1371600"/>
          </a:xfrm>
          <a:prstGeom prst="roundRect">
            <a:avLst>
              <a:gd fmla="val 666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2240280" y="1170432"/>
            <a:ext cx="274320" cy="27432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Arial"/>
              <a:buNone/>
            </a:pPr>
            <a:r>
              <a:rPr b="1" i="0" lang="en-US" sz="1000" u="none" cap="none" strike="noStrike">
                <a:solidFill>
                  <a:schemeClr val="lt1"/>
                </a:solidFill>
                <a:latin typeface="Arial"/>
                <a:ea typeface="Arial"/>
                <a:cs typeface="Arial"/>
                <a:sym typeface="Arial"/>
              </a:rPr>
              <a:t>2</a:t>
            </a:r>
            <a:endParaRPr b="0" i="0" sz="1000" u="none" cap="none" strike="noStrike">
              <a:solidFill>
                <a:schemeClr val="dk1"/>
              </a:solidFill>
              <a:latin typeface="Arial"/>
              <a:ea typeface="Arial"/>
              <a:cs typeface="Arial"/>
              <a:sym typeface="Arial"/>
            </a:endParaRPr>
          </a:p>
        </p:txBody>
      </p:sp>
      <p:sp>
        <p:nvSpPr>
          <p:cNvPr id="338" name="Google Shape;338;p11"/>
          <p:cNvSpPr txBox="1"/>
          <p:nvPr/>
        </p:nvSpPr>
        <p:spPr>
          <a:xfrm>
            <a:off x="2587752" y="1170432"/>
            <a:ext cx="960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AdOps cria</a:t>
            </a:r>
            <a:endParaRPr b="0" i="0" sz="1000" u="none" cap="none" strike="noStrike">
              <a:solidFill>
                <a:schemeClr val="dk1"/>
              </a:solidFill>
              <a:latin typeface="Arial"/>
              <a:ea typeface="Arial"/>
              <a:cs typeface="Arial"/>
              <a:sym typeface="Arial"/>
            </a:endParaRPr>
          </a:p>
        </p:txBody>
      </p:sp>
      <p:sp>
        <p:nvSpPr>
          <p:cNvPr id="339" name="Google Shape;339;p11"/>
          <p:cNvSpPr txBox="1"/>
          <p:nvPr/>
        </p:nvSpPr>
        <p:spPr>
          <a:xfrm>
            <a:off x="2240280" y="1536192"/>
            <a:ext cx="12801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Com base na RM, no plano de mídia e nas regras da UL Brasil e da UL Global.</a:t>
            </a:r>
            <a:endParaRPr b="0" i="0" sz="950" u="none" cap="none" strike="noStrike">
              <a:solidFill>
                <a:schemeClr val="dk1"/>
              </a:solidFill>
              <a:latin typeface="Arial"/>
              <a:ea typeface="Arial"/>
              <a:cs typeface="Arial"/>
              <a:sym typeface="Arial"/>
            </a:endParaRPr>
          </a:p>
        </p:txBody>
      </p:sp>
      <p:cxnSp>
        <p:nvCxnSpPr>
          <p:cNvPr id="340" name="Google Shape;340;p11"/>
          <p:cNvCxnSpPr/>
          <p:nvPr/>
        </p:nvCxnSpPr>
        <p:spPr>
          <a:xfrm>
            <a:off x="3630168" y="1737360"/>
            <a:ext cx="192024" cy="0"/>
          </a:xfrm>
          <a:prstGeom prst="straightConnector1">
            <a:avLst/>
          </a:prstGeom>
          <a:noFill/>
          <a:ln cap="flat" cmpd="sng" w="22225">
            <a:solidFill>
              <a:schemeClr val="dk2"/>
            </a:solidFill>
            <a:prstDash val="solid"/>
            <a:round/>
            <a:headEnd len="sm" w="sm" type="none"/>
            <a:tailEnd len="med" w="med" type="triangle"/>
          </a:ln>
        </p:spPr>
      </p:cxnSp>
      <p:sp>
        <p:nvSpPr>
          <p:cNvPr id="341" name="Google Shape;341;p11"/>
          <p:cNvSpPr/>
          <p:nvPr/>
        </p:nvSpPr>
        <p:spPr>
          <a:xfrm>
            <a:off x="3840480" y="1097280"/>
            <a:ext cx="1463040" cy="1371600"/>
          </a:xfrm>
          <a:prstGeom prst="roundRect">
            <a:avLst>
              <a:gd fmla="val 666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3931920" y="1170432"/>
            <a:ext cx="274320" cy="27432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Arial"/>
              <a:buNone/>
            </a:pPr>
            <a:r>
              <a:rPr b="1" i="0" lang="en-US" sz="1000" u="none" cap="none" strike="noStrike">
                <a:solidFill>
                  <a:schemeClr val="lt1"/>
                </a:solidFill>
                <a:latin typeface="Arial"/>
                <a:ea typeface="Arial"/>
                <a:cs typeface="Arial"/>
                <a:sym typeface="Arial"/>
              </a:rPr>
              <a:t>3</a:t>
            </a:r>
            <a:endParaRPr b="0" i="0" sz="1000" u="none" cap="none" strike="noStrike">
              <a:solidFill>
                <a:schemeClr val="dk1"/>
              </a:solidFill>
              <a:latin typeface="Arial"/>
              <a:ea typeface="Arial"/>
              <a:cs typeface="Arial"/>
              <a:sym typeface="Arial"/>
            </a:endParaRPr>
          </a:p>
        </p:txBody>
      </p:sp>
      <p:sp>
        <p:nvSpPr>
          <p:cNvPr id="343" name="Google Shape;343;p11"/>
          <p:cNvSpPr txBox="1"/>
          <p:nvPr/>
        </p:nvSpPr>
        <p:spPr>
          <a:xfrm>
            <a:off x="4279392" y="1170432"/>
            <a:ext cx="960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Validador automático</a:t>
            </a:r>
            <a:endParaRPr b="0" i="0" sz="1000" u="none" cap="none" strike="noStrike">
              <a:solidFill>
                <a:schemeClr val="dk1"/>
              </a:solidFill>
              <a:latin typeface="Arial"/>
              <a:ea typeface="Arial"/>
              <a:cs typeface="Arial"/>
              <a:sym typeface="Arial"/>
            </a:endParaRPr>
          </a:p>
        </p:txBody>
      </p:sp>
      <p:sp>
        <p:nvSpPr>
          <p:cNvPr id="344" name="Google Shape;344;p11"/>
          <p:cNvSpPr txBox="1"/>
          <p:nvPr/>
        </p:nvSpPr>
        <p:spPr>
          <a:xfrm>
            <a:off x="3931920" y="1536192"/>
            <a:ext cx="12801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Verifica estrutura e campos, garantindo padronização e qualidade dos dados.</a:t>
            </a:r>
            <a:endParaRPr b="0" i="0" sz="950" u="none" cap="none" strike="noStrike">
              <a:solidFill>
                <a:schemeClr val="dk1"/>
              </a:solidFill>
              <a:latin typeface="Arial"/>
              <a:ea typeface="Arial"/>
              <a:cs typeface="Arial"/>
              <a:sym typeface="Arial"/>
            </a:endParaRPr>
          </a:p>
        </p:txBody>
      </p:sp>
      <p:cxnSp>
        <p:nvCxnSpPr>
          <p:cNvPr id="345" name="Google Shape;345;p11"/>
          <p:cNvCxnSpPr/>
          <p:nvPr/>
        </p:nvCxnSpPr>
        <p:spPr>
          <a:xfrm>
            <a:off x="5321808" y="1737360"/>
            <a:ext cx="192024" cy="0"/>
          </a:xfrm>
          <a:prstGeom prst="straightConnector1">
            <a:avLst/>
          </a:prstGeom>
          <a:noFill/>
          <a:ln cap="flat" cmpd="sng" w="22225">
            <a:solidFill>
              <a:schemeClr val="dk2"/>
            </a:solidFill>
            <a:prstDash val="solid"/>
            <a:round/>
            <a:headEnd len="sm" w="sm" type="none"/>
            <a:tailEnd len="med" w="med" type="triangle"/>
          </a:ln>
        </p:spPr>
      </p:cxnSp>
      <p:sp>
        <p:nvSpPr>
          <p:cNvPr id="346" name="Google Shape;346;p11"/>
          <p:cNvSpPr/>
          <p:nvPr/>
        </p:nvSpPr>
        <p:spPr>
          <a:xfrm>
            <a:off x="5532120" y="1097280"/>
            <a:ext cx="1463040" cy="1371600"/>
          </a:xfrm>
          <a:prstGeom prst="roundRect">
            <a:avLst>
              <a:gd fmla="val 666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5623560" y="1170432"/>
            <a:ext cx="274320" cy="27432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Arial"/>
              <a:buNone/>
            </a:pPr>
            <a:r>
              <a:rPr b="1" i="0" lang="en-US" sz="1000" u="none" cap="none" strike="noStrike">
                <a:solidFill>
                  <a:schemeClr val="lt1"/>
                </a:solidFill>
                <a:latin typeface="Arial"/>
                <a:ea typeface="Arial"/>
                <a:cs typeface="Arial"/>
                <a:sym typeface="Arial"/>
              </a:rPr>
              <a:t>4</a:t>
            </a:r>
            <a:endParaRPr b="0" i="0" sz="1000" u="none" cap="none" strike="noStrike">
              <a:solidFill>
                <a:schemeClr val="dk1"/>
              </a:solidFill>
              <a:latin typeface="Arial"/>
              <a:ea typeface="Arial"/>
              <a:cs typeface="Arial"/>
              <a:sym typeface="Arial"/>
            </a:endParaRPr>
          </a:p>
        </p:txBody>
      </p:sp>
      <p:sp>
        <p:nvSpPr>
          <p:cNvPr id="348" name="Google Shape;348;p11"/>
          <p:cNvSpPr txBox="1"/>
          <p:nvPr/>
        </p:nvSpPr>
        <p:spPr>
          <a:xfrm>
            <a:off x="5971032" y="1170432"/>
            <a:ext cx="960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Entrega na RM</a:t>
            </a:r>
            <a:endParaRPr b="0" i="0" sz="1000" u="none" cap="none" strike="noStrike">
              <a:solidFill>
                <a:schemeClr val="dk1"/>
              </a:solidFill>
              <a:latin typeface="Arial"/>
              <a:ea typeface="Arial"/>
              <a:cs typeface="Arial"/>
              <a:sym typeface="Arial"/>
            </a:endParaRPr>
          </a:p>
        </p:txBody>
      </p:sp>
      <p:sp>
        <p:nvSpPr>
          <p:cNvPr id="349" name="Google Shape;349;p11"/>
          <p:cNvSpPr txBox="1"/>
          <p:nvPr/>
        </p:nvSpPr>
        <p:spPr>
          <a:xfrm>
            <a:off x="5623560" y="1536192"/>
            <a:ext cx="12801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Status atualizado para Concluído Stormx.</a:t>
            </a:r>
            <a:endParaRPr b="0" i="0" sz="950" u="none" cap="none" strike="noStrike">
              <a:solidFill>
                <a:schemeClr val="dk1"/>
              </a:solidFill>
              <a:latin typeface="Arial"/>
              <a:ea typeface="Arial"/>
              <a:cs typeface="Arial"/>
              <a:sym typeface="Arial"/>
            </a:endParaRPr>
          </a:p>
        </p:txBody>
      </p:sp>
      <p:cxnSp>
        <p:nvCxnSpPr>
          <p:cNvPr id="350" name="Google Shape;350;p11"/>
          <p:cNvCxnSpPr/>
          <p:nvPr/>
        </p:nvCxnSpPr>
        <p:spPr>
          <a:xfrm>
            <a:off x="7013448" y="1737360"/>
            <a:ext cx="192024" cy="0"/>
          </a:xfrm>
          <a:prstGeom prst="straightConnector1">
            <a:avLst/>
          </a:prstGeom>
          <a:noFill/>
          <a:ln cap="flat" cmpd="sng" w="22225">
            <a:solidFill>
              <a:schemeClr val="dk2"/>
            </a:solidFill>
            <a:prstDash val="solid"/>
            <a:round/>
            <a:headEnd len="sm" w="sm" type="none"/>
            <a:tailEnd len="med" w="med" type="triangle"/>
          </a:ln>
        </p:spPr>
      </p:cxnSp>
      <p:sp>
        <p:nvSpPr>
          <p:cNvPr id="351" name="Google Shape;351;p11"/>
          <p:cNvSpPr/>
          <p:nvPr/>
        </p:nvSpPr>
        <p:spPr>
          <a:xfrm>
            <a:off x="7223760" y="1097280"/>
            <a:ext cx="1463040" cy="1371600"/>
          </a:xfrm>
          <a:prstGeom prst="roundRect">
            <a:avLst>
              <a:gd fmla="val 666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7315200" y="1170432"/>
            <a:ext cx="274320" cy="27432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Arial"/>
              <a:buNone/>
            </a:pPr>
            <a:r>
              <a:rPr b="1" i="0" lang="en-US" sz="1000" u="none" cap="none" strike="noStrike">
                <a:solidFill>
                  <a:schemeClr val="lt1"/>
                </a:solidFill>
                <a:latin typeface="Arial"/>
                <a:ea typeface="Arial"/>
                <a:cs typeface="Arial"/>
                <a:sym typeface="Arial"/>
              </a:rPr>
              <a:t>5</a:t>
            </a:r>
            <a:endParaRPr b="0" i="0" sz="1000" u="none" cap="none" strike="noStrike">
              <a:solidFill>
                <a:schemeClr val="dk1"/>
              </a:solidFill>
              <a:latin typeface="Arial"/>
              <a:ea typeface="Arial"/>
              <a:cs typeface="Arial"/>
              <a:sym typeface="Arial"/>
            </a:endParaRPr>
          </a:p>
        </p:txBody>
      </p:sp>
      <p:sp>
        <p:nvSpPr>
          <p:cNvPr id="353" name="Google Shape;353;p11"/>
          <p:cNvSpPr txBox="1"/>
          <p:nvPr/>
        </p:nvSpPr>
        <p:spPr>
          <a:xfrm>
            <a:off x="7662672" y="1170432"/>
            <a:ext cx="960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Mídia implementa</a:t>
            </a:r>
            <a:endParaRPr b="0" i="0" sz="1000" u="none" cap="none" strike="noStrike">
              <a:solidFill>
                <a:schemeClr val="dk1"/>
              </a:solidFill>
              <a:latin typeface="Arial"/>
              <a:ea typeface="Arial"/>
              <a:cs typeface="Arial"/>
              <a:sym typeface="Arial"/>
            </a:endParaRPr>
          </a:p>
        </p:txBody>
      </p:sp>
      <p:sp>
        <p:nvSpPr>
          <p:cNvPr id="354" name="Google Shape;354;p11"/>
          <p:cNvSpPr txBox="1"/>
          <p:nvPr/>
        </p:nvSpPr>
        <p:spPr>
          <a:xfrm>
            <a:off x="7315200" y="1536192"/>
            <a:ext cx="12801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Exatamente como entregue, sem alterações. Ajustes via Jira.</a:t>
            </a:r>
            <a:endParaRPr b="0" i="0" sz="950" u="none" cap="none" strike="noStrike">
              <a:solidFill>
                <a:schemeClr val="dk1"/>
              </a:solidFill>
              <a:latin typeface="Arial"/>
              <a:ea typeface="Arial"/>
              <a:cs typeface="Arial"/>
              <a:sym typeface="Arial"/>
            </a:endParaRPr>
          </a:p>
        </p:txBody>
      </p:sp>
      <p:sp>
        <p:nvSpPr>
          <p:cNvPr id="355" name="Google Shape;355;p11"/>
          <p:cNvSpPr txBox="1"/>
          <p:nvPr/>
        </p:nvSpPr>
        <p:spPr>
          <a:xfrm>
            <a:off x="457200" y="2542032"/>
            <a:ext cx="82296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50"/>
              <a:buFont typeface="Arial"/>
              <a:buNone/>
            </a:pPr>
            <a:r>
              <a:rPr b="0" i="0" lang="en-US" sz="1050" u="none" cap="none" strike="noStrike">
                <a:solidFill>
                  <a:schemeClr val="dk2"/>
                </a:solidFill>
                <a:latin typeface="Arial"/>
                <a:ea typeface="Arial"/>
                <a:cs typeface="Arial"/>
                <a:sym typeface="Arial"/>
              </a:rPr>
              <a:t>Por isso, a RM precisa estar preenchida corretamente, de acordo com a documentação da UL Brasil e as regras da UL Global.</a:t>
            </a:r>
            <a:endParaRPr b="0" i="0" sz="1050" u="none" cap="none" strike="noStrike">
              <a:solidFill>
                <a:schemeClr val="dk1"/>
              </a:solidFill>
              <a:latin typeface="Arial"/>
              <a:ea typeface="Arial"/>
              <a:cs typeface="Arial"/>
              <a:sym typeface="Arial"/>
            </a:endParaRPr>
          </a:p>
        </p:txBody>
      </p:sp>
      <p:sp>
        <p:nvSpPr>
          <p:cNvPr id="356" name="Google Shape;356;p11"/>
          <p:cNvSpPr txBox="1"/>
          <p:nvPr/>
        </p:nvSpPr>
        <p:spPr>
          <a:xfrm>
            <a:off x="457200" y="2834640"/>
            <a:ext cx="54864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Entrega por veículo</a:t>
            </a:r>
            <a:endParaRPr b="0" i="0" sz="1200" u="none" cap="none" strike="noStrike">
              <a:solidFill>
                <a:schemeClr val="dk1"/>
              </a:solidFill>
              <a:latin typeface="Arial"/>
              <a:ea typeface="Arial"/>
              <a:cs typeface="Arial"/>
              <a:sym typeface="Arial"/>
            </a:endParaRPr>
          </a:p>
        </p:txBody>
      </p:sp>
      <p:sp>
        <p:nvSpPr>
          <p:cNvPr id="357" name="Google Shape;357;p11"/>
          <p:cNvSpPr/>
          <p:nvPr/>
        </p:nvSpPr>
        <p:spPr>
          <a:xfrm>
            <a:off x="457200" y="3108960"/>
            <a:ext cx="2651760" cy="1051560"/>
          </a:xfrm>
          <a:prstGeom prst="roundRect">
            <a:avLst>
              <a:gd fmla="val 869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txBox="1"/>
          <p:nvPr/>
        </p:nvSpPr>
        <p:spPr>
          <a:xfrm>
            <a:off x="566928" y="3154680"/>
            <a:ext cx="243230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TikTok, Meta e YouTube</a:t>
            </a:r>
            <a:endParaRPr b="0" i="0" sz="950" u="none" cap="none" strike="noStrike">
              <a:solidFill>
                <a:schemeClr val="dk1"/>
              </a:solidFill>
              <a:latin typeface="Arial"/>
              <a:ea typeface="Arial"/>
              <a:cs typeface="Arial"/>
              <a:sym typeface="Arial"/>
            </a:endParaRPr>
          </a:p>
        </p:txBody>
      </p:sp>
      <p:sp>
        <p:nvSpPr>
          <p:cNvPr id="359" name="Google Shape;359;p11"/>
          <p:cNvSpPr txBox="1"/>
          <p:nvPr/>
        </p:nvSpPr>
        <p:spPr>
          <a:xfrm>
            <a:off x="566928" y="3529584"/>
            <a:ext cx="2432304"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As taxonomias são incluídas na RM e o status é atualizado para Concluído Stormx.</a:t>
            </a:r>
            <a:endParaRPr b="0" i="0" sz="900" u="none" cap="none" strike="noStrike">
              <a:solidFill>
                <a:schemeClr val="dk1"/>
              </a:solidFill>
              <a:latin typeface="Arial"/>
              <a:ea typeface="Arial"/>
              <a:cs typeface="Arial"/>
              <a:sym typeface="Arial"/>
            </a:endParaRPr>
          </a:p>
        </p:txBody>
      </p:sp>
      <p:sp>
        <p:nvSpPr>
          <p:cNvPr id="360" name="Google Shape;360;p11"/>
          <p:cNvSpPr/>
          <p:nvPr/>
        </p:nvSpPr>
        <p:spPr>
          <a:xfrm>
            <a:off x="3246120" y="3108960"/>
            <a:ext cx="2651760" cy="1051560"/>
          </a:xfrm>
          <a:prstGeom prst="roundRect">
            <a:avLst>
              <a:gd fmla="val 869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txBox="1"/>
          <p:nvPr/>
        </p:nvSpPr>
        <p:spPr>
          <a:xfrm>
            <a:off x="3355848" y="3154680"/>
            <a:ext cx="243230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Pinterest, Twitter, Compra Direta, Amazon DSP e Programática</a:t>
            </a:r>
            <a:endParaRPr b="0" i="0" sz="950" u="none" cap="none" strike="noStrike">
              <a:solidFill>
                <a:schemeClr val="dk1"/>
              </a:solidFill>
              <a:latin typeface="Arial"/>
              <a:ea typeface="Arial"/>
              <a:cs typeface="Arial"/>
              <a:sym typeface="Arial"/>
            </a:endParaRPr>
          </a:p>
        </p:txBody>
      </p:sp>
      <p:sp>
        <p:nvSpPr>
          <p:cNvPr id="362" name="Google Shape;362;p11"/>
          <p:cNvSpPr txBox="1"/>
          <p:nvPr/>
        </p:nvSpPr>
        <p:spPr>
          <a:xfrm>
            <a:off x="3355848" y="3529584"/>
            <a:ext cx="2432304"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Pode ser necessário solicitar tags ou contadores à </a:t>
            </a:r>
            <a:r>
              <a:rPr lang="en-US" sz="900">
                <a:solidFill>
                  <a:schemeClr val="dk2"/>
                </a:solidFill>
              </a:rPr>
              <a:t>Innovid</a:t>
            </a:r>
            <a:r>
              <a:rPr b="0" i="0" lang="en-US" sz="900" u="none" cap="none" strike="noStrike">
                <a:solidFill>
                  <a:schemeClr val="dk2"/>
                </a:solidFill>
                <a:latin typeface="Arial"/>
                <a:ea typeface="Arial"/>
                <a:cs typeface="Arial"/>
                <a:sym typeface="Arial"/>
              </a:rPr>
              <a:t>, com prazo de 48 horas. Com envelopamento, o mídia inclui o link das peças na RM.</a:t>
            </a:r>
            <a:endParaRPr b="0" i="0" sz="900" u="none" cap="none" strike="noStrike">
              <a:solidFill>
                <a:schemeClr val="dk1"/>
              </a:solidFill>
              <a:latin typeface="Arial"/>
              <a:ea typeface="Arial"/>
              <a:cs typeface="Arial"/>
              <a:sym typeface="Arial"/>
            </a:endParaRPr>
          </a:p>
        </p:txBody>
      </p:sp>
      <p:sp>
        <p:nvSpPr>
          <p:cNvPr id="363" name="Google Shape;363;p11"/>
          <p:cNvSpPr/>
          <p:nvPr/>
        </p:nvSpPr>
        <p:spPr>
          <a:xfrm>
            <a:off x="6035040" y="3108960"/>
            <a:ext cx="2651760" cy="1051560"/>
          </a:xfrm>
          <a:prstGeom prst="roundRect">
            <a:avLst>
              <a:gd fmla="val 869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txBox="1"/>
          <p:nvPr/>
        </p:nvSpPr>
        <p:spPr>
          <a:xfrm>
            <a:off x="6144768" y="3154680"/>
            <a:ext cx="243230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Destinatários</a:t>
            </a:r>
            <a:endParaRPr b="0" i="0" sz="950" u="none" cap="none" strike="noStrike">
              <a:solidFill>
                <a:schemeClr val="dk1"/>
              </a:solidFill>
              <a:latin typeface="Arial"/>
              <a:ea typeface="Arial"/>
              <a:cs typeface="Arial"/>
              <a:sym typeface="Arial"/>
            </a:endParaRPr>
          </a:p>
        </p:txBody>
      </p:sp>
      <p:sp>
        <p:nvSpPr>
          <p:cNvPr id="365" name="Google Shape;365;p11"/>
          <p:cNvSpPr txBox="1"/>
          <p:nvPr/>
        </p:nvSpPr>
        <p:spPr>
          <a:xfrm>
            <a:off x="6144768" y="3529584"/>
            <a:ext cx="2432304"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Kinesso: incluímos taxonomias e contadores na RM. Veículos externos: só as taxonomias, e a </a:t>
            </a:r>
            <a:r>
              <a:rPr lang="en-US" sz="900">
                <a:solidFill>
                  <a:schemeClr val="dk2"/>
                </a:solidFill>
              </a:rPr>
              <a:t>Innovid</a:t>
            </a:r>
            <a:r>
              <a:rPr b="0" i="0" lang="en-US" sz="900" u="none" cap="none" strike="noStrike">
                <a:solidFill>
                  <a:schemeClr val="dk2"/>
                </a:solidFill>
                <a:latin typeface="Arial"/>
                <a:ea typeface="Arial"/>
                <a:cs typeface="Arial"/>
                <a:sym typeface="Arial"/>
              </a:rPr>
              <a:t> envia as informações aos destinatários.</a:t>
            </a:r>
            <a:endParaRPr b="0" i="0" sz="900" u="none" cap="none" strike="noStrike">
              <a:solidFill>
                <a:schemeClr val="dk1"/>
              </a:solidFill>
              <a:latin typeface="Arial"/>
              <a:ea typeface="Arial"/>
              <a:cs typeface="Arial"/>
              <a:sym typeface="Arial"/>
            </a:endParaRPr>
          </a:p>
        </p:txBody>
      </p:sp>
      <p:sp>
        <p:nvSpPr>
          <p:cNvPr id="366" name="Google Shape;366;p11"/>
          <p:cNvSpPr/>
          <p:nvPr/>
        </p:nvSpPr>
        <p:spPr>
          <a:xfrm>
            <a:off x="457200" y="4251960"/>
            <a:ext cx="8229600" cy="411480"/>
          </a:xfrm>
          <a:prstGeom prst="roundRect">
            <a:avLst>
              <a:gd fmla="val 22222"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txBox="1"/>
          <p:nvPr/>
        </p:nvSpPr>
        <p:spPr>
          <a:xfrm>
            <a:off x="594360" y="4251960"/>
            <a:ext cx="7955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950"/>
              <a:buFont typeface="Arial"/>
              <a:buNone/>
            </a:pPr>
            <a:r>
              <a:rPr b="1" i="0" lang="en-US" sz="950" u="none" cap="none" strike="noStrike">
                <a:solidFill>
                  <a:schemeClr val="accent1"/>
                </a:solidFill>
                <a:latin typeface="Arial"/>
                <a:ea typeface="Arial"/>
                <a:cs typeface="Arial"/>
                <a:sym typeface="Arial"/>
              </a:rPr>
              <a:t>Pontos de atenção: </a:t>
            </a:r>
            <a:r>
              <a:rPr b="0" i="0" lang="en-US" sz="950" u="none" cap="none" strike="noStrike">
                <a:solidFill>
                  <a:schemeClr val="lt1"/>
                </a:solidFill>
                <a:latin typeface="Arial"/>
                <a:ea typeface="Arial"/>
                <a:cs typeface="Arial"/>
                <a:sym typeface="Arial"/>
              </a:rPr>
              <a:t>usar a taxonomia exatamente como entregue, ajustes só via Jira, e conferir se ela corresponde à plataforma e à linha do plano antes de implementar.</a:t>
            </a:r>
            <a:endParaRPr b="0" i="0" sz="95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2"/>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IDs e relacionamento das linhas</a:t>
            </a:r>
            <a:endParaRPr sz="2200"/>
          </a:p>
        </p:txBody>
      </p:sp>
      <p:sp>
        <p:nvSpPr>
          <p:cNvPr id="374" name="Google Shape;374;p12"/>
          <p:cNvSpPr txBox="1"/>
          <p:nvPr/>
        </p:nvSpPr>
        <p:spPr>
          <a:xfrm>
            <a:off x="457200" y="1097280"/>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Arial"/>
              <a:buNone/>
            </a:pPr>
            <a:r>
              <a:rPr b="1" i="0" lang="en-US" sz="1300" u="none" cap="none" strike="noStrike">
                <a:solidFill>
                  <a:schemeClr val="dk1"/>
                </a:solidFill>
                <a:latin typeface="Arial"/>
                <a:ea typeface="Arial"/>
                <a:cs typeface="Arial"/>
                <a:sym typeface="Arial"/>
              </a:rPr>
              <a:t>Meta, TikTok e YouTube</a:t>
            </a:r>
            <a:endParaRPr b="0" i="0" sz="1300" u="none" cap="none" strike="noStrike">
              <a:solidFill>
                <a:schemeClr val="dk1"/>
              </a:solidFill>
              <a:latin typeface="Arial"/>
              <a:ea typeface="Arial"/>
              <a:cs typeface="Arial"/>
              <a:sym typeface="Arial"/>
            </a:endParaRPr>
          </a:p>
        </p:txBody>
      </p:sp>
      <p:sp>
        <p:nvSpPr>
          <p:cNvPr id="375" name="Google Shape;375;p12"/>
          <p:cNvSpPr/>
          <p:nvPr/>
        </p:nvSpPr>
        <p:spPr>
          <a:xfrm>
            <a:off x="457200" y="1508760"/>
            <a:ext cx="1143000" cy="822960"/>
          </a:xfrm>
          <a:prstGeom prst="roundRect">
            <a:avLst>
              <a:gd fmla="val 11111"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2"/>
          <p:cNvSpPr txBox="1"/>
          <p:nvPr/>
        </p:nvSpPr>
        <p:spPr>
          <a:xfrm>
            <a:off x="457200" y="1508760"/>
            <a:ext cx="11430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Linha da RM</a:t>
            </a:r>
            <a:endParaRPr b="0" i="0" sz="1150" u="none" cap="none" strike="noStrike">
              <a:solidFill>
                <a:schemeClr val="dk1"/>
              </a:solidFill>
              <a:latin typeface="Arial"/>
              <a:ea typeface="Arial"/>
              <a:cs typeface="Arial"/>
              <a:sym typeface="Arial"/>
            </a:endParaRPr>
          </a:p>
        </p:txBody>
      </p:sp>
      <p:cxnSp>
        <p:nvCxnSpPr>
          <p:cNvPr id="377" name="Google Shape;377;p12"/>
          <p:cNvCxnSpPr/>
          <p:nvPr/>
        </p:nvCxnSpPr>
        <p:spPr>
          <a:xfrm>
            <a:off x="1627632" y="1920240"/>
            <a:ext cx="310896" cy="0"/>
          </a:xfrm>
          <a:prstGeom prst="straightConnector1">
            <a:avLst/>
          </a:prstGeom>
          <a:noFill/>
          <a:ln cap="flat" cmpd="sng" w="22225">
            <a:solidFill>
              <a:schemeClr val="dk2"/>
            </a:solidFill>
            <a:prstDash val="solid"/>
            <a:round/>
            <a:headEnd len="sm" w="sm" type="none"/>
            <a:tailEnd len="med" w="med" type="triangle"/>
          </a:ln>
        </p:spPr>
      </p:cxnSp>
      <p:sp>
        <p:nvSpPr>
          <p:cNvPr id="378" name="Google Shape;378;p12"/>
          <p:cNvSpPr/>
          <p:nvPr/>
        </p:nvSpPr>
        <p:spPr>
          <a:xfrm>
            <a:off x="1965960" y="1508760"/>
            <a:ext cx="1051560" cy="822960"/>
          </a:xfrm>
          <a:prstGeom prst="roundRect">
            <a:avLst>
              <a:gd fmla="val 1111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2"/>
          <p:cNvSpPr txBox="1"/>
          <p:nvPr/>
        </p:nvSpPr>
        <p:spPr>
          <a:xfrm>
            <a:off x="1965960" y="1508760"/>
            <a:ext cx="10515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50"/>
              <a:buFont typeface="Arial"/>
              <a:buNone/>
            </a:pPr>
            <a:r>
              <a:rPr b="1" i="0" lang="en-US" sz="1150" u="none" cap="none" strike="noStrike">
                <a:solidFill>
                  <a:schemeClr val="lt1"/>
                </a:solidFill>
                <a:latin typeface="Arial"/>
                <a:ea typeface="Arial"/>
                <a:cs typeface="Arial"/>
                <a:sym typeface="Arial"/>
              </a:rPr>
              <a:t>ID único</a:t>
            </a:r>
            <a:endParaRPr b="0" i="0" sz="1150" u="none" cap="none" strike="noStrike">
              <a:solidFill>
                <a:schemeClr val="dk1"/>
              </a:solidFill>
              <a:latin typeface="Arial"/>
              <a:ea typeface="Arial"/>
              <a:cs typeface="Arial"/>
              <a:sym typeface="Arial"/>
            </a:endParaRPr>
          </a:p>
        </p:txBody>
      </p:sp>
      <p:cxnSp>
        <p:nvCxnSpPr>
          <p:cNvPr id="380" name="Google Shape;380;p12"/>
          <p:cNvCxnSpPr/>
          <p:nvPr/>
        </p:nvCxnSpPr>
        <p:spPr>
          <a:xfrm>
            <a:off x="3044952" y="1920240"/>
            <a:ext cx="310896" cy="0"/>
          </a:xfrm>
          <a:prstGeom prst="straightConnector1">
            <a:avLst/>
          </a:prstGeom>
          <a:noFill/>
          <a:ln cap="flat" cmpd="sng" w="22225">
            <a:solidFill>
              <a:schemeClr val="dk2"/>
            </a:solidFill>
            <a:prstDash val="solid"/>
            <a:round/>
            <a:headEnd len="sm" w="sm" type="none"/>
            <a:tailEnd len="med" w="med" type="triangle"/>
          </a:ln>
        </p:spPr>
      </p:cxnSp>
      <p:sp>
        <p:nvSpPr>
          <p:cNvPr id="381" name="Google Shape;381;p12"/>
          <p:cNvSpPr/>
          <p:nvPr/>
        </p:nvSpPr>
        <p:spPr>
          <a:xfrm>
            <a:off x="3383280" y="1371600"/>
            <a:ext cx="2194560" cy="329184"/>
          </a:xfrm>
          <a:prstGeom prst="roundRect">
            <a:avLst>
              <a:gd fmla="val 27778"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2"/>
          <p:cNvSpPr txBox="1"/>
          <p:nvPr/>
        </p:nvSpPr>
        <p:spPr>
          <a:xfrm>
            <a:off x="3383280" y="1371600"/>
            <a:ext cx="21945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Campaign ou IO</a:t>
            </a:r>
            <a:endParaRPr b="0" i="0" sz="1100" u="none" cap="none" strike="noStrike">
              <a:solidFill>
                <a:schemeClr val="dk1"/>
              </a:solidFill>
              <a:latin typeface="Arial"/>
              <a:ea typeface="Arial"/>
              <a:cs typeface="Arial"/>
              <a:sym typeface="Arial"/>
            </a:endParaRPr>
          </a:p>
        </p:txBody>
      </p:sp>
      <p:sp>
        <p:nvSpPr>
          <p:cNvPr id="383" name="Google Shape;383;p12"/>
          <p:cNvSpPr/>
          <p:nvPr/>
        </p:nvSpPr>
        <p:spPr>
          <a:xfrm>
            <a:off x="3383280" y="1755648"/>
            <a:ext cx="2194560" cy="329184"/>
          </a:xfrm>
          <a:prstGeom prst="roundRect">
            <a:avLst>
              <a:gd fmla="val 27778"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txBox="1"/>
          <p:nvPr/>
        </p:nvSpPr>
        <p:spPr>
          <a:xfrm>
            <a:off x="3383280" y="1755648"/>
            <a:ext cx="21945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Ad Group</a:t>
            </a:r>
            <a:endParaRPr b="0" i="0" sz="1100" u="none" cap="none" strike="noStrike">
              <a:solidFill>
                <a:schemeClr val="dk1"/>
              </a:solidFill>
              <a:latin typeface="Arial"/>
              <a:ea typeface="Arial"/>
              <a:cs typeface="Arial"/>
              <a:sym typeface="Arial"/>
            </a:endParaRPr>
          </a:p>
        </p:txBody>
      </p:sp>
      <p:sp>
        <p:nvSpPr>
          <p:cNvPr id="385" name="Google Shape;385;p12"/>
          <p:cNvSpPr/>
          <p:nvPr/>
        </p:nvSpPr>
        <p:spPr>
          <a:xfrm>
            <a:off x="3383280" y="2139696"/>
            <a:ext cx="2194560" cy="329184"/>
          </a:xfrm>
          <a:prstGeom prst="roundRect">
            <a:avLst>
              <a:gd fmla="val 27778"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txBox="1"/>
          <p:nvPr/>
        </p:nvSpPr>
        <p:spPr>
          <a:xfrm>
            <a:off x="3383280" y="2139696"/>
            <a:ext cx="21945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Ad Name</a:t>
            </a:r>
            <a:endParaRPr b="0" i="0" sz="1100" u="none" cap="none" strike="noStrike">
              <a:solidFill>
                <a:schemeClr val="dk1"/>
              </a:solidFill>
              <a:latin typeface="Arial"/>
              <a:ea typeface="Arial"/>
              <a:cs typeface="Arial"/>
              <a:sym typeface="Arial"/>
            </a:endParaRPr>
          </a:p>
        </p:txBody>
      </p:sp>
      <p:sp>
        <p:nvSpPr>
          <p:cNvPr id="387" name="Google Shape;387;p12"/>
          <p:cNvSpPr txBox="1"/>
          <p:nvPr/>
        </p:nvSpPr>
        <p:spPr>
          <a:xfrm>
            <a:off x="457200" y="2468880"/>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ID exclusivo, sem reutilização. Campaign ou IO, Ad Group e Ad Name no mesmo ID, ligado também ao Line Item.</a:t>
            </a:r>
            <a:endParaRPr b="0" i="0" sz="950" u="none" cap="none" strike="noStrike">
              <a:solidFill>
                <a:schemeClr val="dk1"/>
              </a:solidFill>
              <a:latin typeface="Arial"/>
              <a:ea typeface="Arial"/>
              <a:cs typeface="Arial"/>
              <a:sym typeface="Arial"/>
            </a:endParaRPr>
          </a:p>
        </p:txBody>
      </p:sp>
      <p:sp>
        <p:nvSpPr>
          <p:cNvPr id="388" name="Google Shape;388;p12"/>
          <p:cNvSpPr txBox="1"/>
          <p:nvPr/>
        </p:nvSpPr>
        <p:spPr>
          <a:xfrm>
            <a:off x="457200" y="2834640"/>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Mesmo anúncio em campanhas, IOs ou Ad Groups diferentes</a:t>
            </a:r>
            <a:endParaRPr b="0" i="0" sz="1200" u="none" cap="none" strike="noStrike">
              <a:solidFill>
                <a:schemeClr val="dk1"/>
              </a:solidFill>
              <a:latin typeface="Arial"/>
              <a:ea typeface="Arial"/>
              <a:cs typeface="Arial"/>
              <a:sym typeface="Arial"/>
            </a:endParaRPr>
          </a:p>
        </p:txBody>
      </p:sp>
      <p:sp>
        <p:nvSpPr>
          <p:cNvPr id="389" name="Google Shape;389;p12"/>
          <p:cNvSpPr/>
          <p:nvPr/>
        </p:nvSpPr>
        <p:spPr>
          <a:xfrm>
            <a:off x="457200" y="3200400"/>
            <a:ext cx="1143000" cy="438912"/>
          </a:xfrm>
          <a:prstGeom prst="roundRect">
            <a:avLst>
              <a:gd fmla="val 2083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Linha 1</a:t>
            </a:r>
            <a:endParaRPr b="0" i="0" sz="1100" u="none" cap="none" strike="noStrike">
              <a:solidFill>
                <a:schemeClr val="dk1"/>
              </a:solidFill>
              <a:latin typeface="Arial"/>
              <a:ea typeface="Arial"/>
              <a:cs typeface="Arial"/>
              <a:sym typeface="Arial"/>
            </a:endParaRPr>
          </a:p>
        </p:txBody>
      </p:sp>
      <p:cxnSp>
        <p:nvCxnSpPr>
          <p:cNvPr id="390" name="Google Shape;390;p12"/>
          <p:cNvCxnSpPr/>
          <p:nvPr/>
        </p:nvCxnSpPr>
        <p:spPr>
          <a:xfrm>
            <a:off x="1627632" y="3419856"/>
            <a:ext cx="310896" cy="0"/>
          </a:xfrm>
          <a:prstGeom prst="straightConnector1">
            <a:avLst/>
          </a:prstGeom>
          <a:noFill/>
          <a:ln cap="flat" cmpd="sng" w="22225">
            <a:solidFill>
              <a:schemeClr val="dk2"/>
            </a:solidFill>
            <a:prstDash val="solid"/>
            <a:round/>
            <a:headEnd len="sm" w="sm" type="none"/>
            <a:tailEnd len="med" w="med" type="triangle"/>
          </a:ln>
        </p:spPr>
      </p:cxnSp>
      <p:sp>
        <p:nvSpPr>
          <p:cNvPr id="391" name="Google Shape;391;p12"/>
          <p:cNvSpPr/>
          <p:nvPr/>
        </p:nvSpPr>
        <p:spPr>
          <a:xfrm>
            <a:off x="1965960" y="3200400"/>
            <a:ext cx="1051560" cy="438912"/>
          </a:xfrm>
          <a:prstGeom prst="roundRect">
            <a:avLst>
              <a:gd fmla="val 20833"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ID 1</a:t>
            </a:r>
            <a:endParaRPr b="0" i="0" sz="1100" u="none" cap="none" strike="noStrike">
              <a:solidFill>
                <a:schemeClr val="dk1"/>
              </a:solidFill>
              <a:latin typeface="Arial"/>
              <a:ea typeface="Arial"/>
              <a:cs typeface="Arial"/>
              <a:sym typeface="Arial"/>
            </a:endParaRPr>
          </a:p>
        </p:txBody>
      </p:sp>
      <p:cxnSp>
        <p:nvCxnSpPr>
          <p:cNvPr id="392" name="Google Shape;392;p12"/>
          <p:cNvCxnSpPr/>
          <p:nvPr/>
        </p:nvCxnSpPr>
        <p:spPr>
          <a:xfrm>
            <a:off x="3044952" y="3419856"/>
            <a:ext cx="310896" cy="0"/>
          </a:xfrm>
          <a:prstGeom prst="straightConnector1">
            <a:avLst/>
          </a:prstGeom>
          <a:noFill/>
          <a:ln cap="flat" cmpd="sng" w="22225">
            <a:solidFill>
              <a:schemeClr val="dk2"/>
            </a:solidFill>
            <a:prstDash val="solid"/>
            <a:round/>
            <a:headEnd len="sm" w="sm" type="none"/>
            <a:tailEnd len="med" w="med" type="triangle"/>
          </a:ln>
        </p:spPr>
      </p:cxnSp>
      <p:sp>
        <p:nvSpPr>
          <p:cNvPr id="393" name="Google Shape;393;p12"/>
          <p:cNvSpPr/>
          <p:nvPr/>
        </p:nvSpPr>
        <p:spPr>
          <a:xfrm>
            <a:off x="3383280" y="3200400"/>
            <a:ext cx="2194560" cy="438912"/>
          </a:xfrm>
          <a:prstGeom prst="roundRect">
            <a:avLst>
              <a:gd fmla="val 208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Ad Group A</a:t>
            </a:r>
            <a:endParaRPr b="0" i="0" sz="1100" u="none" cap="none" strike="noStrike">
              <a:solidFill>
                <a:schemeClr val="dk1"/>
              </a:solidFill>
              <a:latin typeface="Arial"/>
              <a:ea typeface="Arial"/>
              <a:cs typeface="Arial"/>
              <a:sym typeface="Arial"/>
            </a:endParaRPr>
          </a:p>
        </p:txBody>
      </p:sp>
      <p:sp>
        <p:nvSpPr>
          <p:cNvPr id="394" name="Google Shape;394;p12"/>
          <p:cNvSpPr/>
          <p:nvPr/>
        </p:nvSpPr>
        <p:spPr>
          <a:xfrm>
            <a:off x="457200" y="3794760"/>
            <a:ext cx="1143000" cy="438912"/>
          </a:xfrm>
          <a:prstGeom prst="roundRect">
            <a:avLst>
              <a:gd fmla="val 2083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Linha 2</a:t>
            </a:r>
            <a:endParaRPr b="0" i="0" sz="1100" u="none" cap="none" strike="noStrike">
              <a:solidFill>
                <a:schemeClr val="dk1"/>
              </a:solidFill>
              <a:latin typeface="Arial"/>
              <a:ea typeface="Arial"/>
              <a:cs typeface="Arial"/>
              <a:sym typeface="Arial"/>
            </a:endParaRPr>
          </a:p>
        </p:txBody>
      </p:sp>
      <p:cxnSp>
        <p:nvCxnSpPr>
          <p:cNvPr id="395" name="Google Shape;395;p12"/>
          <p:cNvCxnSpPr/>
          <p:nvPr/>
        </p:nvCxnSpPr>
        <p:spPr>
          <a:xfrm>
            <a:off x="1627632" y="4014216"/>
            <a:ext cx="310896" cy="0"/>
          </a:xfrm>
          <a:prstGeom prst="straightConnector1">
            <a:avLst/>
          </a:prstGeom>
          <a:noFill/>
          <a:ln cap="flat" cmpd="sng" w="22225">
            <a:solidFill>
              <a:schemeClr val="dk2"/>
            </a:solidFill>
            <a:prstDash val="solid"/>
            <a:round/>
            <a:headEnd len="sm" w="sm" type="none"/>
            <a:tailEnd len="med" w="med" type="triangle"/>
          </a:ln>
        </p:spPr>
      </p:cxnSp>
      <p:sp>
        <p:nvSpPr>
          <p:cNvPr id="396" name="Google Shape;396;p12"/>
          <p:cNvSpPr/>
          <p:nvPr/>
        </p:nvSpPr>
        <p:spPr>
          <a:xfrm>
            <a:off x="1965960" y="3794760"/>
            <a:ext cx="1051560" cy="438912"/>
          </a:xfrm>
          <a:prstGeom prst="roundRect">
            <a:avLst>
              <a:gd fmla="val 20833"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ID 2</a:t>
            </a:r>
            <a:endParaRPr b="0" i="0" sz="1100" u="none" cap="none" strike="noStrike">
              <a:solidFill>
                <a:schemeClr val="dk1"/>
              </a:solidFill>
              <a:latin typeface="Arial"/>
              <a:ea typeface="Arial"/>
              <a:cs typeface="Arial"/>
              <a:sym typeface="Arial"/>
            </a:endParaRPr>
          </a:p>
        </p:txBody>
      </p:sp>
      <p:cxnSp>
        <p:nvCxnSpPr>
          <p:cNvPr id="397" name="Google Shape;397;p12"/>
          <p:cNvCxnSpPr/>
          <p:nvPr/>
        </p:nvCxnSpPr>
        <p:spPr>
          <a:xfrm>
            <a:off x="3044952" y="4014216"/>
            <a:ext cx="310896" cy="0"/>
          </a:xfrm>
          <a:prstGeom prst="straightConnector1">
            <a:avLst/>
          </a:prstGeom>
          <a:noFill/>
          <a:ln cap="flat" cmpd="sng" w="22225">
            <a:solidFill>
              <a:schemeClr val="dk2"/>
            </a:solidFill>
            <a:prstDash val="solid"/>
            <a:round/>
            <a:headEnd len="sm" w="sm" type="none"/>
            <a:tailEnd len="med" w="med" type="triangle"/>
          </a:ln>
        </p:spPr>
      </p:cxnSp>
      <p:sp>
        <p:nvSpPr>
          <p:cNvPr id="398" name="Google Shape;398;p12"/>
          <p:cNvSpPr/>
          <p:nvPr/>
        </p:nvSpPr>
        <p:spPr>
          <a:xfrm>
            <a:off x="3383280" y="3794760"/>
            <a:ext cx="2194560" cy="438912"/>
          </a:xfrm>
          <a:prstGeom prst="roundRect">
            <a:avLst>
              <a:gd fmla="val 208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Ad Group B</a:t>
            </a:r>
            <a:endParaRPr b="0" i="0" sz="1100" u="none" cap="none" strike="noStrike">
              <a:solidFill>
                <a:schemeClr val="dk1"/>
              </a:solidFill>
              <a:latin typeface="Arial"/>
              <a:ea typeface="Arial"/>
              <a:cs typeface="Arial"/>
              <a:sym typeface="Arial"/>
            </a:endParaRPr>
          </a:p>
        </p:txBody>
      </p:sp>
      <p:sp>
        <p:nvSpPr>
          <p:cNvPr id="399" name="Google Shape;399;p12"/>
          <p:cNvSpPr txBox="1"/>
          <p:nvPr/>
        </p:nvSpPr>
        <p:spPr>
          <a:xfrm>
            <a:off x="457200" y="4434840"/>
            <a:ext cx="51206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Cada linha é solicitada individualmente na RM, para ter um ID específico.</a:t>
            </a:r>
            <a:endParaRPr b="0" i="0" sz="950" u="none" cap="none" strike="noStrike">
              <a:solidFill>
                <a:schemeClr val="dk1"/>
              </a:solidFill>
              <a:latin typeface="Arial"/>
              <a:ea typeface="Arial"/>
              <a:cs typeface="Arial"/>
              <a:sym typeface="Arial"/>
            </a:endParaRPr>
          </a:p>
        </p:txBody>
      </p:sp>
      <p:sp>
        <p:nvSpPr>
          <p:cNvPr id="400" name="Google Shape;400;p12"/>
          <p:cNvSpPr/>
          <p:nvPr/>
        </p:nvSpPr>
        <p:spPr>
          <a:xfrm>
            <a:off x="5943600" y="1097280"/>
            <a:ext cx="2743200" cy="3520440"/>
          </a:xfrm>
          <a:prstGeom prst="roundRect">
            <a:avLst>
              <a:gd fmla="val 3333"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
          <p:cNvSpPr txBox="1"/>
          <p:nvPr/>
        </p:nvSpPr>
        <p:spPr>
          <a:xfrm>
            <a:off x="6126480" y="1280160"/>
            <a:ext cx="23774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50"/>
              <a:buFont typeface="Arial"/>
              <a:buNone/>
            </a:pPr>
            <a:r>
              <a:rPr b="1" i="0" lang="en-US" sz="1250" u="none" cap="none" strike="noStrike">
                <a:solidFill>
                  <a:schemeClr val="dk1"/>
                </a:solidFill>
                <a:latin typeface="Arial"/>
                <a:ea typeface="Arial"/>
                <a:cs typeface="Arial"/>
                <a:sym typeface="Arial"/>
              </a:rPr>
              <a:t>Pinterest, Twitter, Amazon DSP, Programática e Compra Direta</a:t>
            </a:r>
            <a:endParaRPr b="0" i="0" sz="1250" u="none" cap="none" strike="noStrike">
              <a:solidFill>
                <a:schemeClr val="dk1"/>
              </a:solidFill>
              <a:latin typeface="Arial"/>
              <a:ea typeface="Arial"/>
              <a:cs typeface="Arial"/>
              <a:sym typeface="Arial"/>
            </a:endParaRPr>
          </a:p>
        </p:txBody>
      </p:sp>
      <p:sp>
        <p:nvSpPr>
          <p:cNvPr id="402" name="Google Shape;402;p12"/>
          <p:cNvSpPr txBox="1"/>
          <p:nvPr/>
        </p:nvSpPr>
        <p:spPr>
          <a:xfrm>
            <a:off x="6126480" y="2011680"/>
            <a:ext cx="2377440" cy="24688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A </a:t>
            </a:r>
            <a:r>
              <a:rPr lang="en-US" sz="1100">
                <a:solidFill>
                  <a:schemeClr val="dk1"/>
                </a:solidFill>
              </a:rPr>
              <a:t>Innovid</a:t>
            </a:r>
            <a:r>
              <a:rPr b="0" i="0" lang="en-US" sz="1100" u="none" cap="none" strike="noStrike">
                <a:solidFill>
                  <a:schemeClr val="dk1"/>
                </a:solidFill>
                <a:latin typeface="Arial"/>
                <a:ea typeface="Arial"/>
                <a:cs typeface="Arial"/>
                <a:sym typeface="Arial"/>
              </a:rPr>
              <a:t> também gera um ID único para cada Placement, que deve ser respeitado na implementação</a:t>
            </a:r>
            <a:endParaRPr b="0" i="0" sz="11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Cada linha precisa estar vinculada ao seu ID</a:t>
            </a:r>
            <a:endParaRPr b="0" i="0" sz="11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Não reutilizar IDs nem misturar informações de linhas diferentes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3"/>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AdServer e Grupos Teams</a:t>
            </a:r>
            <a:endParaRPr sz="2200"/>
          </a:p>
        </p:txBody>
      </p:sp>
      <p:sp>
        <p:nvSpPr>
          <p:cNvPr id="409" name="Google Shape;409;p13"/>
          <p:cNvSpPr/>
          <p:nvPr/>
        </p:nvSpPr>
        <p:spPr>
          <a:xfrm>
            <a:off x="457200" y="1097280"/>
            <a:ext cx="2468880" cy="1280160"/>
          </a:xfrm>
          <a:prstGeom prst="roundRect">
            <a:avLst>
              <a:gd fmla="val 7143"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566928" y="1170432"/>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411" name="Google Shape;411;p13"/>
          <p:cNvSpPr txBox="1"/>
          <p:nvPr/>
        </p:nvSpPr>
        <p:spPr>
          <a:xfrm>
            <a:off x="960120" y="1170432"/>
            <a:ext cx="1874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ADP por e-mail</a:t>
            </a:r>
            <a:endParaRPr b="0" i="0" sz="1150" u="none" cap="none" strike="noStrike">
              <a:solidFill>
                <a:schemeClr val="dk1"/>
              </a:solidFill>
              <a:latin typeface="Arial"/>
              <a:ea typeface="Arial"/>
              <a:cs typeface="Arial"/>
              <a:sym typeface="Arial"/>
            </a:endParaRPr>
          </a:p>
        </p:txBody>
      </p:sp>
      <p:sp>
        <p:nvSpPr>
          <p:cNvPr id="412" name="Google Shape;412;p13"/>
          <p:cNvSpPr txBox="1"/>
          <p:nvPr/>
        </p:nvSpPr>
        <p:spPr>
          <a:xfrm>
            <a:off x="566928" y="1554480"/>
            <a:ext cx="2249424"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O ADP é enviado à </a:t>
            </a:r>
            <a:r>
              <a:rPr lang="en-US" sz="950">
                <a:solidFill>
                  <a:schemeClr val="dk2"/>
                </a:solidFill>
              </a:rPr>
              <a:t>Innovid</a:t>
            </a:r>
            <a:r>
              <a:rPr b="0" i="0" lang="en-US" sz="950" u="none" cap="none" strike="noStrike">
                <a:solidFill>
                  <a:schemeClr val="dk2"/>
                </a:solidFill>
                <a:latin typeface="Arial"/>
                <a:ea typeface="Arial"/>
                <a:cs typeface="Arial"/>
                <a:sym typeface="Arial"/>
              </a:rPr>
              <a:t> em uma thread, com instruções e solicitação dos rastreadores.</a:t>
            </a:r>
            <a:endParaRPr b="0" i="0" sz="950" u="none" cap="none" strike="noStrike">
              <a:solidFill>
                <a:schemeClr val="dk1"/>
              </a:solidFill>
              <a:latin typeface="Arial"/>
              <a:ea typeface="Arial"/>
              <a:cs typeface="Arial"/>
              <a:sym typeface="Arial"/>
            </a:endParaRPr>
          </a:p>
        </p:txBody>
      </p:sp>
      <p:sp>
        <p:nvSpPr>
          <p:cNvPr id="413" name="Google Shape;413;p13"/>
          <p:cNvSpPr/>
          <p:nvPr/>
        </p:nvSpPr>
        <p:spPr>
          <a:xfrm>
            <a:off x="1828800" y="2084832"/>
            <a:ext cx="1005840" cy="219456"/>
          </a:xfrm>
          <a:prstGeom prst="roundRect">
            <a:avLst>
              <a:gd fmla="val 41667"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850"/>
              <a:buFont typeface="Arial"/>
              <a:buNone/>
            </a:pPr>
            <a:r>
              <a:rPr b="1" i="0" lang="en-US" sz="850" u="none" cap="none" strike="noStrike">
                <a:solidFill>
                  <a:schemeClr val="lt1"/>
                </a:solidFill>
                <a:latin typeface="Arial"/>
                <a:ea typeface="Arial"/>
                <a:cs typeface="Arial"/>
                <a:sym typeface="Arial"/>
              </a:rPr>
              <a:t>Stormx</a:t>
            </a:r>
            <a:endParaRPr b="0" i="0" sz="850" u="none" cap="none" strike="noStrike">
              <a:solidFill>
                <a:schemeClr val="dk1"/>
              </a:solidFill>
              <a:latin typeface="Arial"/>
              <a:ea typeface="Arial"/>
              <a:cs typeface="Arial"/>
              <a:sym typeface="Arial"/>
            </a:endParaRPr>
          </a:p>
        </p:txBody>
      </p:sp>
      <p:cxnSp>
        <p:nvCxnSpPr>
          <p:cNvPr id="414" name="Google Shape;414;p13"/>
          <p:cNvCxnSpPr/>
          <p:nvPr/>
        </p:nvCxnSpPr>
        <p:spPr>
          <a:xfrm>
            <a:off x="2962656" y="1737360"/>
            <a:ext cx="338328" cy="0"/>
          </a:xfrm>
          <a:prstGeom prst="straightConnector1">
            <a:avLst/>
          </a:prstGeom>
          <a:noFill/>
          <a:ln cap="flat" cmpd="sng" w="22225">
            <a:solidFill>
              <a:schemeClr val="dk2"/>
            </a:solidFill>
            <a:prstDash val="solid"/>
            <a:round/>
            <a:headEnd len="sm" w="sm" type="none"/>
            <a:tailEnd len="med" w="med" type="triangle"/>
          </a:ln>
        </p:spPr>
      </p:cxnSp>
      <p:sp>
        <p:nvSpPr>
          <p:cNvPr id="415" name="Google Shape;415;p13"/>
          <p:cNvSpPr/>
          <p:nvPr/>
        </p:nvSpPr>
        <p:spPr>
          <a:xfrm>
            <a:off x="3337560" y="1097280"/>
            <a:ext cx="2468880" cy="1280160"/>
          </a:xfrm>
          <a:prstGeom prst="roundRect">
            <a:avLst>
              <a:gd fmla="val 7143"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a:off x="3447288" y="1170432"/>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417" name="Google Shape;417;p13"/>
          <p:cNvSpPr txBox="1"/>
          <p:nvPr/>
        </p:nvSpPr>
        <p:spPr>
          <a:xfrm>
            <a:off x="3840480" y="1170432"/>
            <a:ext cx="1874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Ajustes e confirmação</a:t>
            </a:r>
            <a:endParaRPr b="0" i="0" sz="1150" u="none" cap="none" strike="noStrike">
              <a:solidFill>
                <a:schemeClr val="dk1"/>
              </a:solidFill>
              <a:latin typeface="Arial"/>
              <a:ea typeface="Arial"/>
              <a:cs typeface="Arial"/>
              <a:sym typeface="Arial"/>
            </a:endParaRPr>
          </a:p>
        </p:txBody>
      </p:sp>
      <p:sp>
        <p:nvSpPr>
          <p:cNvPr id="418" name="Google Shape;418;p13"/>
          <p:cNvSpPr txBox="1"/>
          <p:nvPr/>
        </p:nvSpPr>
        <p:spPr>
          <a:xfrm>
            <a:off x="3447288" y="1554480"/>
            <a:ext cx="2249424"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Ajustes são feitos conforme o AdServer pede. Após confirmação, ele envia o ADP atualizado.</a:t>
            </a:r>
            <a:endParaRPr b="0" i="0" sz="950" u="none" cap="none" strike="noStrike">
              <a:solidFill>
                <a:schemeClr val="dk1"/>
              </a:solidFill>
              <a:latin typeface="Arial"/>
              <a:ea typeface="Arial"/>
              <a:cs typeface="Arial"/>
              <a:sym typeface="Arial"/>
            </a:endParaRPr>
          </a:p>
        </p:txBody>
      </p:sp>
      <p:sp>
        <p:nvSpPr>
          <p:cNvPr id="419" name="Google Shape;419;p13"/>
          <p:cNvSpPr/>
          <p:nvPr/>
        </p:nvSpPr>
        <p:spPr>
          <a:xfrm>
            <a:off x="4709160" y="2084832"/>
            <a:ext cx="1005840" cy="219456"/>
          </a:xfrm>
          <a:prstGeom prst="roundRect">
            <a:avLst>
              <a:gd fmla="val 41667"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lang="en-US" sz="850">
                <a:solidFill>
                  <a:schemeClr val="dk1"/>
                </a:solidFill>
              </a:rPr>
              <a:t>Innovid</a:t>
            </a:r>
            <a:endParaRPr b="0" i="0" sz="850" u="none" cap="none" strike="noStrike">
              <a:solidFill>
                <a:schemeClr val="dk1"/>
              </a:solidFill>
              <a:latin typeface="Arial"/>
              <a:ea typeface="Arial"/>
              <a:cs typeface="Arial"/>
              <a:sym typeface="Arial"/>
            </a:endParaRPr>
          </a:p>
        </p:txBody>
      </p:sp>
      <p:cxnSp>
        <p:nvCxnSpPr>
          <p:cNvPr id="420" name="Google Shape;420;p13"/>
          <p:cNvCxnSpPr/>
          <p:nvPr/>
        </p:nvCxnSpPr>
        <p:spPr>
          <a:xfrm>
            <a:off x="5843016" y="1737360"/>
            <a:ext cx="338328" cy="0"/>
          </a:xfrm>
          <a:prstGeom prst="straightConnector1">
            <a:avLst/>
          </a:prstGeom>
          <a:noFill/>
          <a:ln cap="flat" cmpd="sng" w="22225">
            <a:solidFill>
              <a:schemeClr val="dk2"/>
            </a:solidFill>
            <a:prstDash val="solid"/>
            <a:round/>
            <a:headEnd len="sm" w="sm" type="none"/>
            <a:tailEnd len="med" w="med" type="triangle"/>
          </a:ln>
        </p:spPr>
      </p:cxnSp>
      <p:sp>
        <p:nvSpPr>
          <p:cNvPr id="421" name="Google Shape;421;p13"/>
          <p:cNvSpPr/>
          <p:nvPr/>
        </p:nvSpPr>
        <p:spPr>
          <a:xfrm>
            <a:off x="6217920" y="1097280"/>
            <a:ext cx="2468880" cy="1280160"/>
          </a:xfrm>
          <a:prstGeom prst="roundRect">
            <a:avLst>
              <a:gd fmla="val 7143"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3"/>
          <p:cNvSpPr/>
          <p:nvPr/>
        </p:nvSpPr>
        <p:spPr>
          <a:xfrm>
            <a:off x="6327648" y="1170432"/>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423" name="Google Shape;423;p13"/>
          <p:cNvSpPr txBox="1"/>
          <p:nvPr/>
        </p:nvSpPr>
        <p:spPr>
          <a:xfrm>
            <a:off x="6720840" y="1170432"/>
            <a:ext cx="1874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050" u="none" cap="none" strike="noStrike">
                <a:solidFill>
                  <a:schemeClr val="dk1"/>
                </a:solidFill>
                <a:latin typeface="Arial"/>
                <a:ea typeface="Arial"/>
                <a:cs typeface="Arial"/>
                <a:sym typeface="Arial"/>
              </a:rPr>
              <a:t>ADP no Jira e RM pree</a:t>
            </a:r>
            <a:r>
              <a:rPr b="1" lang="en-US" sz="1050">
                <a:solidFill>
                  <a:schemeClr val="dk1"/>
                </a:solidFill>
              </a:rPr>
              <a:t>nchida</a:t>
            </a:r>
            <a:endParaRPr b="0" i="0" sz="1050" u="none" cap="none" strike="noStrike">
              <a:solidFill>
                <a:schemeClr val="dk1"/>
              </a:solidFill>
              <a:latin typeface="Arial"/>
              <a:ea typeface="Arial"/>
              <a:cs typeface="Arial"/>
              <a:sym typeface="Arial"/>
            </a:endParaRPr>
          </a:p>
        </p:txBody>
      </p:sp>
      <p:sp>
        <p:nvSpPr>
          <p:cNvPr id="424" name="Google Shape;424;p13"/>
          <p:cNvSpPr txBox="1"/>
          <p:nvPr/>
        </p:nvSpPr>
        <p:spPr>
          <a:xfrm>
            <a:off x="6327650" y="1554475"/>
            <a:ext cx="23133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850" u="none" cap="none" strike="noStrike">
                <a:solidFill>
                  <a:schemeClr val="dk2"/>
                </a:solidFill>
                <a:latin typeface="Arial"/>
                <a:ea typeface="Arial"/>
                <a:cs typeface="Arial"/>
                <a:sym typeface="Arial"/>
              </a:rPr>
              <a:t>A Stormx adiciona o ADP na tarefa principal do Jira e avisa os mídias para darem continuidade. Além diss</a:t>
            </a:r>
            <a:r>
              <a:rPr lang="en-US" sz="850">
                <a:solidFill>
                  <a:schemeClr val="dk2"/>
                </a:solidFill>
              </a:rPr>
              <a:t>o, adiciona as taxonomias e os contadores na RM.</a:t>
            </a:r>
            <a:endParaRPr b="0" i="0" sz="850" u="none" cap="none" strike="noStrike">
              <a:solidFill>
                <a:schemeClr val="dk1"/>
              </a:solidFill>
              <a:latin typeface="Arial"/>
              <a:ea typeface="Arial"/>
              <a:cs typeface="Arial"/>
              <a:sym typeface="Arial"/>
            </a:endParaRPr>
          </a:p>
        </p:txBody>
      </p:sp>
      <p:sp>
        <p:nvSpPr>
          <p:cNvPr id="425" name="Google Shape;425;p13"/>
          <p:cNvSpPr/>
          <p:nvPr/>
        </p:nvSpPr>
        <p:spPr>
          <a:xfrm>
            <a:off x="7589520" y="2084832"/>
            <a:ext cx="1005840" cy="219456"/>
          </a:xfrm>
          <a:prstGeom prst="roundRect">
            <a:avLst>
              <a:gd fmla="val 41667"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850"/>
              <a:buFont typeface="Arial"/>
              <a:buNone/>
            </a:pPr>
            <a:r>
              <a:rPr b="1" i="0" lang="en-US" sz="850" u="none" cap="none" strike="noStrike">
                <a:solidFill>
                  <a:schemeClr val="lt1"/>
                </a:solidFill>
                <a:latin typeface="Arial"/>
                <a:ea typeface="Arial"/>
                <a:cs typeface="Arial"/>
                <a:sym typeface="Arial"/>
              </a:rPr>
              <a:t>Stormx</a:t>
            </a:r>
            <a:endParaRPr b="0" i="0" sz="850" u="none" cap="none" strike="noStrike">
              <a:solidFill>
                <a:schemeClr val="dk1"/>
              </a:solidFill>
              <a:latin typeface="Arial"/>
              <a:ea typeface="Arial"/>
              <a:cs typeface="Arial"/>
              <a:sym typeface="Arial"/>
            </a:endParaRPr>
          </a:p>
        </p:txBody>
      </p:sp>
      <p:sp>
        <p:nvSpPr>
          <p:cNvPr id="426" name="Google Shape;426;p13"/>
          <p:cNvSpPr/>
          <p:nvPr/>
        </p:nvSpPr>
        <p:spPr>
          <a:xfrm>
            <a:off x="457200" y="2514600"/>
            <a:ext cx="4023360" cy="914400"/>
          </a:xfrm>
          <a:prstGeom prst="roundRect">
            <a:avLst>
              <a:gd fmla="val 100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txBox="1"/>
          <p:nvPr/>
        </p:nvSpPr>
        <p:spPr>
          <a:xfrm>
            <a:off x="594360" y="2514600"/>
            <a:ext cx="3749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Quem entra na thread</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Todos os envolvidos da campanha: mídias, Kinesso e, se for via </a:t>
            </a:r>
            <a:r>
              <a:rPr lang="en-US" sz="900">
                <a:solidFill>
                  <a:schemeClr val="dk2"/>
                </a:solidFill>
              </a:rPr>
              <a:t>Innovid</a:t>
            </a:r>
            <a:r>
              <a:rPr b="0" i="0" lang="en-US" sz="900" u="none" cap="none" strike="noStrike">
                <a:solidFill>
                  <a:schemeClr val="dk2"/>
                </a:solidFill>
                <a:latin typeface="Arial"/>
                <a:ea typeface="Arial"/>
                <a:cs typeface="Arial"/>
                <a:sym typeface="Arial"/>
              </a:rPr>
              <a:t>, o responsável do veículo, por exemplo Globo. Exemplo de thread: ADP | Brilhante | Diamond | 2026 | </a:t>
            </a:r>
            <a:r>
              <a:rPr lang="en-US" sz="900">
                <a:solidFill>
                  <a:schemeClr val="dk2"/>
                </a:solidFill>
              </a:rPr>
              <a:t>Innovid</a:t>
            </a:r>
            <a:endParaRPr b="0" i="0" sz="1100" u="none" cap="none" strike="noStrike">
              <a:solidFill>
                <a:schemeClr val="dk1"/>
              </a:solidFill>
              <a:latin typeface="Arial"/>
              <a:ea typeface="Arial"/>
              <a:cs typeface="Arial"/>
              <a:sym typeface="Arial"/>
            </a:endParaRPr>
          </a:p>
        </p:txBody>
      </p:sp>
      <p:sp>
        <p:nvSpPr>
          <p:cNvPr id="428" name="Google Shape;428;p13"/>
          <p:cNvSpPr/>
          <p:nvPr/>
        </p:nvSpPr>
        <p:spPr>
          <a:xfrm>
            <a:off x="4663440" y="2514600"/>
            <a:ext cx="4023360" cy="914400"/>
          </a:xfrm>
          <a:prstGeom prst="roundRect">
            <a:avLst>
              <a:gd fmla="val 100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txBox="1"/>
          <p:nvPr/>
        </p:nvSpPr>
        <p:spPr>
          <a:xfrm>
            <a:off x="4800600" y="2514600"/>
            <a:ext cx="3749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Mudanças no meio do processo</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Alteração de taxonomia, de peça (se via contador) ou de período: enviar à Stormx via Jira ou Teams. O responsável da BU na Stormx envia a alteração na thread e a </a:t>
            </a:r>
            <a:r>
              <a:rPr lang="en-US" sz="900">
                <a:solidFill>
                  <a:schemeClr val="dk2"/>
                </a:solidFill>
              </a:rPr>
              <a:t>Innovid</a:t>
            </a:r>
            <a:r>
              <a:rPr b="0" i="0" lang="en-US" sz="900" u="none" cap="none" strike="noStrike">
                <a:solidFill>
                  <a:schemeClr val="dk2"/>
                </a:solidFill>
                <a:latin typeface="Arial"/>
                <a:ea typeface="Arial"/>
                <a:cs typeface="Arial"/>
                <a:sym typeface="Arial"/>
              </a:rPr>
              <a:t> segue com a nova solicitação.</a:t>
            </a:r>
            <a:endParaRPr b="0" i="0" sz="1100" u="none" cap="none" strike="noStrike">
              <a:solidFill>
                <a:schemeClr val="dk1"/>
              </a:solidFill>
              <a:latin typeface="Arial"/>
              <a:ea typeface="Arial"/>
              <a:cs typeface="Arial"/>
              <a:sym typeface="Arial"/>
            </a:endParaRPr>
          </a:p>
        </p:txBody>
      </p:sp>
      <p:sp>
        <p:nvSpPr>
          <p:cNvPr id="430" name="Google Shape;430;p13"/>
          <p:cNvSpPr/>
          <p:nvPr/>
        </p:nvSpPr>
        <p:spPr>
          <a:xfrm>
            <a:off x="457200" y="3566160"/>
            <a:ext cx="8229600" cy="1097280"/>
          </a:xfrm>
          <a:prstGeom prst="roundRect">
            <a:avLst>
              <a:gd fmla="val 8333"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
          <p:cNvSpPr txBox="1"/>
          <p:nvPr/>
        </p:nvSpPr>
        <p:spPr>
          <a:xfrm>
            <a:off x="594360" y="3630168"/>
            <a:ext cx="23774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50"/>
              <a:buFont typeface="Arial"/>
              <a:buNone/>
            </a:pPr>
            <a:r>
              <a:rPr b="1" i="0" lang="en-US" sz="1150" u="none" cap="none" strike="noStrike">
                <a:solidFill>
                  <a:schemeClr val="dk1"/>
                </a:solidFill>
                <a:latin typeface="Arial"/>
                <a:ea typeface="Arial"/>
                <a:cs typeface="Arial"/>
                <a:sym typeface="Arial"/>
              </a:rPr>
              <a:t>Grupos Teams</a:t>
            </a:r>
            <a:endParaRPr b="0" i="0" sz="1150" u="none" cap="none" strike="noStrike">
              <a:solidFill>
                <a:schemeClr val="dk1"/>
              </a:solidFill>
              <a:latin typeface="Arial"/>
              <a:ea typeface="Arial"/>
              <a:cs typeface="Arial"/>
              <a:sym typeface="Arial"/>
            </a:endParaRPr>
          </a:p>
        </p:txBody>
      </p:sp>
      <p:sp>
        <p:nvSpPr>
          <p:cNvPr id="432" name="Google Shape;432;p13"/>
          <p:cNvSpPr txBox="1"/>
          <p:nvPr/>
        </p:nvSpPr>
        <p:spPr>
          <a:xfrm>
            <a:off x="594360" y="3904488"/>
            <a:ext cx="25603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Usar exclusivamente para alinhamentos entre Stormx, Initiative e </a:t>
            </a:r>
            <a:r>
              <a:rPr lang="en-US" sz="900">
                <a:solidFill>
                  <a:schemeClr val="dk2"/>
                </a:solidFill>
              </a:rPr>
              <a:t>Innovid</a:t>
            </a:r>
            <a:r>
              <a:rPr b="0" i="0" lang="en-US" sz="900" u="none" cap="none" strike="noStrike">
                <a:solidFill>
                  <a:schemeClr val="dk2"/>
                </a:solidFill>
                <a:latin typeface="Arial"/>
                <a:ea typeface="Arial"/>
                <a:cs typeface="Arial"/>
                <a:sym typeface="Arial"/>
              </a:rPr>
              <a:t>, para todos acompanharem as definições da operação.</a:t>
            </a:r>
            <a:endParaRPr b="0" i="0" sz="900" u="none" cap="none" strike="noStrike">
              <a:solidFill>
                <a:schemeClr val="dk1"/>
              </a:solidFill>
              <a:latin typeface="Arial"/>
              <a:ea typeface="Arial"/>
              <a:cs typeface="Arial"/>
              <a:sym typeface="Arial"/>
            </a:endParaRPr>
          </a:p>
        </p:txBody>
      </p:sp>
      <p:sp>
        <p:nvSpPr>
          <p:cNvPr id="433" name="Google Shape;433;p13"/>
          <p:cNvSpPr/>
          <p:nvPr/>
        </p:nvSpPr>
        <p:spPr>
          <a:xfrm>
            <a:off x="3337560" y="3630168"/>
            <a:ext cx="1097280" cy="219456"/>
          </a:xfrm>
          <a:prstGeom prst="roundRect">
            <a:avLst>
              <a:gd fmla="val 41667"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Utilize para</a:t>
            </a:r>
            <a:endParaRPr b="0" i="0" sz="900" u="none" cap="none" strike="noStrike">
              <a:solidFill>
                <a:schemeClr val="dk1"/>
              </a:solidFill>
              <a:latin typeface="Arial"/>
              <a:ea typeface="Arial"/>
              <a:cs typeface="Arial"/>
              <a:sym typeface="Arial"/>
            </a:endParaRPr>
          </a:p>
        </p:txBody>
      </p:sp>
      <p:sp>
        <p:nvSpPr>
          <p:cNvPr id="434" name="Google Shape;434;p13"/>
          <p:cNvSpPr txBox="1"/>
          <p:nvPr/>
        </p:nvSpPr>
        <p:spPr>
          <a:xfrm>
            <a:off x="3337560" y="3904488"/>
            <a:ext cx="2468880" cy="7315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Alinhamentos que envolvam a </a:t>
            </a:r>
            <a:r>
              <a:rPr lang="en-US" sz="900">
                <a:solidFill>
                  <a:schemeClr val="dk1"/>
                </a:solidFill>
              </a:rPr>
              <a:t>Innovid</a:t>
            </a:r>
            <a:endParaRPr b="0" i="0" sz="900" u="none" cap="none" strike="noStrike">
              <a:solidFill>
                <a:schemeClr val="dk1"/>
              </a:solidFill>
              <a:latin typeface="Arial"/>
              <a:ea typeface="Arial"/>
              <a:cs typeface="Arial"/>
              <a:sym typeface="Arial"/>
            </a:endParaRPr>
          </a:p>
          <a:p>
            <a:pPr indent="-342900" lvl="0" marL="342900" marR="0" rtl="0" algn="l">
              <a:spcBef>
                <a:spcPts val="2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Dúvidas e definições técnicas</a:t>
            </a:r>
            <a:endParaRPr b="0" i="0" sz="900" u="none" cap="none" strike="noStrike">
              <a:solidFill>
                <a:schemeClr val="dk1"/>
              </a:solidFill>
              <a:latin typeface="Arial"/>
              <a:ea typeface="Arial"/>
              <a:cs typeface="Arial"/>
              <a:sym typeface="Arial"/>
            </a:endParaRPr>
          </a:p>
        </p:txBody>
      </p:sp>
      <p:sp>
        <p:nvSpPr>
          <p:cNvPr id="435" name="Google Shape;435;p13"/>
          <p:cNvSpPr/>
          <p:nvPr/>
        </p:nvSpPr>
        <p:spPr>
          <a:xfrm>
            <a:off x="5989320" y="3630168"/>
            <a:ext cx="1280160" cy="219456"/>
          </a:xfrm>
          <a:prstGeom prst="roundRect">
            <a:avLst>
              <a:gd fmla="val 41667"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00"/>
              <a:buFont typeface="Arial"/>
              <a:buNone/>
            </a:pPr>
            <a:r>
              <a:rPr b="1" i="0" lang="en-US" sz="900" u="none" cap="none" strike="noStrike">
                <a:solidFill>
                  <a:schemeClr val="lt1"/>
                </a:solidFill>
                <a:latin typeface="Arial"/>
                <a:ea typeface="Arial"/>
                <a:cs typeface="Arial"/>
                <a:sym typeface="Arial"/>
              </a:rPr>
              <a:t>Não utilize para</a:t>
            </a:r>
            <a:endParaRPr b="0" i="0" sz="900" u="none" cap="none" strike="noStrike">
              <a:solidFill>
                <a:schemeClr val="dk1"/>
              </a:solidFill>
              <a:latin typeface="Arial"/>
              <a:ea typeface="Arial"/>
              <a:cs typeface="Arial"/>
              <a:sym typeface="Arial"/>
            </a:endParaRPr>
          </a:p>
        </p:txBody>
      </p:sp>
      <p:sp>
        <p:nvSpPr>
          <p:cNvPr id="436" name="Google Shape;436;p13"/>
          <p:cNvSpPr txBox="1"/>
          <p:nvPr/>
        </p:nvSpPr>
        <p:spPr>
          <a:xfrm>
            <a:off x="5989320" y="3904488"/>
            <a:ext cx="2651760" cy="7315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Solicitações que envolvam a taxonomia</a:t>
            </a:r>
            <a:endParaRPr b="0" i="0" sz="900" u="none" cap="none" strike="noStrike">
              <a:solidFill>
                <a:schemeClr val="dk1"/>
              </a:solidFill>
              <a:latin typeface="Arial"/>
              <a:ea typeface="Arial"/>
              <a:cs typeface="Arial"/>
              <a:sym typeface="Arial"/>
            </a:endParaRPr>
          </a:p>
          <a:p>
            <a:pPr indent="-342900" lvl="0" marL="342900" marR="0" rtl="0" algn="l">
              <a:spcBef>
                <a:spcPts val="2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Alterações na RM</a:t>
            </a:r>
            <a:endParaRPr b="0" i="0" sz="900" u="none" cap="none" strike="noStrike">
              <a:solidFill>
                <a:schemeClr val="dk1"/>
              </a:solidFill>
              <a:latin typeface="Arial"/>
              <a:ea typeface="Arial"/>
              <a:cs typeface="Arial"/>
              <a:sym typeface="Arial"/>
            </a:endParaRPr>
          </a:p>
          <a:p>
            <a:pPr indent="-342900" lvl="0" marL="342900" marR="0" rtl="0" algn="l">
              <a:spcBef>
                <a:spcPts val="2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Cancelamentos ou prorrogações de linhas</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4"/>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Solicitação de TAGs e Trackings</a:t>
            </a:r>
            <a:endParaRPr sz="2200"/>
          </a:p>
        </p:txBody>
      </p:sp>
      <p:sp>
        <p:nvSpPr>
          <p:cNvPr id="443" name="Google Shape;443;p14"/>
          <p:cNvSpPr txBox="1"/>
          <p:nvPr/>
        </p:nvSpPr>
        <p:spPr>
          <a:xfrm>
            <a:off x="457200" y="1097280"/>
            <a:ext cx="82296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Solicitação de TAGs (CS/Ops e Creative/QA são times da </a:t>
            </a:r>
            <a:r>
              <a:rPr b="1" lang="en-US" sz="1200">
                <a:solidFill>
                  <a:schemeClr val="dk1"/>
                </a:solidFill>
              </a:rPr>
              <a:t>Innovid</a:t>
            </a:r>
            <a:r>
              <a:rPr b="1" i="0" lang="en-US"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sp>
        <p:nvSpPr>
          <p:cNvPr id="444" name="Google Shape;444;p14"/>
          <p:cNvSpPr/>
          <p:nvPr/>
        </p:nvSpPr>
        <p:spPr>
          <a:xfrm>
            <a:off x="466344" y="1417320"/>
            <a:ext cx="1024128" cy="1600200"/>
          </a:xfrm>
          <a:prstGeom prst="roundRect">
            <a:avLst>
              <a:gd fmla="val 8929"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4"/>
          <p:cNvSpPr/>
          <p:nvPr/>
        </p:nvSpPr>
        <p:spPr>
          <a:xfrm>
            <a:off x="813816" y="150876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446" name="Google Shape;446;p14"/>
          <p:cNvSpPr txBox="1"/>
          <p:nvPr/>
        </p:nvSpPr>
        <p:spPr>
          <a:xfrm>
            <a:off x="521208" y="1920240"/>
            <a:ext cx="91440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Envia o ADP e as peças da campanha</a:t>
            </a:r>
            <a:endParaRPr b="0" i="0" sz="1000" u="none" cap="none" strike="noStrike">
              <a:solidFill>
                <a:schemeClr val="dk1"/>
              </a:solidFill>
              <a:latin typeface="Arial"/>
              <a:ea typeface="Arial"/>
              <a:cs typeface="Arial"/>
              <a:sym typeface="Arial"/>
            </a:endParaRPr>
          </a:p>
        </p:txBody>
      </p:sp>
      <p:sp>
        <p:nvSpPr>
          <p:cNvPr id="447" name="Google Shape;447;p14"/>
          <p:cNvSpPr/>
          <p:nvPr/>
        </p:nvSpPr>
        <p:spPr>
          <a:xfrm>
            <a:off x="466344" y="3108960"/>
            <a:ext cx="1024128" cy="274320"/>
          </a:xfrm>
          <a:prstGeom prst="roundRect">
            <a:avLst>
              <a:gd fmla="val 3333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lang="en-US" sz="900">
                <a:solidFill>
                  <a:schemeClr val="dk1"/>
                </a:solidFill>
              </a:rPr>
              <a:t>S</a:t>
            </a:r>
            <a:r>
              <a:rPr b="1" i="0" lang="en-US" sz="900" u="none" cap="none" strike="noStrike">
                <a:solidFill>
                  <a:schemeClr val="dk1"/>
                </a:solidFill>
                <a:latin typeface="Arial"/>
                <a:ea typeface="Arial"/>
                <a:cs typeface="Arial"/>
                <a:sym typeface="Arial"/>
              </a:rPr>
              <a:t>tormx/A</a:t>
            </a:r>
            <a:r>
              <a:rPr b="1" lang="en-US" sz="900">
                <a:solidFill>
                  <a:schemeClr val="dk1"/>
                </a:solidFill>
              </a:rPr>
              <a:t>gência</a:t>
            </a:r>
            <a:endParaRPr b="0" i="0" sz="900" u="none" cap="none" strike="noStrike">
              <a:solidFill>
                <a:schemeClr val="dk1"/>
              </a:solidFill>
              <a:latin typeface="Arial"/>
              <a:ea typeface="Arial"/>
              <a:cs typeface="Arial"/>
              <a:sym typeface="Arial"/>
            </a:endParaRPr>
          </a:p>
        </p:txBody>
      </p:sp>
      <p:cxnSp>
        <p:nvCxnSpPr>
          <p:cNvPr id="448" name="Google Shape;448;p14"/>
          <p:cNvCxnSpPr/>
          <p:nvPr/>
        </p:nvCxnSpPr>
        <p:spPr>
          <a:xfrm>
            <a:off x="1508760" y="2194560"/>
            <a:ext cx="137160" cy="0"/>
          </a:xfrm>
          <a:prstGeom prst="straightConnector1">
            <a:avLst/>
          </a:prstGeom>
          <a:noFill/>
          <a:ln cap="flat" cmpd="sng" w="22225">
            <a:solidFill>
              <a:schemeClr val="dk2"/>
            </a:solidFill>
            <a:prstDash val="solid"/>
            <a:round/>
            <a:headEnd len="sm" w="sm" type="none"/>
            <a:tailEnd len="med" w="med" type="triangle"/>
          </a:ln>
        </p:spPr>
      </p:cxnSp>
      <p:sp>
        <p:nvSpPr>
          <p:cNvPr id="449" name="Google Shape;449;p14"/>
          <p:cNvSpPr/>
          <p:nvPr/>
        </p:nvSpPr>
        <p:spPr>
          <a:xfrm>
            <a:off x="1664208" y="1417320"/>
            <a:ext cx="1024128" cy="1600200"/>
          </a:xfrm>
          <a:prstGeom prst="roundRect">
            <a:avLst>
              <a:gd fmla="val 8929"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4"/>
          <p:cNvSpPr/>
          <p:nvPr/>
        </p:nvSpPr>
        <p:spPr>
          <a:xfrm>
            <a:off x="2011680" y="150876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451" name="Google Shape;451;p14"/>
          <p:cNvSpPr txBox="1"/>
          <p:nvPr/>
        </p:nvSpPr>
        <p:spPr>
          <a:xfrm>
            <a:off x="1719072" y="1920240"/>
            <a:ext cx="91440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Valida o ADP</a:t>
            </a:r>
            <a:endParaRPr b="0" i="0" sz="1000" u="none" cap="none" strike="noStrike">
              <a:solidFill>
                <a:schemeClr val="dk1"/>
              </a:solidFill>
              <a:latin typeface="Arial"/>
              <a:ea typeface="Arial"/>
              <a:cs typeface="Arial"/>
              <a:sym typeface="Arial"/>
            </a:endParaRPr>
          </a:p>
        </p:txBody>
      </p:sp>
      <p:sp>
        <p:nvSpPr>
          <p:cNvPr id="452" name="Google Shape;452;p14"/>
          <p:cNvSpPr/>
          <p:nvPr/>
        </p:nvSpPr>
        <p:spPr>
          <a:xfrm>
            <a:off x="1664208" y="3108960"/>
            <a:ext cx="1024128" cy="274320"/>
          </a:xfrm>
          <a:prstGeom prst="roundRect">
            <a:avLst>
              <a:gd fmla="val 333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CS/Ops</a:t>
            </a:r>
            <a:endParaRPr b="0" i="0" sz="900" u="none" cap="none" strike="noStrike">
              <a:solidFill>
                <a:schemeClr val="dk1"/>
              </a:solidFill>
              <a:latin typeface="Arial"/>
              <a:ea typeface="Arial"/>
              <a:cs typeface="Arial"/>
              <a:sym typeface="Arial"/>
            </a:endParaRPr>
          </a:p>
        </p:txBody>
      </p:sp>
      <p:cxnSp>
        <p:nvCxnSpPr>
          <p:cNvPr id="453" name="Google Shape;453;p14"/>
          <p:cNvCxnSpPr/>
          <p:nvPr/>
        </p:nvCxnSpPr>
        <p:spPr>
          <a:xfrm>
            <a:off x="2706624" y="2194560"/>
            <a:ext cx="137160" cy="0"/>
          </a:xfrm>
          <a:prstGeom prst="straightConnector1">
            <a:avLst/>
          </a:prstGeom>
          <a:noFill/>
          <a:ln cap="flat" cmpd="sng" w="22225">
            <a:solidFill>
              <a:schemeClr val="dk2"/>
            </a:solidFill>
            <a:prstDash val="solid"/>
            <a:round/>
            <a:headEnd len="sm" w="sm" type="none"/>
            <a:tailEnd len="med" w="med" type="triangle"/>
          </a:ln>
        </p:spPr>
      </p:cxnSp>
      <p:sp>
        <p:nvSpPr>
          <p:cNvPr id="454" name="Google Shape;454;p14"/>
          <p:cNvSpPr/>
          <p:nvPr/>
        </p:nvSpPr>
        <p:spPr>
          <a:xfrm>
            <a:off x="2862072" y="1417320"/>
            <a:ext cx="1024128" cy="1600200"/>
          </a:xfrm>
          <a:prstGeom prst="roundRect">
            <a:avLst>
              <a:gd fmla="val 8929"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a:off x="3209544" y="150876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456" name="Google Shape;456;p14"/>
          <p:cNvSpPr txBox="1"/>
          <p:nvPr/>
        </p:nvSpPr>
        <p:spPr>
          <a:xfrm>
            <a:off x="2916936" y="1920240"/>
            <a:ext cx="91440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Valida as peças</a:t>
            </a:r>
            <a:endParaRPr b="0" i="0" sz="1000" u="none" cap="none" strike="noStrike">
              <a:solidFill>
                <a:schemeClr val="dk1"/>
              </a:solidFill>
              <a:latin typeface="Arial"/>
              <a:ea typeface="Arial"/>
              <a:cs typeface="Arial"/>
              <a:sym typeface="Arial"/>
            </a:endParaRPr>
          </a:p>
        </p:txBody>
      </p:sp>
      <p:sp>
        <p:nvSpPr>
          <p:cNvPr id="457" name="Google Shape;457;p14"/>
          <p:cNvSpPr/>
          <p:nvPr/>
        </p:nvSpPr>
        <p:spPr>
          <a:xfrm>
            <a:off x="2862072" y="3108960"/>
            <a:ext cx="1024128" cy="274320"/>
          </a:xfrm>
          <a:prstGeom prst="roundRect">
            <a:avLst>
              <a:gd fmla="val 333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Creative/QA</a:t>
            </a:r>
            <a:endParaRPr b="0" i="0" sz="900" u="none" cap="none" strike="noStrike">
              <a:solidFill>
                <a:schemeClr val="dk1"/>
              </a:solidFill>
              <a:latin typeface="Arial"/>
              <a:ea typeface="Arial"/>
              <a:cs typeface="Arial"/>
              <a:sym typeface="Arial"/>
            </a:endParaRPr>
          </a:p>
        </p:txBody>
      </p:sp>
      <p:cxnSp>
        <p:nvCxnSpPr>
          <p:cNvPr id="458" name="Google Shape;458;p14"/>
          <p:cNvCxnSpPr/>
          <p:nvPr/>
        </p:nvCxnSpPr>
        <p:spPr>
          <a:xfrm>
            <a:off x="3904488" y="2194560"/>
            <a:ext cx="137160" cy="0"/>
          </a:xfrm>
          <a:prstGeom prst="straightConnector1">
            <a:avLst/>
          </a:prstGeom>
          <a:noFill/>
          <a:ln cap="flat" cmpd="sng" w="22225">
            <a:solidFill>
              <a:schemeClr val="dk2"/>
            </a:solidFill>
            <a:prstDash val="solid"/>
            <a:round/>
            <a:headEnd len="sm" w="sm" type="none"/>
            <a:tailEnd len="med" w="med" type="triangle"/>
          </a:ln>
        </p:spPr>
      </p:cxnSp>
      <p:sp>
        <p:nvSpPr>
          <p:cNvPr id="459" name="Google Shape;459;p14"/>
          <p:cNvSpPr/>
          <p:nvPr/>
        </p:nvSpPr>
        <p:spPr>
          <a:xfrm>
            <a:off x="4059936" y="1417320"/>
            <a:ext cx="1024128" cy="1600200"/>
          </a:xfrm>
          <a:prstGeom prst="roundRect">
            <a:avLst>
              <a:gd fmla="val 8929"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4"/>
          <p:cNvSpPr/>
          <p:nvPr/>
        </p:nvSpPr>
        <p:spPr>
          <a:xfrm>
            <a:off x="4407408" y="150876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4</a:t>
            </a:r>
            <a:endParaRPr b="0" i="0" sz="1200" u="none" cap="none" strike="noStrike">
              <a:solidFill>
                <a:schemeClr val="dk1"/>
              </a:solidFill>
              <a:latin typeface="Arial"/>
              <a:ea typeface="Arial"/>
              <a:cs typeface="Arial"/>
              <a:sym typeface="Arial"/>
            </a:endParaRPr>
          </a:p>
        </p:txBody>
      </p:sp>
      <p:sp>
        <p:nvSpPr>
          <p:cNvPr id="461" name="Google Shape;461;p14"/>
          <p:cNvSpPr txBox="1"/>
          <p:nvPr/>
        </p:nvSpPr>
        <p:spPr>
          <a:xfrm>
            <a:off x="4114800" y="1920240"/>
            <a:ext cx="91440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Peças validadas</a:t>
            </a:r>
            <a:endParaRPr b="0" i="0" sz="1000" u="none" cap="none" strike="noStrike">
              <a:solidFill>
                <a:schemeClr val="dk1"/>
              </a:solidFill>
              <a:latin typeface="Arial"/>
              <a:ea typeface="Arial"/>
              <a:cs typeface="Arial"/>
              <a:sym typeface="Arial"/>
            </a:endParaRPr>
          </a:p>
        </p:txBody>
      </p:sp>
      <p:sp>
        <p:nvSpPr>
          <p:cNvPr id="462" name="Google Shape;462;p14"/>
          <p:cNvSpPr/>
          <p:nvPr/>
        </p:nvSpPr>
        <p:spPr>
          <a:xfrm>
            <a:off x="4059936" y="3108960"/>
            <a:ext cx="1024128" cy="274320"/>
          </a:xfrm>
          <a:prstGeom prst="roundRect">
            <a:avLst>
              <a:gd fmla="val 333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Creative/QA</a:t>
            </a:r>
            <a:endParaRPr b="0" i="0" sz="900" u="none" cap="none" strike="noStrike">
              <a:solidFill>
                <a:schemeClr val="dk1"/>
              </a:solidFill>
              <a:latin typeface="Arial"/>
              <a:ea typeface="Arial"/>
              <a:cs typeface="Arial"/>
              <a:sym typeface="Arial"/>
            </a:endParaRPr>
          </a:p>
        </p:txBody>
      </p:sp>
      <p:cxnSp>
        <p:nvCxnSpPr>
          <p:cNvPr id="463" name="Google Shape;463;p14"/>
          <p:cNvCxnSpPr/>
          <p:nvPr/>
        </p:nvCxnSpPr>
        <p:spPr>
          <a:xfrm>
            <a:off x="5102352" y="2194560"/>
            <a:ext cx="137160" cy="0"/>
          </a:xfrm>
          <a:prstGeom prst="straightConnector1">
            <a:avLst/>
          </a:prstGeom>
          <a:noFill/>
          <a:ln cap="flat" cmpd="sng" w="22225">
            <a:solidFill>
              <a:schemeClr val="dk2"/>
            </a:solidFill>
            <a:prstDash val="solid"/>
            <a:round/>
            <a:headEnd len="sm" w="sm" type="none"/>
            <a:tailEnd len="med" w="med" type="triangle"/>
          </a:ln>
        </p:spPr>
      </p:cxnSp>
      <p:sp>
        <p:nvSpPr>
          <p:cNvPr id="464" name="Google Shape;464;p14"/>
          <p:cNvSpPr/>
          <p:nvPr/>
        </p:nvSpPr>
        <p:spPr>
          <a:xfrm>
            <a:off x="5257800" y="1417320"/>
            <a:ext cx="1024128" cy="1600200"/>
          </a:xfrm>
          <a:prstGeom prst="roundRect">
            <a:avLst>
              <a:gd fmla="val 8929"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4"/>
          <p:cNvSpPr/>
          <p:nvPr/>
        </p:nvSpPr>
        <p:spPr>
          <a:xfrm>
            <a:off x="5605272" y="150876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5</a:t>
            </a:r>
            <a:endParaRPr b="0" i="0" sz="1200" u="none" cap="none" strike="noStrike">
              <a:solidFill>
                <a:schemeClr val="dk1"/>
              </a:solidFill>
              <a:latin typeface="Arial"/>
              <a:ea typeface="Arial"/>
              <a:cs typeface="Arial"/>
              <a:sym typeface="Arial"/>
            </a:endParaRPr>
          </a:p>
        </p:txBody>
      </p:sp>
      <p:sp>
        <p:nvSpPr>
          <p:cNvPr id="466" name="Google Shape;466;p14"/>
          <p:cNvSpPr txBox="1"/>
          <p:nvPr/>
        </p:nvSpPr>
        <p:spPr>
          <a:xfrm>
            <a:off x="5312664" y="1920240"/>
            <a:ext cx="91440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Cria a campanha, associa as peças e envia os previews para a validação</a:t>
            </a:r>
            <a:endParaRPr b="0" i="0" sz="1000" u="none" cap="none" strike="noStrike">
              <a:solidFill>
                <a:schemeClr val="dk1"/>
              </a:solidFill>
              <a:latin typeface="Arial"/>
              <a:ea typeface="Arial"/>
              <a:cs typeface="Arial"/>
              <a:sym typeface="Arial"/>
            </a:endParaRPr>
          </a:p>
        </p:txBody>
      </p:sp>
      <p:sp>
        <p:nvSpPr>
          <p:cNvPr id="467" name="Google Shape;467;p14"/>
          <p:cNvSpPr/>
          <p:nvPr/>
        </p:nvSpPr>
        <p:spPr>
          <a:xfrm>
            <a:off x="5257800" y="3108960"/>
            <a:ext cx="1024128" cy="274320"/>
          </a:xfrm>
          <a:prstGeom prst="roundRect">
            <a:avLst>
              <a:gd fmla="val 333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CS/Ops</a:t>
            </a:r>
            <a:endParaRPr b="0" i="0" sz="900" u="none" cap="none" strike="noStrike">
              <a:solidFill>
                <a:schemeClr val="dk1"/>
              </a:solidFill>
              <a:latin typeface="Arial"/>
              <a:ea typeface="Arial"/>
              <a:cs typeface="Arial"/>
              <a:sym typeface="Arial"/>
            </a:endParaRPr>
          </a:p>
        </p:txBody>
      </p:sp>
      <p:cxnSp>
        <p:nvCxnSpPr>
          <p:cNvPr id="468" name="Google Shape;468;p14"/>
          <p:cNvCxnSpPr/>
          <p:nvPr/>
        </p:nvCxnSpPr>
        <p:spPr>
          <a:xfrm>
            <a:off x="6300216" y="2194560"/>
            <a:ext cx="137160" cy="0"/>
          </a:xfrm>
          <a:prstGeom prst="straightConnector1">
            <a:avLst/>
          </a:prstGeom>
          <a:noFill/>
          <a:ln cap="flat" cmpd="sng" w="22225">
            <a:solidFill>
              <a:schemeClr val="dk2"/>
            </a:solidFill>
            <a:prstDash val="solid"/>
            <a:round/>
            <a:headEnd len="sm" w="sm" type="none"/>
            <a:tailEnd len="med" w="med" type="triangle"/>
          </a:ln>
        </p:spPr>
      </p:cxnSp>
      <p:sp>
        <p:nvSpPr>
          <p:cNvPr id="469" name="Google Shape;469;p14"/>
          <p:cNvSpPr/>
          <p:nvPr/>
        </p:nvSpPr>
        <p:spPr>
          <a:xfrm>
            <a:off x="6455664" y="1417320"/>
            <a:ext cx="1024128" cy="1600200"/>
          </a:xfrm>
          <a:prstGeom prst="roundRect">
            <a:avLst>
              <a:gd fmla="val 8929"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a:off x="6803136" y="150876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6</a:t>
            </a:r>
            <a:endParaRPr b="0" i="0" sz="1200" u="none" cap="none" strike="noStrike">
              <a:solidFill>
                <a:schemeClr val="dk1"/>
              </a:solidFill>
              <a:latin typeface="Arial"/>
              <a:ea typeface="Arial"/>
              <a:cs typeface="Arial"/>
              <a:sym typeface="Arial"/>
            </a:endParaRPr>
          </a:p>
        </p:txBody>
      </p:sp>
      <p:sp>
        <p:nvSpPr>
          <p:cNvPr id="471" name="Google Shape;471;p14"/>
          <p:cNvSpPr txBox="1"/>
          <p:nvPr/>
        </p:nvSpPr>
        <p:spPr>
          <a:xfrm>
            <a:off x="6510528" y="1920240"/>
            <a:ext cx="91440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Valida os previews</a:t>
            </a:r>
            <a:endParaRPr b="0" i="0" sz="1000" u="none" cap="none" strike="noStrike">
              <a:solidFill>
                <a:schemeClr val="dk1"/>
              </a:solidFill>
              <a:latin typeface="Arial"/>
              <a:ea typeface="Arial"/>
              <a:cs typeface="Arial"/>
              <a:sym typeface="Arial"/>
            </a:endParaRPr>
          </a:p>
        </p:txBody>
      </p:sp>
      <p:sp>
        <p:nvSpPr>
          <p:cNvPr id="472" name="Google Shape;472;p14"/>
          <p:cNvSpPr/>
          <p:nvPr/>
        </p:nvSpPr>
        <p:spPr>
          <a:xfrm>
            <a:off x="6455664" y="3108960"/>
            <a:ext cx="1024128" cy="274320"/>
          </a:xfrm>
          <a:prstGeom prst="roundRect">
            <a:avLst>
              <a:gd fmla="val 3333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Agência/Stormx</a:t>
            </a:r>
            <a:endParaRPr b="0" i="0" sz="900" u="none" cap="none" strike="noStrike">
              <a:solidFill>
                <a:schemeClr val="dk1"/>
              </a:solidFill>
              <a:latin typeface="Arial"/>
              <a:ea typeface="Arial"/>
              <a:cs typeface="Arial"/>
              <a:sym typeface="Arial"/>
            </a:endParaRPr>
          </a:p>
        </p:txBody>
      </p:sp>
      <p:cxnSp>
        <p:nvCxnSpPr>
          <p:cNvPr id="473" name="Google Shape;473;p14"/>
          <p:cNvCxnSpPr/>
          <p:nvPr/>
        </p:nvCxnSpPr>
        <p:spPr>
          <a:xfrm>
            <a:off x="7498080" y="2194560"/>
            <a:ext cx="137160" cy="0"/>
          </a:xfrm>
          <a:prstGeom prst="straightConnector1">
            <a:avLst/>
          </a:prstGeom>
          <a:noFill/>
          <a:ln cap="flat" cmpd="sng" w="22225">
            <a:solidFill>
              <a:schemeClr val="dk2"/>
            </a:solidFill>
            <a:prstDash val="solid"/>
            <a:round/>
            <a:headEnd len="sm" w="sm" type="none"/>
            <a:tailEnd len="med" w="med" type="triangle"/>
          </a:ln>
        </p:spPr>
      </p:cxnSp>
      <p:sp>
        <p:nvSpPr>
          <p:cNvPr id="474" name="Google Shape;474;p14"/>
          <p:cNvSpPr/>
          <p:nvPr/>
        </p:nvSpPr>
        <p:spPr>
          <a:xfrm>
            <a:off x="7653528" y="1417320"/>
            <a:ext cx="1024128" cy="1600200"/>
          </a:xfrm>
          <a:prstGeom prst="roundRect">
            <a:avLst>
              <a:gd fmla="val 8929"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8001000" y="1508760"/>
            <a:ext cx="329184" cy="329184"/>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7</a:t>
            </a:r>
            <a:endParaRPr b="0" i="0" sz="1200" u="none" cap="none" strike="noStrike">
              <a:solidFill>
                <a:schemeClr val="dk1"/>
              </a:solidFill>
              <a:latin typeface="Arial"/>
              <a:ea typeface="Arial"/>
              <a:cs typeface="Arial"/>
              <a:sym typeface="Arial"/>
            </a:endParaRPr>
          </a:p>
        </p:txBody>
      </p:sp>
      <p:sp>
        <p:nvSpPr>
          <p:cNvPr id="476" name="Google Shape;476;p14"/>
          <p:cNvSpPr txBox="1"/>
          <p:nvPr/>
        </p:nvSpPr>
        <p:spPr>
          <a:xfrm>
            <a:off x="7708392" y="1920240"/>
            <a:ext cx="914400" cy="10515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Libera as TAGs, verifica as contabilizações e as discrepâncias</a:t>
            </a:r>
            <a:endParaRPr b="0" i="0" sz="1000" u="none" cap="none" strike="noStrike">
              <a:solidFill>
                <a:schemeClr val="dk1"/>
              </a:solidFill>
              <a:latin typeface="Arial"/>
              <a:ea typeface="Arial"/>
              <a:cs typeface="Arial"/>
              <a:sym typeface="Arial"/>
            </a:endParaRPr>
          </a:p>
        </p:txBody>
      </p:sp>
      <p:sp>
        <p:nvSpPr>
          <p:cNvPr id="477" name="Google Shape;477;p14"/>
          <p:cNvSpPr/>
          <p:nvPr/>
        </p:nvSpPr>
        <p:spPr>
          <a:xfrm>
            <a:off x="7653528" y="3108960"/>
            <a:ext cx="1024128" cy="274320"/>
          </a:xfrm>
          <a:prstGeom prst="roundRect">
            <a:avLst>
              <a:gd fmla="val 333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CS/Ops</a:t>
            </a:r>
            <a:endParaRPr b="0" i="0" sz="900" u="none" cap="none" strike="noStrike">
              <a:solidFill>
                <a:schemeClr val="dk1"/>
              </a:solidFill>
              <a:latin typeface="Arial"/>
              <a:ea typeface="Arial"/>
              <a:cs typeface="Arial"/>
              <a:sym typeface="Arial"/>
            </a:endParaRPr>
          </a:p>
        </p:txBody>
      </p:sp>
      <p:sp>
        <p:nvSpPr>
          <p:cNvPr id="478" name="Google Shape;478;p14"/>
          <p:cNvSpPr txBox="1"/>
          <p:nvPr/>
        </p:nvSpPr>
        <p:spPr>
          <a:xfrm>
            <a:off x="457200" y="3611880"/>
            <a:ext cx="36576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Solicitação de Trackings</a:t>
            </a:r>
            <a:endParaRPr b="0" i="0" sz="1200" u="none" cap="none" strike="noStrike">
              <a:solidFill>
                <a:schemeClr val="dk1"/>
              </a:solidFill>
              <a:latin typeface="Arial"/>
              <a:ea typeface="Arial"/>
              <a:cs typeface="Arial"/>
              <a:sym typeface="Arial"/>
            </a:endParaRPr>
          </a:p>
        </p:txBody>
      </p:sp>
      <p:sp>
        <p:nvSpPr>
          <p:cNvPr id="479" name="Google Shape;479;p14"/>
          <p:cNvSpPr/>
          <p:nvPr/>
        </p:nvSpPr>
        <p:spPr>
          <a:xfrm>
            <a:off x="457200" y="3913632"/>
            <a:ext cx="2377440" cy="731520"/>
          </a:xfrm>
          <a:prstGeom prst="roundRect">
            <a:avLst>
              <a:gd fmla="val 125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566928" y="4114800"/>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481" name="Google Shape;481;p14"/>
          <p:cNvSpPr txBox="1"/>
          <p:nvPr/>
        </p:nvSpPr>
        <p:spPr>
          <a:xfrm>
            <a:off x="960120" y="3913632"/>
            <a:ext cx="17373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Arial"/>
              <a:buNone/>
            </a:pPr>
            <a:r>
              <a:rPr b="0" i="0" lang="en-US" sz="1050" u="none" cap="none" strike="noStrike">
                <a:solidFill>
                  <a:schemeClr val="dk1"/>
                </a:solidFill>
                <a:latin typeface="Arial"/>
                <a:ea typeface="Arial"/>
                <a:cs typeface="Arial"/>
                <a:sym typeface="Arial"/>
              </a:rPr>
              <a:t>Envia o ADP</a:t>
            </a:r>
            <a:endParaRPr b="0" i="0" sz="1050" u="none" cap="none" strike="noStrike">
              <a:solidFill>
                <a:schemeClr val="dk1"/>
              </a:solidFill>
              <a:latin typeface="Arial"/>
              <a:ea typeface="Arial"/>
              <a:cs typeface="Arial"/>
              <a:sym typeface="Arial"/>
            </a:endParaRPr>
          </a:p>
        </p:txBody>
      </p:sp>
      <p:sp>
        <p:nvSpPr>
          <p:cNvPr id="482" name="Google Shape;482;p14"/>
          <p:cNvSpPr/>
          <p:nvPr/>
        </p:nvSpPr>
        <p:spPr>
          <a:xfrm>
            <a:off x="1417320" y="4389120"/>
            <a:ext cx="1280160" cy="201168"/>
          </a:xfrm>
          <a:prstGeom prst="roundRect">
            <a:avLst>
              <a:gd fmla="val 45455"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00"/>
              <a:buFont typeface="Arial"/>
              <a:buNone/>
            </a:pPr>
            <a:r>
              <a:rPr b="1" lang="en-US" sz="800">
                <a:solidFill>
                  <a:schemeClr val="dk1"/>
                </a:solidFill>
              </a:rPr>
              <a:t>S</a:t>
            </a:r>
            <a:r>
              <a:rPr b="1" i="0" lang="en-US" sz="800" u="none" cap="none" strike="noStrike">
                <a:solidFill>
                  <a:schemeClr val="dk1"/>
                </a:solidFill>
                <a:latin typeface="Arial"/>
                <a:ea typeface="Arial"/>
                <a:cs typeface="Arial"/>
                <a:sym typeface="Arial"/>
              </a:rPr>
              <a:t>tormx</a:t>
            </a:r>
            <a:endParaRPr b="0" i="0" sz="800" u="none" cap="none" strike="noStrike">
              <a:solidFill>
                <a:schemeClr val="dk1"/>
              </a:solidFill>
              <a:latin typeface="Arial"/>
              <a:ea typeface="Arial"/>
              <a:cs typeface="Arial"/>
              <a:sym typeface="Arial"/>
            </a:endParaRPr>
          </a:p>
        </p:txBody>
      </p:sp>
      <p:cxnSp>
        <p:nvCxnSpPr>
          <p:cNvPr id="483" name="Google Shape;483;p14"/>
          <p:cNvCxnSpPr/>
          <p:nvPr/>
        </p:nvCxnSpPr>
        <p:spPr>
          <a:xfrm>
            <a:off x="2871216" y="4279392"/>
            <a:ext cx="374904" cy="0"/>
          </a:xfrm>
          <a:prstGeom prst="straightConnector1">
            <a:avLst/>
          </a:prstGeom>
          <a:noFill/>
          <a:ln cap="flat" cmpd="sng" w="22225">
            <a:solidFill>
              <a:schemeClr val="dk2"/>
            </a:solidFill>
            <a:prstDash val="solid"/>
            <a:round/>
            <a:headEnd len="sm" w="sm" type="none"/>
            <a:tailEnd len="med" w="med" type="triangle"/>
          </a:ln>
        </p:spPr>
      </p:cxnSp>
      <p:sp>
        <p:nvSpPr>
          <p:cNvPr id="484" name="Google Shape;484;p14"/>
          <p:cNvSpPr/>
          <p:nvPr/>
        </p:nvSpPr>
        <p:spPr>
          <a:xfrm>
            <a:off x="3291840" y="3913632"/>
            <a:ext cx="5394960" cy="731520"/>
          </a:xfrm>
          <a:prstGeom prst="roundRect">
            <a:avLst>
              <a:gd fmla="val 1250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3401568" y="4114800"/>
            <a:ext cx="292608" cy="292608"/>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Arial"/>
              <a:buNone/>
            </a:pPr>
            <a:r>
              <a:rPr b="1" i="0" lang="en-US" sz="1100" u="none" cap="none" strike="noStrike">
                <a:solidFill>
                  <a:schemeClr val="lt1"/>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486" name="Google Shape;486;p14"/>
          <p:cNvSpPr txBox="1"/>
          <p:nvPr/>
        </p:nvSpPr>
        <p:spPr>
          <a:xfrm>
            <a:off x="3794760" y="3913632"/>
            <a:ext cx="4800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Arial"/>
              <a:buNone/>
            </a:pPr>
            <a:r>
              <a:rPr b="0" i="0" lang="en-US" sz="950" u="none" cap="none" strike="noStrike">
                <a:solidFill>
                  <a:schemeClr val="dk1"/>
                </a:solidFill>
                <a:latin typeface="Arial"/>
                <a:ea typeface="Arial"/>
                <a:cs typeface="Arial"/>
                <a:sym typeface="Arial"/>
              </a:rPr>
              <a:t>Valida o ADP, cria a campanha, libera os contadores e verifica as contabilizações e as discrepâncias. Os contadores de social são inseridos no ADP e implementados pela agência.</a:t>
            </a:r>
            <a:endParaRPr b="0" i="0" sz="95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h55e8012936a262e7_1_14"/>
          <p:cNvSpPr txBox="1"/>
          <p:nvPr>
            <p:ph type="title"/>
          </p:nvPr>
        </p:nvSpPr>
        <p:spPr>
          <a:xfrm>
            <a:off x="685800" y="365760"/>
            <a:ext cx="80010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a:t>
            </a:r>
            <a:r>
              <a:rPr lang="en-US"/>
              <a:t>Estrutura TAG </a:t>
            </a:r>
            <a:endParaRPr sz="2200"/>
          </a:p>
        </p:txBody>
      </p:sp>
      <p:sp>
        <p:nvSpPr>
          <p:cNvPr id="493" name="Google Shape;493;h55e8012936a262e7_1_14"/>
          <p:cNvSpPr txBox="1"/>
          <p:nvPr/>
        </p:nvSpPr>
        <p:spPr>
          <a:xfrm>
            <a:off x="28542" y="859059"/>
            <a:ext cx="2207700" cy="2207700"/>
          </a:xfrm>
          <a:prstGeom prst="rect">
            <a:avLst/>
          </a:prstGeom>
          <a:noFill/>
          <a:ln>
            <a:noFill/>
          </a:ln>
        </p:spPr>
        <p:txBody>
          <a:bodyPr anchorCtr="0" anchor="ctr" bIns="67275" lIns="67275" spcFirstLastPara="1" rIns="67275" wrap="square" tIns="67275">
            <a:noAutofit/>
          </a:bodyPr>
          <a:lstStyle/>
          <a:p>
            <a:pPr indent="0" lvl="0" marL="0" rtl="0" algn="l">
              <a:spcBef>
                <a:spcPts val="0"/>
              </a:spcBef>
              <a:spcAft>
                <a:spcPts val="0"/>
              </a:spcAft>
              <a:buNone/>
            </a:pPr>
            <a:r>
              <a:rPr lang="en-US" sz="1030"/>
              <a:t>  </a:t>
            </a:r>
            <a:endParaRPr sz="1030"/>
          </a:p>
        </p:txBody>
      </p:sp>
      <p:pic>
        <p:nvPicPr>
          <p:cNvPr id="494" name="Google Shape;494;h55e8012936a262e7_1_14"/>
          <p:cNvPicPr preferRelativeResize="0"/>
          <p:nvPr/>
        </p:nvPicPr>
        <p:blipFill>
          <a:blip r:embed="rId3">
            <a:alphaModFix/>
          </a:blip>
          <a:stretch>
            <a:fillRect/>
          </a:stretch>
        </p:blipFill>
        <p:spPr>
          <a:xfrm>
            <a:off x="481176" y="1313200"/>
            <a:ext cx="3397025" cy="1172050"/>
          </a:xfrm>
          <a:prstGeom prst="rect">
            <a:avLst/>
          </a:prstGeom>
          <a:noFill/>
          <a:ln>
            <a:noFill/>
          </a:ln>
        </p:spPr>
      </p:pic>
      <p:sp>
        <p:nvSpPr>
          <p:cNvPr id="495" name="Google Shape;495;h55e8012936a262e7_1_14"/>
          <p:cNvSpPr/>
          <p:nvPr/>
        </p:nvSpPr>
        <p:spPr>
          <a:xfrm>
            <a:off x="1480310" y="4042300"/>
            <a:ext cx="3039000" cy="2199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496" name="Google Shape;496;h55e8012936a262e7_1_14"/>
          <p:cNvSpPr txBox="1"/>
          <p:nvPr/>
        </p:nvSpPr>
        <p:spPr>
          <a:xfrm>
            <a:off x="1547840" y="4042300"/>
            <a:ext cx="2903700" cy="219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842"/>
              <a:buFont typeface="Arial"/>
              <a:buNone/>
            </a:pPr>
            <a:r>
              <a:rPr b="1" lang="en-US" sz="842">
                <a:solidFill>
                  <a:schemeClr val="lt1"/>
                </a:solidFill>
              </a:rPr>
              <a:t>Deve ser realizada a implementação do código completo</a:t>
            </a:r>
            <a:endParaRPr b="0" i="0" sz="842" u="none" cap="none" strike="noStrike">
              <a:solidFill>
                <a:schemeClr val="dk1"/>
              </a:solidFill>
              <a:latin typeface="Arial"/>
              <a:ea typeface="Arial"/>
              <a:cs typeface="Arial"/>
              <a:sym typeface="Arial"/>
            </a:endParaRPr>
          </a:p>
        </p:txBody>
      </p:sp>
      <p:sp>
        <p:nvSpPr>
          <p:cNvPr id="497" name="Google Shape;497;h55e8012936a262e7_1_14"/>
          <p:cNvSpPr/>
          <p:nvPr/>
        </p:nvSpPr>
        <p:spPr>
          <a:xfrm>
            <a:off x="1480310" y="4306389"/>
            <a:ext cx="3039000" cy="2199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498" name="Google Shape;498;h55e8012936a262e7_1_14"/>
          <p:cNvSpPr txBox="1"/>
          <p:nvPr/>
        </p:nvSpPr>
        <p:spPr>
          <a:xfrm>
            <a:off x="1547840" y="4306389"/>
            <a:ext cx="2903700" cy="219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842"/>
              <a:buFont typeface="Arial"/>
              <a:buNone/>
            </a:pPr>
            <a:r>
              <a:rPr b="1" lang="en-US" sz="750">
                <a:solidFill>
                  <a:schemeClr val="lt1"/>
                </a:solidFill>
              </a:rPr>
              <a:t>Estruturas disponíveis (TAG Display): JS, Iframe, Async e INS</a:t>
            </a:r>
            <a:endParaRPr b="0" i="0" sz="750" u="none" cap="none" strike="noStrike">
              <a:solidFill>
                <a:schemeClr val="dk1"/>
              </a:solidFill>
              <a:latin typeface="Arial"/>
              <a:ea typeface="Arial"/>
              <a:cs typeface="Arial"/>
              <a:sym typeface="Arial"/>
            </a:endParaRPr>
          </a:p>
        </p:txBody>
      </p:sp>
      <p:sp>
        <p:nvSpPr>
          <p:cNvPr id="499" name="Google Shape;499;h55e8012936a262e7_1_14"/>
          <p:cNvSpPr/>
          <p:nvPr/>
        </p:nvSpPr>
        <p:spPr>
          <a:xfrm>
            <a:off x="4642350" y="4042325"/>
            <a:ext cx="3039000" cy="2199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00" name="Google Shape;500;h55e8012936a262e7_1_14"/>
          <p:cNvSpPr txBox="1"/>
          <p:nvPr/>
        </p:nvSpPr>
        <p:spPr>
          <a:xfrm>
            <a:off x="4709880" y="4042325"/>
            <a:ext cx="2903700" cy="219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842"/>
              <a:buFont typeface="Arial"/>
              <a:buNone/>
            </a:pPr>
            <a:r>
              <a:rPr b="1" lang="en-US" sz="800">
                <a:solidFill>
                  <a:schemeClr val="lt1"/>
                </a:solidFill>
              </a:rPr>
              <a:t>Não é necessário enviar a peça + URL de direcionamento</a:t>
            </a:r>
            <a:endParaRPr b="0" i="0" sz="800" u="none" cap="none" strike="noStrike">
              <a:solidFill>
                <a:schemeClr val="dk1"/>
              </a:solidFill>
              <a:latin typeface="Arial"/>
              <a:ea typeface="Arial"/>
              <a:cs typeface="Arial"/>
              <a:sym typeface="Arial"/>
            </a:endParaRPr>
          </a:p>
        </p:txBody>
      </p:sp>
      <p:sp>
        <p:nvSpPr>
          <p:cNvPr id="501" name="Google Shape;501;h55e8012936a262e7_1_14"/>
          <p:cNvSpPr txBox="1"/>
          <p:nvPr/>
        </p:nvSpPr>
        <p:spPr>
          <a:xfrm>
            <a:off x="481175" y="9439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Display:</a:t>
            </a:r>
            <a:endParaRPr sz="1200">
              <a:solidFill>
                <a:schemeClr val="dk1"/>
              </a:solidFill>
            </a:endParaRPr>
          </a:p>
        </p:txBody>
      </p:sp>
      <p:sp>
        <p:nvSpPr>
          <p:cNvPr id="502" name="Google Shape;502;h55e8012936a262e7_1_14"/>
          <p:cNvSpPr txBox="1"/>
          <p:nvPr/>
        </p:nvSpPr>
        <p:spPr>
          <a:xfrm>
            <a:off x="4131175" y="9439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Vídeo:</a:t>
            </a:r>
            <a:endParaRPr sz="1200">
              <a:solidFill>
                <a:schemeClr val="dk1"/>
              </a:solidFill>
            </a:endParaRPr>
          </a:p>
        </p:txBody>
      </p:sp>
      <p:pic>
        <p:nvPicPr>
          <p:cNvPr descr="A black text on a white background&#10;&#10;AI-generated content may be incorrect." id="503" name="Google Shape;503;h55e8012936a262e7_1_14"/>
          <p:cNvPicPr preferRelativeResize="0"/>
          <p:nvPr/>
        </p:nvPicPr>
        <p:blipFill>
          <a:blip r:embed="rId4">
            <a:alphaModFix/>
          </a:blip>
          <a:stretch>
            <a:fillRect/>
          </a:stretch>
        </p:blipFill>
        <p:spPr>
          <a:xfrm>
            <a:off x="4131175" y="1313199"/>
            <a:ext cx="4742050" cy="647092"/>
          </a:xfrm>
          <a:prstGeom prst="rect">
            <a:avLst/>
          </a:prstGeom>
          <a:noFill/>
          <a:ln>
            <a:noFill/>
          </a:ln>
        </p:spPr>
      </p:pic>
      <p:sp>
        <p:nvSpPr>
          <p:cNvPr id="504" name="Google Shape;504;h55e8012936a262e7_1_14"/>
          <p:cNvSpPr txBox="1"/>
          <p:nvPr/>
        </p:nvSpPr>
        <p:spPr>
          <a:xfrm>
            <a:off x="3260159" y="1145337"/>
            <a:ext cx="1555800" cy="1555800"/>
          </a:xfrm>
          <a:prstGeom prst="rect">
            <a:avLst/>
          </a:prstGeom>
          <a:noFill/>
          <a:ln>
            <a:noFill/>
          </a:ln>
        </p:spPr>
        <p:txBody>
          <a:bodyPr anchorCtr="0" anchor="ctr" bIns="47400" lIns="47400" spcFirstLastPara="1" rIns="47400" wrap="square" tIns="47400">
            <a:noAutofit/>
          </a:bodyPr>
          <a:lstStyle/>
          <a:p>
            <a:pPr indent="0" lvl="0" marL="0" rtl="0" algn="l">
              <a:spcBef>
                <a:spcPts val="0"/>
              </a:spcBef>
              <a:spcAft>
                <a:spcPts val="0"/>
              </a:spcAft>
              <a:buNone/>
            </a:pPr>
            <a:r>
              <a:rPr lang="en-US" sz="726"/>
              <a:t>  </a:t>
            </a:r>
            <a:endParaRPr sz="726"/>
          </a:p>
        </p:txBody>
      </p:sp>
      <p:pic>
        <p:nvPicPr>
          <p:cNvPr id="505" name="Google Shape;505;h55e8012936a262e7_1_14"/>
          <p:cNvPicPr preferRelativeResize="0"/>
          <p:nvPr/>
        </p:nvPicPr>
        <p:blipFill>
          <a:blip r:embed="rId5">
            <a:alphaModFix/>
          </a:blip>
          <a:stretch>
            <a:fillRect/>
          </a:stretch>
        </p:blipFill>
        <p:spPr>
          <a:xfrm>
            <a:off x="481175" y="3037355"/>
            <a:ext cx="5819046" cy="423846"/>
          </a:xfrm>
          <a:prstGeom prst="rect">
            <a:avLst/>
          </a:prstGeom>
          <a:noFill/>
          <a:ln>
            <a:noFill/>
          </a:ln>
        </p:spPr>
      </p:pic>
      <p:sp>
        <p:nvSpPr>
          <p:cNvPr id="506" name="Google Shape;506;h55e8012936a262e7_1_14"/>
          <p:cNvSpPr txBox="1"/>
          <p:nvPr/>
        </p:nvSpPr>
        <p:spPr>
          <a:xfrm>
            <a:off x="447275" y="2640329"/>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Áudio</a:t>
            </a:r>
            <a:r>
              <a:rPr b="1" lang="en-US" sz="1200">
                <a:solidFill>
                  <a:schemeClr val="dk1"/>
                </a:solidFill>
              </a:rPr>
              <a:t>:</a:t>
            </a:r>
            <a:endParaRPr sz="1200">
              <a:solidFill>
                <a:schemeClr val="dk1"/>
              </a:solidFill>
            </a:endParaRPr>
          </a:p>
        </p:txBody>
      </p:sp>
      <p:sp>
        <p:nvSpPr>
          <p:cNvPr id="507" name="Google Shape;507;h55e8012936a262e7_1_14"/>
          <p:cNvSpPr/>
          <p:nvPr/>
        </p:nvSpPr>
        <p:spPr>
          <a:xfrm>
            <a:off x="4642350" y="4306400"/>
            <a:ext cx="3039000" cy="2199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08" name="Google Shape;508;h55e8012936a262e7_1_14"/>
          <p:cNvSpPr txBox="1"/>
          <p:nvPr/>
        </p:nvSpPr>
        <p:spPr>
          <a:xfrm>
            <a:off x="4709880" y="4306400"/>
            <a:ext cx="2903700" cy="219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842"/>
              <a:buFont typeface="Arial"/>
              <a:buNone/>
            </a:pPr>
            <a:r>
              <a:rPr b="1" lang="en-US" sz="800">
                <a:solidFill>
                  <a:schemeClr val="lt1"/>
                </a:solidFill>
              </a:rPr>
              <a:t>É possível inserir Companion nas TAGs de Áudio e Vídeo</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h55e8012936a262e7_1_89"/>
          <p:cNvSpPr txBox="1"/>
          <p:nvPr>
            <p:ph type="title"/>
          </p:nvPr>
        </p:nvSpPr>
        <p:spPr>
          <a:xfrm>
            <a:off x="685800" y="365760"/>
            <a:ext cx="80010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a:t>
            </a:r>
            <a:r>
              <a:rPr lang="en-US"/>
              <a:t>Estrutura Contadores </a:t>
            </a:r>
            <a:endParaRPr sz="2200"/>
          </a:p>
        </p:txBody>
      </p:sp>
      <p:sp>
        <p:nvSpPr>
          <p:cNvPr id="515" name="Google Shape;515;h55e8012936a262e7_1_89"/>
          <p:cNvSpPr/>
          <p:nvPr/>
        </p:nvSpPr>
        <p:spPr>
          <a:xfrm>
            <a:off x="1480300" y="3694473"/>
            <a:ext cx="3039000" cy="3090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16" name="Google Shape;516;h55e8012936a262e7_1_89"/>
          <p:cNvSpPr txBox="1"/>
          <p:nvPr/>
        </p:nvSpPr>
        <p:spPr>
          <a:xfrm>
            <a:off x="1547850" y="3694548"/>
            <a:ext cx="2903700" cy="30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842"/>
              <a:buFont typeface="Arial"/>
              <a:buNone/>
            </a:pPr>
            <a:r>
              <a:rPr b="1" lang="en-US" sz="800">
                <a:solidFill>
                  <a:schemeClr val="lt1"/>
                </a:solidFill>
              </a:rPr>
              <a:t>Impressões: deve ser implementado somente a parte sinalizada em amarelo</a:t>
            </a:r>
            <a:endParaRPr b="0" i="0" sz="800" u="none" cap="none" strike="noStrike">
              <a:solidFill>
                <a:schemeClr val="dk1"/>
              </a:solidFill>
              <a:latin typeface="Arial"/>
              <a:ea typeface="Arial"/>
              <a:cs typeface="Arial"/>
              <a:sym typeface="Arial"/>
            </a:endParaRPr>
          </a:p>
        </p:txBody>
      </p:sp>
      <p:sp>
        <p:nvSpPr>
          <p:cNvPr id="517" name="Google Shape;517;h55e8012936a262e7_1_89"/>
          <p:cNvSpPr txBox="1"/>
          <p:nvPr/>
        </p:nvSpPr>
        <p:spPr>
          <a:xfrm>
            <a:off x="481175" y="9439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Impressões</a:t>
            </a:r>
            <a:r>
              <a:rPr b="1" lang="en-US" sz="1200">
                <a:solidFill>
                  <a:schemeClr val="dk1"/>
                </a:solidFill>
              </a:rPr>
              <a:t>:</a:t>
            </a:r>
            <a:endParaRPr sz="1200">
              <a:solidFill>
                <a:schemeClr val="dk1"/>
              </a:solidFill>
            </a:endParaRPr>
          </a:p>
        </p:txBody>
      </p:sp>
      <p:sp>
        <p:nvSpPr>
          <p:cNvPr id="518" name="Google Shape;518;h55e8012936a262e7_1_89"/>
          <p:cNvSpPr txBox="1"/>
          <p:nvPr/>
        </p:nvSpPr>
        <p:spPr>
          <a:xfrm>
            <a:off x="4131175" y="9439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Cliques</a:t>
            </a:r>
            <a:r>
              <a:rPr b="1" lang="en-US" sz="1200">
                <a:solidFill>
                  <a:schemeClr val="dk1"/>
                </a:solidFill>
              </a:rPr>
              <a:t>:</a:t>
            </a:r>
            <a:endParaRPr sz="1200">
              <a:solidFill>
                <a:schemeClr val="dk1"/>
              </a:solidFill>
            </a:endParaRPr>
          </a:p>
        </p:txBody>
      </p:sp>
      <p:sp>
        <p:nvSpPr>
          <p:cNvPr id="519" name="Google Shape;519;h55e8012936a262e7_1_89"/>
          <p:cNvSpPr txBox="1"/>
          <p:nvPr/>
        </p:nvSpPr>
        <p:spPr>
          <a:xfrm>
            <a:off x="481175" y="1313200"/>
            <a:ext cx="36432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highlight>
                  <a:srgbClr val="F5F5F5"/>
                </a:highlight>
              </a:rPr>
              <a:t>&lt;img style="width:1px; height:1px;" src="</a:t>
            </a:r>
            <a:r>
              <a:rPr lang="en-US" sz="800">
                <a:highlight>
                  <a:srgbClr val="FFFF00"/>
                </a:highlight>
              </a:rPr>
              <a:t>https://servedby.flashtalking.com/</a:t>
            </a:r>
            <a:r>
              <a:rPr b="1" lang="en-US" sz="800">
                <a:highlight>
                  <a:srgbClr val="FFFF00"/>
                </a:highlight>
              </a:rPr>
              <a:t>imp</a:t>
            </a:r>
            <a:r>
              <a:rPr lang="en-US" sz="800">
                <a:highlight>
                  <a:srgbClr val="FFFF00"/>
                </a:highlight>
              </a:rPr>
              <a:t>/1/263512;9377617;201;pixel;TikTok;duplaartistasfestainfeedretailamazoncore15snadarkbsayvidinfeedfeednskpbrdna15sna/?gdpr=${GDPR}&amp;gdpr_consent=${GDPR_CONSENT_78}&amp;us_privacy=${US_PRIVACY}&amp;cachebuster=[CACHEBUSTER]</a:t>
            </a:r>
            <a:r>
              <a:rPr lang="en-US" sz="800">
                <a:highlight>
                  <a:srgbClr val="F5F5F5"/>
                </a:highlight>
              </a:rPr>
              <a:t>"/&gt;​​</a:t>
            </a:r>
            <a:r>
              <a:rPr lang="en-US" sz="100"/>
              <a:t> </a:t>
            </a:r>
            <a:endParaRPr sz="200"/>
          </a:p>
        </p:txBody>
      </p:sp>
      <p:sp>
        <p:nvSpPr>
          <p:cNvPr id="520" name="Google Shape;520;h55e8012936a262e7_1_89"/>
          <p:cNvSpPr txBox="1"/>
          <p:nvPr/>
        </p:nvSpPr>
        <p:spPr>
          <a:xfrm>
            <a:off x="4131175" y="1410775"/>
            <a:ext cx="351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highlight>
                  <a:srgbClr val="F5F5F5"/>
                </a:highlight>
              </a:rPr>
              <a:t>https://servedby.flashtalking.com/</a:t>
            </a:r>
            <a:r>
              <a:rPr b="1" lang="en-US" sz="800">
                <a:highlight>
                  <a:srgbClr val="F5F5F5"/>
                </a:highlight>
              </a:rPr>
              <a:t>click</a:t>
            </a:r>
            <a:r>
              <a:rPr lang="en-US" sz="800">
                <a:highlight>
                  <a:srgbClr val="F5F5F5"/>
                </a:highlight>
              </a:rPr>
              <a:t>/1/263512;9377617;50126;211;0/?ft_width=1&amp;ft_height=1&amp;gdpr=${GDPR}&amp;gdpr_consent=${GDPR_CONSENT_78}&amp;us_privacy=${US_PRIVACY}&amp;url=41455608​</a:t>
            </a:r>
            <a:r>
              <a:rPr lang="en-US" sz="100"/>
              <a:t> </a:t>
            </a:r>
            <a:endParaRPr sz="400"/>
          </a:p>
        </p:txBody>
      </p:sp>
      <p:sp>
        <p:nvSpPr>
          <p:cNvPr id="521" name="Google Shape;521;h55e8012936a262e7_1_89"/>
          <p:cNvSpPr txBox="1"/>
          <p:nvPr/>
        </p:nvSpPr>
        <p:spPr>
          <a:xfrm>
            <a:off x="481175" y="225985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Quartis de vídeo e áudio</a:t>
            </a:r>
            <a:r>
              <a:rPr b="1" lang="en-US" sz="1200">
                <a:solidFill>
                  <a:schemeClr val="dk1"/>
                </a:solidFill>
              </a:rPr>
              <a:t>:</a:t>
            </a:r>
            <a:endParaRPr sz="1200">
              <a:solidFill>
                <a:schemeClr val="dk1"/>
              </a:solidFill>
            </a:endParaRPr>
          </a:p>
        </p:txBody>
      </p:sp>
      <p:sp>
        <p:nvSpPr>
          <p:cNvPr id="522" name="Google Shape;522;h55e8012936a262e7_1_89"/>
          <p:cNvSpPr/>
          <p:nvPr/>
        </p:nvSpPr>
        <p:spPr>
          <a:xfrm>
            <a:off x="481176" y="2705209"/>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Start</a:t>
            </a:r>
            <a:endParaRPr b="0" i="0" sz="838" u="none" cap="none" strike="noStrike">
              <a:solidFill>
                <a:schemeClr val="dk1"/>
              </a:solidFill>
              <a:latin typeface="Arial"/>
              <a:ea typeface="Arial"/>
              <a:cs typeface="Arial"/>
              <a:sym typeface="Arial"/>
            </a:endParaRPr>
          </a:p>
        </p:txBody>
      </p:sp>
      <p:sp>
        <p:nvSpPr>
          <p:cNvPr id="523" name="Google Shape;523;h55e8012936a262e7_1_89"/>
          <p:cNvSpPr/>
          <p:nvPr/>
        </p:nvSpPr>
        <p:spPr>
          <a:xfrm>
            <a:off x="481176" y="2932884"/>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First Quartile</a:t>
            </a:r>
            <a:endParaRPr b="0" i="0" sz="838" u="none" cap="none" strike="noStrike">
              <a:solidFill>
                <a:schemeClr val="dk1"/>
              </a:solidFill>
              <a:latin typeface="Arial"/>
              <a:ea typeface="Arial"/>
              <a:cs typeface="Arial"/>
              <a:sym typeface="Arial"/>
            </a:endParaRPr>
          </a:p>
        </p:txBody>
      </p:sp>
      <p:sp>
        <p:nvSpPr>
          <p:cNvPr id="524" name="Google Shape;524;h55e8012936a262e7_1_89"/>
          <p:cNvSpPr/>
          <p:nvPr/>
        </p:nvSpPr>
        <p:spPr>
          <a:xfrm>
            <a:off x="481176" y="3187897"/>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Midpoint</a:t>
            </a:r>
            <a:endParaRPr b="0" i="0" sz="838" u="none" cap="none" strike="noStrike">
              <a:solidFill>
                <a:schemeClr val="dk1"/>
              </a:solidFill>
              <a:latin typeface="Arial"/>
              <a:ea typeface="Arial"/>
              <a:cs typeface="Arial"/>
              <a:sym typeface="Arial"/>
            </a:endParaRPr>
          </a:p>
        </p:txBody>
      </p:sp>
      <p:sp>
        <p:nvSpPr>
          <p:cNvPr id="525" name="Google Shape;525;h55e8012936a262e7_1_89"/>
          <p:cNvSpPr/>
          <p:nvPr/>
        </p:nvSpPr>
        <p:spPr>
          <a:xfrm>
            <a:off x="1679901" y="2705209"/>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Third Quartile</a:t>
            </a:r>
            <a:endParaRPr b="0" i="0" sz="838" u="none" cap="none" strike="noStrike">
              <a:solidFill>
                <a:schemeClr val="dk1"/>
              </a:solidFill>
              <a:latin typeface="Arial"/>
              <a:ea typeface="Arial"/>
              <a:cs typeface="Arial"/>
              <a:sym typeface="Arial"/>
            </a:endParaRPr>
          </a:p>
        </p:txBody>
      </p:sp>
      <p:sp>
        <p:nvSpPr>
          <p:cNvPr id="526" name="Google Shape;526;h55e8012936a262e7_1_89"/>
          <p:cNvSpPr/>
          <p:nvPr/>
        </p:nvSpPr>
        <p:spPr>
          <a:xfrm>
            <a:off x="1679901" y="2932884"/>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Complete</a:t>
            </a:r>
            <a:endParaRPr b="0" i="0" sz="838" u="none" cap="none" strike="noStrike">
              <a:solidFill>
                <a:schemeClr val="dk1"/>
              </a:solidFill>
              <a:latin typeface="Arial"/>
              <a:ea typeface="Arial"/>
              <a:cs typeface="Arial"/>
              <a:sym typeface="Arial"/>
            </a:endParaRPr>
          </a:p>
        </p:txBody>
      </p:sp>
      <p:sp>
        <p:nvSpPr>
          <p:cNvPr id="527" name="Google Shape;527;h55e8012936a262e7_1_89"/>
          <p:cNvSpPr/>
          <p:nvPr/>
        </p:nvSpPr>
        <p:spPr>
          <a:xfrm>
            <a:off x="1679901" y="3187897"/>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Unmute</a:t>
            </a:r>
            <a:endParaRPr b="0" i="0" sz="838" u="none" cap="none" strike="noStrike">
              <a:solidFill>
                <a:schemeClr val="dk1"/>
              </a:solidFill>
              <a:latin typeface="Arial"/>
              <a:ea typeface="Arial"/>
              <a:cs typeface="Arial"/>
              <a:sym typeface="Arial"/>
            </a:endParaRPr>
          </a:p>
        </p:txBody>
      </p:sp>
      <p:sp>
        <p:nvSpPr>
          <p:cNvPr id="528" name="Google Shape;528;h55e8012936a262e7_1_89"/>
          <p:cNvSpPr/>
          <p:nvPr/>
        </p:nvSpPr>
        <p:spPr>
          <a:xfrm>
            <a:off x="2878626" y="2705222"/>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Mute</a:t>
            </a:r>
            <a:endParaRPr b="0" i="0" sz="838" u="none" cap="none" strike="noStrike">
              <a:solidFill>
                <a:schemeClr val="dk1"/>
              </a:solidFill>
              <a:latin typeface="Arial"/>
              <a:ea typeface="Arial"/>
              <a:cs typeface="Arial"/>
              <a:sym typeface="Arial"/>
            </a:endParaRPr>
          </a:p>
        </p:txBody>
      </p:sp>
      <p:sp>
        <p:nvSpPr>
          <p:cNvPr id="529" name="Google Shape;529;h55e8012936a262e7_1_89"/>
          <p:cNvSpPr/>
          <p:nvPr/>
        </p:nvSpPr>
        <p:spPr>
          <a:xfrm>
            <a:off x="2878626" y="2932897"/>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Fullscreen</a:t>
            </a:r>
            <a:endParaRPr b="0" i="0" sz="838" u="none" cap="none" strike="noStrike">
              <a:solidFill>
                <a:schemeClr val="dk1"/>
              </a:solidFill>
              <a:latin typeface="Arial"/>
              <a:ea typeface="Arial"/>
              <a:cs typeface="Arial"/>
              <a:sym typeface="Arial"/>
            </a:endParaRPr>
          </a:p>
        </p:txBody>
      </p:sp>
      <p:sp>
        <p:nvSpPr>
          <p:cNvPr id="530" name="Google Shape;530;h55e8012936a262e7_1_89"/>
          <p:cNvSpPr/>
          <p:nvPr/>
        </p:nvSpPr>
        <p:spPr>
          <a:xfrm>
            <a:off x="2878626" y="3187897"/>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Skip</a:t>
            </a:r>
            <a:endParaRPr b="0" i="0" sz="838" u="none" cap="none" strike="noStrike">
              <a:solidFill>
                <a:schemeClr val="dk1"/>
              </a:solidFill>
              <a:latin typeface="Arial"/>
              <a:ea typeface="Arial"/>
              <a:cs typeface="Arial"/>
              <a:sym typeface="Arial"/>
            </a:endParaRPr>
          </a:p>
        </p:txBody>
      </p:sp>
      <p:sp>
        <p:nvSpPr>
          <p:cNvPr id="531" name="Google Shape;531;h55e8012936a262e7_1_89"/>
          <p:cNvSpPr/>
          <p:nvPr/>
        </p:nvSpPr>
        <p:spPr>
          <a:xfrm>
            <a:off x="1480075" y="4047748"/>
            <a:ext cx="3039000" cy="3090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32" name="Google Shape;532;h55e8012936a262e7_1_89"/>
          <p:cNvSpPr txBox="1"/>
          <p:nvPr/>
        </p:nvSpPr>
        <p:spPr>
          <a:xfrm>
            <a:off x="1547625" y="4094849"/>
            <a:ext cx="2903700" cy="309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842"/>
              <a:buFont typeface="Arial"/>
              <a:buNone/>
            </a:pPr>
            <a:r>
              <a:rPr b="1" lang="en-US" sz="800">
                <a:solidFill>
                  <a:schemeClr val="lt1"/>
                </a:solidFill>
              </a:rPr>
              <a:t>Deve ser implementado ambos os códigos nos campos destinados a cada um deles</a:t>
            </a:r>
            <a:endParaRPr sz="800">
              <a:solidFill>
                <a:schemeClr val="dk1"/>
              </a:solidFill>
            </a:endParaRPr>
          </a:p>
          <a:p>
            <a:pPr indent="0" lvl="0" marL="0" marR="0" rtl="0" algn="ctr">
              <a:spcBef>
                <a:spcPts val="0"/>
              </a:spcBef>
              <a:spcAft>
                <a:spcPts val="0"/>
              </a:spcAft>
              <a:buClr>
                <a:schemeClr val="lt1"/>
              </a:buClr>
              <a:buSzPts val="842"/>
              <a:buFont typeface="Arial"/>
              <a:buNone/>
            </a:pPr>
            <a:r>
              <a:t/>
            </a:r>
            <a:endParaRPr b="1" sz="800">
              <a:solidFill>
                <a:schemeClr val="lt1"/>
              </a:solidFill>
            </a:endParaRPr>
          </a:p>
        </p:txBody>
      </p:sp>
      <p:sp>
        <p:nvSpPr>
          <p:cNvPr id="533" name="Google Shape;533;h55e8012936a262e7_1_89"/>
          <p:cNvSpPr/>
          <p:nvPr/>
        </p:nvSpPr>
        <p:spPr>
          <a:xfrm>
            <a:off x="1480300" y="4397896"/>
            <a:ext cx="3039000" cy="3090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34" name="Google Shape;534;h55e8012936a262e7_1_89"/>
          <p:cNvSpPr txBox="1"/>
          <p:nvPr/>
        </p:nvSpPr>
        <p:spPr>
          <a:xfrm>
            <a:off x="1547850" y="4444997"/>
            <a:ext cx="2903700" cy="309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br>
              <a:rPr b="1" lang="en-US" sz="800">
                <a:solidFill>
                  <a:schemeClr val="lt1"/>
                </a:solidFill>
              </a:rPr>
            </a:br>
            <a:br>
              <a:rPr b="1" lang="en-US" sz="800">
                <a:solidFill>
                  <a:schemeClr val="lt1"/>
                </a:solidFill>
              </a:rPr>
            </a:br>
            <a:r>
              <a:rPr b="1" lang="en-US" sz="800">
                <a:solidFill>
                  <a:schemeClr val="lt1"/>
                </a:solidFill>
              </a:rPr>
              <a:t>Todos os quartis estão disponíveis, dependemos dos campos oferecidos pelos publishers para implementação.</a:t>
            </a:r>
            <a:endParaRPr b="1" sz="800">
              <a:solidFill>
                <a:schemeClr val="lt1"/>
              </a:solidFill>
            </a:endParaRPr>
          </a:p>
          <a:p>
            <a:pPr indent="0" lvl="0" marL="0" rtl="0" algn="l">
              <a:spcBef>
                <a:spcPts val="0"/>
              </a:spcBef>
              <a:spcAft>
                <a:spcPts val="0"/>
              </a:spcAft>
              <a:buNone/>
            </a:pPr>
            <a:r>
              <a:t/>
            </a:r>
            <a:endParaRPr b="1" sz="700">
              <a:solidFill>
                <a:schemeClr val="lt1"/>
              </a:solidFill>
            </a:endParaRPr>
          </a:p>
          <a:p>
            <a:pPr indent="0" lvl="0" marL="0" rtl="0" algn="l">
              <a:spcBef>
                <a:spcPts val="0"/>
              </a:spcBef>
              <a:spcAft>
                <a:spcPts val="0"/>
              </a:spcAft>
              <a:buClr>
                <a:schemeClr val="lt1"/>
              </a:buClr>
              <a:buSzPts val="842"/>
              <a:buFont typeface="Arial"/>
              <a:buNone/>
            </a:pPr>
            <a:r>
              <a:t/>
            </a:r>
            <a:endParaRPr b="1" sz="700">
              <a:solidFill>
                <a:schemeClr val="lt1"/>
              </a:solidFill>
            </a:endParaRPr>
          </a:p>
          <a:p>
            <a:pPr indent="0" lvl="0" marL="0" marR="0" rtl="0" algn="l">
              <a:spcBef>
                <a:spcPts val="0"/>
              </a:spcBef>
              <a:spcAft>
                <a:spcPts val="0"/>
              </a:spcAft>
              <a:buClr>
                <a:schemeClr val="lt1"/>
              </a:buClr>
              <a:buSzPts val="842"/>
              <a:buFont typeface="Arial"/>
              <a:buNone/>
            </a:pPr>
            <a:r>
              <a:t/>
            </a:r>
            <a:endParaRPr b="1" sz="800">
              <a:solidFill>
                <a:schemeClr val="lt1"/>
              </a:solidFill>
            </a:endParaRPr>
          </a:p>
        </p:txBody>
      </p:sp>
      <p:sp>
        <p:nvSpPr>
          <p:cNvPr id="535" name="Google Shape;535;h55e8012936a262e7_1_89"/>
          <p:cNvSpPr/>
          <p:nvPr/>
        </p:nvSpPr>
        <p:spPr>
          <a:xfrm>
            <a:off x="4642350" y="3694498"/>
            <a:ext cx="3039000" cy="3090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36" name="Google Shape;536;h55e8012936a262e7_1_89"/>
          <p:cNvSpPr txBox="1"/>
          <p:nvPr/>
        </p:nvSpPr>
        <p:spPr>
          <a:xfrm>
            <a:off x="4709900" y="3694573"/>
            <a:ext cx="2903700" cy="309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842"/>
              <a:buFont typeface="Arial"/>
              <a:buNone/>
            </a:pPr>
            <a:br>
              <a:rPr b="1" lang="en-US" sz="800">
                <a:solidFill>
                  <a:schemeClr val="lt1"/>
                </a:solidFill>
              </a:rPr>
            </a:br>
            <a:r>
              <a:rPr b="1" lang="en-US" sz="800">
                <a:solidFill>
                  <a:schemeClr val="lt1"/>
                </a:solidFill>
              </a:rPr>
              <a:t>É possível identificar na estrutura do código qual se refere a Impressões e a Cliques</a:t>
            </a:r>
            <a:endParaRPr sz="800">
              <a:solidFill>
                <a:schemeClr val="dk1"/>
              </a:solidFill>
            </a:endParaRPr>
          </a:p>
          <a:p>
            <a:pPr indent="0" lvl="0" marL="0" marR="0" rtl="0" algn="ctr">
              <a:spcBef>
                <a:spcPts val="0"/>
              </a:spcBef>
              <a:spcAft>
                <a:spcPts val="0"/>
              </a:spcAft>
              <a:buClr>
                <a:schemeClr val="lt1"/>
              </a:buClr>
              <a:buSzPts val="842"/>
              <a:buFont typeface="Arial"/>
              <a:buNone/>
            </a:pPr>
            <a:r>
              <a:t/>
            </a:r>
            <a:endParaRPr b="1" sz="800">
              <a:solidFill>
                <a:schemeClr val="lt1"/>
              </a:solidFill>
            </a:endParaRPr>
          </a:p>
        </p:txBody>
      </p:sp>
      <p:sp>
        <p:nvSpPr>
          <p:cNvPr id="537" name="Google Shape;537;h55e8012936a262e7_1_89"/>
          <p:cNvSpPr/>
          <p:nvPr/>
        </p:nvSpPr>
        <p:spPr>
          <a:xfrm>
            <a:off x="4642250" y="4047723"/>
            <a:ext cx="3039000" cy="3090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38" name="Google Shape;538;h55e8012936a262e7_1_89"/>
          <p:cNvSpPr txBox="1"/>
          <p:nvPr/>
        </p:nvSpPr>
        <p:spPr>
          <a:xfrm>
            <a:off x="4709800" y="4047798"/>
            <a:ext cx="2903700" cy="309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842"/>
              <a:buFont typeface="Arial"/>
              <a:buNone/>
            </a:pPr>
            <a:br>
              <a:rPr b="1" lang="en-US" sz="800">
                <a:solidFill>
                  <a:schemeClr val="lt1"/>
                </a:solidFill>
              </a:rPr>
            </a:br>
            <a:br>
              <a:rPr b="1" lang="en-US" sz="800">
                <a:solidFill>
                  <a:schemeClr val="lt1"/>
                </a:solidFill>
              </a:rPr>
            </a:br>
            <a:r>
              <a:rPr b="1" lang="en-US" sz="800">
                <a:solidFill>
                  <a:schemeClr val="lt1"/>
                </a:solidFill>
              </a:rPr>
              <a:t>É necessário enviar somente a peça ao publisher</a:t>
            </a:r>
            <a:endParaRPr sz="800">
              <a:solidFill>
                <a:schemeClr val="dk1"/>
              </a:solidFill>
            </a:endParaRPr>
          </a:p>
          <a:p>
            <a:pPr indent="0" lvl="0" marL="0" rtl="0" algn="ctr">
              <a:spcBef>
                <a:spcPts val="0"/>
              </a:spcBef>
              <a:spcAft>
                <a:spcPts val="0"/>
              </a:spcAft>
              <a:buClr>
                <a:schemeClr val="lt1"/>
              </a:buClr>
              <a:buSzPts val="842"/>
              <a:buFont typeface="Arial"/>
              <a:buNone/>
            </a:pPr>
            <a:r>
              <a:t/>
            </a:r>
            <a:endParaRPr b="1" sz="800">
              <a:solidFill>
                <a:schemeClr val="lt1"/>
              </a:solidFill>
            </a:endParaRPr>
          </a:p>
          <a:p>
            <a:pPr indent="0" lvl="0" marL="0" marR="0" rtl="0" algn="ctr">
              <a:spcBef>
                <a:spcPts val="0"/>
              </a:spcBef>
              <a:spcAft>
                <a:spcPts val="0"/>
              </a:spcAft>
              <a:buClr>
                <a:schemeClr val="lt1"/>
              </a:buClr>
              <a:buSzPts val="842"/>
              <a:buFont typeface="Arial"/>
              <a:buNone/>
            </a:pPr>
            <a:r>
              <a:t/>
            </a:r>
            <a:endParaRPr b="1" sz="800">
              <a:solidFill>
                <a:schemeClr val="lt1"/>
              </a:solidFill>
            </a:endParaRPr>
          </a:p>
        </p:txBody>
      </p:sp>
      <p:sp>
        <p:nvSpPr>
          <p:cNvPr id="539" name="Google Shape;539;h55e8012936a262e7_1_89"/>
          <p:cNvSpPr/>
          <p:nvPr/>
        </p:nvSpPr>
        <p:spPr>
          <a:xfrm>
            <a:off x="4642350" y="4401023"/>
            <a:ext cx="3039000" cy="309000"/>
          </a:xfrm>
          <a:prstGeom prst="roundRect">
            <a:avLst>
              <a:gd fmla="val 33333" name="adj"/>
            </a:avLst>
          </a:prstGeom>
          <a:solidFill>
            <a:schemeClr val="dk2"/>
          </a:solidFill>
          <a:ln cap="flat" cmpd="sng" w="7625">
            <a:solidFill>
              <a:schemeClr val="dk2"/>
            </a:solidFill>
            <a:prstDash val="solid"/>
            <a:round/>
            <a:headEnd len="sm" w="sm" type="none"/>
            <a:tailEnd len="sm" w="sm" type="none"/>
          </a:ln>
        </p:spPr>
        <p:txBody>
          <a:bodyPr anchorCtr="0" anchor="ctr" bIns="73300" lIns="73300" spcFirstLastPara="1" rIns="73300" wrap="square" tIns="73300">
            <a:noAutofit/>
          </a:bodyPr>
          <a:lstStyle/>
          <a:p>
            <a:pPr indent="0" lvl="0" marL="0" rtl="0" algn="l">
              <a:spcBef>
                <a:spcPts val="0"/>
              </a:spcBef>
              <a:spcAft>
                <a:spcPts val="0"/>
              </a:spcAft>
              <a:buNone/>
            </a:pPr>
            <a:r>
              <a:t/>
            </a:r>
            <a:endParaRPr/>
          </a:p>
        </p:txBody>
      </p:sp>
      <p:sp>
        <p:nvSpPr>
          <p:cNvPr id="540" name="Google Shape;540;h55e8012936a262e7_1_89"/>
          <p:cNvSpPr txBox="1"/>
          <p:nvPr/>
        </p:nvSpPr>
        <p:spPr>
          <a:xfrm>
            <a:off x="4709900" y="4401098"/>
            <a:ext cx="2903700" cy="309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842"/>
              <a:buFont typeface="Arial"/>
              <a:buNone/>
            </a:pPr>
            <a:br>
              <a:rPr b="1" lang="en-US" sz="800">
                <a:solidFill>
                  <a:schemeClr val="lt1"/>
                </a:solidFill>
              </a:rPr>
            </a:br>
            <a:br>
              <a:rPr b="1" lang="en-US" sz="800">
                <a:solidFill>
                  <a:schemeClr val="lt1"/>
                </a:solidFill>
              </a:rPr>
            </a:br>
            <a:br>
              <a:rPr b="1" lang="en-US" sz="800">
                <a:solidFill>
                  <a:schemeClr val="lt1"/>
                </a:solidFill>
              </a:rPr>
            </a:br>
            <a:r>
              <a:rPr b="1" lang="en-US" sz="800">
                <a:solidFill>
                  <a:schemeClr val="lt1"/>
                </a:solidFill>
              </a:rPr>
              <a:t>A URL de destino é o contador de Cliques</a:t>
            </a:r>
            <a:endParaRPr sz="800">
              <a:solidFill>
                <a:schemeClr val="dk1"/>
              </a:solidFill>
            </a:endParaRPr>
          </a:p>
          <a:p>
            <a:pPr indent="0" lvl="0" marL="0" rtl="0" algn="ctr">
              <a:spcBef>
                <a:spcPts val="0"/>
              </a:spcBef>
              <a:spcAft>
                <a:spcPts val="0"/>
              </a:spcAft>
              <a:buClr>
                <a:schemeClr val="lt1"/>
              </a:buClr>
              <a:buSzPts val="842"/>
              <a:buFont typeface="Arial"/>
              <a:buNone/>
            </a:pPr>
            <a:r>
              <a:t/>
            </a:r>
            <a:endParaRPr b="1" sz="800">
              <a:solidFill>
                <a:schemeClr val="lt1"/>
              </a:solidFill>
            </a:endParaRPr>
          </a:p>
          <a:p>
            <a:pPr indent="0" lvl="0" marL="0" rtl="0" algn="ctr">
              <a:spcBef>
                <a:spcPts val="0"/>
              </a:spcBef>
              <a:spcAft>
                <a:spcPts val="0"/>
              </a:spcAft>
              <a:buClr>
                <a:schemeClr val="lt1"/>
              </a:buClr>
              <a:buSzPts val="842"/>
              <a:buFont typeface="Arial"/>
              <a:buNone/>
            </a:pPr>
            <a:r>
              <a:t/>
            </a:r>
            <a:endParaRPr b="1" sz="800">
              <a:solidFill>
                <a:schemeClr val="lt1"/>
              </a:solidFill>
            </a:endParaRPr>
          </a:p>
          <a:p>
            <a:pPr indent="0" lvl="0" marL="0" marR="0" rtl="0" algn="ctr">
              <a:spcBef>
                <a:spcPts val="0"/>
              </a:spcBef>
              <a:spcAft>
                <a:spcPts val="0"/>
              </a:spcAft>
              <a:buClr>
                <a:schemeClr val="lt1"/>
              </a:buClr>
              <a:buSzPts val="842"/>
              <a:buFont typeface="Arial"/>
              <a:buNone/>
            </a:pPr>
            <a:r>
              <a:t/>
            </a:r>
            <a:endParaRPr b="1" sz="8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h55e8012936a262e7_1_152"/>
          <p:cNvSpPr txBox="1"/>
          <p:nvPr>
            <p:ph type="title"/>
          </p:nvPr>
        </p:nvSpPr>
        <p:spPr>
          <a:xfrm>
            <a:off x="685800" y="365760"/>
            <a:ext cx="80010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a:t>
            </a:r>
            <a:r>
              <a:rPr lang="en-US"/>
              <a:t>Exemplos de implementações</a:t>
            </a:r>
            <a:endParaRPr sz="2200"/>
          </a:p>
        </p:txBody>
      </p:sp>
      <p:sp>
        <p:nvSpPr>
          <p:cNvPr id="547" name="Google Shape;547;h55e8012936a262e7_1_152"/>
          <p:cNvSpPr txBox="1"/>
          <p:nvPr/>
        </p:nvSpPr>
        <p:spPr>
          <a:xfrm>
            <a:off x="481175" y="9439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Pinterest</a:t>
            </a:r>
            <a:r>
              <a:rPr b="1" lang="en-US" sz="1200">
                <a:solidFill>
                  <a:schemeClr val="dk1"/>
                </a:solidFill>
              </a:rPr>
              <a:t>:</a:t>
            </a:r>
            <a:endParaRPr sz="1200">
              <a:solidFill>
                <a:schemeClr val="dk1"/>
              </a:solidFill>
            </a:endParaRPr>
          </a:p>
        </p:txBody>
      </p:sp>
      <p:sp>
        <p:nvSpPr>
          <p:cNvPr id="548" name="Google Shape;548;h55e8012936a262e7_1_152"/>
          <p:cNvSpPr txBox="1"/>
          <p:nvPr/>
        </p:nvSpPr>
        <p:spPr>
          <a:xfrm>
            <a:off x="4131175" y="9439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Tik Tok</a:t>
            </a:r>
            <a:r>
              <a:rPr b="1" lang="en-US" sz="1200">
                <a:solidFill>
                  <a:schemeClr val="dk1"/>
                </a:solidFill>
              </a:rPr>
              <a:t>:</a:t>
            </a:r>
            <a:endParaRPr sz="1200">
              <a:solidFill>
                <a:schemeClr val="dk1"/>
              </a:solidFill>
            </a:endParaRPr>
          </a:p>
        </p:txBody>
      </p:sp>
      <p:pic>
        <p:nvPicPr>
          <p:cNvPr id="549" name="Google Shape;549;h55e8012936a262e7_1_152"/>
          <p:cNvPicPr preferRelativeResize="0"/>
          <p:nvPr/>
        </p:nvPicPr>
        <p:blipFill>
          <a:blip r:embed="rId3">
            <a:alphaModFix/>
          </a:blip>
          <a:stretch>
            <a:fillRect/>
          </a:stretch>
        </p:blipFill>
        <p:spPr>
          <a:xfrm>
            <a:off x="481175" y="1313196"/>
            <a:ext cx="2629399" cy="1385912"/>
          </a:xfrm>
          <a:prstGeom prst="rect">
            <a:avLst/>
          </a:prstGeom>
          <a:noFill/>
          <a:ln>
            <a:noFill/>
          </a:ln>
        </p:spPr>
      </p:pic>
      <p:sp>
        <p:nvSpPr>
          <p:cNvPr id="550" name="Google Shape;550;h55e8012936a262e7_1_152"/>
          <p:cNvSpPr txBox="1"/>
          <p:nvPr/>
        </p:nvSpPr>
        <p:spPr>
          <a:xfrm>
            <a:off x="524998" y="1357020"/>
            <a:ext cx="862500" cy="862500"/>
          </a:xfrm>
          <a:prstGeom prst="rect">
            <a:avLst/>
          </a:prstGeom>
          <a:noFill/>
          <a:ln>
            <a:noFill/>
          </a:ln>
        </p:spPr>
        <p:txBody>
          <a:bodyPr anchorCtr="0" anchor="ctr" bIns="26300" lIns="26300" spcFirstLastPara="1" rIns="26300" wrap="square" tIns="26300">
            <a:noAutofit/>
          </a:bodyPr>
          <a:lstStyle/>
          <a:p>
            <a:pPr indent="0" lvl="0" marL="0" rtl="0" algn="l">
              <a:spcBef>
                <a:spcPts val="0"/>
              </a:spcBef>
              <a:spcAft>
                <a:spcPts val="0"/>
              </a:spcAft>
              <a:buNone/>
            </a:pPr>
            <a:r>
              <a:rPr lang="en-US" sz="403"/>
              <a:t>  </a:t>
            </a:r>
            <a:endParaRPr sz="403"/>
          </a:p>
        </p:txBody>
      </p:sp>
      <p:pic>
        <p:nvPicPr>
          <p:cNvPr descr="A screenshot of a computer&#10;&#10;AI-generated content may be incorrect." id="551" name="Google Shape;551;h55e8012936a262e7_1_152"/>
          <p:cNvPicPr preferRelativeResize="0"/>
          <p:nvPr/>
        </p:nvPicPr>
        <p:blipFill>
          <a:blip r:embed="rId4">
            <a:alphaModFix/>
          </a:blip>
          <a:stretch>
            <a:fillRect/>
          </a:stretch>
        </p:blipFill>
        <p:spPr>
          <a:xfrm>
            <a:off x="4160350" y="1357025"/>
            <a:ext cx="3568325" cy="1183960"/>
          </a:xfrm>
          <a:prstGeom prst="rect">
            <a:avLst/>
          </a:prstGeom>
          <a:noFill/>
          <a:ln>
            <a:noFill/>
          </a:ln>
        </p:spPr>
      </p:pic>
      <p:sp>
        <p:nvSpPr>
          <p:cNvPr id="552" name="Google Shape;552;h55e8012936a262e7_1_152"/>
          <p:cNvSpPr txBox="1"/>
          <p:nvPr/>
        </p:nvSpPr>
        <p:spPr>
          <a:xfrm>
            <a:off x="4312726" y="1444726"/>
            <a:ext cx="1726500" cy="1726500"/>
          </a:xfrm>
          <a:prstGeom prst="rect">
            <a:avLst/>
          </a:prstGeom>
          <a:noFill/>
          <a:ln>
            <a:noFill/>
          </a:ln>
        </p:spPr>
        <p:txBody>
          <a:bodyPr anchorCtr="0" anchor="ctr" bIns="52600" lIns="52600" spcFirstLastPara="1" rIns="52600" wrap="square" tIns="52600">
            <a:noAutofit/>
          </a:bodyPr>
          <a:lstStyle/>
          <a:p>
            <a:pPr indent="0" lvl="0" marL="0" rtl="0" algn="l">
              <a:spcBef>
                <a:spcPts val="0"/>
              </a:spcBef>
              <a:spcAft>
                <a:spcPts val="0"/>
              </a:spcAft>
              <a:buNone/>
            </a:pPr>
            <a:r>
              <a:rPr lang="en-US" sz="806"/>
              <a:t>  </a:t>
            </a:r>
            <a:endParaRPr sz="806"/>
          </a:p>
        </p:txBody>
      </p:sp>
      <p:sp>
        <p:nvSpPr>
          <p:cNvPr id="553" name="Google Shape;553;h55e8012936a262e7_1_152"/>
          <p:cNvSpPr txBox="1"/>
          <p:nvPr/>
        </p:nvSpPr>
        <p:spPr>
          <a:xfrm>
            <a:off x="481175" y="2815294"/>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rPr>
              <a:t>Kwai</a:t>
            </a:r>
            <a:r>
              <a:rPr b="1" lang="en-US" sz="1200">
                <a:solidFill>
                  <a:schemeClr val="dk1"/>
                </a:solidFill>
              </a:rPr>
              <a:t>:</a:t>
            </a:r>
            <a:endParaRPr sz="1200">
              <a:solidFill>
                <a:schemeClr val="dk1"/>
              </a:solidFill>
            </a:endParaRPr>
          </a:p>
        </p:txBody>
      </p:sp>
      <p:sp>
        <p:nvSpPr>
          <p:cNvPr id="554" name="Google Shape;554;h55e8012936a262e7_1_152"/>
          <p:cNvSpPr txBox="1"/>
          <p:nvPr/>
        </p:nvSpPr>
        <p:spPr>
          <a:xfrm>
            <a:off x="479250" y="3341400"/>
            <a:ext cx="1119600" cy="1119600"/>
          </a:xfrm>
          <a:prstGeom prst="rect">
            <a:avLst/>
          </a:prstGeom>
          <a:noFill/>
          <a:ln>
            <a:noFill/>
          </a:ln>
        </p:spPr>
        <p:txBody>
          <a:bodyPr anchorCtr="0" anchor="ctr" bIns="34125" lIns="34125" spcFirstLastPara="1" rIns="34125" wrap="square" tIns="34125">
            <a:noAutofit/>
          </a:bodyPr>
          <a:lstStyle/>
          <a:p>
            <a:pPr indent="0" lvl="0" marL="0" rtl="0" algn="l">
              <a:spcBef>
                <a:spcPts val="0"/>
              </a:spcBef>
              <a:spcAft>
                <a:spcPts val="0"/>
              </a:spcAft>
              <a:buNone/>
            </a:pPr>
            <a:r>
              <a:rPr lang="en-US" sz="522"/>
              <a:t>  </a:t>
            </a:r>
            <a:endParaRPr sz="522"/>
          </a:p>
        </p:txBody>
      </p:sp>
      <p:sp>
        <p:nvSpPr>
          <p:cNvPr id="555" name="Google Shape;555;h55e8012936a262e7_1_152"/>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  </a:t>
            </a:r>
            <a:endParaRPr/>
          </a:p>
        </p:txBody>
      </p:sp>
      <p:pic>
        <p:nvPicPr>
          <p:cNvPr id="556" name="Google Shape;556;h55e8012936a262e7_1_152"/>
          <p:cNvPicPr preferRelativeResize="0"/>
          <p:nvPr/>
        </p:nvPicPr>
        <p:blipFill>
          <a:blip r:embed="rId5">
            <a:alphaModFix/>
          </a:blip>
          <a:stretch>
            <a:fillRect/>
          </a:stretch>
        </p:blipFill>
        <p:spPr>
          <a:xfrm>
            <a:off x="479250" y="3184600"/>
            <a:ext cx="3371901" cy="1290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15"/>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Nomenclaturas do ADP</a:t>
            </a:r>
            <a:endParaRPr sz="2200"/>
          </a:p>
        </p:txBody>
      </p:sp>
      <p:sp>
        <p:nvSpPr>
          <p:cNvPr id="563" name="Google Shape;563;p15"/>
          <p:cNvSpPr txBox="1"/>
          <p:nvPr/>
        </p:nvSpPr>
        <p:spPr>
          <a:xfrm>
            <a:off x="457200" y="1051550"/>
            <a:ext cx="4023300" cy="229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Placement Type: tipo de veiculação do placement</a:t>
            </a:r>
            <a:endParaRPr b="0" i="0" sz="1200" u="none" cap="none" strike="noStrike">
              <a:solidFill>
                <a:schemeClr val="dk1"/>
              </a:solidFill>
              <a:latin typeface="Arial"/>
              <a:ea typeface="Arial"/>
              <a:cs typeface="Arial"/>
              <a:sym typeface="Arial"/>
            </a:endParaRPr>
          </a:p>
        </p:txBody>
      </p:sp>
      <p:sp>
        <p:nvSpPr>
          <p:cNvPr id="564" name="Google Shape;564;p15"/>
          <p:cNvSpPr/>
          <p:nvPr/>
        </p:nvSpPr>
        <p:spPr>
          <a:xfrm>
            <a:off x="457200" y="1338875"/>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565" name="Google Shape;565;p15"/>
          <p:cNvSpPr/>
          <p:nvPr/>
        </p:nvSpPr>
        <p:spPr>
          <a:xfrm>
            <a:off x="529326" y="1392046"/>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i="0" lang="en-US" sz="838" u="none" cap="none" strike="noStrike">
                <a:solidFill>
                  <a:schemeClr val="dk1"/>
                </a:solidFill>
                <a:latin typeface="Arial"/>
                <a:ea typeface="Arial"/>
                <a:cs typeface="Arial"/>
                <a:sym typeface="Arial"/>
              </a:rPr>
              <a:t>HTML</a:t>
            </a:r>
            <a:endParaRPr b="0" i="0" sz="838" u="none" cap="none" strike="noStrike">
              <a:solidFill>
                <a:schemeClr val="dk1"/>
              </a:solidFill>
              <a:latin typeface="Arial"/>
              <a:ea typeface="Arial"/>
              <a:cs typeface="Arial"/>
              <a:sym typeface="Arial"/>
            </a:endParaRPr>
          </a:p>
        </p:txBody>
      </p:sp>
      <p:sp>
        <p:nvSpPr>
          <p:cNvPr id="566" name="Google Shape;566;p15"/>
          <p:cNvSpPr txBox="1"/>
          <p:nvPr/>
        </p:nvSpPr>
        <p:spPr>
          <a:xfrm>
            <a:off x="1674331" y="1338875"/>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b="0" i="0" lang="en-US" sz="789" u="none" cap="none" strike="noStrike">
                <a:solidFill>
                  <a:schemeClr val="dk2"/>
                </a:solidFill>
                <a:latin typeface="Arial"/>
                <a:ea typeface="Arial"/>
                <a:cs typeface="Arial"/>
                <a:sym typeface="Arial"/>
              </a:rPr>
              <a:t>Formatos display aceitos via TAG</a:t>
            </a:r>
            <a:endParaRPr b="0" i="0" sz="789" u="none" cap="none" strike="noStrike">
              <a:solidFill>
                <a:schemeClr val="dk1"/>
              </a:solidFill>
              <a:latin typeface="Arial"/>
              <a:ea typeface="Arial"/>
              <a:cs typeface="Arial"/>
              <a:sym typeface="Arial"/>
            </a:endParaRPr>
          </a:p>
        </p:txBody>
      </p:sp>
      <p:sp>
        <p:nvSpPr>
          <p:cNvPr id="567" name="Google Shape;567;p15"/>
          <p:cNvSpPr/>
          <p:nvPr/>
        </p:nvSpPr>
        <p:spPr>
          <a:xfrm>
            <a:off x="457200" y="1657897"/>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568" name="Google Shape;568;p15"/>
          <p:cNvSpPr/>
          <p:nvPr/>
        </p:nvSpPr>
        <p:spPr>
          <a:xfrm>
            <a:off x="529326" y="1711067"/>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i="0" lang="en-US" sz="838" u="none" cap="none" strike="noStrike">
                <a:solidFill>
                  <a:schemeClr val="dk1"/>
                </a:solidFill>
                <a:latin typeface="Arial"/>
                <a:ea typeface="Arial"/>
                <a:cs typeface="Arial"/>
                <a:sym typeface="Arial"/>
              </a:rPr>
              <a:t>VAST</a:t>
            </a:r>
            <a:endParaRPr b="0" i="0" sz="838" u="none" cap="none" strike="noStrike">
              <a:solidFill>
                <a:schemeClr val="dk1"/>
              </a:solidFill>
              <a:latin typeface="Arial"/>
              <a:ea typeface="Arial"/>
              <a:cs typeface="Arial"/>
              <a:sym typeface="Arial"/>
            </a:endParaRPr>
          </a:p>
        </p:txBody>
      </p:sp>
      <p:sp>
        <p:nvSpPr>
          <p:cNvPr id="569" name="Google Shape;569;p15"/>
          <p:cNvSpPr txBox="1"/>
          <p:nvPr/>
        </p:nvSpPr>
        <p:spPr>
          <a:xfrm>
            <a:off x="1674331" y="1657897"/>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b="0" i="0" lang="en-US" sz="789" u="none" cap="none" strike="noStrike">
                <a:solidFill>
                  <a:schemeClr val="dk2"/>
                </a:solidFill>
                <a:latin typeface="Arial"/>
                <a:ea typeface="Arial"/>
                <a:cs typeface="Arial"/>
                <a:sym typeface="Arial"/>
              </a:rPr>
              <a:t>Formatos de vídeo aceitos via TAG</a:t>
            </a:r>
            <a:endParaRPr b="0" i="0" sz="789" u="none" cap="none" strike="noStrike">
              <a:solidFill>
                <a:schemeClr val="dk1"/>
              </a:solidFill>
              <a:latin typeface="Arial"/>
              <a:ea typeface="Arial"/>
              <a:cs typeface="Arial"/>
              <a:sym typeface="Arial"/>
            </a:endParaRPr>
          </a:p>
        </p:txBody>
      </p:sp>
      <p:sp>
        <p:nvSpPr>
          <p:cNvPr id="570" name="Google Shape;570;p15"/>
          <p:cNvSpPr/>
          <p:nvPr/>
        </p:nvSpPr>
        <p:spPr>
          <a:xfrm>
            <a:off x="457200" y="2310546"/>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571" name="Google Shape;571;p15"/>
          <p:cNvSpPr/>
          <p:nvPr/>
        </p:nvSpPr>
        <p:spPr>
          <a:xfrm>
            <a:off x="529326" y="2363716"/>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i="0" lang="en-US" sz="838" u="none" cap="none" strike="noStrike">
                <a:solidFill>
                  <a:schemeClr val="dk1"/>
                </a:solidFill>
                <a:latin typeface="Arial"/>
                <a:ea typeface="Arial"/>
                <a:cs typeface="Arial"/>
                <a:sym typeface="Arial"/>
              </a:rPr>
              <a:t>Pixel</a:t>
            </a:r>
            <a:endParaRPr b="0" i="0" sz="838" u="none" cap="none" strike="noStrike">
              <a:solidFill>
                <a:schemeClr val="dk1"/>
              </a:solidFill>
              <a:latin typeface="Arial"/>
              <a:ea typeface="Arial"/>
              <a:cs typeface="Arial"/>
              <a:sym typeface="Arial"/>
            </a:endParaRPr>
          </a:p>
        </p:txBody>
      </p:sp>
      <p:sp>
        <p:nvSpPr>
          <p:cNvPr id="572" name="Google Shape;572;p15"/>
          <p:cNvSpPr txBox="1"/>
          <p:nvPr/>
        </p:nvSpPr>
        <p:spPr>
          <a:xfrm>
            <a:off x="1674331" y="2310546"/>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b="0" i="0" lang="en-US" sz="789" u="none" cap="none" strike="noStrike">
                <a:solidFill>
                  <a:schemeClr val="dk2"/>
                </a:solidFill>
                <a:latin typeface="Arial"/>
                <a:ea typeface="Arial"/>
                <a:cs typeface="Arial"/>
                <a:sym typeface="Arial"/>
              </a:rPr>
              <a:t>Formatos aceitos somente com contadores de impressões e/ou clicks</a:t>
            </a:r>
            <a:endParaRPr b="0" i="0" sz="789" u="none" cap="none" strike="noStrike">
              <a:solidFill>
                <a:schemeClr val="dk1"/>
              </a:solidFill>
              <a:latin typeface="Arial"/>
              <a:ea typeface="Arial"/>
              <a:cs typeface="Arial"/>
              <a:sym typeface="Arial"/>
            </a:endParaRPr>
          </a:p>
        </p:txBody>
      </p:sp>
      <p:sp>
        <p:nvSpPr>
          <p:cNvPr id="573" name="Google Shape;573;p15"/>
          <p:cNvSpPr/>
          <p:nvPr/>
        </p:nvSpPr>
        <p:spPr>
          <a:xfrm>
            <a:off x="457200" y="3283436"/>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574" name="Google Shape;574;p15"/>
          <p:cNvSpPr/>
          <p:nvPr/>
        </p:nvSpPr>
        <p:spPr>
          <a:xfrm>
            <a:off x="529326" y="3336607"/>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i="0" lang="en-US" sz="838" u="none" cap="none" strike="noStrike">
                <a:solidFill>
                  <a:schemeClr val="dk1"/>
                </a:solidFill>
                <a:latin typeface="Arial"/>
                <a:ea typeface="Arial"/>
                <a:cs typeface="Arial"/>
                <a:sym typeface="Arial"/>
              </a:rPr>
              <a:t>Native</a:t>
            </a:r>
            <a:endParaRPr b="0" i="0" sz="838" u="none" cap="none" strike="noStrike">
              <a:solidFill>
                <a:schemeClr val="dk1"/>
              </a:solidFill>
              <a:latin typeface="Arial"/>
              <a:ea typeface="Arial"/>
              <a:cs typeface="Arial"/>
              <a:sym typeface="Arial"/>
            </a:endParaRPr>
          </a:p>
        </p:txBody>
      </p:sp>
      <p:sp>
        <p:nvSpPr>
          <p:cNvPr id="575" name="Google Shape;575;p15"/>
          <p:cNvSpPr txBox="1"/>
          <p:nvPr/>
        </p:nvSpPr>
        <p:spPr>
          <a:xfrm>
            <a:off x="1674331" y="3283436"/>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b="0" i="0" lang="en-US" sz="789" u="none" cap="none" strike="noStrike">
                <a:solidFill>
                  <a:schemeClr val="dk2"/>
                </a:solidFill>
                <a:latin typeface="Arial"/>
                <a:ea typeface="Arial"/>
                <a:cs typeface="Arial"/>
                <a:sym typeface="Arial"/>
              </a:rPr>
              <a:t>Formato Native aceito via TAG</a:t>
            </a:r>
            <a:endParaRPr b="0" i="0" sz="789" u="none" cap="none" strike="noStrike">
              <a:solidFill>
                <a:schemeClr val="dk1"/>
              </a:solidFill>
              <a:latin typeface="Arial"/>
              <a:ea typeface="Arial"/>
              <a:cs typeface="Arial"/>
              <a:sym typeface="Arial"/>
            </a:endParaRPr>
          </a:p>
        </p:txBody>
      </p:sp>
      <p:sp>
        <p:nvSpPr>
          <p:cNvPr id="576" name="Google Shape;576;p15"/>
          <p:cNvSpPr/>
          <p:nvPr/>
        </p:nvSpPr>
        <p:spPr>
          <a:xfrm>
            <a:off x="457200" y="3608337"/>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577" name="Google Shape;577;p15"/>
          <p:cNvSpPr/>
          <p:nvPr/>
        </p:nvSpPr>
        <p:spPr>
          <a:xfrm>
            <a:off x="529326" y="3661507"/>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i="0" lang="en-US" sz="838" u="none" cap="none" strike="noStrike">
                <a:solidFill>
                  <a:schemeClr val="dk1"/>
                </a:solidFill>
                <a:latin typeface="Arial"/>
                <a:ea typeface="Arial"/>
                <a:cs typeface="Arial"/>
                <a:sym typeface="Arial"/>
              </a:rPr>
              <a:t>Áudio</a:t>
            </a:r>
            <a:endParaRPr b="0" i="0" sz="838" u="none" cap="none" strike="noStrike">
              <a:solidFill>
                <a:schemeClr val="dk1"/>
              </a:solidFill>
              <a:latin typeface="Arial"/>
              <a:ea typeface="Arial"/>
              <a:cs typeface="Arial"/>
              <a:sym typeface="Arial"/>
            </a:endParaRPr>
          </a:p>
        </p:txBody>
      </p:sp>
      <p:sp>
        <p:nvSpPr>
          <p:cNvPr id="578" name="Google Shape;578;p15"/>
          <p:cNvSpPr txBox="1"/>
          <p:nvPr/>
        </p:nvSpPr>
        <p:spPr>
          <a:xfrm>
            <a:off x="1674331" y="3608337"/>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b="0" i="0" lang="en-US" sz="789" u="none" cap="none" strike="noStrike">
                <a:solidFill>
                  <a:schemeClr val="dk2"/>
                </a:solidFill>
                <a:latin typeface="Arial"/>
                <a:ea typeface="Arial"/>
                <a:cs typeface="Arial"/>
                <a:sym typeface="Arial"/>
              </a:rPr>
              <a:t>Formato de áudio aceito via TAG</a:t>
            </a:r>
            <a:endParaRPr b="0" i="0" sz="789" u="none" cap="none" strike="noStrike">
              <a:solidFill>
                <a:schemeClr val="dk1"/>
              </a:solidFill>
              <a:latin typeface="Arial"/>
              <a:ea typeface="Arial"/>
              <a:cs typeface="Arial"/>
              <a:sym typeface="Arial"/>
            </a:endParaRPr>
          </a:p>
        </p:txBody>
      </p:sp>
      <p:sp>
        <p:nvSpPr>
          <p:cNvPr id="579" name="Google Shape;579;p15"/>
          <p:cNvSpPr/>
          <p:nvPr/>
        </p:nvSpPr>
        <p:spPr>
          <a:xfrm>
            <a:off x="457200" y="3939115"/>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580" name="Google Shape;580;p15"/>
          <p:cNvSpPr/>
          <p:nvPr/>
        </p:nvSpPr>
        <p:spPr>
          <a:xfrm>
            <a:off x="529326" y="3992285"/>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i="0" lang="en-US" sz="838" u="none" cap="none" strike="noStrike">
                <a:solidFill>
                  <a:schemeClr val="dk1"/>
                </a:solidFill>
                <a:latin typeface="Arial"/>
                <a:ea typeface="Arial"/>
                <a:cs typeface="Arial"/>
                <a:sym typeface="Arial"/>
              </a:rPr>
              <a:t>Multi-Tracker</a:t>
            </a:r>
            <a:endParaRPr b="0" i="0" sz="838" u="none" cap="none" strike="noStrike">
              <a:solidFill>
                <a:schemeClr val="dk1"/>
              </a:solidFill>
              <a:latin typeface="Arial"/>
              <a:ea typeface="Arial"/>
              <a:cs typeface="Arial"/>
              <a:sym typeface="Arial"/>
            </a:endParaRPr>
          </a:p>
        </p:txBody>
      </p:sp>
      <p:sp>
        <p:nvSpPr>
          <p:cNvPr id="581" name="Google Shape;581;p15"/>
          <p:cNvSpPr txBox="1"/>
          <p:nvPr/>
        </p:nvSpPr>
        <p:spPr>
          <a:xfrm>
            <a:off x="1674331" y="3939115"/>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b="0" i="0" lang="en-US" sz="789" u="none" cap="none" strike="noStrike">
                <a:solidFill>
                  <a:schemeClr val="dk2"/>
                </a:solidFill>
                <a:latin typeface="Arial"/>
                <a:ea typeface="Arial"/>
                <a:cs typeface="Arial"/>
                <a:sym typeface="Arial"/>
              </a:rPr>
              <a:t>Vários contadores de impressões e/ou clicks para um único placement</a:t>
            </a:r>
            <a:endParaRPr b="0" i="0" sz="789" u="none" cap="none" strike="noStrike">
              <a:solidFill>
                <a:schemeClr val="dk1"/>
              </a:solidFill>
              <a:latin typeface="Arial"/>
              <a:ea typeface="Arial"/>
              <a:cs typeface="Arial"/>
              <a:sym typeface="Arial"/>
            </a:endParaRPr>
          </a:p>
        </p:txBody>
      </p:sp>
      <p:sp>
        <p:nvSpPr>
          <p:cNvPr id="582" name="Google Shape;582;p15"/>
          <p:cNvSpPr txBox="1"/>
          <p:nvPr/>
        </p:nvSpPr>
        <p:spPr>
          <a:xfrm>
            <a:off x="4663440" y="1051560"/>
            <a:ext cx="40233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Campos do ADP</a:t>
            </a:r>
            <a:endParaRPr b="0" i="0" sz="1200" u="none" cap="none" strike="noStrike">
              <a:solidFill>
                <a:schemeClr val="dk1"/>
              </a:solidFill>
              <a:latin typeface="Arial"/>
              <a:ea typeface="Arial"/>
              <a:cs typeface="Arial"/>
              <a:sym typeface="Arial"/>
            </a:endParaRPr>
          </a:p>
        </p:txBody>
      </p:sp>
      <p:sp>
        <p:nvSpPr>
          <p:cNvPr id="583" name="Google Shape;583;p15"/>
          <p:cNvSpPr/>
          <p:nvPr/>
        </p:nvSpPr>
        <p:spPr>
          <a:xfrm>
            <a:off x="4663440" y="1371600"/>
            <a:ext cx="4023360" cy="374904"/>
          </a:xfrm>
          <a:prstGeom prst="roundRect">
            <a:avLst>
              <a:gd fmla="val 2439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5"/>
          <p:cNvSpPr/>
          <p:nvPr/>
        </p:nvSpPr>
        <p:spPr>
          <a:xfrm>
            <a:off x="4736592" y="1426464"/>
            <a:ext cx="1645920" cy="265176"/>
          </a:xfrm>
          <a:prstGeom prst="roundRect">
            <a:avLst>
              <a:gd fmla="val 3448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i="0" lang="en-US" sz="850" u="none" cap="none" strike="noStrike">
                <a:solidFill>
                  <a:schemeClr val="dk1"/>
                </a:solidFill>
                <a:latin typeface="Arial"/>
                <a:ea typeface="Arial"/>
                <a:cs typeface="Arial"/>
                <a:sym typeface="Arial"/>
              </a:rPr>
              <a:t>Pixel Impression 3rd</a:t>
            </a:r>
            <a:endParaRPr b="0" i="0" sz="850" u="none" cap="none" strike="noStrike">
              <a:solidFill>
                <a:schemeClr val="dk1"/>
              </a:solidFill>
              <a:latin typeface="Arial"/>
              <a:ea typeface="Arial"/>
              <a:cs typeface="Arial"/>
              <a:sym typeface="Arial"/>
            </a:endParaRPr>
          </a:p>
        </p:txBody>
      </p:sp>
      <p:sp>
        <p:nvSpPr>
          <p:cNvPr id="585" name="Google Shape;585;p15"/>
          <p:cNvSpPr txBox="1"/>
          <p:nvPr/>
        </p:nvSpPr>
        <p:spPr>
          <a:xfrm>
            <a:off x="6473952" y="1371600"/>
            <a:ext cx="2148840"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Pixel de impressões de terceiros</a:t>
            </a:r>
            <a:endParaRPr b="0" i="0" sz="900" u="none" cap="none" strike="noStrike">
              <a:solidFill>
                <a:schemeClr val="dk1"/>
              </a:solidFill>
              <a:latin typeface="Arial"/>
              <a:ea typeface="Arial"/>
              <a:cs typeface="Arial"/>
              <a:sym typeface="Arial"/>
            </a:endParaRPr>
          </a:p>
        </p:txBody>
      </p:sp>
      <p:sp>
        <p:nvSpPr>
          <p:cNvPr id="586" name="Google Shape;586;p15"/>
          <p:cNvSpPr/>
          <p:nvPr/>
        </p:nvSpPr>
        <p:spPr>
          <a:xfrm>
            <a:off x="4663440" y="1792224"/>
            <a:ext cx="4023360" cy="374904"/>
          </a:xfrm>
          <a:prstGeom prst="roundRect">
            <a:avLst>
              <a:gd fmla="val 2439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4736592" y="1847088"/>
            <a:ext cx="1645920" cy="265176"/>
          </a:xfrm>
          <a:prstGeom prst="roundRect">
            <a:avLst>
              <a:gd fmla="val 3448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i="0" lang="en-US" sz="850" u="none" cap="none" strike="noStrike">
                <a:solidFill>
                  <a:schemeClr val="dk1"/>
                </a:solidFill>
                <a:latin typeface="Arial"/>
                <a:ea typeface="Arial"/>
                <a:cs typeface="Arial"/>
                <a:sym typeface="Arial"/>
              </a:rPr>
              <a:t>Pixel Click 3rd</a:t>
            </a:r>
            <a:endParaRPr b="0" i="0" sz="850" u="none" cap="none" strike="noStrike">
              <a:solidFill>
                <a:schemeClr val="dk1"/>
              </a:solidFill>
              <a:latin typeface="Arial"/>
              <a:ea typeface="Arial"/>
              <a:cs typeface="Arial"/>
              <a:sym typeface="Arial"/>
            </a:endParaRPr>
          </a:p>
        </p:txBody>
      </p:sp>
      <p:sp>
        <p:nvSpPr>
          <p:cNvPr id="588" name="Google Shape;588;p15"/>
          <p:cNvSpPr txBox="1"/>
          <p:nvPr/>
        </p:nvSpPr>
        <p:spPr>
          <a:xfrm>
            <a:off x="6473952" y="1792224"/>
            <a:ext cx="2148840"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Pixel de cliques de terceiros</a:t>
            </a:r>
            <a:endParaRPr b="0" i="0" sz="900" u="none" cap="none" strike="noStrike">
              <a:solidFill>
                <a:schemeClr val="dk1"/>
              </a:solidFill>
              <a:latin typeface="Arial"/>
              <a:ea typeface="Arial"/>
              <a:cs typeface="Arial"/>
              <a:sym typeface="Arial"/>
            </a:endParaRPr>
          </a:p>
        </p:txBody>
      </p:sp>
      <p:sp>
        <p:nvSpPr>
          <p:cNvPr id="589" name="Google Shape;589;p15"/>
          <p:cNvSpPr/>
          <p:nvPr/>
        </p:nvSpPr>
        <p:spPr>
          <a:xfrm>
            <a:off x="4663440" y="2212848"/>
            <a:ext cx="4023360" cy="374904"/>
          </a:xfrm>
          <a:prstGeom prst="roundRect">
            <a:avLst>
              <a:gd fmla="val 2439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4736592" y="2267712"/>
            <a:ext cx="1645920" cy="265176"/>
          </a:xfrm>
          <a:prstGeom prst="roundRect">
            <a:avLst>
              <a:gd fmla="val 3448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i="0" lang="en-US" sz="850" u="none" cap="none" strike="noStrike">
                <a:solidFill>
                  <a:schemeClr val="dk1"/>
                </a:solidFill>
                <a:latin typeface="Arial"/>
                <a:ea typeface="Arial"/>
                <a:cs typeface="Arial"/>
                <a:sym typeface="Arial"/>
              </a:rPr>
              <a:t>Clickthrough URL</a:t>
            </a:r>
            <a:endParaRPr b="0" i="0" sz="850" u="none" cap="none" strike="noStrike">
              <a:solidFill>
                <a:schemeClr val="dk1"/>
              </a:solidFill>
              <a:latin typeface="Arial"/>
              <a:ea typeface="Arial"/>
              <a:cs typeface="Arial"/>
              <a:sym typeface="Arial"/>
            </a:endParaRPr>
          </a:p>
        </p:txBody>
      </p:sp>
      <p:sp>
        <p:nvSpPr>
          <p:cNvPr id="591" name="Google Shape;591;p15"/>
          <p:cNvSpPr txBox="1"/>
          <p:nvPr/>
        </p:nvSpPr>
        <p:spPr>
          <a:xfrm>
            <a:off x="6473952" y="2212848"/>
            <a:ext cx="2148840"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URL de direcionamento do placement</a:t>
            </a:r>
            <a:endParaRPr b="0" i="0" sz="900" u="none" cap="none" strike="noStrike">
              <a:solidFill>
                <a:schemeClr val="dk1"/>
              </a:solidFill>
              <a:latin typeface="Arial"/>
              <a:ea typeface="Arial"/>
              <a:cs typeface="Arial"/>
              <a:sym typeface="Arial"/>
            </a:endParaRPr>
          </a:p>
        </p:txBody>
      </p:sp>
      <p:sp>
        <p:nvSpPr>
          <p:cNvPr id="592" name="Google Shape;592;p15"/>
          <p:cNvSpPr/>
          <p:nvPr/>
        </p:nvSpPr>
        <p:spPr>
          <a:xfrm>
            <a:off x="4663440" y="2633472"/>
            <a:ext cx="4023360" cy="374904"/>
          </a:xfrm>
          <a:prstGeom prst="roundRect">
            <a:avLst>
              <a:gd fmla="val 2439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4736592" y="2688336"/>
            <a:ext cx="1645920" cy="265176"/>
          </a:xfrm>
          <a:prstGeom prst="roundRect">
            <a:avLst>
              <a:gd fmla="val 3448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i="0" lang="en-US" sz="850" u="none" cap="none" strike="noStrike">
                <a:solidFill>
                  <a:schemeClr val="dk1"/>
                </a:solidFill>
                <a:latin typeface="Arial"/>
                <a:ea typeface="Arial"/>
                <a:cs typeface="Arial"/>
                <a:sym typeface="Arial"/>
              </a:rPr>
              <a:t>Cost Model</a:t>
            </a:r>
            <a:endParaRPr b="0" i="0" sz="850" u="none" cap="none" strike="noStrike">
              <a:solidFill>
                <a:schemeClr val="dk1"/>
              </a:solidFill>
              <a:latin typeface="Arial"/>
              <a:ea typeface="Arial"/>
              <a:cs typeface="Arial"/>
              <a:sym typeface="Arial"/>
            </a:endParaRPr>
          </a:p>
        </p:txBody>
      </p:sp>
      <p:sp>
        <p:nvSpPr>
          <p:cNvPr id="594" name="Google Shape;594;p15"/>
          <p:cNvSpPr txBox="1"/>
          <p:nvPr/>
        </p:nvSpPr>
        <p:spPr>
          <a:xfrm>
            <a:off x="6473952" y="2633472"/>
            <a:ext cx="2148840"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Modelo de compra do placement/package</a:t>
            </a:r>
            <a:endParaRPr b="0" i="0" sz="900" u="none" cap="none" strike="noStrike">
              <a:solidFill>
                <a:schemeClr val="dk1"/>
              </a:solidFill>
              <a:latin typeface="Arial"/>
              <a:ea typeface="Arial"/>
              <a:cs typeface="Arial"/>
              <a:sym typeface="Arial"/>
            </a:endParaRPr>
          </a:p>
        </p:txBody>
      </p:sp>
      <p:sp>
        <p:nvSpPr>
          <p:cNvPr id="595" name="Google Shape;595;p15"/>
          <p:cNvSpPr/>
          <p:nvPr/>
        </p:nvSpPr>
        <p:spPr>
          <a:xfrm>
            <a:off x="4663440" y="3054096"/>
            <a:ext cx="4023360" cy="374904"/>
          </a:xfrm>
          <a:prstGeom prst="roundRect">
            <a:avLst>
              <a:gd fmla="val 2439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4736592" y="3108960"/>
            <a:ext cx="1645920" cy="265176"/>
          </a:xfrm>
          <a:prstGeom prst="roundRect">
            <a:avLst>
              <a:gd fmla="val 3448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i="0" lang="en-US" sz="850" u="none" cap="none" strike="noStrike">
                <a:solidFill>
                  <a:schemeClr val="dk1"/>
                </a:solidFill>
                <a:latin typeface="Arial"/>
                <a:ea typeface="Arial"/>
                <a:cs typeface="Arial"/>
                <a:sym typeface="Arial"/>
              </a:rPr>
              <a:t>Booked Units</a:t>
            </a:r>
            <a:endParaRPr b="0" i="0" sz="850" u="none" cap="none" strike="noStrike">
              <a:solidFill>
                <a:schemeClr val="dk1"/>
              </a:solidFill>
              <a:latin typeface="Arial"/>
              <a:ea typeface="Arial"/>
              <a:cs typeface="Arial"/>
              <a:sym typeface="Arial"/>
            </a:endParaRPr>
          </a:p>
        </p:txBody>
      </p:sp>
      <p:sp>
        <p:nvSpPr>
          <p:cNvPr id="597" name="Google Shape;597;p15"/>
          <p:cNvSpPr txBox="1"/>
          <p:nvPr/>
        </p:nvSpPr>
        <p:spPr>
          <a:xfrm>
            <a:off x="6473952" y="3054096"/>
            <a:ext cx="2148840"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Impressões, cliques ou ações contratados para o placement/package</a:t>
            </a:r>
            <a:endParaRPr b="0" i="0" sz="900" u="none" cap="none" strike="noStrike">
              <a:solidFill>
                <a:schemeClr val="dk1"/>
              </a:solidFill>
              <a:latin typeface="Arial"/>
              <a:ea typeface="Arial"/>
              <a:cs typeface="Arial"/>
              <a:sym typeface="Arial"/>
            </a:endParaRPr>
          </a:p>
        </p:txBody>
      </p:sp>
      <p:sp>
        <p:nvSpPr>
          <p:cNvPr id="598" name="Google Shape;598;p15"/>
          <p:cNvSpPr/>
          <p:nvPr/>
        </p:nvSpPr>
        <p:spPr>
          <a:xfrm>
            <a:off x="4663440" y="3474720"/>
            <a:ext cx="4023360" cy="374904"/>
          </a:xfrm>
          <a:prstGeom prst="roundRect">
            <a:avLst>
              <a:gd fmla="val 2439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p:nvPr/>
        </p:nvSpPr>
        <p:spPr>
          <a:xfrm>
            <a:off x="4736592" y="3529584"/>
            <a:ext cx="1645920" cy="265176"/>
          </a:xfrm>
          <a:prstGeom prst="roundRect">
            <a:avLst>
              <a:gd fmla="val 3448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i="0" lang="en-US" sz="850" u="none" cap="none" strike="noStrike">
                <a:solidFill>
                  <a:schemeClr val="dk1"/>
                </a:solidFill>
                <a:latin typeface="Arial"/>
                <a:ea typeface="Arial"/>
                <a:cs typeface="Arial"/>
                <a:sym typeface="Arial"/>
              </a:rPr>
              <a:t>Media Cost Rate</a:t>
            </a:r>
            <a:endParaRPr b="0" i="0" sz="850" u="none" cap="none" strike="noStrike">
              <a:solidFill>
                <a:schemeClr val="dk1"/>
              </a:solidFill>
              <a:latin typeface="Arial"/>
              <a:ea typeface="Arial"/>
              <a:cs typeface="Arial"/>
              <a:sym typeface="Arial"/>
            </a:endParaRPr>
          </a:p>
        </p:txBody>
      </p:sp>
      <p:sp>
        <p:nvSpPr>
          <p:cNvPr id="600" name="Google Shape;600;p15"/>
          <p:cNvSpPr txBox="1"/>
          <p:nvPr/>
        </p:nvSpPr>
        <p:spPr>
          <a:xfrm>
            <a:off x="6473952" y="3474720"/>
            <a:ext cx="2148840"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Custo por unidade de tudo o que foi contratado</a:t>
            </a:r>
            <a:endParaRPr b="0" i="0" sz="900" u="none" cap="none" strike="noStrike">
              <a:solidFill>
                <a:schemeClr val="dk1"/>
              </a:solidFill>
              <a:latin typeface="Arial"/>
              <a:ea typeface="Arial"/>
              <a:cs typeface="Arial"/>
              <a:sym typeface="Arial"/>
            </a:endParaRPr>
          </a:p>
        </p:txBody>
      </p:sp>
      <p:sp>
        <p:nvSpPr>
          <p:cNvPr id="601" name="Google Shape;601;p15"/>
          <p:cNvSpPr/>
          <p:nvPr/>
        </p:nvSpPr>
        <p:spPr>
          <a:xfrm>
            <a:off x="4663440" y="3895344"/>
            <a:ext cx="4023360" cy="374904"/>
          </a:xfrm>
          <a:prstGeom prst="roundRect">
            <a:avLst>
              <a:gd fmla="val 24390"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5"/>
          <p:cNvSpPr/>
          <p:nvPr/>
        </p:nvSpPr>
        <p:spPr>
          <a:xfrm>
            <a:off x="4736592" y="3950208"/>
            <a:ext cx="1645920" cy="265176"/>
          </a:xfrm>
          <a:prstGeom prst="roundRect">
            <a:avLst>
              <a:gd fmla="val 3448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850"/>
              <a:buFont typeface="Arial"/>
              <a:buNone/>
            </a:pPr>
            <a:r>
              <a:rPr b="1" i="0" lang="en-US" sz="850" u="none" cap="none" strike="noStrike">
                <a:solidFill>
                  <a:schemeClr val="dk1"/>
                </a:solidFill>
                <a:latin typeface="Arial"/>
                <a:ea typeface="Arial"/>
                <a:cs typeface="Arial"/>
                <a:sym typeface="Arial"/>
              </a:rPr>
              <a:t>Booked Cost / ThirdParty ID</a:t>
            </a:r>
            <a:endParaRPr b="0" i="0" sz="850" u="none" cap="none" strike="noStrike">
              <a:solidFill>
                <a:schemeClr val="dk1"/>
              </a:solidFill>
              <a:latin typeface="Arial"/>
              <a:ea typeface="Arial"/>
              <a:cs typeface="Arial"/>
              <a:sym typeface="Arial"/>
            </a:endParaRPr>
          </a:p>
        </p:txBody>
      </p:sp>
      <p:sp>
        <p:nvSpPr>
          <p:cNvPr id="603" name="Google Shape;603;p15"/>
          <p:cNvSpPr txBox="1"/>
          <p:nvPr/>
        </p:nvSpPr>
        <p:spPr>
          <a:xfrm>
            <a:off x="6473952" y="3895344"/>
            <a:ext cx="2148840"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Valor total do placement/pacote</a:t>
            </a:r>
            <a:endParaRPr b="0" i="0" sz="900" u="none" cap="none" strike="noStrike">
              <a:solidFill>
                <a:schemeClr val="dk1"/>
              </a:solidFill>
              <a:latin typeface="Arial"/>
              <a:ea typeface="Arial"/>
              <a:cs typeface="Arial"/>
              <a:sym typeface="Arial"/>
            </a:endParaRPr>
          </a:p>
        </p:txBody>
      </p:sp>
      <p:sp>
        <p:nvSpPr>
          <p:cNvPr id="604" name="Google Shape;604;p15"/>
          <p:cNvSpPr/>
          <p:nvPr/>
        </p:nvSpPr>
        <p:spPr>
          <a:xfrm>
            <a:off x="457200" y="4389120"/>
            <a:ext cx="8229600" cy="274320"/>
          </a:xfrm>
          <a:prstGeom prst="roundRect">
            <a:avLst>
              <a:gd fmla="val 33333"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txBox="1"/>
          <p:nvPr/>
        </p:nvSpPr>
        <p:spPr>
          <a:xfrm>
            <a:off x="640080" y="438912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É imprescindível o envio do Booked Cost / ThirdParty ID.</a:t>
            </a:r>
            <a:endParaRPr b="0" i="0" sz="1050" u="none" cap="none" strike="noStrike">
              <a:solidFill>
                <a:schemeClr val="dk1"/>
              </a:solidFill>
              <a:latin typeface="Arial"/>
              <a:ea typeface="Arial"/>
              <a:cs typeface="Arial"/>
              <a:sym typeface="Arial"/>
            </a:endParaRPr>
          </a:p>
        </p:txBody>
      </p:sp>
      <p:sp>
        <p:nvSpPr>
          <p:cNvPr id="606" name="Google Shape;606;p15"/>
          <p:cNvSpPr/>
          <p:nvPr/>
        </p:nvSpPr>
        <p:spPr>
          <a:xfrm>
            <a:off x="457200" y="2640084"/>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607" name="Google Shape;607;p15"/>
          <p:cNvSpPr/>
          <p:nvPr/>
        </p:nvSpPr>
        <p:spPr>
          <a:xfrm>
            <a:off x="529326" y="2693254"/>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Vídeo - Pixel</a:t>
            </a:r>
            <a:endParaRPr b="0" i="0" sz="838" u="none" cap="none" strike="noStrike">
              <a:solidFill>
                <a:schemeClr val="dk1"/>
              </a:solidFill>
              <a:latin typeface="Arial"/>
              <a:ea typeface="Arial"/>
              <a:cs typeface="Arial"/>
              <a:sym typeface="Arial"/>
            </a:endParaRPr>
          </a:p>
        </p:txBody>
      </p:sp>
      <p:sp>
        <p:nvSpPr>
          <p:cNvPr id="608" name="Google Shape;608;p15"/>
          <p:cNvSpPr txBox="1"/>
          <p:nvPr/>
        </p:nvSpPr>
        <p:spPr>
          <a:xfrm>
            <a:off x="1674331" y="2640084"/>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lang="en-US" sz="789">
                <a:solidFill>
                  <a:schemeClr val="dk2"/>
                </a:solidFill>
              </a:rPr>
              <a:t>Formato Vídeo aceito somente com contadores de impressões, cliques e quartis</a:t>
            </a:r>
            <a:endParaRPr b="0" i="0" sz="789" u="none" cap="none" strike="noStrike">
              <a:solidFill>
                <a:schemeClr val="dk1"/>
              </a:solidFill>
              <a:latin typeface="Arial"/>
              <a:ea typeface="Arial"/>
              <a:cs typeface="Arial"/>
              <a:sym typeface="Arial"/>
            </a:endParaRPr>
          </a:p>
        </p:txBody>
      </p:sp>
      <p:sp>
        <p:nvSpPr>
          <p:cNvPr id="609" name="Google Shape;609;p15"/>
          <p:cNvSpPr/>
          <p:nvPr/>
        </p:nvSpPr>
        <p:spPr>
          <a:xfrm>
            <a:off x="457200" y="2964023"/>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610" name="Google Shape;610;p15"/>
          <p:cNvSpPr/>
          <p:nvPr/>
        </p:nvSpPr>
        <p:spPr>
          <a:xfrm>
            <a:off x="529326" y="3017193"/>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Áudio</a:t>
            </a:r>
            <a:r>
              <a:rPr b="1" lang="en-US" sz="838">
                <a:solidFill>
                  <a:schemeClr val="dk1"/>
                </a:solidFill>
              </a:rPr>
              <a:t> - Pixel</a:t>
            </a:r>
            <a:endParaRPr b="0" i="0" sz="838" u="none" cap="none" strike="noStrike">
              <a:solidFill>
                <a:schemeClr val="dk1"/>
              </a:solidFill>
              <a:latin typeface="Arial"/>
              <a:ea typeface="Arial"/>
              <a:cs typeface="Arial"/>
              <a:sym typeface="Arial"/>
            </a:endParaRPr>
          </a:p>
        </p:txBody>
      </p:sp>
      <p:sp>
        <p:nvSpPr>
          <p:cNvPr id="611" name="Google Shape;611;p15"/>
          <p:cNvSpPr txBox="1"/>
          <p:nvPr/>
        </p:nvSpPr>
        <p:spPr>
          <a:xfrm>
            <a:off x="1674331" y="2964023"/>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lang="en-US" sz="789">
                <a:solidFill>
                  <a:schemeClr val="dk2"/>
                </a:solidFill>
              </a:rPr>
              <a:t>Formato Áudio aceito somente com contadores de impressões, cliques e quartis</a:t>
            </a:r>
            <a:endParaRPr b="0" i="0" sz="789" u="none" cap="none" strike="noStrike">
              <a:solidFill>
                <a:schemeClr val="dk1"/>
              </a:solidFill>
              <a:latin typeface="Arial"/>
              <a:ea typeface="Arial"/>
              <a:cs typeface="Arial"/>
              <a:sym typeface="Arial"/>
            </a:endParaRPr>
          </a:p>
        </p:txBody>
      </p:sp>
      <p:sp>
        <p:nvSpPr>
          <p:cNvPr id="612" name="Google Shape;612;p15"/>
          <p:cNvSpPr/>
          <p:nvPr/>
        </p:nvSpPr>
        <p:spPr>
          <a:xfrm>
            <a:off x="457200" y="1981284"/>
            <a:ext cx="3966600" cy="284100"/>
          </a:xfrm>
          <a:prstGeom prst="roundRect">
            <a:avLst>
              <a:gd fmla="val 20833" name="adj"/>
            </a:avLst>
          </a:prstGeom>
          <a:solidFill>
            <a:schemeClr val="lt2"/>
          </a:solidFill>
          <a:ln cap="flat" cmpd="sng" w="9400">
            <a:solidFill>
              <a:schemeClr val="lt2"/>
            </a:solidFill>
            <a:prstDash val="solid"/>
            <a:round/>
            <a:headEnd len="sm" w="sm" type="none"/>
            <a:tailEnd len="sm" w="sm" type="none"/>
          </a:ln>
        </p:spPr>
        <p:txBody>
          <a:bodyPr anchorCtr="0" anchor="ctr" bIns="90125" lIns="90125" spcFirstLastPara="1" rIns="90125" wrap="square" tIns="90125">
            <a:noAutofit/>
          </a:bodyPr>
          <a:lstStyle/>
          <a:p>
            <a:pPr indent="0" lvl="0" marL="0" rtl="0" algn="l">
              <a:spcBef>
                <a:spcPts val="0"/>
              </a:spcBef>
              <a:spcAft>
                <a:spcPts val="0"/>
              </a:spcAft>
              <a:buNone/>
            </a:pPr>
            <a:r>
              <a:t/>
            </a:r>
            <a:endParaRPr/>
          </a:p>
        </p:txBody>
      </p:sp>
      <p:sp>
        <p:nvSpPr>
          <p:cNvPr id="613" name="Google Shape;613;p15"/>
          <p:cNvSpPr/>
          <p:nvPr/>
        </p:nvSpPr>
        <p:spPr>
          <a:xfrm>
            <a:off x="529326" y="2034454"/>
            <a:ext cx="1036800" cy="177300"/>
          </a:xfrm>
          <a:prstGeom prst="roundRect">
            <a:avLst>
              <a:gd fmla="val 33333" name="adj"/>
            </a:avLst>
          </a:prstGeom>
          <a:solidFill>
            <a:schemeClr val="accent1"/>
          </a:solidFill>
          <a:ln cap="flat" cmpd="sng" w="9400">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37"/>
              <a:buFont typeface="Arial"/>
              <a:buNone/>
            </a:pPr>
            <a:r>
              <a:rPr b="1" lang="en-US" sz="838">
                <a:solidFill>
                  <a:schemeClr val="dk1"/>
                </a:solidFill>
              </a:rPr>
              <a:t>AUDIO</a:t>
            </a:r>
            <a:endParaRPr b="0" i="0" sz="838" u="none" cap="none" strike="noStrike">
              <a:solidFill>
                <a:schemeClr val="dk1"/>
              </a:solidFill>
              <a:latin typeface="Arial"/>
              <a:ea typeface="Arial"/>
              <a:cs typeface="Arial"/>
              <a:sym typeface="Arial"/>
            </a:endParaRPr>
          </a:p>
        </p:txBody>
      </p:sp>
      <p:sp>
        <p:nvSpPr>
          <p:cNvPr id="614" name="Google Shape;614;p15"/>
          <p:cNvSpPr txBox="1"/>
          <p:nvPr/>
        </p:nvSpPr>
        <p:spPr>
          <a:xfrm>
            <a:off x="1674331" y="1981284"/>
            <a:ext cx="2660100" cy="28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937"/>
              <a:buFont typeface="Arial"/>
              <a:buNone/>
            </a:pPr>
            <a:r>
              <a:rPr b="0" i="0" lang="en-US" sz="789" u="none" cap="none" strike="noStrike">
                <a:solidFill>
                  <a:schemeClr val="dk2"/>
                </a:solidFill>
                <a:latin typeface="Arial"/>
                <a:ea typeface="Arial"/>
                <a:cs typeface="Arial"/>
                <a:sym typeface="Arial"/>
              </a:rPr>
              <a:t>Formatos de </a:t>
            </a:r>
            <a:r>
              <a:rPr lang="en-US" sz="789">
                <a:solidFill>
                  <a:schemeClr val="dk2"/>
                </a:solidFill>
              </a:rPr>
              <a:t>áudio </a:t>
            </a:r>
            <a:r>
              <a:rPr b="0" i="0" lang="en-US" sz="789" u="none" cap="none" strike="noStrike">
                <a:solidFill>
                  <a:schemeClr val="dk2"/>
                </a:solidFill>
                <a:latin typeface="Arial"/>
                <a:ea typeface="Arial"/>
                <a:cs typeface="Arial"/>
                <a:sym typeface="Arial"/>
              </a:rPr>
              <a:t>aceitos via TAG</a:t>
            </a:r>
            <a:endParaRPr b="0" i="0" sz="789"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6"/>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Specs dos criativos</a:t>
            </a:r>
            <a:endParaRPr sz="2200"/>
          </a:p>
        </p:txBody>
      </p:sp>
      <p:sp>
        <p:nvSpPr>
          <p:cNvPr id="621" name="Google Shape;621;p16"/>
          <p:cNvSpPr/>
          <p:nvPr/>
        </p:nvSpPr>
        <p:spPr>
          <a:xfrm>
            <a:off x="457200" y="1097280"/>
            <a:ext cx="2651760" cy="3566160"/>
          </a:xfrm>
          <a:prstGeom prst="roundRect">
            <a:avLst>
              <a:gd fmla="val 3448"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6"/>
          <p:cNvSpPr/>
          <p:nvPr/>
        </p:nvSpPr>
        <p:spPr>
          <a:xfrm>
            <a:off x="594360" y="1188720"/>
            <a:ext cx="1005840" cy="274320"/>
          </a:xfrm>
          <a:prstGeom prst="roundRect">
            <a:avLst>
              <a:gd fmla="val 33333"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Vídeo</a:t>
            </a:r>
            <a:endParaRPr b="0" i="0" sz="1050" u="none" cap="none" strike="noStrike">
              <a:solidFill>
                <a:schemeClr val="dk1"/>
              </a:solidFill>
              <a:latin typeface="Arial"/>
              <a:ea typeface="Arial"/>
              <a:cs typeface="Arial"/>
              <a:sym typeface="Arial"/>
            </a:endParaRPr>
          </a:p>
        </p:txBody>
      </p:sp>
      <p:sp>
        <p:nvSpPr>
          <p:cNvPr id="623" name="Google Shape;623;p16"/>
          <p:cNvSpPr txBox="1"/>
          <p:nvPr/>
        </p:nvSpPr>
        <p:spPr>
          <a:xfrm>
            <a:off x="594360" y="1920240"/>
            <a:ext cx="2377440"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File types</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MOV, MP4, MPEG, MPG, AVI, WMV</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Duration</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Máximo de 900 segundos</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Bitrate (display HTML em banner video)</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900 a 2400 kbps</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Bitrate (vídeo criativo para VAST)</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15 a 30 mbps</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Aspect ratio</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16:9 ou 4:3</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Codec</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H264, MPEG4, WMV</a:t>
            </a:r>
            <a:endParaRPr b="0" i="0" sz="1100" u="none" cap="none" strike="noStrike">
              <a:solidFill>
                <a:schemeClr val="dk1"/>
              </a:solidFill>
              <a:latin typeface="Arial"/>
              <a:ea typeface="Arial"/>
              <a:cs typeface="Arial"/>
              <a:sym typeface="Arial"/>
            </a:endParaRPr>
          </a:p>
        </p:txBody>
      </p:sp>
      <p:sp>
        <p:nvSpPr>
          <p:cNvPr id="624" name="Google Shape;624;p16"/>
          <p:cNvSpPr/>
          <p:nvPr/>
        </p:nvSpPr>
        <p:spPr>
          <a:xfrm>
            <a:off x="3246120" y="1097280"/>
            <a:ext cx="2651760" cy="3566160"/>
          </a:xfrm>
          <a:prstGeom prst="roundRect">
            <a:avLst>
              <a:gd fmla="val 3448"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a:off x="3383280" y="1188720"/>
            <a:ext cx="1005840" cy="274320"/>
          </a:xfrm>
          <a:prstGeom prst="roundRect">
            <a:avLst>
              <a:gd fmla="val 33333"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Display</a:t>
            </a:r>
            <a:endParaRPr b="0" i="0" sz="1050" u="none" cap="none" strike="noStrike">
              <a:solidFill>
                <a:schemeClr val="dk1"/>
              </a:solidFill>
              <a:latin typeface="Arial"/>
              <a:ea typeface="Arial"/>
              <a:cs typeface="Arial"/>
              <a:sym typeface="Arial"/>
            </a:endParaRPr>
          </a:p>
        </p:txBody>
      </p:sp>
      <p:sp>
        <p:nvSpPr>
          <p:cNvPr id="626" name="Google Shape;626;p16"/>
          <p:cNvSpPr txBox="1"/>
          <p:nvPr/>
        </p:nvSpPr>
        <p:spPr>
          <a:xfrm>
            <a:off x="4526280" y="1115568"/>
            <a:ext cx="1280160" cy="420624"/>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2200"/>
              <a:buFont typeface="Arial"/>
              <a:buNone/>
            </a:pPr>
            <a:r>
              <a:rPr b="1" i="0" lang="en-US" sz="2200" u="none" cap="none" strike="noStrike">
                <a:solidFill>
                  <a:schemeClr val="dk2"/>
                </a:solidFill>
                <a:latin typeface="Arial"/>
                <a:ea typeface="Arial"/>
                <a:cs typeface="Arial"/>
                <a:sym typeface="Arial"/>
              </a:rPr>
              <a:t>300 KB</a:t>
            </a:r>
            <a:endParaRPr b="0" i="0" sz="2200" u="none" cap="none" strike="noStrike">
              <a:solidFill>
                <a:schemeClr val="dk1"/>
              </a:solidFill>
              <a:latin typeface="Arial"/>
              <a:ea typeface="Arial"/>
              <a:cs typeface="Arial"/>
              <a:sym typeface="Arial"/>
            </a:endParaRPr>
          </a:p>
        </p:txBody>
      </p:sp>
      <p:sp>
        <p:nvSpPr>
          <p:cNvPr id="627" name="Google Shape;627;p16"/>
          <p:cNvSpPr txBox="1"/>
          <p:nvPr/>
        </p:nvSpPr>
        <p:spPr>
          <a:xfrm>
            <a:off x="3383280" y="1920240"/>
            <a:ext cx="2377440"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Manifest</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manifest.js, com nome do arquivo HTML, width e height em pixels (inteiros), ClickTagCount (inteiro) e variáveis dinâmicas/instant ad (limite de 50)</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Conteúdo</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Todo o HTML e os assets relevantes ao criativo</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t/>
            </a:r>
            <a:endParaRPr b="0" i="0" sz="1100" u="none" cap="none" strike="noStrike">
              <a:solidFill>
                <a:schemeClr val="dk1"/>
              </a:solidFill>
              <a:latin typeface="Arial"/>
              <a:ea typeface="Arial"/>
              <a:cs typeface="Arial"/>
              <a:sym typeface="Arial"/>
            </a:endParaRPr>
          </a:p>
        </p:txBody>
      </p:sp>
      <p:sp>
        <p:nvSpPr>
          <p:cNvPr id="628" name="Google Shape;628;p16"/>
          <p:cNvSpPr/>
          <p:nvPr/>
        </p:nvSpPr>
        <p:spPr>
          <a:xfrm>
            <a:off x="6035040" y="1097280"/>
            <a:ext cx="2651760" cy="3566160"/>
          </a:xfrm>
          <a:prstGeom prst="roundRect">
            <a:avLst>
              <a:gd fmla="val 3448"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a:off x="6172200" y="1188720"/>
            <a:ext cx="1005840" cy="274320"/>
          </a:xfrm>
          <a:prstGeom prst="roundRect">
            <a:avLst>
              <a:gd fmla="val 33333"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50"/>
              <a:buFont typeface="Arial"/>
              <a:buNone/>
            </a:pPr>
            <a:r>
              <a:rPr b="1" i="0" lang="en-US" sz="1050" u="none" cap="none" strike="noStrike">
                <a:solidFill>
                  <a:schemeClr val="lt1"/>
                </a:solidFill>
                <a:latin typeface="Arial"/>
                <a:ea typeface="Arial"/>
                <a:cs typeface="Arial"/>
                <a:sym typeface="Arial"/>
              </a:rPr>
              <a:t>Áudio</a:t>
            </a:r>
            <a:endParaRPr b="0" i="0" sz="1050" u="none" cap="none" strike="noStrike">
              <a:solidFill>
                <a:schemeClr val="dk1"/>
              </a:solidFill>
              <a:latin typeface="Arial"/>
              <a:ea typeface="Arial"/>
              <a:cs typeface="Arial"/>
              <a:sym typeface="Arial"/>
            </a:endParaRPr>
          </a:p>
        </p:txBody>
      </p:sp>
      <p:sp>
        <p:nvSpPr>
          <p:cNvPr id="630" name="Google Shape;630;p16"/>
          <p:cNvSpPr txBox="1"/>
          <p:nvPr/>
        </p:nvSpPr>
        <p:spPr>
          <a:xfrm>
            <a:off x="7315200" y="1115568"/>
            <a:ext cx="1280160" cy="420624"/>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2200"/>
              <a:buFont typeface="Arial"/>
              <a:buNone/>
            </a:pPr>
            <a:r>
              <a:rPr b="1" i="0" lang="en-US" sz="2200" u="none" cap="none" strike="noStrike">
                <a:solidFill>
                  <a:schemeClr val="dk2"/>
                </a:solidFill>
                <a:latin typeface="Arial"/>
                <a:ea typeface="Arial"/>
                <a:cs typeface="Arial"/>
                <a:sym typeface="Arial"/>
              </a:rPr>
              <a:t>100 MB</a:t>
            </a:r>
            <a:endParaRPr b="0" i="0" sz="2200" u="none" cap="none" strike="noStrike">
              <a:solidFill>
                <a:schemeClr val="dk1"/>
              </a:solidFill>
              <a:latin typeface="Arial"/>
              <a:ea typeface="Arial"/>
              <a:cs typeface="Arial"/>
              <a:sym typeface="Arial"/>
            </a:endParaRPr>
          </a:p>
        </p:txBody>
      </p:sp>
      <p:sp>
        <p:nvSpPr>
          <p:cNvPr id="631" name="Google Shape;631;p16"/>
          <p:cNvSpPr txBox="1"/>
          <p:nvPr/>
        </p:nvSpPr>
        <p:spPr>
          <a:xfrm>
            <a:off x="6172200" y="1572768"/>
            <a:ext cx="2377440" cy="25603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2"/>
              </a:buClr>
              <a:buSzPts val="850"/>
              <a:buFont typeface="Arial"/>
              <a:buNone/>
            </a:pPr>
            <a:r>
              <a:rPr b="0" i="0" lang="en-US" sz="850" u="none" cap="none" strike="noStrike">
                <a:solidFill>
                  <a:schemeClr val="dk2"/>
                </a:solidFill>
                <a:latin typeface="Arial"/>
                <a:ea typeface="Arial"/>
                <a:cs typeface="Arial"/>
                <a:sym typeface="Arial"/>
              </a:rPr>
              <a:t>tamanho máximo</a:t>
            </a:r>
            <a:endParaRPr b="0" i="0" sz="850" u="none" cap="none" strike="noStrike">
              <a:solidFill>
                <a:schemeClr val="dk1"/>
              </a:solidFill>
              <a:latin typeface="Arial"/>
              <a:ea typeface="Arial"/>
              <a:cs typeface="Arial"/>
              <a:sym typeface="Arial"/>
            </a:endParaRPr>
          </a:p>
        </p:txBody>
      </p:sp>
      <p:sp>
        <p:nvSpPr>
          <p:cNvPr id="632" name="Google Shape;632;p16"/>
          <p:cNvSpPr txBox="1"/>
          <p:nvPr/>
        </p:nvSpPr>
        <p:spPr>
          <a:xfrm>
            <a:off x="6172200" y="1920240"/>
            <a:ext cx="2377440"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File types</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MP3, OGG, M4A, AAC (somente)</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Duration</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Mínimo de 1 segundo</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Audio bitrate</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192 Kbps ou mais</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Sample rate</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Pelo menos 44.1 kHz</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Loudness</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-16 LUFS (+/- 1.5 LUFS), TPL igual ou menor que -2.0 dB</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Dimensions</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0x0</a:t>
            </a:r>
            <a:endParaRPr b="0" i="0" sz="1100" u="none" cap="none" strike="noStrike">
              <a:solidFill>
                <a:schemeClr val="dk1"/>
              </a:solidFill>
              <a:latin typeface="Arial"/>
              <a:ea typeface="Arial"/>
              <a:cs typeface="Arial"/>
              <a:sym typeface="Arial"/>
            </a:endParaRPr>
          </a:p>
          <a:p>
            <a:pPr indent="0" lvl="0" marL="0" marR="0" rtl="0" algn="l">
              <a:spcBef>
                <a:spcPts val="500"/>
              </a:spcBef>
              <a:spcAft>
                <a:spcPts val="0"/>
              </a:spcAft>
              <a:buClr>
                <a:schemeClr val="dk1"/>
              </a:buClr>
              <a:buSzPts val="900"/>
              <a:buFont typeface="Arial"/>
              <a:buNone/>
            </a:pPr>
            <a:r>
              <a:rPr b="1" i="0" lang="en-US" sz="900" u="none" cap="none" strike="noStrike">
                <a:solidFill>
                  <a:schemeClr val="dk1"/>
                </a:solidFill>
                <a:latin typeface="Arial"/>
                <a:ea typeface="Arial"/>
                <a:cs typeface="Arial"/>
                <a:sym typeface="Arial"/>
              </a:rPr>
              <a:t>VAST</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VAST 2.0 e VAST 4.1</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7"/>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Atendimento e prazos</a:t>
            </a:r>
            <a:endParaRPr sz="2200"/>
          </a:p>
        </p:txBody>
      </p:sp>
      <p:sp>
        <p:nvSpPr>
          <p:cNvPr id="639" name="Google Shape;639;p17"/>
          <p:cNvSpPr/>
          <p:nvPr/>
        </p:nvSpPr>
        <p:spPr>
          <a:xfrm>
            <a:off x="457200" y="10972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7"/>
          <p:cNvSpPr txBox="1"/>
          <p:nvPr/>
        </p:nvSpPr>
        <p:spPr>
          <a:xfrm>
            <a:off x="594360" y="1170432"/>
            <a:ext cx="2377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900"/>
              <a:buFont typeface="Arial"/>
              <a:buNone/>
            </a:pPr>
            <a:r>
              <a:rPr b="1" i="0" lang="en-US" sz="1900" u="none" cap="none" strike="noStrike">
                <a:solidFill>
                  <a:schemeClr val="accent3"/>
                </a:solidFill>
                <a:latin typeface="Arial"/>
                <a:ea typeface="Arial"/>
                <a:cs typeface="Arial"/>
                <a:sym typeface="Arial"/>
              </a:rPr>
              <a:t>10h às 19h</a:t>
            </a:r>
            <a:endParaRPr b="0" i="0" sz="1900" u="none" cap="none" strike="noStrike">
              <a:solidFill>
                <a:schemeClr val="dk1"/>
              </a:solidFill>
              <a:latin typeface="Arial"/>
              <a:ea typeface="Arial"/>
              <a:cs typeface="Arial"/>
              <a:sym typeface="Arial"/>
            </a:endParaRPr>
          </a:p>
        </p:txBody>
      </p:sp>
      <p:sp>
        <p:nvSpPr>
          <p:cNvPr id="641" name="Google Shape;641;p17"/>
          <p:cNvSpPr txBox="1"/>
          <p:nvPr/>
        </p:nvSpPr>
        <p:spPr>
          <a:xfrm>
            <a:off x="594360" y="1572768"/>
            <a:ext cx="23774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Horário de funcionamento</a:t>
            </a:r>
            <a:endParaRPr b="0" i="0" sz="1100" u="none" cap="none" strike="noStrike">
              <a:solidFill>
                <a:schemeClr val="dk1"/>
              </a:solidFill>
              <a:latin typeface="Arial"/>
              <a:ea typeface="Arial"/>
              <a:cs typeface="Arial"/>
              <a:sym typeface="Arial"/>
            </a:endParaRPr>
          </a:p>
        </p:txBody>
      </p:sp>
      <p:sp>
        <p:nvSpPr>
          <p:cNvPr id="642" name="Google Shape;642;p17"/>
          <p:cNvSpPr txBox="1"/>
          <p:nvPr/>
        </p:nvSpPr>
        <p:spPr>
          <a:xfrm>
            <a:off x="594360" y="1847088"/>
            <a:ext cx="237744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Segunda a sexta. Pedidos entre 17h e 19h são analisados no mesmo dia ou no 1º horário do dia seguinte, conforme a fila. Em urgências, sinalizar com a maior antecedência possível.</a:t>
            </a:r>
            <a:endParaRPr b="0" i="0" sz="900" u="none" cap="none" strike="noStrike">
              <a:solidFill>
                <a:schemeClr val="dk1"/>
              </a:solidFill>
              <a:latin typeface="Arial"/>
              <a:ea typeface="Arial"/>
              <a:cs typeface="Arial"/>
              <a:sym typeface="Arial"/>
            </a:endParaRPr>
          </a:p>
        </p:txBody>
      </p:sp>
      <p:sp>
        <p:nvSpPr>
          <p:cNvPr id="643" name="Google Shape;643;p17"/>
          <p:cNvSpPr/>
          <p:nvPr/>
        </p:nvSpPr>
        <p:spPr>
          <a:xfrm>
            <a:off x="3246120" y="10972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7"/>
          <p:cNvSpPr txBox="1"/>
          <p:nvPr/>
        </p:nvSpPr>
        <p:spPr>
          <a:xfrm>
            <a:off x="3383280" y="1170432"/>
            <a:ext cx="2377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900"/>
              <a:buFont typeface="Arial"/>
              <a:buNone/>
            </a:pPr>
            <a:r>
              <a:rPr b="1" i="0" lang="en-US" sz="1900" u="none" cap="none" strike="noStrike">
                <a:solidFill>
                  <a:schemeClr val="accent3"/>
                </a:solidFill>
                <a:latin typeface="Arial"/>
                <a:ea typeface="Arial"/>
                <a:cs typeface="Arial"/>
                <a:sym typeface="Arial"/>
              </a:rPr>
              <a:t>48h úteis</a:t>
            </a:r>
            <a:endParaRPr b="0" i="0" sz="1900" u="none" cap="none" strike="noStrike">
              <a:solidFill>
                <a:schemeClr val="dk1"/>
              </a:solidFill>
              <a:latin typeface="Arial"/>
              <a:ea typeface="Arial"/>
              <a:cs typeface="Arial"/>
              <a:sym typeface="Arial"/>
            </a:endParaRPr>
          </a:p>
        </p:txBody>
      </p:sp>
      <p:sp>
        <p:nvSpPr>
          <p:cNvPr id="645" name="Google Shape;645;p17"/>
          <p:cNvSpPr txBox="1"/>
          <p:nvPr/>
        </p:nvSpPr>
        <p:spPr>
          <a:xfrm>
            <a:off x="3383280" y="1572768"/>
            <a:ext cx="23774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Validação e upload de peças</a:t>
            </a:r>
            <a:endParaRPr b="0" i="0" sz="1100" u="none" cap="none" strike="noStrike">
              <a:solidFill>
                <a:schemeClr val="dk1"/>
              </a:solidFill>
              <a:latin typeface="Arial"/>
              <a:ea typeface="Arial"/>
              <a:cs typeface="Arial"/>
              <a:sym typeface="Arial"/>
            </a:endParaRPr>
          </a:p>
        </p:txBody>
      </p:sp>
      <p:sp>
        <p:nvSpPr>
          <p:cNvPr id="646" name="Google Shape;646;p17"/>
          <p:cNvSpPr txBox="1"/>
          <p:nvPr/>
        </p:nvSpPr>
        <p:spPr>
          <a:xfrm>
            <a:off x="3383280" y="1847088"/>
            <a:ext cx="237744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Peças dentro das specs técnicas e de arte, e do site onde veicula. Correções voltam para a agência e cada novo envio reinicia o prazo. Viabilidade e prazo final saem após a análise.</a:t>
            </a:r>
            <a:endParaRPr b="0" i="0" sz="900" u="none" cap="none" strike="noStrike">
              <a:solidFill>
                <a:schemeClr val="dk1"/>
              </a:solidFill>
              <a:latin typeface="Arial"/>
              <a:ea typeface="Arial"/>
              <a:cs typeface="Arial"/>
              <a:sym typeface="Arial"/>
            </a:endParaRPr>
          </a:p>
        </p:txBody>
      </p:sp>
      <p:sp>
        <p:nvSpPr>
          <p:cNvPr id="647" name="Google Shape;647;p17"/>
          <p:cNvSpPr/>
          <p:nvPr/>
        </p:nvSpPr>
        <p:spPr>
          <a:xfrm>
            <a:off x="6035040" y="10972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7"/>
          <p:cNvSpPr txBox="1"/>
          <p:nvPr/>
        </p:nvSpPr>
        <p:spPr>
          <a:xfrm>
            <a:off x="6172200" y="1170432"/>
            <a:ext cx="2377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900"/>
              <a:buFont typeface="Arial"/>
              <a:buNone/>
            </a:pPr>
            <a:r>
              <a:rPr b="1" i="0" lang="en-US" sz="1900" u="none" cap="none" strike="noStrike">
                <a:solidFill>
                  <a:schemeClr val="accent3"/>
                </a:solidFill>
                <a:latin typeface="Arial"/>
                <a:ea typeface="Arial"/>
                <a:cs typeface="Arial"/>
                <a:sym typeface="Arial"/>
              </a:rPr>
              <a:t>2 a 48h úteis</a:t>
            </a:r>
            <a:endParaRPr b="0" i="0" sz="1900" u="none" cap="none" strike="noStrike">
              <a:solidFill>
                <a:schemeClr val="dk1"/>
              </a:solidFill>
              <a:latin typeface="Arial"/>
              <a:ea typeface="Arial"/>
              <a:cs typeface="Arial"/>
              <a:sym typeface="Arial"/>
            </a:endParaRPr>
          </a:p>
        </p:txBody>
      </p:sp>
      <p:sp>
        <p:nvSpPr>
          <p:cNvPr id="649" name="Google Shape;649;p17"/>
          <p:cNvSpPr txBox="1"/>
          <p:nvPr/>
        </p:nvSpPr>
        <p:spPr>
          <a:xfrm>
            <a:off x="6172200" y="1572768"/>
            <a:ext cx="23774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Tráfego, execução e envio de tags</a:t>
            </a:r>
            <a:endParaRPr b="0" i="0" sz="1100" u="none" cap="none" strike="noStrike">
              <a:solidFill>
                <a:schemeClr val="dk1"/>
              </a:solidFill>
              <a:latin typeface="Arial"/>
              <a:ea typeface="Arial"/>
              <a:cs typeface="Arial"/>
              <a:sym typeface="Arial"/>
            </a:endParaRPr>
          </a:p>
        </p:txBody>
      </p:sp>
      <p:sp>
        <p:nvSpPr>
          <p:cNvPr id="650" name="Google Shape;650;p17"/>
          <p:cNvSpPr txBox="1"/>
          <p:nvPr/>
        </p:nvSpPr>
        <p:spPr>
          <a:xfrm>
            <a:off x="6172200" y="1847088"/>
            <a:ext cx="2377440"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Execução do ADP, attachment de peças e URLs, tráfego e envio de tags, com ADP correto e peças dentro das specs. Se não, o tempo aumenta e impacta todo o processo.</a:t>
            </a:r>
            <a:endParaRPr b="0" i="0" sz="900" u="none" cap="none" strike="noStrike">
              <a:solidFill>
                <a:schemeClr val="dk1"/>
              </a:solidFill>
              <a:latin typeface="Arial"/>
              <a:ea typeface="Arial"/>
              <a:cs typeface="Arial"/>
              <a:sym typeface="Arial"/>
            </a:endParaRPr>
          </a:p>
        </p:txBody>
      </p:sp>
      <p:sp>
        <p:nvSpPr>
          <p:cNvPr id="651" name="Google Shape;651;p17"/>
          <p:cNvSpPr/>
          <p:nvPr/>
        </p:nvSpPr>
        <p:spPr>
          <a:xfrm>
            <a:off x="1851663" y="2926080"/>
            <a:ext cx="2651700" cy="169170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7"/>
          <p:cNvSpPr txBox="1"/>
          <p:nvPr/>
        </p:nvSpPr>
        <p:spPr>
          <a:xfrm>
            <a:off x="1988823" y="2999232"/>
            <a:ext cx="2377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900"/>
              <a:buFont typeface="Arial"/>
              <a:buNone/>
            </a:pPr>
            <a:r>
              <a:rPr b="1" i="0" lang="en-US" sz="1900" u="none" cap="none" strike="noStrike">
                <a:solidFill>
                  <a:schemeClr val="accent3"/>
                </a:solidFill>
                <a:latin typeface="Arial"/>
                <a:ea typeface="Arial"/>
                <a:cs typeface="Arial"/>
                <a:sym typeface="Arial"/>
              </a:rPr>
              <a:t>72h úteis</a:t>
            </a:r>
            <a:endParaRPr b="0" i="0" sz="1900" u="none" cap="none" strike="noStrike">
              <a:solidFill>
                <a:schemeClr val="dk1"/>
              </a:solidFill>
              <a:latin typeface="Arial"/>
              <a:ea typeface="Arial"/>
              <a:cs typeface="Arial"/>
              <a:sym typeface="Arial"/>
            </a:endParaRPr>
          </a:p>
        </p:txBody>
      </p:sp>
      <p:sp>
        <p:nvSpPr>
          <p:cNvPr id="653" name="Google Shape;653;p17"/>
          <p:cNvSpPr txBox="1"/>
          <p:nvPr/>
        </p:nvSpPr>
        <p:spPr>
          <a:xfrm>
            <a:off x="1988823" y="3401568"/>
            <a:ext cx="23775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Diárias</a:t>
            </a:r>
            <a:endParaRPr b="0" i="0" sz="1100" u="none" cap="none" strike="noStrike">
              <a:solidFill>
                <a:schemeClr val="dk1"/>
              </a:solidFill>
              <a:latin typeface="Arial"/>
              <a:ea typeface="Arial"/>
              <a:cs typeface="Arial"/>
              <a:sym typeface="Arial"/>
            </a:endParaRPr>
          </a:p>
        </p:txBody>
      </p:sp>
      <p:sp>
        <p:nvSpPr>
          <p:cNvPr id="654" name="Google Shape;654;p17"/>
          <p:cNvSpPr txBox="1"/>
          <p:nvPr/>
        </p:nvSpPr>
        <p:spPr>
          <a:xfrm>
            <a:off x="1988823" y="3675888"/>
            <a:ext cx="2377500" cy="88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Sinalizar todas as diárias no ADP, para a </a:t>
            </a:r>
            <a:r>
              <a:rPr lang="en-US" sz="900">
                <a:solidFill>
                  <a:schemeClr val="dk2"/>
                </a:solidFill>
              </a:rPr>
              <a:t>Innovid</a:t>
            </a:r>
            <a:r>
              <a:rPr b="0" i="0" lang="en-US" sz="900" u="none" cap="none" strike="noStrike">
                <a:solidFill>
                  <a:schemeClr val="dk2"/>
                </a:solidFill>
                <a:latin typeface="Arial"/>
                <a:ea typeface="Arial"/>
                <a:cs typeface="Arial"/>
                <a:sym typeface="Arial"/>
              </a:rPr>
              <a:t> priorizar validação, programação e envio da tag. Peças com no mínimo 72h úteis de antecedência, para testes e ajustes do publisher.</a:t>
            </a:r>
            <a:endParaRPr b="0" i="0" sz="900" u="none" cap="none" strike="noStrike">
              <a:solidFill>
                <a:schemeClr val="dk1"/>
              </a:solidFill>
              <a:latin typeface="Arial"/>
              <a:ea typeface="Arial"/>
              <a:cs typeface="Arial"/>
              <a:sym typeface="Arial"/>
            </a:endParaRPr>
          </a:p>
        </p:txBody>
      </p:sp>
      <p:sp>
        <p:nvSpPr>
          <p:cNvPr id="655" name="Google Shape;655;p17"/>
          <p:cNvSpPr/>
          <p:nvPr/>
        </p:nvSpPr>
        <p:spPr>
          <a:xfrm>
            <a:off x="4640583" y="2926080"/>
            <a:ext cx="2651700" cy="169170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txBox="1"/>
          <p:nvPr/>
        </p:nvSpPr>
        <p:spPr>
          <a:xfrm>
            <a:off x="4777743" y="2999232"/>
            <a:ext cx="23775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900"/>
              <a:buFont typeface="Arial"/>
              <a:buNone/>
            </a:pPr>
            <a:r>
              <a:rPr b="1" i="0" lang="en-US" sz="1900" u="none" cap="none" strike="noStrike">
                <a:solidFill>
                  <a:schemeClr val="accent3"/>
                </a:solidFill>
                <a:latin typeface="Arial"/>
                <a:ea typeface="Arial"/>
                <a:cs typeface="Arial"/>
                <a:sym typeface="Arial"/>
              </a:rPr>
              <a:t>10%</a:t>
            </a:r>
            <a:endParaRPr b="0" i="0" sz="1900" u="none" cap="none" strike="noStrike">
              <a:solidFill>
                <a:schemeClr val="dk1"/>
              </a:solidFill>
              <a:latin typeface="Arial"/>
              <a:ea typeface="Arial"/>
              <a:cs typeface="Arial"/>
              <a:sym typeface="Arial"/>
            </a:endParaRPr>
          </a:p>
        </p:txBody>
      </p:sp>
      <p:sp>
        <p:nvSpPr>
          <p:cNvPr id="657" name="Google Shape;657;p17"/>
          <p:cNvSpPr txBox="1"/>
          <p:nvPr/>
        </p:nvSpPr>
        <p:spPr>
          <a:xfrm>
            <a:off x="4777743" y="3401568"/>
            <a:ext cx="23775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Discrepâncias</a:t>
            </a:r>
            <a:endParaRPr b="0" i="0" sz="1100" u="none" cap="none" strike="noStrike">
              <a:solidFill>
                <a:schemeClr val="dk1"/>
              </a:solidFill>
              <a:latin typeface="Arial"/>
              <a:ea typeface="Arial"/>
              <a:cs typeface="Arial"/>
              <a:sym typeface="Arial"/>
            </a:endParaRPr>
          </a:p>
        </p:txBody>
      </p:sp>
      <p:sp>
        <p:nvSpPr>
          <p:cNvPr id="658" name="Google Shape;658;p17"/>
          <p:cNvSpPr txBox="1"/>
          <p:nvPr/>
        </p:nvSpPr>
        <p:spPr>
          <a:xfrm>
            <a:off x="4777743" y="3675888"/>
            <a:ext cx="2377500" cy="88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Em compra direta e programática, a </a:t>
            </a:r>
            <a:r>
              <a:rPr lang="en-US" sz="900">
                <a:solidFill>
                  <a:schemeClr val="dk2"/>
                </a:solidFill>
              </a:rPr>
              <a:t>Innovid</a:t>
            </a:r>
            <a:r>
              <a:rPr b="0" i="0" lang="en-US" sz="900" u="none" cap="none" strike="noStrike">
                <a:solidFill>
                  <a:schemeClr val="dk2"/>
                </a:solidFill>
                <a:latin typeface="Arial"/>
                <a:ea typeface="Arial"/>
                <a:cs typeface="Arial"/>
                <a:sym typeface="Arial"/>
              </a:rPr>
              <a:t> </a:t>
            </a:r>
            <a:r>
              <a:rPr lang="en-US" sz="900">
                <a:solidFill>
                  <a:schemeClr val="dk2"/>
                </a:solidFill>
              </a:rPr>
              <a:t>realiza a comparação dos dados.</a:t>
            </a:r>
            <a:r>
              <a:rPr b="0" i="0" lang="en-US" sz="900" u="none" cap="none" strike="noStrike">
                <a:solidFill>
                  <a:schemeClr val="dk2"/>
                </a:solidFill>
                <a:latin typeface="Arial"/>
                <a:ea typeface="Arial"/>
                <a:cs typeface="Arial"/>
                <a:sym typeface="Arial"/>
              </a:rPr>
              <a:t> Acima de 10% </a:t>
            </a:r>
            <a:r>
              <a:rPr lang="en-US" sz="900">
                <a:solidFill>
                  <a:schemeClr val="dk2"/>
                </a:solidFill>
              </a:rPr>
              <a:t>de discrepância entre os dados é realizada uma análise</a:t>
            </a:r>
            <a:r>
              <a:rPr b="0" i="0" lang="en-US" sz="900" u="none" cap="none" strike="noStrike">
                <a:solidFill>
                  <a:schemeClr val="dk2"/>
                </a:solidFill>
                <a:latin typeface="Arial"/>
                <a:ea typeface="Arial"/>
                <a:cs typeface="Arial"/>
                <a:sym typeface="Arial"/>
              </a:rPr>
              <a:t>. O início depende do portal/plataforma, normalmente 48h.</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8"/>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lang="en-US"/>
              <a:t>Innovid</a:t>
            </a:r>
            <a:r>
              <a:rPr b="1" lang="en-US" sz="2200">
                <a:solidFill>
                  <a:schemeClr val="accent1"/>
                </a:solidFill>
                <a:latin typeface="Arial"/>
                <a:ea typeface="Arial"/>
                <a:cs typeface="Arial"/>
                <a:sym typeface="Arial"/>
              </a:rPr>
              <a:t> | Pontos importantes</a:t>
            </a:r>
            <a:endParaRPr sz="2200"/>
          </a:p>
        </p:txBody>
      </p:sp>
      <p:sp>
        <p:nvSpPr>
          <p:cNvPr id="665" name="Google Shape;665;p18"/>
          <p:cNvSpPr/>
          <p:nvPr/>
        </p:nvSpPr>
        <p:spPr>
          <a:xfrm>
            <a:off x="84013" y="1350190"/>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66" name="Google Shape;666;p18"/>
          <p:cNvSpPr/>
          <p:nvPr/>
        </p:nvSpPr>
        <p:spPr>
          <a:xfrm>
            <a:off x="195745" y="1461921"/>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i="0" lang="en-US" sz="774" u="none" cap="none" strike="noStrike">
                <a:solidFill>
                  <a:schemeClr val="dk1"/>
                </a:solidFill>
                <a:latin typeface="Arial"/>
                <a:ea typeface="Arial"/>
                <a:cs typeface="Arial"/>
                <a:sym typeface="Arial"/>
              </a:rPr>
              <a:t>Thread</a:t>
            </a:r>
            <a:endParaRPr b="0" i="0" sz="774" u="none" cap="none" strike="noStrike">
              <a:solidFill>
                <a:schemeClr val="dk1"/>
              </a:solidFill>
              <a:latin typeface="Arial"/>
              <a:ea typeface="Arial"/>
              <a:cs typeface="Arial"/>
              <a:sym typeface="Arial"/>
            </a:endParaRPr>
          </a:p>
        </p:txBody>
      </p:sp>
      <p:sp>
        <p:nvSpPr>
          <p:cNvPr id="667" name="Google Shape;667;p18"/>
          <p:cNvSpPr txBox="1"/>
          <p:nvPr/>
        </p:nvSpPr>
        <p:spPr>
          <a:xfrm>
            <a:off x="195745" y="1759873"/>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i="0" lang="en-US" sz="937" u="none" cap="none" strike="noStrike">
                <a:solidFill>
                  <a:schemeClr val="dk1"/>
                </a:solidFill>
                <a:latin typeface="Arial"/>
                <a:ea typeface="Arial"/>
                <a:cs typeface="Arial"/>
                <a:sym typeface="Arial"/>
              </a:rPr>
              <a:t>Uma thread por campanha</a:t>
            </a:r>
            <a:endParaRPr b="0" i="0" sz="937" u="none" cap="none" strike="noStrike">
              <a:solidFill>
                <a:schemeClr val="dk1"/>
              </a:solidFill>
              <a:latin typeface="Arial"/>
              <a:ea typeface="Arial"/>
              <a:cs typeface="Arial"/>
              <a:sym typeface="Arial"/>
            </a:endParaRPr>
          </a:p>
        </p:txBody>
      </p:sp>
      <p:sp>
        <p:nvSpPr>
          <p:cNvPr id="668" name="Google Shape;668;p18"/>
          <p:cNvSpPr txBox="1"/>
          <p:nvPr/>
        </p:nvSpPr>
        <p:spPr>
          <a:xfrm>
            <a:off x="195745" y="2005682"/>
            <a:ext cx="1936800" cy="67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b="0" i="0" lang="en-US" sz="774" u="none" cap="none" strike="noStrike">
                <a:solidFill>
                  <a:schemeClr val="dk2"/>
                </a:solidFill>
                <a:latin typeface="Arial"/>
                <a:ea typeface="Arial"/>
                <a:cs typeface="Arial"/>
                <a:sym typeface="Arial"/>
              </a:rPr>
              <a:t>Cada campanha tem uma thread do ADP, e todas as solicitações dela vão na respectiva thread, para organização e histórico.</a:t>
            </a:r>
            <a:endParaRPr b="0" i="0" sz="774" u="none" cap="none" strike="noStrike">
              <a:solidFill>
                <a:schemeClr val="dk1"/>
              </a:solidFill>
              <a:latin typeface="Arial"/>
              <a:ea typeface="Arial"/>
              <a:cs typeface="Arial"/>
              <a:sym typeface="Arial"/>
            </a:endParaRPr>
          </a:p>
        </p:txBody>
      </p:sp>
      <p:sp>
        <p:nvSpPr>
          <p:cNvPr id="669" name="Google Shape;669;p18"/>
          <p:cNvSpPr/>
          <p:nvPr/>
        </p:nvSpPr>
        <p:spPr>
          <a:xfrm>
            <a:off x="2355906" y="1350190"/>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70" name="Google Shape;670;p18"/>
          <p:cNvSpPr/>
          <p:nvPr/>
        </p:nvSpPr>
        <p:spPr>
          <a:xfrm>
            <a:off x="2467639" y="1461921"/>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i="0" lang="en-US" sz="774" u="none" cap="none" strike="noStrike">
                <a:solidFill>
                  <a:schemeClr val="dk1"/>
                </a:solidFill>
                <a:latin typeface="Arial"/>
                <a:ea typeface="Arial"/>
                <a:cs typeface="Arial"/>
                <a:sym typeface="Arial"/>
              </a:rPr>
              <a:t>Tag ou Tracking</a:t>
            </a:r>
            <a:endParaRPr b="0" i="0" sz="774" u="none" cap="none" strike="noStrike">
              <a:solidFill>
                <a:schemeClr val="dk1"/>
              </a:solidFill>
              <a:latin typeface="Arial"/>
              <a:ea typeface="Arial"/>
              <a:cs typeface="Arial"/>
              <a:sym typeface="Arial"/>
            </a:endParaRPr>
          </a:p>
        </p:txBody>
      </p:sp>
      <p:sp>
        <p:nvSpPr>
          <p:cNvPr id="671" name="Google Shape;671;p18"/>
          <p:cNvSpPr txBox="1"/>
          <p:nvPr/>
        </p:nvSpPr>
        <p:spPr>
          <a:xfrm>
            <a:off x="2467639" y="1759873"/>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i="0" lang="en-US" sz="937" u="none" cap="none" strike="noStrike">
                <a:solidFill>
                  <a:schemeClr val="dk1"/>
                </a:solidFill>
                <a:latin typeface="Arial"/>
                <a:ea typeface="Arial"/>
                <a:cs typeface="Arial"/>
                <a:sym typeface="Arial"/>
              </a:rPr>
              <a:t>Qual spec seguir</a:t>
            </a:r>
            <a:endParaRPr b="0" i="0" sz="937" u="none" cap="none" strike="noStrike">
              <a:solidFill>
                <a:schemeClr val="dk1"/>
              </a:solidFill>
              <a:latin typeface="Arial"/>
              <a:ea typeface="Arial"/>
              <a:cs typeface="Arial"/>
              <a:sym typeface="Arial"/>
            </a:endParaRPr>
          </a:p>
        </p:txBody>
      </p:sp>
      <p:sp>
        <p:nvSpPr>
          <p:cNvPr id="672" name="Google Shape;672;p18"/>
          <p:cNvSpPr txBox="1"/>
          <p:nvPr/>
        </p:nvSpPr>
        <p:spPr>
          <a:xfrm>
            <a:off x="2467639" y="2005682"/>
            <a:ext cx="1936800" cy="67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b="0" i="0" lang="en-US" sz="774" u="none" cap="none" strike="noStrike">
                <a:solidFill>
                  <a:schemeClr val="dk2"/>
                </a:solidFill>
                <a:latin typeface="Arial"/>
                <a:ea typeface="Arial"/>
                <a:cs typeface="Arial"/>
                <a:sym typeface="Arial"/>
              </a:rPr>
              <a:t>Entrega por Tag: as peças seguem as specs da </a:t>
            </a:r>
            <a:r>
              <a:rPr lang="en-US" sz="774">
                <a:solidFill>
                  <a:schemeClr val="dk2"/>
                </a:solidFill>
              </a:rPr>
              <a:t>Innovid</a:t>
            </a:r>
            <a:r>
              <a:rPr b="0" i="0" lang="en-US" sz="774" u="none" cap="none" strike="noStrike">
                <a:solidFill>
                  <a:schemeClr val="dk2"/>
                </a:solidFill>
                <a:latin typeface="Arial"/>
                <a:ea typeface="Arial"/>
                <a:cs typeface="Arial"/>
                <a:sym typeface="Arial"/>
              </a:rPr>
              <a:t>. Entrega por Tracking: seguem as specs do publisher. Na dúvida, perguntar ao CS da </a:t>
            </a:r>
            <a:r>
              <a:rPr lang="en-US" sz="774">
                <a:solidFill>
                  <a:schemeClr val="dk2"/>
                </a:solidFill>
              </a:rPr>
              <a:t>Innovid</a:t>
            </a:r>
            <a:r>
              <a:rPr b="0" i="0" lang="en-US" sz="774" u="none" cap="none" strike="noStrike">
                <a:solidFill>
                  <a:schemeClr val="dk2"/>
                </a:solidFill>
                <a:latin typeface="Arial"/>
                <a:ea typeface="Arial"/>
                <a:cs typeface="Arial"/>
                <a:sym typeface="Arial"/>
              </a:rPr>
              <a:t>.</a:t>
            </a:r>
            <a:endParaRPr b="0" i="0" sz="774" u="none" cap="none" strike="noStrike">
              <a:solidFill>
                <a:schemeClr val="dk1"/>
              </a:solidFill>
              <a:latin typeface="Arial"/>
              <a:ea typeface="Arial"/>
              <a:cs typeface="Arial"/>
              <a:sym typeface="Arial"/>
            </a:endParaRPr>
          </a:p>
        </p:txBody>
      </p:sp>
      <p:sp>
        <p:nvSpPr>
          <p:cNvPr id="673" name="Google Shape;673;p18"/>
          <p:cNvSpPr/>
          <p:nvPr/>
        </p:nvSpPr>
        <p:spPr>
          <a:xfrm>
            <a:off x="4627800" y="1350190"/>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74" name="Google Shape;674;p18"/>
          <p:cNvSpPr/>
          <p:nvPr/>
        </p:nvSpPr>
        <p:spPr>
          <a:xfrm>
            <a:off x="4739532" y="1461921"/>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i="0" lang="en-US" sz="774" u="none" cap="none" strike="noStrike">
                <a:solidFill>
                  <a:schemeClr val="dk1"/>
                </a:solidFill>
                <a:latin typeface="Arial"/>
                <a:ea typeface="Arial"/>
                <a:cs typeface="Arial"/>
                <a:sym typeface="Arial"/>
              </a:rPr>
              <a:t>Social</a:t>
            </a:r>
            <a:endParaRPr b="0" i="0" sz="774" u="none" cap="none" strike="noStrike">
              <a:solidFill>
                <a:schemeClr val="dk1"/>
              </a:solidFill>
              <a:latin typeface="Arial"/>
              <a:ea typeface="Arial"/>
              <a:cs typeface="Arial"/>
              <a:sym typeface="Arial"/>
            </a:endParaRPr>
          </a:p>
        </p:txBody>
      </p:sp>
      <p:sp>
        <p:nvSpPr>
          <p:cNvPr id="675" name="Google Shape;675;p18"/>
          <p:cNvSpPr txBox="1"/>
          <p:nvPr/>
        </p:nvSpPr>
        <p:spPr>
          <a:xfrm>
            <a:off x="4739532" y="1759873"/>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i="0" lang="en-US" sz="937" u="none" cap="none" strike="noStrike">
                <a:solidFill>
                  <a:schemeClr val="dk1"/>
                </a:solidFill>
                <a:latin typeface="Arial"/>
                <a:ea typeface="Arial"/>
                <a:cs typeface="Arial"/>
                <a:sym typeface="Arial"/>
              </a:rPr>
              <a:t>Contadores no social</a:t>
            </a:r>
            <a:endParaRPr b="0" i="0" sz="937" u="none" cap="none" strike="noStrike">
              <a:solidFill>
                <a:schemeClr val="dk1"/>
              </a:solidFill>
              <a:latin typeface="Arial"/>
              <a:ea typeface="Arial"/>
              <a:cs typeface="Arial"/>
              <a:sym typeface="Arial"/>
            </a:endParaRPr>
          </a:p>
        </p:txBody>
      </p:sp>
      <p:sp>
        <p:nvSpPr>
          <p:cNvPr id="676" name="Google Shape;676;p18"/>
          <p:cNvSpPr txBox="1"/>
          <p:nvPr/>
        </p:nvSpPr>
        <p:spPr>
          <a:xfrm>
            <a:off x="4739532" y="2005682"/>
            <a:ext cx="1936800" cy="67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b="0" i="0" lang="en-US" sz="774" u="none" cap="none" strike="noStrike">
                <a:solidFill>
                  <a:schemeClr val="dk2"/>
                </a:solidFill>
                <a:latin typeface="Arial"/>
                <a:ea typeface="Arial"/>
                <a:cs typeface="Arial"/>
                <a:sym typeface="Arial"/>
              </a:rPr>
              <a:t>Para social só são aceitos contadores. Nas demais veiculações, priorizar a veiculação via TAG.</a:t>
            </a:r>
            <a:endParaRPr b="0" i="0" sz="774" u="none" cap="none" strike="noStrike">
              <a:solidFill>
                <a:schemeClr val="dk1"/>
              </a:solidFill>
              <a:latin typeface="Arial"/>
              <a:ea typeface="Arial"/>
              <a:cs typeface="Arial"/>
              <a:sym typeface="Arial"/>
            </a:endParaRPr>
          </a:p>
        </p:txBody>
      </p:sp>
      <p:sp>
        <p:nvSpPr>
          <p:cNvPr id="677" name="Google Shape;677;p18"/>
          <p:cNvSpPr/>
          <p:nvPr/>
        </p:nvSpPr>
        <p:spPr>
          <a:xfrm>
            <a:off x="84013" y="2839945"/>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78" name="Google Shape;678;p18"/>
          <p:cNvSpPr/>
          <p:nvPr/>
        </p:nvSpPr>
        <p:spPr>
          <a:xfrm>
            <a:off x="195745" y="2951677"/>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i="0" lang="en-US" sz="774" u="none" cap="none" strike="noStrike">
                <a:solidFill>
                  <a:schemeClr val="dk1"/>
                </a:solidFill>
                <a:latin typeface="Arial"/>
                <a:ea typeface="Arial"/>
                <a:cs typeface="Arial"/>
                <a:sym typeface="Arial"/>
              </a:rPr>
              <a:t>Autorização</a:t>
            </a:r>
            <a:endParaRPr b="0" i="0" sz="774" u="none" cap="none" strike="noStrike">
              <a:solidFill>
                <a:schemeClr val="dk1"/>
              </a:solidFill>
              <a:latin typeface="Arial"/>
              <a:ea typeface="Arial"/>
              <a:cs typeface="Arial"/>
              <a:sym typeface="Arial"/>
            </a:endParaRPr>
          </a:p>
        </p:txBody>
      </p:sp>
      <p:sp>
        <p:nvSpPr>
          <p:cNvPr id="679" name="Google Shape;679;p18"/>
          <p:cNvSpPr txBox="1"/>
          <p:nvPr/>
        </p:nvSpPr>
        <p:spPr>
          <a:xfrm>
            <a:off x="195745" y="3249628"/>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i="0" lang="en-US" sz="937" u="none" cap="none" strike="noStrike">
                <a:solidFill>
                  <a:schemeClr val="dk1"/>
                </a:solidFill>
                <a:latin typeface="Arial"/>
                <a:ea typeface="Arial"/>
                <a:cs typeface="Arial"/>
                <a:sym typeface="Arial"/>
              </a:rPr>
              <a:t>Nada no ar sem tag ou contador</a:t>
            </a:r>
            <a:endParaRPr b="0" i="0" sz="937" u="none" cap="none" strike="noStrike">
              <a:solidFill>
                <a:schemeClr val="dk1"/>
              </a:solidFill>
              <a:latin typeface="Arial"/>
              <a:ea typeface="Arial"/>
              <a:cs typeface="Arial"/>
              <a:sym typeface="Arial"/>
            </a:endParaRPr>
          </a:p>
        </p:txBody>
      </p:sp>
      <p:sp>
        <p:nvSpPr>
          <p:cNvPr id="680" name="Google Shape;680;p18"/>
          <p:cNvSpPr txBox="1"/>
          <p:nvPr/>
        </p:nvSpPr>
        <p:spPr>
          <a:xfrm>
            <a:off x="195745" y="3495438"/>
            <a:ext cx="1936800" cy="67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b="0" i="0" lang="en-US" sz="774" u="none" cap="none" strike="noStrike">
                <a:solidFill>
                  <a:schemeClr val="dk2"/>
                </a:solidFill>
                <a:latin typeface="Arial"/>
                <a:ea typeface="Arial"/>
                <a:cs typeface="Arial"/>
                <a:sym typeface="Arial"/>
              </a:rPr>
              <a:t>Sem a TAG ou o contador da </a:t>
            </a:r>
            <a:r>
              <a:rPr lang="en-US" sz="774">
                <a:solidFill>
                  <a:schemeClr val="dk2"/>
                </a:solidFill>
              </a:rPr>
              <a:t>Innovid</a:t>
            </a:r>
            <a:r>
              <a:rPr b="0" i="0" lang="en-US" sz="774" u="none" cap="none" strike="noStrike">
                <a:solidFill>
                  <a:schemeClr val="dk2"/>
                </a:solidFill>
                <a:latin typeface="Arial"/>
                <a:ea typeface="Arial"/>
                <a:cs typeface="Arial"/>
                <a:sym typeface="Arial"/>
              </a:rPr>
              <a:t>, só com autorização do cliente, porque a </a:t>
            </a:r>
            <a:r>
              <a:rPr lang="en-US" sz="774">
                <a:solidFill>
                  <a:schemeClr val="dk2"/>
                </a:solidFill>
              </a:rPr>
              <a:t>Innovid</a:t>
            </a:r>
            <a:r>
              <a:rPr b="0" i="0" lang="en-US" sz="774" u="none" cap="none" strike="noStrike">
                <a:solidFill>
                  <a:schemeClr val="dk2"/>
                </a:solidFill>
                <a:latin typeface="Arial"/>
                <a:ea typeface="Arial"/>
                <a:cs typeface="Arial"/>
                <a:sym typeface="Arial"/>
              </a:rPr>
              <a:t> entrega os dados auditados para o cliente.</a:t>
            </a:r>
            <a:endParaRPr b="0" i="0" sz="774" u="none" cap="none" strike="noStrike">
              <a:solidFill>
                <a:schemeClr val="dk1"/>
              </a:solidFill>
              <a:latin typeface="Arial"/>
              <a:ea typeface="Arial"/>
              <a:cs typeface="Arial"/>
              <a:sym typeface="Arial"/>
            </a:endParaRPr>
          </a:p>
        </p:txBody>
      </p:sp>
      <p:sp>
        <p:nvSpPr>
          <p:cNvPr id="681" name="Google Shape;681;p18"/>
          <p:cNvSpPr/>
          <p:nvPr/>
        </p:nvSpPr>
        <p:spPr>
          <a:xfrm>
            <a:off x="2355906" y="2839945"/>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82" name="Google Shape;682;p18"/>
          <p:cNvSpPr/>
          <p:nvPr/>
        </p:nvSpPr>
        <p:spPr>
          <a:xfrm>
            <a:off x="2467639" y="2951677"/>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i="0" lang="en-US" sz="774" u="none" cap="none" strike="noStrike">
                <a:solidFill>
                  <a:schemeClr val="dk1"/>
                </a:solidFill>
                <a:latin typeface="Arial"/>
                <a:ea typeface="Arial"/>
                <a:cs typeface="Arial"/>
                <a:sym typeface="Arial"/>
              </a:rPr>
              <a:t>E-mail</a:t>
            </a:r>
            <a:endParaRPr b="0" i="0" sz="774" u="none" cap="none" strike="noStrike">
              <a:solidFill>
                <a:schemeClr val="dk1"/>
              </a:solidFill>
              <a:latin typeface="Arial"/>
              <a:ea typeface="Arial"/>
              <a:cs typeface="Arial"/>
              <a:sym typeface="Arial"/>
            </a:endParaRPr>
          </a:p>
        </p:txBody>
      </p:sp>
      <p:sp>
        <p:nvSpPr>
          <p:cNvPr id="683" name="Google Shape;683;p18"/>
          <p:cNvSpPr txBox="1"/>
          <p:nvPr/>
        </p:nvSpPr>
        <p:spPr>
          <a:xfrm>
            <a:off x="2467639" y="3249628"/>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i="0" lang="en-US" sz="937" u="none" cap="none" strike="noStrike">
                <a:solidFill>
                  <a:schemeClr val="dk1"/>
                </a:solidFill>
                <a:latin typeface="Arial"/>
                <a:ea typeface="Arial"/>
                <a:cs typeface="Arial"/>
                <a:sym typeface="Arial"/>
              </a:rPr>
              <a:t>Sempre o mesmo e-mail</a:t>
            </a:r>
            <a:endParaRPr b="0" i="0" sz="937" u="none" cap="none" strike="noStrike">
              <a:solidFill>
                <a:schemeClr val="dk1"/>
              </a:solidFill>
              <a:latin typeface="Arial"/>
              <a:ea typeface="Arial"/>
              <a:cs typeface="Arial"/>
              <a:sym typeface="Arial"/>
            </a:endParaRPr>
          </a:p>
        </p:txBody>
      </p:sp>
      <p:sp>
        <p:nvSpPr>
          <p:cNvPr id="684" name="Google Shape;684;p18"/>
          <p:cNvSpPr txBox="1"/>
          <p:nvPr/>
        </p:nvSpPr>
        <p:spPr>
          <a:xfrm>
            <a:off x="2467639" y="3495438"/>
            <a:ext cx="1936800" cy="67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b="0" i="0" lang="en-US" sz="774" u="none" cap="none" strike="noStrike">
                <a:solidFill>
                  <a:schemeClr val="dk2"/>
                </a:solidFill>
                <a:latin typeface="Arial"/>
                <a:ea typeface="Arial"/>
                <a:cs typeface="Arial"/>
                <a:sym typeface="Arial"/>
              </a:rPr>
              <a:t>Manter unilever.as@</a:t>
            </a:r>
            <a:r>
              <a:rPr lang="en-US" sz="774">
                <a:solidFill>
                  <a:schemeClr val="dk2"/>
                </a:solidFill>
              </a:rPr>
              <a:t>miqdigital.com</a:t>
            </a:r>
            <a:r>
              <a:rPr b="0" i="0" lang="en-US" sz="774" u="none" cap="none" strike="noStrike">
                <a:solidFill>
                  <a:schemeClr val="dk2"/>
                </a:solidFill>
                <a:latin typeface="Arial"/>
                <a:ea typeface="Arial"/>
                <a:cs typeface="Arial"/>
                <a:sym typeface="Arial"/>
              </a:rPr>
              <a:t> em todas as solicitações, para toda a equipe de CS ficar em cópia.</a:t>
            </a:r>
            <a:endParaRPr b="0" i="0" sz="774" u="none" cap="none" strike="noStrike">
              <a:solidFill>
                <a:schemeClr val="dk1"/>
              </a:solidFill>
              <a:latin typeface="Arial"/>
              <a:ea typeface="Arial"/>
              <a:cs typeface="Arial"/>
              <a:sym typeface="Arial"/>
            </a:endParaRPr>
          </a:p>
        </p:txBody>
      </p:sp>
      <p:sp>
        <p:nvSpPr>
          <p:cNvPr id="685" name="Google Shape;685;p18"/>
          <p:cNvSpPr/>
          <p:nvPr/>
        </p:nvSpPr>
        <p:spPr>
          <a:xfrm>
            <a:off x="4627800" y="2839945"/>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86" name="Google Shape;686;p18"/>
          <p:cNvSpPr/>
          <p:nvPr/>
        </p:nvSpPr>
        <p:spPr>
          <a:xfrm>
            <a:off x="4739532" y="2951677"/>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i="0" lang="en-US" sz="774" u="none" cap="none" strike="noStrike">
                <a:solidFill>
                  <a:schemeClr val="dk1"/>
                </a:solidFill>
                <a:latin typeface="Arial"/>
                <a:ea typeface="Arial"/>
                <a:cs typeface="Arial"/>
                <a:sym typeface="Arial"/>
              </a:rPr>
              <a:t>Double Verify</a:t>
            </a:r>
            <a:endParaRPr b="0" i="0" sz="774" u="none" cap="none" strike="noStrike">
              <a:solidFill>
                <a:schemeClr val="dk1"/>
              </a:solidFill>
              <a:latin typeface="Arial"/>
              <a:ea typeface="Arial"/>
              <a:cs typeface="Arial"/>
              <a:sym typeface="Arial"/>
            </a:endParaRPr>
          </a:p>
        </p:txBody>
      </p:sp>
      <p:sp>
        <p:nvSpPr>
          <p:cNvPr id="687" name="Google Shape;687;p18"/>
          <p:cNvSpPr txBox="1"/>
          <p:nvPr/>
        </p:nvSpPr>
        <p:spPr>
          <a:xfrm>
            <a:off x="4739532" y="3249628"/>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i="0" lang="en-US" sz="937" u="none" cap="none" strike="noStrike">
                <a:solidFill>
                  <a:schemeClr val="dk1"/>
                </a:solidFill>
                <a:latin typeface="Arial"/>
                <a:ea typeface="Arial"/>
                <a:cs typeface="Arial"/>
                <a:sym typeface="Arial"/>
              </a:rPr>
              <a:t>Nova campanha na Double Verify</a:t>
            </a:r>
            <a:endParaRPr b="0" i="0" sz="937" u="none" cap="none" strike="noStrike">
              <a:solidFill>
                <a:schemeClr val="dk1"/>
              </a:solidFill>
              <a:latin typeface="Arial"/>
              <a:ea typeface="Arial"/>
              <a:cs typeface="Arial"/>
              <a:sym typeface="Arial"/>
            </a:endParaRPr>
          </a:p>
        </p:txBody>
      </p:sp>
      <p:sp>
        <p:nvSpPr>
          <p:cNvPr id="688" name="Google Shape;688;p18"/>
          <p:cNvSpPr txBox="1"/>
          <p:nvPr/>
        </p:nvSpPr>
        <p:spPr>
          <a:xfrm>
            <a:off x="4739532" y="3495436"/>
            <a:ext cx="1936800" cy="72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b="0" i="0" lang="en-US" sz="774" u="none" cap="none" strike="noStrike">
                <a:solidFill>
                  <a:schemeClr val="dk2"/>
                </a:solidFill>
                <a:latin typeface="Arial"/>
                <a:ea typeface="Arial"/>
                <a:cs typeface="Arial"/>
                <a:sym typeface="Arial"/>
              </a:rPr>
              <a:t>A cada nova campanha criada do lado da </a:t>
            </a:r>
            <a:r>
              <a:rPr lang="en-US" sz="774">
                <a:solidFill>
                  <a:schemeClr val="dk2"/>
                </a:solidFill>
              </a:rPr>
              <a:t>Innovid</a:t>
            </a:r>
            <a:r>
              <a:rPr b="0" i="0" lang="en-US" sz="774" u="none" cap="none" strike="noStrike">
                <a:solidFill>
                  <a:schemeClr val="dk2"/>
                </a:solidFill>
                <a:latin typeface="Arial"/>
                <a:ea typeface="Arial"/>
                <a:cs typeface="Arial"/>
                <a:sym typeface="Arial"/>
              </a:rPr>
              <a:t>, a agência cria uma na Double Verify, com o mesmo </a:t>
            </a:r>
            <a:r>
              <a:rPr lang="en-US" sz="774">
                <a:solidFill>
                  <a:schemeClr val="dk2"/>
                </a:solidFill>
              </a:rPr>
              <a:t>Campaign Name (cabeçalho do ADP), </a:t>
            </a:r>
            <a:r>
              <a:rPr b="0" i="0" lang="en-US" sz="774" u="none" cap="none" strike="noStrike">
                <a:solidFill>
                  <a:schemeClr val="dk2"/>
                </a:solidFill>
                <a:latin typeface="Arial"/>
                <a:ea typeface="Arial"/>
                <a:cs typeface="Arial"/>
                <a:sym typeface="Arial"/>
              </a:rPr>
              <a:t>Campaign ID da </a:t>
            </a:r>
            <a:r>
              <a:rPr lang="en-US" sz="774">
                <a:solidFill>
                  <a:schemeClr val="dk2"/>
                </a:solidFill>
              </a:rPr>
              <a:t>Innovid</a:t>
            </a:r>
            <a:r>
              <a:rPr b="0" i="0" lang="en-US" sz="774" u="none" cap="none" strike="noStrike">
                <a:solidFill>
                  <a:schemeClr val="dk2"/>
                </a:solidFill>
                <a:latin typeface="Arial"/>
                <a:ea typeface="Arial"/>
                <a:cs typeface="Arial"/>
                <a:sym typeface="Arial"/>
              </a:rPr>
              <a:t> (cabeçalho do ADP) e todos os publishers.</a:t>
            </a:r>
            <a:endParaRPr b="0" i="0" sz="774" u="none" cap="none" strike="noStrike">
              <a:solidFill>
                <a:schemeClr val="dk1"/>
              </a:solidFill>
              <a:latin typeface="Arial"/>
              <a:ea typeface="Arial"/>
              <a:cs typeface="Arial"/>
              <a:sym typeface="Arial"/>
            </a:endParaRPr>
          </a:p>
        </p:txBody>
      </p:sp>
      <p:sp>
        <p:nvSpPr>
          <p:cNvPr id="689" name="Google Shape;689;p18"/>
          <p:cNvSpPr/>
          <p:nvPr/>
        </p:nvSpPr>
        <p:spPr>
          <a:xfrm>
            <a:off x="6899682" y="1349825"/>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90" name="Google Shape;690;p18"/>
          <p:cNvSpPr/>
          <p:nvPr/>
        </p:nvSpPr>
        <p:spPr>
          <a:xfrm>
            <a:off x="7011415" y="1461556"/>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lang="en-US" sz="774">
                <a:solidFill>
                  <a:schemeClr val="dk1"/>
                </a:solidFill>
              </a:rPr>
              <a:t>Custo</a:t>
            </a:r>
            <a:endParaRPr b="0" i="0" sz="774" u="none" cap="none" strike="noStrike">
              <a:solidFill>
                <a:schemeClr val="dk1"/>
              </a:solidFill>
              <a:latin typeface="Arial"/>
              <a:ea typeface="Arial"/>
              <a:cs typeface="Arial"/>
              <a:sym typeface="Arial"/>
            </a:endParaRPr>
          </a:p>
        </p:txBody>
      </p:sp>
      <p:sp>
        <p:nvSpPr>
          <p:cNvPr id="691" name="Google Shape;691;p18"/>
          <p:cNvSpPr txBox="1"/>
          <p:nvPr/>
        </p:nvSpPr>
        <p:spPr>
          <a:xfrm>
            <a:off x="7011415" y="1759508"/>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lang="en-US" sz="937">
                <a:solidFill>
                  <a:schemeClr val="dk1"/>
                </a:solidFill>
              </a:rPr>
              <a:t>Alteração de custo</a:t>
            </a:r>
            <a:endParaRPr b="0" i="0" sz="937" u="none" cap="none" strike="noStrike">
              <a:solidFill>
                <a:schemeClr val="dk1"/>
              </a:solidFill>
              <a:latin typeface="Arial"/>
              <a:ea typeface="Arial"/>
              <a:cs typeface="Arial"/>
              <a:sym typeface="Arial"/>
            </a:endParaRPr>
          </a:p>
        </p:txBody>
      </p:sp>
      <p:sp>
        <p:nvSpPr>
          <p:cNvPr id="692" name="Google Shape;692;p18"/>
          <p:cNvSpPr txBox="1"/>
          <p:nvPr/>
        </p:nvSpPr>
        <p:spPr>
          <a:xfrm>
            <a:off x="7011415" y="2005317"/>
            <a:ext cx="1936800" cy="67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lang="en-US" sz="774">
                <a:solidFill>
                  <a:schemeClr val="dk2"/>
                </a:solidFill>
              </a:rPr>
              <a:t>Se houver alteração nos dados de custo nas campanhas, esses dados também devem ser </a:t>
            </a:r>
            <a:endParaRPr b="0" i="0" sz="774" u="none" cap="none" strike="noStrike">
              <a:solidFill>
                <a:schemeClr val="dk1"/>
              </a:solidFill>
              <a:latin typeface="Arial"/>
              <a:ea typeface="Arial"/>
              <a:cs typeface="Arial"/>
              <a:sym typeface="Arial"/>
            </a:endParaRPr>
          </a:p>
        </p:txBody>
      </p:sp>
      <p:sp>
        <p:nvSpPr>
          <p:cNvPr id="693" name="Google Shape;693;p18"/>
          <p:cNvSpPr/>
          <p:nvPr/>
        </p:nvSpPr>
        <p:spPr>
          <a:xfrm>
            <a:off x="6899682" y="2839902"/>
            <a:ext cx="2160300" cy="1377900"/>
          </a:xfrm>
          <a:prstGeom prst="roundRect">
            <a:avLst>
              <a:gd fmla="val 5405" name="adj"/>
            </a:avLst>
          </a:prstGeom>
          <a:solidFill>
            <a:schemeClr val="lt2"/>
          </a:solidFill>
          <a:ln cap="flat" cmpd="sng" w="7750">
            <a:solidFill>
              <a:schemeClr val="lt2"/>
            </a:solidFill>
            <a:prstDash val="solid"/>
            <a:round/>
            <a:headEnd len="sm" w="sm" type="none"/>
            <a:tailEnd len="sm" w="sm" type="none"/>
          </a:ln>
        </p:spPr>
        <p:txBody>
          <a:bodyPr anchorCtr="0" anchor="ctr" bIns="74475" lIns="74475" spcFirstLastPara="1" rIns="74475" wrap="square" tIns="74475">
            <a:noAutofit/>
          </a:bodyPr>
          <a:lstStyle/>
          <a:p>
            <a:pPr indent="0" lvl="0" marL="0" rtl="0" algn="l">
              <a:spcBef>
                <a:spcPts val="0"/>
              </a:spcBef>
              <a:spcAft>
                <a:spcPts val="0"/>
              </a:spcAft>
              <a:buNone/>
            </a:pPr>
            <a:r>
              <a:t/>
            </a:r>
            <a:endParaRPr/>
          </a:p>
        </p:txBody>
      </p:sp>
      <p:sp>
        <p:nvSpPr>
          <p:cNvPr id="694" name="Google Shape;694;p18"/>
          <p:cNvSpPr/>
          <p:nvPr/>
        </p:nvSpPr>
        <p:spPr>
          <a:xfrm>
            <a:off x="7011415" y="2951633"/>
            <a:ext cx="1005600" cy="208500"/>
          </a:xfrm>
          <a:prstGeom prst="roundRect">
            <a:avLst>
              <a:gd fmla="val 35714" name="adj"/>
            </a:avLst>
          </a:prstGeom>
          <a:solidFill>
            <a:schemeClr val="accent1"/>
          </a:solidFill>
          <a:ln cap="flat" cmpd="sng" w="7750">
            <a:solidFill>
              <a:schemeClr val="accent1"/>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chemeClr val="dk1"/>
              </a:buClr>
              <a:buSzPts val="774"/>
              <a:buFont typeface="Arial"/>
              <a:buNone/>
            </a:pPr>
            <a:r>
              <a:rPr b="1" lang="en-US" sz="774">
                <a:solidFill>
                  <a:schemeClr val="dk1"/>
                </a:solidFill>
              </a:rPr>
              <a:t>Globo</a:t>
            </a:r>
            <a:endParaRPr b="0" i="0" sz="774" u="none" cap="none" strike="noStrike">
              <a:solidFill>
                <a:schemeClr val="dk1"/>
              </a:solidFill>
              <a:latin typeface="Arial"/>
              <a:ea typeface="Arial"/>
              <a:cs typeface="Arial"/>
              <a:sym typeface="Arial"/>
            </a:endParaRPr>
          </a:p>
        </p:txBody>
      </p:sp>
      <p:sp>
        <p:nvSpPr>
          <p:cNvPr id="695" name="Google Shape;695;p18"/>
          <p:cNvSpPr txBox="1"/>
          <p:nvPr/>
        </p:nvSpPr>
        <p:spPr>
          <a:xfrm>
            <a:off x="7011415" y="3249584"/>
            <a:ext cx="1936800" cy="20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937"/>
              <a:buFont typeface="Arial"/>
              <a:buNone/>
            </a:pPr>
            <a:r>
              <a:rPr b="1" lang="en-US" sz="937">
                <a:solidFill>
                  <a:schemeClr val="dk1"/>
                </a:solidFill>
              </a:rPr>
              <a:t>Taxonomia</a:t>
            </a:r>
            <a:endParaRPr b="0" i="0" sz="937" u="none" cap="none" strike="noStrike">
              <a:solidFill>
                <a:schemeClr val="dk1"/>
              </a:solidFill>
              <a:latin typeface="Arial"/>
              <a:ea typeface="Arial"/>
              <a:cs typeface="Arial"/>
              <a:sym typeface="Arial"/>
            </a:endParaRPr>
          </a:p>
        </p:txBody>
      </p:sp>
      <p:sp>
        <p:nvSpPr>
          <p:cNvPr id="696" name="Google Shape;696;p18"/>
          <p:cNvSpPr txBox="1"/>
          <p:nvPr/>
        </p:nvSpPr>
        <p:spPr>
          <a:xfrm>
            <a:off x="7011415" y="3495392"/>
            <a:ext cx="1936800" cy="72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774"/>
              <a:buFont typeface="Arial"/>
              <a:buNone/>
            </a:pPr>
            <a:r>
              <a:rPr lang="en-US" sz="774">
                <a:solidFill>
                  <a:schemeClr val="dk2"/>
                </a:solidFill>
              </a:rPr>
              <a:t>Na plataforma GloboAds deve ser inserida a taxonomia que temos para a Globo. Isso nos ajuda ao validar de forma ágil os relatórios enviados pela Globo.</a:t>
            </a:r>
            <a:endParaRPr b="0" i="0" sz="774"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19"/>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Validação de Dados | Fluxo semanal</a:t>
            </a:r>
            <a:endParaRPr sz="2200"/>
          </a:p>
        </p:txBody>
      </p:sp>
      <p:cxnSp>
        <p:nvCxnSpPr>
          <p:cNvPr id="703" name="Google Shape;703;p19"/>
          <p:cNvCxnSpPr/>
          <p:nvPr/>
        </p:nvCxnSpPr>
        <p:spPr>
          <a:xfrm>
            <a:off x="822960" y="1371600"/>
            <a:ext cx="7498080" cy="0"/>
          </a:xfrm>
          <a:prstGeom prst="straightConnector1">
            <a:avLst/>
          </a:prstGeom>
          <a:noFill/>
          <a:ln cap="flat" cmpd="sng" w="22225">
            <a:solidFill>
              <a:schemeClr val="dk2"/>
            </a:solidFill>
            <a:prstDash val="solid"/>
            <a:round/>
            <a:headEnd len="sm" w="sm" type="none"/>
            <a:tailEnd len="sm" w="sm" type="none"/>
          </a:ln>
        </p:spPr>
      </p:cxnSp>
      <p:sp>
        <p:nvSpPr>
          <p:cNvPr id="704" name="Google Shape;704;p19"/>
          <p:cNvSpPr/>
          <p:nvPr/>
        </p:nvSpPr>
        <p:spPr>
          <a:xfrm>
            <a:off x="1051560" y="1188720"/>
            <a:ext cx="365760" cy="36576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1</a:t>
            </a:r>
            <a:endParaRPr b="0" i="0" sz="1300" u="none" cap="none" strike="noStrike">
              <a:solidFill>
                <a:schemeClr val="dk1"/>
              </a:solidFill>
              <a:latin typeface="Arial"/>
              <a:ea typeface="Arial"/>
              <a:cs typeface="Arial"/>
              <a:sym typeface="Arial"/>
            </a:endParaRPr>
          </a:p>
        </p:txBody>
      </p:sp>
      <p:sp>
        <p:nvSpPr>
          <p:cNvPr id="705" name="Google Shape;705;p19"/>
          <p:cNvSpPr/>
          <p:nvPr/>
        </p:nvSpPr>
        <p:spPr>
          <a:xfrm>
            <a:off x="457200" y="1737360"/>
            <a:ext cx="1554480" cy="242316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txBox="1"/>
          <p:nvPr/>
        </p:nvSpPr>
        <p:spPr>
          <a:xfrm>
            <a:off x="566928" y="1828800"/>
            <a:ext cx="13350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Segunda</a:t>
            </a:r>
            <a:endParaRPr b="0" i="0" sz="1200" u="none" cap="none" strike="noStrike">
              <a:solidFill>
                <a:schemeClr val="dk1"/>
              </a:solidFill>
              <a:latin typeface="Arial"/>
              <a:ea typeface="Arial"/>
              <a:cs typeface="Arial"/>
              <a:sym typeface="Arial"/>
            </a:endParaRPr>
          </a:p>
        </p:txBody>
      </p:sp>
      <p:sp>
        <p:nvSpPr>
          <p:cNvPr id="707" name="Google Shape;707;p19"/>
          <p:cNvSpPr txBox="1"/>
          <p:nvPr/>
        </p:nvSpPr>
        <p:spPr>
          <a:xfrm>
            <a:off x="566928" y="2176272"/>
            <a:ext cx="1335024"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Extração do dashboard de taxonomias implementadas (Stormx) e recebimento do export do banco de dados da agência (Initiative).</a:t>
            </a:r>
            <a:endParaRPr b="0" i="0" sz="1000" u="none" cap="none" strike="noStrike">
              <a:solidFill>
                <a:schemeClr val="dk1"/>
              </a:solidFill>
              <a:latin typeface="Arial"/>
              <a:ea typeface="Arial"/>
              <a:cs typeface="Arial"/>
              <a:sym typeface="Arial"/>
            </a:endParaRPr>
          </a:p>
        </p:txBody>
      </p:sp>
      <p:sp>
        <p:nvSpPr>
          <p:cNvPr id="708" name="Google Shape;708;p19"/>
          <p:cNvSpPr/>
          <p:nvPr/>
        </p:nvSpPr>
        <p:spPr>
          <a:xfrm>
            <a:off x="457200" y="4297680"/>
            <a:ext cx="1554480" cy="310896"/>
          </a:xfrm>
          <a:prstGeom prst="roundRect">
            <a:avLst>
              <a:gd fmla="val 29412"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Stormx e Initiative</a:t>
            </a:r>
            <a:endParaRPr b="0" i="0" sz="950" u="none" cap="none" strike="noStrike">
              <a:solidFill>
                <a:schemeClr val="dk1"/>
              </a:solidFill>
              <a:latin typeface="Arial"/>
              <a:ea typeface="Arial"/>
              <a:cs typeface="Arial"/>
              <a:sym typeface="Arial"/>
            </a:endParaRPr>
          </a:p>
        </p:txBody>
      </p:sp>
      <p:sp>
        <p:nvSpPr>
          <p:cNvPr id="709" name="Google Shape;709;p19"/>
          <p:cNvSpPr/>
          <p:nvPr/>
        </p:nvSpPr>
        <p:spPr>
          <a:xfrm>
            <a:off x="2720340" y="1188720"/>
            <a:ext cx="365760" cy="36576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2</a:t>
            </a:r>
            <a:endParaRPr b="0" i="0" sz="1300" u="none" cap="none" strike="noStrike">
              <a:solidFill>
                <a:schemeClr val="dk1"/>
              </a:solidFill>
              <a:latin typeface="Arial"/>
              <a:ea typeface="Arial"/>
              <a:cs typeface="Arial"/>
              <a:sym typeface="Arial"/>
            </a:endParaRPr>
          </a:p>
        </p:txBody>
      </p:sp>
      <p:sp>
        <p:nvSpPr>
          <p:cNvPr id="710" name="Google Shape;710;p19"/>
          <p:cNvSpPr/>
          <p:nvPr/>
        </p:nvSpPr>
        <p:spPr>
          <a:xfrm>
            <a:off x="2125980" y="1737360"/>
            <a:ext cx="1554480" cy="242316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9"/>
          <p:cNvSpPr txBox="1"/>
          <p:nvPr/>
        </p:nvSpPr>
        <p:spPr>
          <a:xfrm>
            <a:off x="2235708" y="1828800"/>
            <a:ext cx="13350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Segunda a quarta</a:t>
            </a:r>
            <a:endParaRPr b="0" i="0" sz="1200" u="none" cap="none" strike="noStrike">
              <a:solidFill>
                <a:schemeClr val="dk1"/>
              </a:solidFill>
              <a:latin typeface="Arial"/>
              <a:ea typeface="Arial"/>
              <a:cs typeface="Arial"/>
              <a:sym typeface="Arial"/>
            </a:endParaRPr>
          </a:p>
        </p:txBody>
      </p:sp>
      <p:sp>
        <p:nvSpPr>
          <p:cNvPr id="712" name="Google Shape;712;p19"/>
          <p:cNvSpPr txBox="1"/>
          <p:nvPr/>
        </p:nvSpPr>
        <p:spPr>
          <a:xfrm>
            <a:off x="2235708" y="2176272"/>
            <a:ext cx="1335024"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Cruzamento das bases, validação linha a linha, identificação dos erros e alinhamento com o time de AdOps para correção das taxonomias.</a:t>
            </a:r>
            <a:endParaRPr b="0" i="0" sz="1000" u="none" cap="none" strike="noStrike">
              <a:solidFill>
                <a:schemeClr val="dk1"/>
              </a:solidFill>
              <a:latin typeface="Arial"/>
              <a:ea typeface="Arial"/>
              <a:cs typeface="Arial"/>
              <a:sym typeface="Arial"/>
            </a:endParaRPr>
          </a:p>
        </p:txBody>
      </p:sp>
      <p:sp>
        <p:nvSpPr>
          <p:cNvPr id="713" name="Google Shape;713;p19"/>
          <p:cNvSpPr/>
          <p:nvPr/>
        </p:nvSpPr>
        <p:spPr>
          <a:xfrm>
            <a:off x="2125980" y="4297680"/>
            <a:ext cx="1554480" cy="310896"/>
          </a:xfrm>
          <a:prstGeom prst="roundRect">
            <a:avLst>
              <a:gd fmla="val 29412"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Stormx</a:t>
            </a:r>
            <a:endParaRPr b="0" i="0" sz="950" u="none" cap="none" strike="noStrike">
              <a:solidFill>
                <a:schemeClr val="dk1"/>
              </a:solidFill>
              <a:latin typeface="Arial"/>
              <a:ea typeface="Arial"/>
              <a:cs typeface="Arial"/>
              <a:sym typeface="Arial"/>
            </a:endParaRPr>
          </a:p>
        </p:txBody>
      </p:sp>
      <p:sp>
        <p:nvSpPr>
          <p:cNvPr id="714" name="Google Shape;714;p19"/>
          <p:cNvSpPr/>
          <p:nvPr/>
        </p:nvSpPr>
        <p:spPr>
          <a:xfrm>
            <a:off x="4389120" y="1188720"/>
            <a:ext cx="365760" cy="36576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3</a:t>
            </a:r>
            <a:endParaRPr b="0" i="0" sz="1300" u="none" cap="none" strike="noStrike">
              <a:solidFill>
                <a:schemeClr val="dk1"/>
              </a:solidFill>
              <a:latin typeface="Arial"/>
              <a:ea typeface="Arial"/>
              <a:cs typeface="Arial"/>
              <a:sym typeface="Arial"/>
            </a:endParaRPr>
          </a:p>
        </p:txBody>
      </p:sp>
      <p:sp>
        <p:nvSpPr>
          <p:cNvPr id="715" name="Google Shape;715;p19"/>
          <p:cNvSpPr/>
          <p:nvPr/>
        </p:nvSpPr>
        <p:spPr>
          <a:xfrm>
            <a:off x="3794760" y="1737360"/>
            <a:ext cx="1554480" cy="242316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
          <p:cNvSpPr txBox="1"/>
          <p:nvPr/>
        </p:nvSpPr>
        <p:spPr>
          <a:xfrm>
            <a:off x="3904488" y="1828800"/>
            <a:ext cx="13350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Até quarta</a:t>
            </a:r>
            <a:endParaRPr b="0" i="0" sz="1200" u="none" cap="none" strike="noStrike">
              <a:solidFill>
                <a:schemeClr val="dk1"/>
              </a:solidFill>
              <a:latin typeface="Arial"/>
              <a:ea typeface="Arial"/>
              <a:cs typeface="Arial"/>
              <a:sym typeface="Arial"/>
            </a:endParaRPr>
          </a:p>
        </p:txBody>
      </p:sp>
      <p:sp>
        <p:nvSpPr>
          <p:cNvPr id="717" name="Google Shape;717;p19"/>
          <p:cNvSpPr txBox="1"/>
          <p:nvPr/>
        </p:nvSpPr>
        <p:spPr>
          <a:xfrm>
            <a:off x="3904488" y="2176272"/>
            <a:ext cx="1335024"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Inclusão das taxonomias na planilha de Correção, indicando o responsável por cada ajuste: time de mídia (plataforma) ou Engenharia (banco de dados).</a:t>
            </a:r>
            <a:endParaRPr b="0" i="0" sz="1000" u="none" cap="none" strike="noStrike">
              <a:solidFill>
                <a:schemeClr val="dk1"/>
              </a:solidFill>
              <a:latin typeface="Arial"/>
              <a:ea typeface="Arial"/>
              <a:cs typeface="Arial"/>
              <a:sym typeface="Arial"/>
            </a:endParaRPr>
          </a:p>
        </p:txBody>
      </p:sp>
      <p:sp>
        <p:nvSpPr>
          <p:cNvPr id="718" name="Google Shape;718;p19"/>
          <p:cNvSpPr/>
          <p:nvPr/>
        </p:nvSpPr>
        <p:spPr>
          <a:xfrm>
            <a:off x="3794760" y="4297680"/>
            <a:ext cx="1554480" cy="310896"/>
          </a:xfrm>
          <a:prstGeom prst="roundRect">
            <a:avLst>
              <a:gd fmla="val 29412" name="adj"/>
            </a:avLst>
          </a:prstGeom>
          <a:solidFill>
            <a:schemeClr val="dk2"/>
          </a:solidFill>
          <a:ln cap="flat" cmpd="sng" w="9525">
            <a:solidFill>
              <a:schemeClr val="dk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Stormx</a:t>
            </a:r>
            <a:endParaRPr b="0" i="0" sz="950" u="none" cap="none" strike="noStrike">
              <a:solidFill>
                <a:schemeClr val="dk1"/>
              </a:solidFill>
              <a:latin typeface="Arial"/>
              <a:ea typeface="Arial"/>
              <a:cs typeface="Arial"/>
              <a:sym typeface="Arial"/>
            </a:endParaRPr>
          </a:p>
        </p:txBody>
      </p:sp>
      <p:sp>
        <p:nvSpPr>
          <p:cNvPr id="719" name="Google Shape;719;p19"/>
          <p:cNvSpPr/>
          <p:nvPr/>
        </p:nvSpPr>
        <p:spPr>
          <a:xfrm>
            <a:off x="6057900" y="1188720"/>
            <a:ext cx="365760" cy="36576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4</a:t>
            </a:r>
            <a:endParaRPr b="0" i="0" sz="1300" u="none" cap="none" strike="noStrike">
              <a:solidFill>
                <a:schemeClr val="dk1"/>
              </a:solidFill>
              <a:latin typeface="Arial"/>
              <a:ea typeface="Arial"/>
              <a:cs typeface="Arial"/>
              <a:sym typeface="Arial"/>
            </a:endParaRPr>
          </a:p>
        </p:txBody>
      </p:sp>
      <p:sp>
        <p:nvSpPr>
          <p:cNvPr id="720" name="Google Shape;720;p19"/>
          <p:cNvSpPr/>
          <p:nvPr/>
        </p:nvSpPr>
        <p:spPr>
          <a:xfrm>
            <a:off x="5463540" y="1737360"/>
            <a:ext cx="1554480" cy="242316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txBox="1"/>
          <p:nvPr/>
        </p:nvSpPr>
        <p:spPr>
          <a:xfrm>
            <a:off x="5573268" y="1828800"/>
            <a:ext cx="13350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Até sexta</a:t>
            </a:r>
            <a:endParaRPr b="0" i="0" sz="1200" u="none" cap="none" strike="noStrike">
              <a:solidFill>
                <a:schemeClr val="dk1"/>
              </a:solidFill>
              <a:latin typeface="Arial"/>
              <a:ea typeface="Arial"/>
              <a:cs typeface="Arial"/>
              <a:sym typeface="Arial"/>
            </a:endParaRPr>
          </a:p>
        </p:txBody>
      </p:sp>
      <p:sp>
        <p:nvSpPr>
          <p:cNvPr id="722" name="Google Shape;722;p19"/>
          <p:cNvSpPr txBox="1"/>
          <p:nvPr/>
        </p:nvSpPr>
        <p:spPr>
          <a:xfrm>
            <a:off x="5573268" y="2176272"/>
            <a:ext cx="1335024"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Conclusão das correções pelos times responsáveis.</a:t>
            </a:r>
            <a:endParaRPr b="0" i="0" sz="1000" u="none" cap="none" strike="noStrike">
              <a:solidFill>
                <a:schemeClr val="dk1"/>
              </a:solidFill>
              <a:latin typeface="Arial"/>
              <a:ea typeface="Arial"/>
              <a:cs typeface="Arial"/>
              <a:sym typeface="Arial"/>
            </a:endParaRPr>
          </a:p>
        </p:txBody>
      </p:sp>
      <p:sp>
        <p:nvSpPr>
          <p:cNvPr id="723" name="Google Shape;723;p19"/>
          <p:cNvSpPr/>
          <p:nvPr/>
        </p:nvSpPr>
        <p:spPr>
          <a:xfrm>
            <a:off x="5463540" y="4297680"/>
            <a:ext cx="1554480" cy="310896"/>
          </a:xfrm>
          <a:prstGeom prst="roundRect">
            <a:avLst>
              <a:gd fmla="val 29412"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Initiative</a:t>
            </a:r>
            <a:endParaRPr b="0" i="0" sz="950" u="none" cap="none" strike="noStrike">
              <a:solidFill>
                <a:schemeClr val="dk1"/>
              </a:solidFill>
              <a:latin typeface="Arial"/>
              <a:ea typeface="Arial"/>
              <a:cs typeface="Arial"/>
              <a:sym typeface="Arial"/>
            </a:endParaRPr>
          </a:p>
        </p:txBody>
      </p:sp>
      <p:sp>
        <p:nvSpPr>
          <p:cNvPr id="724" name="Google Shape;724;p19"/>
          <p:cNvSpPr/>
          <p:nvPr/>
        </p:nvSpPr>
        <p:spPr>
          <a:xfrm>
            <a:off x="7726680" y="1188720"/>
            <a:ext cx="365760" cy="36576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Arial"/>
              <a:buNone/>
            </a:pPr>
            <a:r>
              <a:rPr b="1" i="0" lang="en-US" sz="1300" u="none" cap="none" strike="noStrike">
                <a:solidFill>
                  <a:schemeClr val="lt1"/>
                </a:solidFill>
                <a:latin typeface="Arial"/>
                <a:ea typeface="Arial"/>
                <a:cs typeface="Arial"/>
                <a:sym typeface="Arial"/>
              </a:rPr>
              <a:t>5</a:t>
            </a:r>
            <a:endParaRPr b="0" i="0" sz="1300" u="none" cap="none" strike="noStrike">
              <a:solidFill>
                <a:schemeClr val="dk1"/>
              </a:solidFill>
              <a:latin typeface="Arial"/>
              <a:ea typeface="Arial"/>
              <a:cs typeface="Arial"/>
              <a:sym typeface="Arial"/>
            </a:endParaRPr>
          </a:p>
        </p:txBody>
      </p:sp>
      <p:sp>
        <p:nvSpPr>
          <p:cNvPr id="725" name="Google Shape;725;p19"/>
          <p:cNvSpPr/>
          <p:nvPr/>
        </p:nvSpPr>
        <p:spPr>
          <a:xfrm>
            <a:off x="7132320" y="1737360"/>
            <a:ext cx="1554480" cy="2423160"/>
          </a:xfrm>
          <a:prstGeom prst="roundRect">
            <a:avLst>
              <a:gd fmla="val 5882"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txBox="1"/>
          <p:nvPr/>
        </p:nvSpPr>
        <p:spPr>
          <a:xfrm>
            <a:off x="7242048" y="1828800"/>
            <a:ext cx="13350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Segunda seguinte</a:t>
            </a:r>
            <a:endParaRPr b="0" i="0" sz="1200" u="none" cap="none" strike="noStrike">
              <a:solidFill>
                <a:schemeClr val="dk1"/>
              </a:solidFill>
              <a:latin typeface="Arial"/>
              <a:ea typeface="Arial"/>
              <a:cs typeface="Arial"/>
              <a:sym typeface="Arial"/>
            </a:endParaRPr>
          </a:p>
        </p:txBody>
      </p:sp>
      <p:sp>
        <p:nvSpPr>
          <p:cNvPr id="727" name="Google Shape;727;p19"/>
          <p:cNvSpPr txBox="1"/>
          <p:nvPr/>
        </p:nvSpPr>
        <p:spPr>
          <a:xfrm>
            <a:off x="7242048" y="2176272"/>
            <a:ext cx="1335024"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Novo export para validar se os erros foram corrigidos e se constam novo</a:t>
            </a:r>
            <a:r>
              <a:rPr lang="en-US" sz="1000">
                <a:solidFill>
                  <a:schemeClr val="dk2"/>
                </a:solidFill>
              </a:rPr>
              <a:t>s erros</a:t>
            </a:r>
            <a:r>
              <a:rPr b="0" i="0" lang="en-US" sz="1000" u="none" cap="none" strike="noStrike">
                <a:solidFill>
                  <a:schemeClr val="dk2"/>
                </a:solidFill>
                <a:latin typeface="Arial"/>
                <a:ea typeface="Arial"/>
                <a:cs typeface="Arial"/>
                <a:sym typeface="Arial"/>
              </a:rPr>
              <a:t>.</a:t>
            </a:r>
            <a:endParaRPr b="0" i="0" sz="1000" u="none" cap="none" strike="noStrike">
              <a:solidFill>
                <a:schemeClr val="dk1"/>
              </a:solidFill>
              <a:latin typeface="Arial"/>
              <a:ea typeface="Arial"/>
              <a:cs typeface="Arial"/>
              <a:sym typeface="Arial"/>
            </a:endParaRPr>
          </a:p>
        </p:txBody>
      </p:sp>
      <p:sp>
        <p:nvSpPr>
          <p:cNvPr id="728" name="Google Shape;728;p19"/>
          <p:cNvSpPr/>
          <p:nvPr/>
        </p:nvSpPr>
        <p:spPr>
          <a:xfrm>
            <a:off x="7132320" y="4297680"/>
            <a:ext cx="1554480" cy="310896"/>
          </a:xfrm>
          <a:prstGeom prst="roundRect">
            <a:avLst>
              <a:gd fmla="val 29412"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Initiative e Stormx</a:t>
            </a:r>
            <a:endParaRPr b="0" i="0" sz="95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20"/>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Validação de Dados | Diário, mensal e correções</a:t>
            </a:r>
            <a:endParaRPr sz="2200"/>
          </a:p>
        </p:txBody>
      </p:sp>
      <p:sp>
        <p:nvSpPr>
          <p:cNvPr id="735" name="Google Shape;735;p20"/>
          <p:cNvSpPr/>
          <p:nvPr/>
        </p:nvSpPr>
        <p:spPr>
          <a:xfrm>
            <a:off x="457200" y="1097280"/>
            <a:ext cx="2651760" cy="3520440"/>
          </a:xfrm>
          <a:prstGeom prst="roundRect">
            <a:avLst>
              <a:gd fmla="val 3448"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0"/>
          <p:cNvSpPr/>
          <p:nvPr/>
        </p:nvSpPr>
        <p:spPr>
          <a:xfrm>
            <a:off x="594360" y="1207008"/>
            <a:ext cx="1188720" cy="274320"/>
          </a:xfrm>
          <a:prstGeom prst="roundRect">
            <a:avLst>
              <a:gd fmla="val 33333"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Fluxo diário</a:t>
            </a:r>
            <a:endParaRPr b="0" i="0" sz="1000" u="none" cap="none" strike="noStrike">
              <a:solidFill>
                <a:schemeClr val="dk1"/>
              </a:solidFill>
              <a:latin typeface="Arial"/>
              <a:ea typeface="Arial"/>
              <a:cs typeface="Arial"/>
              <a:sym typeface="Arial"/>
            </a:endParaRPr>
          </a:p>
        </p:txBody>
      </p:sp>
      <p:sp>
        <p:nvSpPr>
          <p:cNvPr id="737" name="Google Shape;737;p20"/>
          <p:cNvSpPr txBox="1"/>
          <p:nvPr/>
        </p:nvSpPr>
        <p:spPr>
          <a:xfrm>
            <a:off x="594360" y="1645920"/>
            <a:ext cx="237744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00"/>
              <a:buFont typeface="Arial"/>
              <a:buNone/>
            </a:pPr>
            <a:r>
              <a:rPr b="0" i="0" lang="en-US" sz="1100" u="none" cap="none" strike="noStrike">
                <a:solidFill>
                  <a:schemeClr val="dk2"/>
                </a:solidFill>
                <a:latin typeface="Arial"/>
                <a:ea typeface="Arial"/>
                <a:cs typeface="Arial"/>
                <a:sym typeface="Arial"/>
              </a:rPr>
              <a:t>Diariamente, o time de AdOps Stormx recebe alertas sobre novas taxonomias inseridas no banco de dados e sobre eventuais erros.</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1100"/>
              <a:buFont typeface="Arial"/>
              <a:buNone/>
            </a:pPr>
            <a:r>
              <a:rPr b="0" i="0" lang="en-US" sz="1100" u="none" cap="none" strike="noStrike">
                <a:solidFill>
                  <a:schemeClr val="dk2"/>
                </a:solidFill>
                <a:latin typeface="Arial"/>
                <a:ea typeface="Arial"/>
                <a:cs typeface="Arial"/>
                <a:sym typeface="Arial"/>
              </a:rPr>
              <a:t>Caso haja erro, o time reporta ao responsável no mesmo dia.</a:t>
            </a:r>
            <a:endParaRPr b="0" i="0" sz="1100" u="none" cap="none" strike="noStrike">
              <a:solidFill>
                <a:schemeClr val="dk1"/>
              </a:solidFill>
              <a:latin typeface="Arial"/>
              <a:ea typeface="Arial"/>
              <a:cs typeface="Arial"/>
              <a:sym typeface="Arial"/>
            </a:endParaRPr>
          </a:p>
        </p:txBody>
      </p:sp>
      <p:sp>
        <p:nvSpPr>
          <p:cNvPr id="738" name="Google Shape;738;p20"/>
          <p:cNvSpPr/>
          <p:nvPr/>
        </p:nvSpPr>
        <p:spPr>
          <a:xfrm>
            <a:off x="3246120" y="1097280"/>
            <a:ext cx="2651760" cy="3520440"/>
          </a:xfrm>
          <a:prstGeom prst="roundRect">
            <a:avLst>
              <a:gd fmla="val 3448"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a:off x="3383280" y="1207008"/>
            <a:ext cx="1645920" cy="274320"/>
          </a:xfrm>
          <a:prstGeom prst="roundRect">
            <a:avLst>
              <a:gd fmla="val 33333"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Fluxo mensal | RROI</a:t>
            </a:r>
            <a:endParaRPr b="0" i="0" sz="1000" u="none" cap="none" strike="noStrike">
              <a:solidFill>
                <a:schemeClr val="dk1"/>
              </a:solidFill>
              <a:latin typeface="Arial"/>
              <a:ea typeface="Arial"/>
              <a:cs typeface="Arial"/>
              <a:sym typeface="Arial"/>
            </a:endParaRPr>
          </a:p>
        </p:txBody>
      </p:sp>
      <p:sp>
        <p:nvSpPr>
          <p:cNvPr id="740" name="Google Shape;740;p20"/>
          <p:cNvSpPr txBox="1"/>
          <p:nvPr/>
        </p:nvSpPr>
        <p:spPr>
          <a:xfrm>
            <a:off x="3383280" y="1645920"/>
            <a:ext cx="2377440" cy="2834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No final de cada mês, exportamos a base completa para validação</a:t>
            </a:r>
            <a:endParaRPr b="0" i="0" sz="11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Os erros identificados seguem o mesmo fluxo de correção</a:t>
            </a:r>
            <a:endParaRPr b="0" i="0" sz="11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É fundamental cumprir os prazos para os dados serem contabilizados corretamente no dashboard e no RROI</a:t>
            </a:r>
            <a:endParaRPr b="0" i="0" sz="1100" u="none" cap="none" strike="noStrike">
              <a:solidFill>
                <a:schemeClr val="dk1"/>
              </a:solidFill>
              <a:latin typeface="Arial"/>
              <a:ea typeface="Arial"/>
              <a:cs typeface="Arial"/>
              <a:sym typeface="Arial"/>
            </a:endParaRPr>
          </a:p>
        </p:txBody>
      </p:sp>
      <p:sp>
        <p:nvSpPr>
          <p:cNvPr id="741" name="Google Shape;741;p20"/>
          <p:cNvSpPr/>
          <p:nvPr/>
        </p:nvSpPr>
        <p:spPr>
          <a:xfrm>
            <a:off x="6035040" y="1097280"/>
            <a:ext cx="2651760" cy="3520440"/>
          </a:xfrm>
          <a:prstGeom prst="roundRect">
            <a:avLst>
              <a:gd fmla="val 3448"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0"/>
          <p:cNvSpPr/>
          <p:nvPr/>
        </p:nvSpPr>
        <p:spPr>
          <a:xfrm>
            <a:off x="6172200" y="1207008"/>
            <a:ext cx="2377440" cy="274320"/>
          </a:xfrm>
          <a:prstGeom prst="roundRect">
            <a:avLst>
              <a:gd fmla="val 33333"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1000"/>
              <a:buFont typeface="Arial"/>
              <a:buNone/>
            </a:pPr>
            <a:r>
              <a:rPr b="1" i="0" lang="en-US" sz="1000" u="none" cap="none" strike="noStrike">
                <a:solidFill>
                  <a:schemeClr val="lt1"/>
                </a:solidFill>
                <a:latin typeface="Arial"/>
                <a:ea typeface="Arial"/>
                <a:cs typeface="Arial"/>
                <a:sym typeface="Arial"/>
              </a:rPr>
              <a:t>Correção em DV360 e YouTube</a:t>
            </a:r>
            <a:endParaRPr b="0" i="0" sz="1000" u="none" cap="none" strike="noStrike">
              <a:solidFill>
                <a:schemeClr val="dk1"/>
              </a:solidFill>
              <a:latin typeface="Arial"/>
              <a:ea typeface="Arial"/>
              <a:cs typeface="Arial"/>
              <a:sym typeface="Arial"/>
            </a:endParaRPr>
          </a:p>
        </p:txBody>
      </p:sp>
      <p:sp>
        <p:nvSpPr>
          <p:cNvPr id="743" name="Google Shape;743;p20"/>
          <p:cNvSpPr txBox="1"/>
          <p:nvPr/>
        </p:nvSpPr>
        <p:spPr>
          <a:xfrm>
            <a:off x="6172200" y="1645920"/>
            <a:ext cx="2377440" cy="2926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Insertion Order</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IO com mais de 120 caracteres e plataforma que não permite a substituição por limitação de caracteres: o ajuste é feito diretamente no banco de dados pela engenharia.</a:t>
            </a:r>
            <a:endParaRPr b="0" i="0" sz="1100" u="none" cap="none" strike="noStrike">
              <a:solidFill>
                <a:schemeClr val="dk1"/>
              </a:solidFill>
              <a:latin typeface="Arial"/>
              <a:ea typeface="Arial"/>
              <a:cs typeface="Arial"/>
              <a:sym typeface="Arial"/>
            </a:endParaRPr>
          </a:p>
          <a:p>
            <a:pPr indent="0" lvl="0" marL="0" marR="0" rtl="0" algn="l">
              <a:spcBef>
                <a:spcPts val="80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Ad Name</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Por limitação da plataforma, os erros são corrigidos na plataforma e no banco de dados.</a:t>
            </a:r>
            <a:endParaRPr b="0" i="0" sz="1100" u="none" cap="none" strike="noStrike">
              <a:solidFill>
                <a:schemeClr val="dk1"/>
              </a:solidFill>
              <a:latin typeface="Arial"/>
              <a:ea typeface="Arial"/>
              <a:cs typeface="Arial"/>
              <a:sym typeface="Arial"/>
            </a:endParaRPr>
          </a:p>
          <a:p>
            <a:pPr indent="0" lvl="0" marL="0" marR="0" rtl="0" algn="l">
              <a:spcBef>
                <a:spcPts val="8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O mídia informa o time de BI sobre a taxonomia reduzida e envia a correta, para o engenheiro de dados ajustar assim que ela for identificada no banco.</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21"/>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Regras e Erros | Gerais</a:t>
            </a:r>
            <a:endParaRPr sz="2200"/>
          </a:p>
        </p:txBody>
      </p:sp>
      <p:sp>
        <p:nvSpPr>
          <p:cNvPr id="750" name="Google Shape;750;p21"/>
          <p:cNvSpPr/>
          <p:nvPr/>
        </p:nvSpPr>
        <p:spPr>
          <a:xfrm>
            <a:off x="457200" y="10972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594360" y="1207008"/>
            <a:ext cx="868680" cy="237744"/>
          </a:xfrm>
          <a:prstGeom prst="roundRect">
            <a:avLst>
              <a:gd fmla="val 38462"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Proibido</a:t>
            </a:r>
            <a:endParaRPr b="0" i="0" sz="950" u="none" cap="none" strike="noStrike">
              <a:solidFill>
                <a:schemeClr val="dk1"/>
              </a:solidFill>
              <a:latin typeface="Arial"/>
              <a:ea typeface="Arial"/>
              <a:cs typeface="Arial"/>
              <a:sym typeface="Arial"/>
            </a:endParaRPr>
          </a:p>
        </p:txBody>
      </p:sp>
      <p:sp>
        <p:nvSpPr>
          <p:cNvPr id="752" name="Google Shape;752;p21"/>
          <p:cNvSpPr txBox="1"/>
          <p:nvPr/>
        </p:nvSpPr>
        <p:spPr>
          <a:xfrm>
            <a:off x="594360" y="153619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Taxonomia por plataforma</a:t>
            </a:r>
            <a:endParaRPr b="0" i="0" sz="1200" u="none" cap="none" strike="noStrike">
              <a:solidFill>
                <a:schemeClr val="dk1"/>
              </a:solidFill>
              <a:latin typeface="Arial"/>
              <a:ea typeface="Arial"/>
              <a:cs typeface="Arial"/>
              <a:sym typeface="Arial"/>
            </a:endParaRPr>
          </a:p>
        </p:txBody>
      </p:sp>
      <p:sp>
        <p:nvSpPr>
          <p:cNvPr id="753" name="Google Shape;753;p21"/>
          <p:cNvSpPr txBox="1"/>
          <p:nvPr/>
        </p:nvSpPr>
        <p:spPr>
          <a:xfrm>
            <a:off x="594360" y="1828800"/>
            <a:ext cx="2377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Usar a taxonomia de uma plataforma em outra. Cada plataforma tem estrutura própria, e misturar compromete o banco.</a:t>
            </a:r>
            <a:endParaRPr b="0" i="0" sz="950" u="none" cap="none" strike="noStrike">
              <a:solidFill>
                <a:schemeClr val="dk1"/>
              </a:solidFill>
              <a:latin typeface="Arial"/>
              <a:ea typeface="Arial"/>
              <a:cs typeface="Arial"/>
              <a:sym typeface="Arial"/>
            </a:endParaRPr>
          </a:p>
        </p:txBody>
      </p:sp>
      <p:sp>
        <p:nvSpPr>
          <p:cNvPr id="754" name="Google Shape;754;p21"/>
          <p:cNvSpPr/>
          <p:nvPr/>
        </p:nvSpPr>
        <p:spPr>
          <a:xfrm>
            <a:off x="3246120" y="10972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1"/>
          <p:cNvSpPr/>
          <p:nvPr/>
        </p:nvSpPr>
        <p:spPr>
          <a:xfrm>
            <a:off x="3383280" y="1207008"/>
            <a:ext cx="868680" cy="237744"/>
          </a:xfrm>
          <a:prstGeom prst="roundRect">
            <a:avLst>
              <a:gd fmla="val 38462"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Proibido</a:t>
            </a:r>
            <a:endParaRPr b="0" i="0" sz="950" u="none" cap="none" strike="noStrike">
              <a:solidFill>
                <a:schemeClr val="dk1"/>
              </a:solidFill>
              <a:latin typeface="Arial"/>
              <a:ea typeface="Arial"/>
              <a:cs typeface="Arial"/>
              <a:sym typeface="Arial"/>
            </a:endParaRPr>
          </a:p>
        </p:txBody>
      </p:sp>
      <p:sp>
        <p:nvSpPr>
          <p:cNvPr id="756" name="Google Shape;756;p21"/>
          <p:cNvSpPr txBox="1"/>
          <p:nvPr/>
        </p:nvSpPr>
        <p:spPr>
          <a:xfrm>
            <a:off x="3383280" y="153619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Ad Name duplicado</a:t>
            </a:r>
            <a:endParaRPr b="0" i="0" sz="1200" u="none" cap="none" strike="noStrike">
              <a:solidFill>
                <a:schemeClr val="dk1"/>
              </a:solidFill>
              <a:latin typeface="Arial"/>
              <a:ea typeface="Arial"/>
              <a:cs typeface="Arial"/>
              <a:sym typeface="Arial"/>
            </a:endParaRPr>
          </a:p>
        </p:txBody>
      </p:sp>
      <p:sp>
        <p:nvSpPr>
          <p:cNvPr id="757" name="Google Shape;757;p21"/>
          <p:cNvSpPr txBox="1"/>
          <p:nvPr/>
        </p:nvSpPr>
        <p:spPr>
          <a:xfrm>
            <a:off x="3383280" y="1828800"/>
            <a:ext cx="2377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Mesmo asset exige um Ad Name diferente por Ad Group. ID único, solicitado individualmente à Stormx.</a:t>
            </a:r>
            <a:endParaRPr b="0" i="0" sz="950" u="none" cap="none" strike="noStrike">
              <a:solidFill>
                <a:schemeClr val="dk1"/>
              </a:solidFill>
              <a:latin typeface="Arial"/>
              <a:ea typeface="Arial"/>
              <a:cs typeface="Arial"/>
              <a:sym typeface="Arial"/>
            </a:endParaRPr>
          </a:p>
        </p:txBody>
      </p:sp>
      <p:sp>
        <p:nvSpPr>
          <p:cNvPr id="758" name="Google Shape;758;p21"/>
          <p:cNvSpPr/>
          <p:nvPr/>
        </p:nvSpPr>
        <p:spPr>
          <a:xfrm>
            <a:off x="6035040" y="10972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1"/>
          <p:cNvSpPr/>
          <p:nvPr/>
        </p:nvSpPr>
        <p:spPr>
          <a:xfrm>
            <a:off x="6172200" y="1207008"/>
            <a:ext cx="868680" cy="237744"/>
          </a:xfrm>
          <a:prstGeom prst="roundRect">
            <a:avLst>
              <a:gd fmla="val 38462"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Proibido</a:t>
            </a:r>
            <a:endParaRPr b="0" i="0" sz="950" u="none" cap="none" strike="noStrike">
              <a:solidFill>
                <a:schemeClr val="dk1"/>
              </a:solidFill>
              <a:latin typeface="Arial"/>
              <a:ea typeface="Arial"/>
              <a:cs typeface="Arial"/>
              <a:sym typeface="Arial"/>
            </a:endParaRPr>
          </a:p>
        </p:txBody>
      </p:sp>
      <p:sp>
        <p:nvSpPr>
          <p:cNvPr id="760" name="Google Shape;760;p21"/>
          <p:cNvSpPr txBox="1"/>
          <p:nvPr/>
        </p:nvSpPr>
        <p:spPr>
          <a:xfrm>
            <a:off x="6172200" y="153619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Cópia na plataforma</a:t>
            </a:r>
            <a:endParaRPr b="0" i="0" sz="1200" u="none" cap="none" strike="noStrike">
              <a:solidFill>
                <a:schemeClr val="dk1"/>
              </a:solidFill>
              <a:latin typeface="Arial"/>
              <a:ea typeface="Arial"/>
              <a:cs typeface="Arial"/>
              <a:sym typeface="Arial"/>
            </a:endParaRPr>
          </a:p>
        </p:txBody>
      </p:sp>
      <p:sp>
        <p:nvSpPr>
          <p:cNvPr id="761" name="Google Shape;761;p21"/>
          <p:cNvSpPr txBox="1"/>
          <p:nvPr/>
        </p:nvSpPr>
        <p:spPr>
          <a:xfrm>
            <a:off x="6172200" y="1828800"/>
            <a:ext cx="2377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Duplicar Ad Group ou Ad Name direto na plataforma. Sufixos cópia ou copy quebram a taxonomia. Sempre solicitar nova taxonomia à Stormx.</a:t>
            </a:r>
            <a:endParaRPr b="0" i="0" sz="950" u="none" cap="none" strike="noStrike">
              <a:solidFill>
                <a:schemeClr val="dk1"/>
              </a:solidFill>
              <a:latin typeface="Arial"/>
              <a:ea typeface="Arial"/>
              <a:cs typeface="Arial"/>
              <a:sym typeface="Arial"/>
            </a:endParaRPr>
          </a:p>
        </p:txBody>
      </p:sp>
      <p:sp>
        <p:nvSpPr>
          <p:cNvPr id="762" name="Google Shape;762;p21"/>
          <p:cNvSpPr/>
          <p:nvPr/>
        </p:nvSpPr>
        <p:spPr>
          <a:xfrm>
            <a:off x="457200" y="29260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1"/>
          <p:cNvSpPr/>
          <p:nvPr/>
        </p:nvSpPr>
        <p:spPr>
          <a:xfrm>
            <a:off x="594360" y="3035808"/>
            <a:ext cx="868680" cy="237744"/>
          </a:xfrm>
          <a:prstGeom prst="roundRect">
            <a:avLst>
              <a:gd fmla="val 38462" name="adj"/>
            </a:avLst>
          </a:prstGeom>
          <a:solidFill>
            <a:schemeClr val="accent3"/>
          </a:solidFill>
          <a:ln cap="flat" cmpd="sng" w="9525">
            <a:solidFill>
              <a:schemeClr val="accent3"/>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lt1"/>
              </a:buClr>
              <a:buSzPts val="950"/>
              <a:buFont typeface="Arial"/>
              <a:buNone/>
            </a:pPr>
            <a:r>
              <a:rPr b="1" i="0" lang="en-US" sz="950" u="none" cap="none" strike="noStrike">
                <a:solidFill>
                  <a:schemeClr val="lt1"/>
                </a:solidFill>
                <a:latin typeface="Arial"/>
                <a:ea typeface="Arial"/>
                <a:cs typeface="Arial"/>
                <a:sym typeface="Arial"/>
              </a:rPr>
              <a:t>Proibido</a:t>
            </a:r>
            <a:endParaRPr b="0" i="0" sz="950" u="none" cap="none" strike="noStrike">
              <a:solidFill>
                <a:schemeClr val="dk1"/>
              </a:solidFill>
              <a:latin typeface="Arial"/>
              <a:ea typeface="Arial"/>
              <a:cs typeface="Arial"/>
              <a:sym typeface="Arial"/>
            </a:endParaRPr>
          </a:p>
        </p:txBody>
      </p:sp>
      <p:sp>
        <p:nvSpPr>
          <p:cNvPr id="764" name="Google Shape;764;p21"/>
          <p:cNvSpPr txBox="1"/>
          <p:nvPr/>
        </p:nvSpPr>
        <p:spPr>
          <a:xfrm>
            <a:off x="594360" y="336499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Caracteres especiais</a:t>
            </a:r>
            <a:endParaRPr b="0" i="0" sz="1200" u="none" cap="none" strike="noStrike">
              <a:solidFill>
                <a:schemeClr val="dk1"/>
              </a:solidFill>
              <a:latin typeface="Arial"/>
              <a:ea typeface="Arial"/>
              <a:cs typeface="Arial"/>
              <a:sym typeface="Arial"/>
            </a:endParaRPr>
          </a:p>
        </p:txBody>
      </p:sp>
      <p:sp>
        <p:nvSpPr>
          <p:cNvPr id="765" name="Google Shape;765;p21"/>
          <p:cNvSpPr txBox="1"/>
          <p:nvPr/>
        </p:nvSpPr>
        <p:spPr>
          <a:xfrm>
            <a:off x="594360" y="3657600"/>
            <a:ext cx="2377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Acentos, apóstrofo ('), travessão (—), underscore (_) e pipe (|). Usar apenas letras, números e hífen (-).</a:t>
            </a:r>
            <a:endParaRPr b="0" i="0" sz="950" u="none" cap="none" strike="noStrike">
              <a:solidFill>
                <a:schemeClr val="dk1"/>
              </a:solidFill>
              <a:latin typeface="Arial"/>
              <a:ea typeface="Arial"/>
              <a:cs typeface="Arial"/>
              <a:sym typeface="Arial"/>
            </a:endParaRPr>
          </a:p>
        </p:txBody>
      </p:sp>
      <p:sp>
        <p:nvSpPr>
          <p:cNvPr id="766" name="Google Shape;766;p21"/>
          <p:cNvSpPr/>
          <p:nvPr/>
        </p:nvSpPr>
        <p:spPr>
          <a:xfrm>
            <a:off x="3246120" y="29260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1"/>
          <p:cNvSpPr/>
          <p:nvPr/>
        </p:nvSpPr>
        <p:spPr>
          <a:xfrm>
            <a:off x="3383280" y="3035808"/>
            <a:ext cx="868680" cy="237744"/>
          </a:xfrm>
          <a:prstGeom prst="roundRect">
            <a:avLst>
              <a:gd fmla="val 38462" name="adj"/>
            </a:avLst>
          </a:prstGeom>
          <a:solidFill>
            <a:schemeClr val="accent4"/>
          </a:solidFill>
          <a:ln cap="flat" cmpd="sng" w="9525">
            <a:solidFill>
              <a:schemeClr val="accent4"/>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Exceção</a:t>
            </a:r>
            <a:endParaRPr b="0" i="0" sz="950" u="none" cap="none" strike="noStrike">
              <a:solidFill>
                <a:schemeClr val="dk1"/>
              </a:solidFill>
              <a:latin typeface="Arial"/>
              <a:ea typeface="Arial"/>
              <a:cs typeface="Arial"/>
              <a:sym typeface="Arial"/>
            </a:endParaRPr>
          </a:p>
        </p:txBody>
      </p:sp>
      <p:sp>
        <p:nvSpPr>
          <p:cNvPr id="768" name="Google Shape;768;p21"/>
          <p:cNvSpPr txBox="1"/>
          <p:nvPr/>
        </p:nvSpPr>
        <p:spPr>
          <a:xfrm>
            <a:off x="3383280" y="336499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Taxonomia genérica</a:t>
            </a:r>
            <a:endParaRPr b="0" i="0" sz="1200" u="none" cap="none" strike="noStrike">
              <a:solidFill>
                <a:schemeClr val="dk1"/>
              </a:solidFill>
              <a:latin typeface="Arial"/>
              <a:ea typeface="Arial"/>
              <a:cs typeface="Arial"/>
              <a:sym typeface="Arial"/>
            </a:endParaRPr>
          </a:p>
        </p:txBody>
      </p:sp>
      <p:sp>
        <p:nvSpPr>
          <p:cNvPr id="769" name="Google Shape;769;p21"/>
          <p:cNvSpPr txBox="1"/>
          <p:nvPr/>
        </p:nvSpPr>
        <p:spPr>
          <a:xfrm>
            <a:off x="3383280" y="3657600"/>
            <a:ext cx="2377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Criativo ainda não chegou e a implementação será em feriado ou fora do horário comercial. Segue a estrutura correta, com algumas informações genéricas. O time tem 24h para solicitar o ajuste com os dados corretos.</a:t>
            </a:r>
            <a:endParaRPr b="0" i="0" sz="950" u="none" cap="none" strike="noStrike">
              <a:solidFill>
                <a:schemeClr val="dk1"/>
              </a:solidFill>
              <a:latin typeface="Arial"/>
              <a:ea typeface="Arial"/>
              <a:cs typeface="Arial"/>
              <a:sym typeface="Arial"/>
            </a:endParaRPr>
          </a:p>
        </p:txBody>
      </p:sp>
      <p:sp>
        <p:nvSpPr>
          <p:cNvPr id="770" name="Google Shape;770;p21"/>
          <p:cNvSpPr/>
          <p:nvPr/>
        </p:nvSpPr>
        <p:spPr>
          <a:xfrm>
            <a:off x="6035040" y="2926080"/>
            <a:ext cx="2651760" cy="1691640"/>
          </a:xfrm>
          <a:prstGeom prst="roundRect">
            <a:avLst>
              <a:gd fmla="val 5405"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1"/>
          <p:cNvSpPr/>
          <p:nvPr/>
        </p:nvSpPr>
        <p:spPr>
          <a:xfrm>
            <a:off x="6172200" y="3035808"/>
            <a:ext cx="868680" cy="237744"/>
          </a:xfrm>
          <a:prstGeom prst="roundRect">
            <a:avLst>
              <a:gd fmla="val 38462"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rPr b="1" i="0" lang="en-US" sz="950" u="none" cap="none" strike="noStrike">
                <a:solidFill>
                  <a:schemeClr val="dk1"/>
                </a:solidFill>
                <a:latin typeface="Arial"/>
                <a:ea typeface="Arial"/>
                <a:cs typeface="Arial"/>
                <a:sym typeface="Arial"/>
              </a:rPr>
              <a:t>Regra</a:t>
            </a:r>
            <a:endParaRPr b="0" i="0" sz="950" u="none" cap="none" strike="noStrike">
              <a:solidFill>
                <a:schemeClr val="dk1"/>
              </a:solidFill>
              <a:latin typeface="Arial"/>
              <a:ea typeface="Arial"/>
              <a:cs typeface="Arial"/>
              <a:sym typeface="Arial"/>
            </a:endParaRPr>
          </a:p>
        </p:txBody>
      </p:sp>
      <p:sp>
        <p:nvSpPr>
          <p:cNvPr id="772" name="Google Shape;772;p21"/>
          <p:cNvSpPr txBox="1"/>
          <p:nvPr/>
        </p:nvSpPr>
        <p:spPr>
          <a:xfrm>
            <a:off x="6172200" y="3364992"/>
            <a:ext cx="23774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Campaign Name e Local</a:t>
            </a:r>
            <a:endParaRPr b="0" i="0" sz="1200" u="none" cap="none" strike="noStrike">
              <a:solidFill>
                <a:schemeClr val="dk1"/>
              </a:solidFill>
              <a:latin typeface="Arial"/>
              <a:ea typeface="Arial"/>
              <a:cs typeface="Arial"/>
              <a:sym typeface="Arial"/>
            </a:endParaRPr>
          </a:p>
        </p:txBody>
      </p:sp>
      <p:sp>
        <p:nvSpPr>
          <p:cNvPr id="773" name="Google Shape;773;p21"/>
          <p:cNvSpPr txBox="1"/>
          <p:nvPr/>
        </p:nvSpPr>
        <p:spPr>
          <a:xfrm>
            <a:off x="6172200" y="3657600"/>
            <a:ext cx="2377500" cy="86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lang="en-US" sz="950">
                <a:solidFill>
                  <a:schemeClr val="dk2"/>
                </a:solidFill>
              </a:rPr>
              <a:t>O Campaign Local (Brasil) deve sempre ser igual ao Campaign Name (global). É permitido adicionar informações extras no Campaign Local Extra, que deve ser solicitado pelo mídia para que a Stormx crie e cadastre no ADP.</a:t>
            </a:r>
            <a:endParaRPr b="0" i="0" sz="95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22"/>
          <p:cNvSpPr txBox="1"/>
          <p:nvPr>
            <p:ph type="title"/>
          </p:nvPr>
        </p:nvSpPr>
        <p:spPr>
          <a:xfrm>
            <a:off x="685800" y="365760"/>
            <a:ext cx="80010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1"/>
              </a:buClr>
              <a:buSzPts val="2200"/>
              <a:buFont typeface="Arial"/>
              <a:buNone/>
            </a:pPr>
            <a:r>
              <a:rPr b="1" lang="en-US" sz="2200">
                <a:solidFill>
                  <a:schemeClr val="accent1"/>
                </a:solidFill>
                <a:latin typeface="Arial"/>
                <a:ea typeface="Arial"/>
                <a:cs typeface="Arial"/>
                <a:sym typeface="Arial"/>
              </a:rPr>
              <a:t>Regras e Erros | Por plataforma</a:t>
            </a:r>
            <a:endParaRPr sz="2200"/>
          </a:p>
        </p:txBody>
      </p:sp>
      <p:sp>
        <p:nvSpPr>
          <p:cNvPr id="780" name="Google Shape;780;p22"/>
          <p:cNvSpPr/>
          <p:nvPr/>
        </p:nvSpPr>
        <p:spPr>
          <a:xfrm>
            <a:off x="457200" y="1097280"/>
            <a:ext cx="4663440" cy="3520440"/>
          </a:xfrm>
          <a:prstGeom prst="roundRect">
            <a:avLst>
              <a:gd fmla="val 2597"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2"/>
          <p:cNvSpPr txBox="1"/>
          <p:nvPr/>
        </p:nvSpPr>
        <p:spPr>
          <a:xfrm>
            <a:off x="640080" y="1188720"/>
            <a:ext cx="4297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TikTok Shop</a:t>
            </a:r>
            <a:endParaRPr b="0" i="0" sz="1400" u="none" cap="none" strike="noStrike">
              <a:solidFill>
                <a:schemeClr val="dk1"/>
              </a:solidFill>
              <a:latin typeface="Arial"/>
              <a:ea typeface="Arial"/>
              <a:cs typeface="Arial"/>
              <a:sym typeface="Arial"/>
            </a:endParaRPr>
          </a:p>
        </p:txBody>
      </p:sp>
      <p:sp>
        <p:nvSpPr>
          <p:cNvPr id="782" name="Google Shape;782;p22"/>
          <p:cNvSpPr txBox="1"/>
          <p:nvPr/>
        </p:nvSpPr>
        <p:spPr>
          <a:xfrm>
            <a:off x="640080" y="1508760"/>
            <a:ext cx="42976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Só é permitido preencher o Campaign, sem Ad Group nem Ad Name. Como a campanha não é extraída via API, o mídia preenche a planilha manual de Compra Direta, e o BI criou uma regra para ler como TikTok, com a estrutura normal da plataforma.</a:t>
            </a:r>
            <a:endParaRPr b="0" i="0" sz="1000" u="none" cap="none" strike="noStrike">
              <a:solidFill>
                <a:schemeClr val="dk1"/>
              </a:solidFill>
              <a:latin typeface="Arial"/>
              <a:ea typeface="Arial"/>
              <a:cs typeface="Arial"/>
              <a:sym typeface="Arial"/>
            </a:endParaRPr>
          </a:p>
        </p:txBody>
      </p:sp>
      <p:sp>
        <p:nvSpPr>
          <p:cNvPr id="783" name="Google Shape;783;p22"/>
          <p:cNvSpPr txBox="1"/>
          <p:nvPr/>
        </p:nvSpPr>
        <p:spPr>
          <a:xfrm>
            <a:off x="640080" y="2331720"/>
            <a:ext cx="237744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Primeiras colunas de taxonomia da RM</a:t>
            </a:r>
            <a:endParaRPr b="0" i="0" sz="950" u="none" cap="none" strike="noStrike">
              <a:solidFill>
                <a:schemeClr val="dk1"/>
              </a:solidFill>
              <a:latin typeface="Arial"/>
              <a:ea typeface="Arial"/>
              <a:cs typeface="Arial"/>
              <a:sym typeface="Arial"/>
            </a:endParaRPr>
          </a:p>
        </p:txBody>
      </p:sp>
      <p:sp>
        <p:nvSpPr>
          <p:cNvPr id="784" name="Google Shape;784;p22"/>
          <p:cNvSpPr/>
          <p:nvPr/>
        </p:nvSpPr>
        <p:spPr>
          <a:xfrm>
            <a:off x="640080" y="2560320"/>
            <a:ext cx="1325880" cy="292608"/>
          </a:xfrm>
          <a:prstGeom prst="roundRect">
            <a:avLst>
              <a:gd fmla="val 31250"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Campaign</a:t>
            </a:r>
            <a:endParaRPr b="0" i="0" sz="1000" u="none" cap="none" strike="noStrike">
              <a:solidFill>
                <a:schemeClr val="dk1"/>
              </a:solidFill>
              <a:latin typeface="Arial"/>
              <a:ea typeface="Arial"/>
              <a:cs typeface="Arial"/>
              <a:sym typeface="Arial"/>
            </a:endParaRPr>
          </a:p>
        </p:txBody>
      </p:sp>
      <p:sp>
        <p:nvSpPr>
          <p:cNvPr id="785" name="Google Shape;785;p22"/>
          <p:cNvSpPr/>
          <p:nvPr/>
        </p:nvSpPr>
        <p:spPr>
          <a:xfrm>
            <a:off x="640080" y="2926080"/>
            <a:ext cx="1325880" cy="292608"/>
          </a:xfrm>
          <a:prstGeom prst="roundRect">
            <a:avLst>
              <a:gd fmla="val 31250"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Ad Group</a:t>
            </a:r>
            <a:endParaRPr b="0" i="0" sz="1000" u="none" cap="none" strike="noStrike">
              <a:solidFill>
                <a:schemeClr val="dk1"/>
              </a:solidFill>
              <a:latin typeface="Arial"/>
              <a:ea typeface="Arial"/>
              <a:cs typeface="Arial"/>
              <a:sym typeface="Arial"/>
            </a:endParaRPr>
          </a:p>
        </p:txBody>
      </p:sp>
      <p:sp>
        <p:nvSpPr>
          <p:cNvPr id="786" name="Google Shape;786;p22"/>
          <p:cNvSpPr/>
          <p:nvPr/>
        </p:nvSpPr>
        <p:spPr>
          <a:xfrm>
            <a:off x="640080" y="3291840"/>
            <a:ext cx="1325880" cy="292608"/>
          </a:xfrm>
          <a:prstGeom prst="roundRect">
            <a:avLst>
              <a:gd fmla="val 31250" name="adj"/>
            </a:avLst>
          </a:prstGeom>
          <a:solidFill>
            <a:schemeClr val="accent2"/>
          </a:solidFill>
          <a:ln cap="flat" cmpd="sng" w="9525">
            <a:solidFill>
              <a:schemeClr val="accent2"/>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Ad Name</a:t>
            </a:r>
            <a:endParaRPr b="0" i="0" sz="1000" u="none" cap="none" strike="noStrike">
              <a:solidFill>
                <a:schemeClr val="dk1"/>
              </a:solidFill>
              <a:latin typeface="Arial"/>
              <a:ea typeface="Arial"/>
              <a:cs typeface="Arial"/>
              <a:sym typeface="Arial"/>
            </a:endParaRPr>
          </a:p>
        </p:txBody>
      </p:sp>
      <p:cxnSp>
        <p:nvCxnSpPr>
          <p:cNvPr id="787" name="Google Shape;787;p22"/>
          <p:cNvCxnSpPr/>
          <p:nvPr/>
        </p:nvCxnSpPr>
        <p:spPr>
          <a:xfrm>
            <a:off x="2011680" y="2926080"/>
            <a:ext cx="384048" cy="0"/>
          </a:xfrm>
          <a:prstGeom prst="straightConnector1">
            <a:avLst/>
          </a:prstGeom>
          <a:noFill/>
          <a:ln cap="flat" cmpd="sng" w="22225">
            <a:solidFill>
              <a:schemeClr val="dk2"/>
            </a:solidFill>
            <a:prstDash val="solid"/>
            <a:round/>
            <a:headEnd len="sm" w="sm" type="none"/>
            <a:tailEnd len="med" w="med" type="triangle"/>
          </a:ln>
        </p:spPr>
      </p:cxnSp>
      <p:sp>
        <p:nvSpPr>
          <p:cNvPr id="788" name="Google Shape;788;p22"/>
          <p:cNvSpPr/>
          <p:nvPr/>
        </p:nvSpPr>
        <p:spPr>
          <a:xfrm>
            <a:off x="2423160" y="2560320"/>
            <a:ext cx="2514600" cy="1024128"/>
          </a:xfrm>
          <a:prstGeom prst="roundRect">
            <a:avLst>
              <a:gd fmla="val 8929"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2"/>
          <p:cNvSpPr txBox="1"/>
          <p:nvPr/>
        </p:nvSpPr>
        <p:spPr>
          <a:xfrm>
            <a:off x="2560320" y="2560320"/>
            <a:ext cx="2286000" cy="10241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Planilha de Compra Direta</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Preenchida manualmente pelo mídia.</a:t>
            </a:r>
            <a:endParaRPr b="0" i="0" sz="1100" u="none" cap="none" strike="noStrike">
              <a:solidFill>
                <a:schemeClr val="dk1"/>
              </a:solidFill>
              <a:latin typeface="Arial"/>
              <a:ea typeface="Arial"/>
              <a:cs typeface="Arial"/>
              <a:sym typeface="Arial"/>
            </a:endParaRPr>
          </a:p>
        </p:txBody>
      </p:sp>
      <p:sp>
        <p:nvSpPr>
          <p:cNvPr id="790" name="Google Shape;790;p22"/>
          <p:cNvSpPr txBox="1"/>
          <p:nvPr/>
        </p:nvSpPr>
        <p:spPr>
          <a:xfrm>
            <a:off x="640080" y="3703320"/>
            <a:ext cx="237744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Mais ao final da RM</a:t>
            </a:r>
            <a:endParaRPr b="0" i="0" sz="950" u="none" cap="none" strike="noStrike">
              <a:solidFill>
                <a:schemeClr val="dk1"/>
              </a:solidFill>
              <a:latin typeface="Arial"/>
              <a:ea typeface="Arial"/>
              <a:cs typeface="Arial"/>
              <a:sym typeface="Arial"/>
            </a:endParaRPr>
          </a:p>
        </p:txBody>
      </p:sp>
      <p:sp>
        <p:nvSpPr>
          <p:cNvPr id="791" name="Google Shape;791;p22"/>
          <p:cNvSpPr/>
          <p:nvPr/>
        </p:nvSpPr>
        <p:spPr>
          <a:xfrm>
            <a:off x="640080" y="3950208"/>
            <a:ext cx="1325880" cy="54864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Campaign TikTok Shop</a:t>
            </a:r>
            <a:endParaRPr b="0" i="0" sz="1000" u="none" cap="none" strike="noStrike">
              <a:solidFill>
                <a:schemeClr val="dk1"/>
              </a:solidFill>
              <a:latin typeface="Arial"/>
              <a:ea typeface="Arial"/>
              <a:cs typeface="Arial"/>
              <a:sym typeface="Arial"/>
            </a:endParaRPr>
          </a:p>
        </p:txBody>
      </p:sp>
      <p:cxnSp>
        <p:nvCxnSpPr>
          <p:cNvPr id="792" name="Google Shape;792;p22"/>
          <p:cNvCxnSpPr/>
          <p:nvPr/>
        </p:nvCxnSpPr>
        <p:spPr>
          <a:xfrm>
            <a:off x="2011680" y="4224528"/>
            <a:ext cx="384048" cy="0"/>
          </a:xfrm>
          <a:prstGeom prst="straightConnector1">
            <a:avLst/>
          </a:prstGeom>
          <a:noFill/>
          <a:ln cap="flat" cmpd="sng" w="22225">
            <a:solidFill>
              <a:schemeClr val="dk2"/>
            </a:solidFill>
            <a:prstDash val="solid"/>
            <a:round/>
            <a:headEnd len="sm" w="sm" type="none"/>
            <a:tailEnd len="med" w="med" type="triangle"/>
          </a:ln>
        </p:spPr>
      </p:cxnSp>
      <p:sp>
        <p:nvSpPr>
          <p:cNvPr id="793" name="Google Shape;793;p22"/>
          <p:cNvSpPr/>
          <p:nvPr/>
        </p:nvSpPr>
        <p:spPr>
          <a:xfrm>
            <a:off x="2423160" y="3931920"/>
            <a:ext cx="2514600" cy="585216"/>
          </a:xfrm>
          <a:prstGeom prst="roundRect">
            <a:avLst>
              <a:gd fmla="val 15625"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2"/>
          <p:cNvSpPr txBox="1"/>
          <p:nvPr/>
        </p:nvSpPr>
        <p:spPr>
          <a:xfrm>
            <a:off x="2560320" y="3931920"/>
            <a:ext cx="228600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Plataforma TikTok Shop</a:t>
            </a:r>
            <a:endParaRPr b="0" i="0" sz="1100" u="none" cap="none" strike="noStrike">
              <a:solidFill>
                <a:schemeClr val="dk1"/>
              </a:solidFill>
              <a:latin typeface="Arial"/>
              <a:ea typeface="Arial"/>
              <a:cs typeface="Arial"/>
              <a:sym typeface="Arial"/>
            </a:endParaRPr>
          </a:p>
        </p:txBody>
      </p:sp>
      <p:sp>
        <p:nvSpPr>
          <p:cNvPr id="795" name="Google Shape;795;p22"/>
          <p:cNvSpPr/>
          <p:nvPr/>
        </p:nvSpPr>
        <p:spPr>
          <a:xfrm>
            <a:off x="5303520" y="1097280"/>
            <a:ext cx="3383280" cy="640080"/>
          </a:xfrm>
          <a:prstGeom prst="roundRect">
            <a:avLst>
              <a:gd fmla="val 1428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2"/>
          <p:cNvSpPr txBox="1"/>
          <p:nvPr/>
        </p:nvSpPr>
        <p:spPr>
          <a:xfrm>
            <a:off x="5440680" y="1152144"/>
            <a:ext cx="31089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Google | PMax</a:t>
            </a:r>
            <a:endParaRPr b="0" i="0" sz="1050" u="none" cap="none" strike="noStrike">
              <a:solidFill>
                <a:schemeClr val="dk1"/>
              </a:solidFill>
              <a:latin typeface="Arial"/>
              <a:ea typeface="Arial"/>
              <a:cs typeface="Arial"/>
              <a:sym typeface="Arial"/>
            </a:endParaRPr>
          </a:p>
        </p:txBody>
      </p:sp>
      <p:sp>
        <p:nvSpPr>
          <p:cNvPr id="797" name="Google Shape;797;p22"/>
          <p:cNvSpPr txBox="1"/>
          <p:nvPr/>
        </p:nvSpPr>
        <p:spPr>
          <a:xfrm>
            <a:off x="5440680" y="1362456"/>
            <a:ext cx="3108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Sem Ad Group: quebra extra de Format Type Local no Campaign (valor: pmax). Publisher = google-pmax.</a:t>
            </a:r>
            <a:endParaRPr b="0" i="0" sz="950" u="none" cap="none" strike="noStrike">
              <a:solidFill>
                <a:schemeClr val="dk1"/>
              </a:solidFill>
              <a:latin typeface="Arial"/>
              <a:ea typeface="Arial"/>
              <a:cs typeface="Arial"/>
              <a:sym typeface="Arial"/>
            </a:endParaRPr>
          </a:p>
        </p:txBody>
      </p:sp>
      <p:sp>
        <p:nvSpPr>
          <p:cNvPr id="798" name="Google Shape;798;p22"/>
          <p:cNvSpPr/>
          <p:nvPr/>
        </p:nvSpPr>
        <p:spPr>
          <a:xfrm>
            <a:off x="5303520" y="1817370"/>
            <a:ext cx="3383280" cy="640080"/>
          </a:xfrm>
          <a:prstGeom prst="roundRect">
            <a:avLst>
              <a:gd fmla="val 1428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txBox="1"/>
          <p:nvPr/>
        </p:nvSpPr>
        <p:spPr>
          <a:xfrm>
            <a:off x="5440680" y="1872234"/>
            <a:ext cx="31089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Google | Search e Demand Gen</a:t>
            </a:r>
            <a:endParaRPr b="0" i="0" sz="1050" u="none" cap="none" strike="noStrike">
              <a:solidFill>
                <a:schemeClr val="dk1"/>
              </a:solidFill>
              <a:latin typeface="Arial"/>
              <a:ea typeface="Arial"/>
              <a:cs typeface="Arial"/>
              <a:sym typeface="Arial"/>
            </a:endParaRPr>
          </a:p>
        </p:txBody>
      </p:sp>
      <p:sp>
        <p:nvSpPr>
          <p:cNvPr id="800" name="Google Shape;800;p22"/>
          <p:cNvSpPr txBox="1"/>
          <p:nvPr/>
        </p:nvSpPr>
        <p:spPr>
          <a:xfrm>
            <a:off x="5440680" y="2082546"/>
            <a:ext cx="3108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Search: Publisher = google-search. Demand Gen: google-ads (Google) ou youtube (YouTube).</a:t>
            </a:r>
            <a:endParaRPr b="0" i="0" sz="950" u="none" cap="none" strike="noStrike">
              <a:solidFill>
                <a:schemeClr val="dk1"/>
              </a:solidFill>
              <a:latin typeface="Arial"/>
              <a:ea typeface="Arial"/>
              <a:cs typeface="Arial"/>
              <a:sym typeface="Arial"/>
            </a:endParaRPr>
          </a:p>
        </p:txBody>
      </p:sp>
      <p:sp>
        <p:nvSpPr>
          <p:cNvPr id="801" name="Google Shape;801;p22"/>
          <p:cNvSpPr/>
          <p:nvPr/>
        </p:nvSpPr>
        <p:spPr>
          <a:xfrm>
            <a:off x="5303520" y="2537460"/>
            <a:ext cx="3383280" cy="640080"/>
          </a:xfrm>
          <a:prstGeom prst="roundRect">
            <a:avLst>
              <a:gd fmla="val 1428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2"/>
          <p:cNvSpPr txBox="1"/>
          <p:nvPr/>
        </p:nvSpPr>
        <p:spPr>
          <a:xfrm>
            <a:off x="5440680" y="2592324"/>
            <a:ext cx="31089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Twitter | Amplify</a:t>
            </a:r>
            <a:endParaRPr b="0" i="0" sz="1050" u="none" cap="none" strike="noStrike">
              <a:solidFill>
                <a:schemeClr val="dk1"/>
              </a:solidFill>
              <a:latin typeface="Arial"/>
              <a:ea typeface="Arial"/>
              <a:cs typeface="Arial"/>
              <a:sym typeface="Arial"/>
            </a:endParaRPr>
          </a:p>
        </p:txBody>
      </p:sp>
      <p:sp>
        <p:nvSpPr>
          <p:cNvPr id="803" name="Google Shape;803;p22"/>
          <p:cNvSpPr txBox="1"/>
          <p:nvPr/>
        </p:nvSpPr>
        <p:spPr>
          <a:xfrm>
            <a:off x="5440680" y="2802636"/>
            <a:ext cx="3108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Campanhas Amplify não têm Ad Name. Publisher na RM = Twitter-Amplify.</a:t>
            </a:r>
            <a:endParaRPr b="0" i="0" sz="950" u="none" cap="none" strike="noStrike">
              <a:solidFill>
                <a:schemeClr val="dk1"/>
              </a:solidFill>
              <a:latin typeface="Arial"/>
              <a:ea typeface="Arial"/>
              <a:cs typeface="Arial"/>
              <a:sym typeface="Arial"/>
            </a:endParaRPr>
          </a:p>
        </p:txBody>
      </p:sp>
      <p:sp>
        <p:nvSpPr>
          <p:cNvPr id="804" name="Google Shape;804;p22"/>
          <p:cNvSpPr/>
          <p:nvPr/>
        </p:nvSpPr>
        <p:spPr>
          <a:xfrm>
            <a:off x="5303520" y="3257550"/>
            <a:ext cx="3383280" cy="640080"/>
          </a:xfrm>
          <a:prstGeom prst="roundRect">
            <a:avLst>
              <a:gd fmla="val 1428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2"/>
          <p:cNvSpPr txBox="1"/>
          <p:nvPr/>
        </p:nvSpPr>
        <p:spPr>
          <a:xfrm>
            <a:off x="5440680" y="3312414"/>
            <a:ext cx="31089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i="0" lang="en-US" sz="1050" u="none" cap="none" strike="noStrike">
                <a:solidFill>
                  <a:schemeClr val="dk1"/>
                </a:solidFill>
                <a:latin typeface="Arial"/>
                <a:ea typeface="Arial"/>
                <a:cs typeface="Arial"/>
                <a:sym typeface="Arial"/>
              </a:rPr>
              <a:t>YouTube | Masthead CPH</a:t>
            </a:r>
            <a:endParaRPr b="0" i="0" sz="1050" u="none" cap="none" strike="noStrike">
              <a:solidFill>
                <a:schemeClr val="dk1"/>
              </a:solidFill>
              <a:latin typeface="Arial"/>
              <a:ea typeface="Arial"/>
              <a:cs typeface="Arial"/>
              <a:sym typeface="Arial"/>
            </a:endParaRPr>
          </a:p>
        </p:txBody>
      </p:sp>
      <p:sp>
        <p:nvSpPr>
          <p:cNvPr id="806" name="Google Shape;806;p22"/>
          <p:cNvSpPr txBox="1"/>
          <p:nvPr/>
        </p:nvSpPr>
        <p:spPr>
          <a:xfrm>
            <a:off x="5440680" y="3522726"/>
            <a:ext cx="3108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Preencher na planilha de Compra Direta com Buying Type cph.</a:t>
            </a:r>
            <a:endParaRPr b="0" i="0" sz="950" u="none" cap="none" strike="noStrike">
              <a:solidFill>
                <a:schemeClr val="dk1"/>
              </a:solidFill>
              <a:latin typeface="Arial"/>
              <a:ea typeface="Arial"/>
              <a:cs typeface="Arial"/>
              <a:sym typeface="Arial"/>
            </a:endParaRPr>
          </a:p>
        </p:txBody>
      </p:sp>
      <p:sp>
        <p:nvSpPr>
          <p:cNvPr id="807" name="Google Shape;807;p22"/>
          <p:cNvSpPr/>
          <p:nvPr/>
        </p:nvSpPr>
        <p:spPr>
          <a:xfrm>
            <a:off x="5303520" y="3977640"/>
            <a:ext cx="3383280" cy="640080"/>
          </a:xfrm>
          <a:prstGeom prst="roundRect">
            <a:avLst>
              <a:gd fmla="val 14286" name="adj"/>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2"/>
          <p:cNvSpPr txBox="1"/>
          <p:nvPr/>
        </p:nvSpPr>
        <p:spPr>
          <a:xfrm>
            <a:off x="5440680" y="4032504"/>
            <a:ext cx="31089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b="1" lang="en-US" sz="1050">
                <a:solidFill>
                  <a:schemeClr val="dk1"/>
                </a:solidFill>
              </a:rPr>
              <a:t>Innovid</a:t>
            </a:r>
            <a:r>
              <a:rPr b="1" i="0" lang="en-US" sz="1050" u="none" cap="none" strike="noStrike">
                <a:solidFill>
                  <a:schemeClr val="dk1"/>
                </a:solidFill>
                <a:latin typeface="Arial"/>
                <a:ea typeface="Arial"/>
                <a:cs typeface="Arial"/>
                <a:sym typeface="Arial"/>
              </a:rPr>
              <a:t> via API</a:t>
            </a:r>
            <a:endParaRPr b="0" i="0" sz="1050" u="none" cap="none" strike="noStrike">
              <a:solidFill>
                <a:schemeClr val="dk1"/>
              </a:solidFill>
              <a:latin typeface="Arial"/>
              <a:ea typeface="Arial"/>
              <a:cs typeface="Arial"/>
              <a:sym typeface="Arial"/>
            </a:endParaRPr>
          </a:p>
        </p:txBody>
      </p:sp>
      <p:sp>
        <p:nvSpPr>
          <p:cNvPr id="809" name="Google Shape;809;p22"/>
          <p:cNvSpPr txBox="1"/>
          <p:nvPr/>
        </p:nvSpPr>
        <p:spPr>
          <a:xfrm>
            <a:off x="5440680" y="4242816"/>
            <a:ext cx="3108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950"/>
              <a:buFont typeface="Arial"/>
              <a:buNone/>
            </a:pPr>
            <a:r>
              <a:rPr b="0" i="0" lang="en-US" sz="950" u="none" cap="none" strike="noStrike">
                <a:solidFill>
                  <a:schemeClr val="dk2"/>
                </a:solidFill>
                <a:latin typeface="Arial"/>
                <a:ea typeface="Arial"/>
                <a:cs typeface="Arial"/>
                <a:sym typeface="Arial"/>
              </a:rPr>
              <a:t>Ad Group e Ad Name unificados em Placement Name.</a:t>
            </a:r>
            <a:endParaRPr b="0" i="0" sz="9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tormx Treinamento UL">
  <a:themeElements>
    <a:clrScheme name="Stormx Treinamento UL">
      <a:dk1>
        <a:srgbClr val="2B2F45"/>
      </a:dk1>
      <a:lt1>
        <a:srgbClr val="FFFFFF"/>
      </a:lt1>
      <a:dk2>
        <a:srgbClr val="484C67"/>
      </a:dk2>
      <a:lt2>
        <a:srgbClr val="F1F3F8"/>
      </a:lt2>
      <a:accent1>
        <a:srgbClr val="1ED2EC"/>
      </a:accent1>
      <a:accent2>
        <a:srgbClr val="A99AE0"/>
      </a:accent2>
      <a:accent3>
        <a:srgbClr val="7048E8"/>
      </a:accent3>
      <a:accent4>
        <a:srgbClr val="F5C400"/>
      </a:accent4>
      <a:accent5>
        <a:srgbClr val="74C0FC"/>
      </a:accent5>
      <a:accent6>
        <a:srgbClr val="D0BFFF"/>
      </a:accent6>
      <a:hlink>
        <a:srgbClr val="1ED2EC"/>
      </a:hlink>
      <a:folHlink>
        <a:srgbClr val="7048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ormx Treinamento UL">
  <a:themeElements>
    <a:clrScheme name="Stormx Treinamento UL">
      <a:dk1>
        <a:srgbClr val="2B2F45"/>
      </a:dk1>
      <a:lt1>
        <a:srgbClr val="FFFFFF"/>
      </a:lt1>
      <a:dk2>
        <a:srgbClr val="484C67"/>
      </a:dk2>
      <a:lt2>
        <a:srgbClr val="F1F3F8"/>
      </a:lt2>
      <a:accent1>
        <a:srgbClr val="1ED2EC"/>
      </a:accent1>
      <a:accent2>
        <a:srgbClr val="A99AE0"/>
      </a:accent2>
      <a:accent3>
        <a:srgbClr val="7048E8"/>
      </a:accent3>
      <a:accent4>
        <a:srgbClr val="F5C400"/>
      </a:accent4>
      <a:accent5>
        <a:srgbClr val="74C0FC"/>
      </a:accent5>
      <a:accent6>
        <a:srgbClr val="D0BFFF"/>
      </a:accent6>
      <a:hlink>
        <a:srgbClr val="1ED2EC"/>
      </a:hlink>
      <a:folHlink>
        <a:srgbClr val="7048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2026-10-16T19:55:34Z</dcterms:created>
  <dc:creator>PptxGenJS</dc:creator>
</cp:coreProperties>
</file>