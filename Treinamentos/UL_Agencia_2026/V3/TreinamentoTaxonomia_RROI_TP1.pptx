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notesSlides/notesSlide24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61"/>
  </p:notesMasterIdLst>
  <p:sldIdLst>
    <p:sldId id="264" r:id="rId5"/>
    <p:sldId id="2147474075" r:id="rId6"/>
    <p:sldId id="2147472935" r:id="rId7"/>
    <p:sldId id="2147474066" r:id="rId8"/>
    <p:sldId id="2147472941" r:id="rId9"/>
    <p:sldId id="2147472942" r:id="rId10"/>
    <p:sldId id="2147472937" r:id="rId11"/>
    <p:sldId id="2147472939" r:id="rId12"/>
    <p:sldId id="2147472938" r:id="rId13"/>
    <p:sldId id="2147474067" r:id="rId14"/>
    <p:sldId id="2147474068" r:id="rId15"/>
    <p:sldId id="2147474079" r:id="rId16"/>
    <p:sldId id="2147472951" r:id="rId17"/>
    <p:sldId id="2147472952" r:id="rId18"/>
    <p:sldId id="2147474089" r:id="rId19"/>
    <p:sldId id="2147474069" r:id="rId20"/>
    <p:sldId id="2147474070" r:id="rId21"/>
    <p:sldId id="2147474071" r:id="rId22"/>
    <p:sldId id="2147474072" r:id="rId23"/>
    <p:sldId id="2147474073" r:id="rId24"/>
    <p:sldId id="2147474074" r:id="rId25"/>
    <p:sldId id="2147474054" r:id="rId26"/>
    <p:sldId id="2147473984" r:id="rId27"/>
    <p:sldId id="2147474076" r:id="rId28"/>
    <p:sldId id="2147474080" r:id="rId29"/>
    <p:sldId id="2147474082" r:id="rId30"/>
    <p:sldId id="2147474085" r:id="rId31"/>
    <p:sldId id="2147474086" r:id="rId32"/>
    <p:sldId id="2147474087" r:id="rId33"/>
    <p:sldId id="2147474088" r:id="rId34"/>
    <p:sldId id="2147474055" r:id="rId35"/>
    <p:sldId id="2147474056" r:id="rId36"/>
    <p:sldId id="2147474057" r:id="rId37"/>
    <p:sldId id="2147474058" r:id="rId38"/>
    <p:sldId id="2147474059" r:id="rId39"/>
    <p:sldId id="262" r:id="rId40"/>
    <p:sldId id="263" r:id="rId41"/>
    <p:sldId id="2147474060" r:id="rId42"/>
    <p:sldId id="265" r:id="rId43"/>
    <p:sldId id="266" r:id="rId44"/>
    <p:sldId id="267" r:id="rId45"/>
    <p:sldId id="268" r:id="rId46"/>
    <p:sldId id="269" r:id="rId47"/>
    <p:sldId id="275" r:id="rId48"/>
    <p:sldId id="2147474061" r:id="rId49"/>
    <p:sldId id="257" r:id="rId50"/>
    <p:sldId id="279" r:id="rId51"/>
    <p:sldId id="280" r:id="rId52"/>
    <p:sldId id="278" r:id="rId53"/>
    <p:sldId id="276" r:id="rId54"/>
    <p:sldId id="324" r:id="rId55"/>
    <p:sldId id="312" r:id="rId56"/>
    <p:sldId id="315" r:id="rId57"/>
    <p:sldId id="316" r:id="rId58"/>
    <p:sldId id="320" r:id="rId59"/>
    <p:sldId id="2147474083" r:id="rId60"/>
  </p:sldIdLst>
  <p:sldSz cx="12192000" cy="6858000"/>
  <p:notesSz cx="6858000" cy="12192000"/>
  <p:embeddedFontLst>
    <p:embeddedFont>
      <p:font typeface="Franklin Gothic Medium" panose="020B0603020102020204" pitchFamily="34" charset="0"/>
      <p:regular r:id="rId62"/>
      <p:italic r:id="rId63"/>
    </p:embeddedFont>
    <p:embeddedFont>
      <p:font typeface="Helvetica" panose="020B0604020202020204" pitchFamily="34" charset="0"/>
      <p:regular r:id="rId64"/>
      <p:bold r:id="rId65"/>
      <p:italic r:id="rId66"/>
      <p:boldItalic r:id="rId67"/>
    </p:embeddedFont>
    <p:embeddedFont>
      <p:font typeface="Instrument Sans" panose="020B0604020202020204" charset="0"/>
      <p:regular r:id="rId68"/>
      <p:bold r:id="rId69"/>
      <p:italic r:id="rId70"/>
      <p:boldItalic r:id="rId71"/>
    </p:embeddedFont>
    <p:embeddedFont>
      <p:font typeface="Roboto Lt" panose="020B0604020202020204" charset="0"/>
      <p:regular r:id="rId72"/>
      <p:bold r:id="rId73"/>
      <p:italic r:id="rId74"/>
      <p:boldItalic r:id="rId75"/>
    </p:embeddedFont>
    <p:embeddedFont>
      <p:font typeface="Unilever Desire" panose="020B0604020202020204" charset="0"/>
      <p:regular r:id="rId76"/>
      <p:bold r:id="rId77"/>
      <p:italic r:id="rId78"/>
      <p:boldItalic r:id="rId79"/>
    </p:embeddedFont>
    <p:embeddedFont>
      <p:font typeface="Unilever Desire Light" panose="020B0604020202020204" charset="0"/>
      <p:regular r:id="rId80"/>
      <p:italic r:id="rId81"/>
    </p:embeddedFont>
    <p:embeddedFont>
      <p:font typeface="Unilever Desire Semi Bold" panose="020B0604020202020204" charset="0"/>
      <p:regular r:id="rId82"/>
      <p:bold r:id="rId83"/>
      <p:italic r:id="rId84"/>
      <p:boldItalic r:id="rId8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BDFF"/>
    <a:srgbClr val="D6C2FF"/>
    <a:srgbClr val="CBB4FA"/>
    <a:srgbClr val="C6ADF7"/>
    <a:srgbClr val="8731C4"/>
    <a:srgbClr val="783CA3"/>
    <a:srgbClr val="882CC9"/>
    <a:srgbClr val="6F3BB8"/>
    <a:srgbClr val="803AC2"/>
    <a:srgbClr val="953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443B4-26DF-4556-AAFB-C60149D9A6C8}" v="11" dt="2026-10-26T15:17:34.832"/>
    <p1510:client id="{359D64D2-2418-4A08-A2CB-266A67B69D4F}" v="291" dt="2026-10-26T19:55:54.245"/>
    <p1510:client id="{48150B9A-5A7D-743D-3864-6D8531ECC67A}" v="45" dt="2026-10-26T19:50:49.075"/>
    <p1510:client id="{9AFA8B10-8F58-4940-9492-E7777AFCE0A2}" v="1599" dt="2026-10-26T19:35:54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font" Target="fonts/font23.fntdata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1.xml"/><Relationship Id="rId90" Type="http://schemas.microsoft.com/office/2015/10/relationships/revisionInfo" Target="revisionInfo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font" Target="fonts/font2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font" Target="fonts/font22.fntdata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5.fntdata"/><Relationship Id="rId7" Type="http://schemas.openxmlformats.org/officeDocument/2006/relationships/slide" Target="slides/slide3.xml"/><Relationship Id="rId71" Type="http://schemas.openxmlformats.org/officeDocument/2006/relationships/font" Target="fonts/font1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5.fntdata"/><Relationship Id="rId87" Type="http://schemas.openxmlformats.org/officeDocument/2006/relationships/viewProps" Target="viewProps.xml"/><Relationship Id="rId61" Type="http://schemas.openxmlformats.org/officeDocument/2006/relationships/notesMaster" Target="notesMasters/notesMaster1.xml"/><Relationship Id="rId82" Type="http://schemas.openxmlformats.org/officeDocument/2006/relationships/font" Target="fonts/font21.fntdata"/><Relationship Id="rId19" Type="http://schemas.openxmlformats.org/officeDocument/2006/relationships/slide" Target="slides/slide1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UL_acompanhamentomensal_taxonomi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setembro_2026\UL_acompanhamentomensal_taxonomi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setembro_2026\UL_acompanhamentomensal_taxonomi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dinâmica12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Dinamica'!$B$57:$B$58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Dinamica'!$A$59:$A$62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Dinamica'!$B$59:$B$62</c:f>
              <c:numCache>
                <c:formatCode>General</c:formatCode>
                <c:ptCount val="3"/>
                <c:pt idx="0">
                  <c:v>0.15439026690559277</c:v>
                </c:pt>
                <c:pt idx="1">
                  <c:v>0.96366572466693579</c:v>
                </c:pt>
                <c:pt idx="2">
                  <c:v>0.32359354557348452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7D-6248-8F62-C23158C86CE2}"/>
            </c:ext>
          </c:extLst>
        </c:ser>
        <c:ser>
          <c:idx val="1"/>
          <c:order val="1"/>
          <c:tx>
            <c:strRef>
              <c:f>'Resumo Dinamica'!$C$57:$C$58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Dinamica'!$A$59:$A$62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Dinamica'!$C$59:$C$62</c:f>
              <c:numCache>
                <c:formatCode>General</c:formatCode>
                <c:ptCount val="3"/>
                <c:pt idx="0">
                  <c:v>0.84560973309440723</c:v>
                </c:pt>
                <c:pt idx="1">
                  <c:v>3.6334275333064193E-2</c:v>
                </c:pt>
                <c:pt idx="2">
                  <c:v>0.67640645442651548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7D-6248-8F62-C23158C86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noFill/>
    <a:ln w="3175"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[UL_acompanhamentomensal_taxonomia.xlsx]Resumo Dinamica!Tabela dinâmica2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Dinamica'!$B$32:$B$33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Dinamica'!$A$34:$A$37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Dinamica'!$B$34:$B$37</c:f>
              <c:numCache>
                <c:formatCode>General</c:formatCode>
                <c:ptCount val="3"/>
                <c:pt idx="0">
                  <c:v>0.14576331151600919</c:v>
                </c:pt>
                <c:pt idx="1">
                  <c:v>1</c:v>
                </c:pt>
                <c:pt idx="2">
                  <c:v>0.18287037037037038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C-4348-BAB9-F5BB0B5879B0}"/>
            </c:ext>
          </c:extLst>
        </c:ser>
        <c:ser>
          <c:idx val="1"/>
          <c:order val="1"/>
          <c:tx>
            <c:strRef>
              <c:f>'Resumo Dinamica'!$C$32:$C$33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Dinamica'!$A$34:$A$37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Dinamica'!$C$34:$C$37</c:f>
              <c:numCache>
                <c:formatCode>General</c:formatCode>
                <c:ptCount val="3"/>
                <c:pt idx="0">
                  <c:v>0.85423668848399081</c:v>
                </c:pt>
                <c:pt idx="1">
                  <c:v>0</c:v>
                </c:pt>
                <c:pt idx="2">
                  <c:v>0.81712962962962965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9C-4348-BAB9-F5BB0B587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nilever Desire" pitchFamily="2" charset="77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3175">
      <a:noFill/>
    </a:ln>
    <a:effectLst/>
  </c:spPr>
  <c:txPr>
    <a:bodyPr/>
    <a:lstStyle/>
    <a:p>
      <a:pPr>
        <a:defRPr>
          <a:latin typeface="Unilever Desire" pitchFamily="2" charset="77"/>
        </a:defRPr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dinâmica13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Dinamica'!$B$199:$B$200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Dinamica'!$A$201:$A$204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Dinamica'!$B$201:$B$204</c:f>
              <c:numCache>
                <c:formatCode>General</c:formatCode>
                <c:ptCount val="3"/>
                <c:pt idx="0">
                  <c:v>5.5639097744360905E-2</c:v>
                </c:pt>
                <c:pt idx="1">
                  <c:v>0.971830985915493</c:v>
                </c:pt>
                <c:pt idx="2">
                  <c:v>0.76249999999999996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7E-954B-8120-91DD7BC9A6E2}"/>
            </c:ext>
          </c:extLst>
        </c:ser>
        <c:ser>
          <c:idx val="1"/>
          <c:order val="1"/>
          <c:tx>
            <c:strRef>
              <c:f>'Resumo Dinamica'!$C$199:$C$200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Dinamica'!$A$201:$A$204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Dinamica'!$C$201:$C$204</c:f>
              <c:numCache>
                <c:formatCode>General</c:formatCode>
                <c:ptCount val="3"/>
                <c:pt idx="0">
                  <c:v>0.94436090225563907</c:v>
                </c:pt>
                <c:pt idx="1">
                  <c:v>2.8169014084507043E-2</c:v>
                </c:pt>
                <c:pt idx="2">
                  <c:v>0.23749999999999999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7E-954B-8120-91DD7BC9A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dinâmica5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Dinamica'!$B$221:$B$222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Dinamica'!$A$223:$A$226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Dinamica'!$B$223:$B$226</c:f>
              <c:numCache>
                <c:formatCode>General</c:formatCode>
                <c:ptCount val="3"/>
                <c:pt idx="0">
                  <c:v>0.14815941588074233</c:v>
                </c:pt>
                <c:pt idx="1">
                  <c:v>0.92551210428305397</c:v>
                </c:pt>
                <c:pt idx="2">
                  <c:v>0.3141509433962264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F-7A4C-AD03-04505CDD0B47}"/>
            </c:ext>
          </c:extLst>
        </c:ser>
        <c:ser>
          <c:idx val="1"/>
          <c:order val="1"/>
          <c:tx>
            <c:strRef>
              <c:f>'Resumo Dinamica'!$C$221:$C$222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Dinamica'!$A$223:$A$226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Dinamica'!$C$223:$C$226</c:f>
              <c:numCache>
                <c:formatCode>General</c:formatCode>
                <c:ptCount val="3"/>
                <c:pt idx="0">
                  <c:v>0.85184058411925767</c:v>
                </c:pt>
                <c:pt idx="1">
                  <c:v>7.4487895716946001E-2</c:v>
                </c:pt>
                <c:pt idx="2">
                  <c:v>0.6858490566037736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CF-7A4C-AD03-04505CDD0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dinâmica7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Dinamica'!$B$236:$B$237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Dinamica'!$A$238:$A$241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Dinamica'!$B$238:$B$241</c:f>
              <c:numCache>
                <c:formatCode>0%</c:formatCode>
                <c:ptCount val="3"/>
                <c:pt idx="0">
                  <c:v>0.28986960882647944</c:v>
                </c:pt>
                <c:pt idx="1">
                  <c:v>0.91304347826086951</c:v>
                </c:pt>
                <c:pt idx="2">
                  <c:v>2.5882352941176471E-2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1F-0A47-96C8-A78E606AC883}"/>
            </c:ext>
          </c:extLst>
        </c:ser>
        <c:ser>
          <c:idx val="1"/>
          <c:order val="1"/>
          <c:tx>
            <c:strRef>
              <c:f>'Resumo Dinamica'!$C$236:$C$237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Dinamica'!$A$238:$A$241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Dinamica'!$C$238:$C$241</c:f>
              <c:numCache>
                <c:formatCode>0%</c:formatCode>
                <c:ptCount val="3"/>
                <c:pt idx="0">
                  <c:v>0.71013039117352061</c:v>
                </c:pt>
                <c:pt idx="1">
                  <c:v>8.6956521739130432E-2</c:v>
                </c:pt>
                <c:pt idx="2">
                  <c:v>0.97411764705882353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1F-0A47-96C8-A78E606AC8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Planilha2!$B$43</c:f>
              <c:strCache>
                <c:ptCount val="1"/>
                <c:pt idx="0">
                  <c:v>Contém erro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 Light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Planilha2!$A$44:$A$57</c:f>
              <c:strCache>
                <c:ptCount val="14"/>
                <c:pt idx="0">
                  <c:v>meta</c:v>
                </c:pt>
                <c:pt idx="1">
                  <c:v>dv360</c:v>
                </c:pt>
                <c:pt idx="2">
                  <c:v>tiktok</c:v>
                </c:pt>
                <c:pt idx="3">
                  <c:v>pinterest</c:v>
                </c:pt>
                <c:pt idx="4">
                  <c:v>dv360 youtube</c:v>
                </c:pt>
                <c:pt idx="5">
                  <c:v>dgmax</c:v>
                </c:pt>
                <c:pt idx="6">
                  <c:v>globo</c:v>
                </c:pt>
                <c:pt idx="7">
                  <c:v>terra</c:v>
                </c:pt>
                <c:pt idx="8">
                  <c:v>google ads</c:v>
                </c:pt>
                <c:pt idx="9">
                  <c:v>ge</c:v>
                </c:pt>
                <c:pt idx="10">
                  <c:v>uol</c:v>
                </c:pt>
                <c:pt idx="11">
                  <c:v>samsung ads</c:v>
                </c:pt>
                <c:pt idx="12">
                  <c:v>365scores</c:v>
                </c:pt>
                <c:pt idx="13">
                  <c:v>kwai</c:v>
                </c:pt>
              </c:strCache>
            </c:strRef>
          </c:cat>
          <c:val>
            <c:numRef>
              <c:f>Planilha2!$B$44:$B$57</c:f>
              <c:numCache>
                <c:formatCode>0.00%</c:formatCode>
                <c:ptCount val="14"/>
                <c:pt idx="0">
                  <c:v>0.2356273604699958</c:v>
                </c:pt>
                <c:pt idx="1">
                  <c:v>0.2238774653797734</c:v>
                </c:pt>
                <c:pt idx="2">
                  <c:v>0.13869072597566093</c:v>
                </c:pt>
                <c:pt idx="3">
                  <c:v>0.12568191355434327</c:v>
                </c:pt>
                <c:pt idx="4">
                  <c:v>8.3718002517834664E-2</c:v>
                </c:pt>
                <c:pt idx="5">
                  <c:v>3.5039865715484682E-2</c:v>
                </c:pt>
                <c:pt idx="6">
                  <c:v>2.4548887956357533E-2</c:v>
                </c:pt>
                <c:pt idx="7">
                  <c:v>2.4129248845992445E-2</c:v>
                </c:pt>
                <c:pt idx="8">
                  <c:v>2.2031053294167015E-2</c:v>
                </c:pt>
                <c:pt idx="9">
                  <c:v>1.049097775912715E-2</c:v>
                </c:pt>
                <c:pt idx="10">
                  <c:v>8.8124213176668069E-3</c:v>
                </c:pt>
                <c:pt idx="11">
                  <c:v>7.5535039865715489E-3</c:v>
                </c:pt>
                <c:pt idx="12">
                  <c:v>6.0847671002937477E-3</c:v>
                </c:pt>
                <c:pt idx="13">
                  <c:v>5.6651279899286614E-3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D9-1F46-8A88-1EE72D762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9854719"/>
        <c:axId val="1539859647"/>
      </c:barChart>
      <c:catAx>
        <c:axId val="153985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 Light" pitchFamily="2" charset="77"/>
                <a:ea typeface="+mn-ea"/>
                <a:cs typeface="+mn-cs"/>
              </a:defRPr>
            </a:pPr>
            <a:endParaRPr lang="pt-BR"/>
          </a:p>
        </c:txPr>
        <c:crossAx val="1539859647"/>
        <c:crosses val="autoZero"/>
        <c:auto val="1"/>
        <c:lblAlgn val="ctr"/>
        <c:lblOffset val="100"/>
        <c:noMultiLvlLbl val="0"/>
      </c:catAx>
      <c:valAx>
        <c:axId val="1539859647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 Light" pitchFamily="2" charset="77"/>
                <a:ea typeface="+mn-ea"/>
                <a:cs typeface="+mn-cs"/>
              </a:defRPr>
            </a:pPr>
            <a:endParaRPr lang="pt-BR"/>
          </a:p>
        </c:txPr>
        <c:crossAx val="1539854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i="0">
          <a:latin typeface="Unilever Desire Light" pitchFamily="2" charset="77"/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4E-BA4E-A8F5-25B6EE428CC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4E-BA4E-A8F5-25B6EE428CC9}"/>
              </c:ext>
            </c:extLst>
          </c:dPt>
          <c:dPt>
            <c:idx val="2"/>
            <c:bubble3D val="0"/>
            <c:spPr>
              <a:solidFill>
                <a:srgbClr val="FF00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4E-BA4E-A8F5-25B6EE428C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04E-BA4E-A8F5-25B6EE428CC9}"/>
              </c:ext>
            </c:extLst>
          </c:dPt>
          <c:dPt>
            <c:idx val="4"/>
            <c:bubble3D val="0"/>
            <c:spPr>
              <a:solidFill>
                <a:srgbClr val="5EC7E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04E-BA4E-A8F5-25B6EE428CC9}"/>
              </c:ext>
            </c:extLst>
          </c:dPt>
          <c:dLbls>
            <c:dLbl>
              <c:idx val="3"/>
              <c:layout>
                <c:manualLayout>
                  <c:x val="-2.3606617102064749E-2"/>
                  <c:y val="2.7810564072692874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4E-BA4E-A8F5-25B6EE428C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Planilha1!$N$18:$N$22</c:f>
              <c:strCache>
                <c:ptCount val="5"/>
                <c:pt idx="0">
                  <c:v>Erro Operacional Canal</c:v>
                </c:pt>
                <c:pt idx="1">
                  <c:v>Erro Operacional Combinação dos Campos</c:v>
                </c:pt>
                <c:pt idx="2">
                  <c:v>Erro Operacional Digitação</c:v>
                </c:pt>
                <c:pt idx="3">
                  <c:v>Erro Operacional Nomenclatura</c:v>
                </c:pt>
                <c:pt idx="4">
                  <c:v>Erro Operacional Sem Taxonomia</c:v>
                </c:pt>
              </c:strCache>
            </c:strRef>
          </c:cat>
          <c:val>
            <c:numRef>
              <c:f>Planilha1!$O$18:$O$22</c:f>
              <c:numCache>
                <c:formatCode>0.00%</c:formatCode>
                <c:ptCount val="5"/>
                <c:pt idx="0">
                  <c:v>5.3508771929824561E-2</c:v>
                </c:pt>
                <c:pt idx="1">
                  <c:v>0.13157894736842105</c:v>
                </c:pt>
                <c:pt idx="2">
                  <c:v>0.22017543859649122</c:v>
                </c:pt>
                <c:pt idx="3">
                  <c:v>1.3157894736842105E-3</c:v>
                </c:pt>
                <c:pt idx="4">
                  <c:v>2.5877192982456141E-2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04E-BA4E-A8F5-25B6EE428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nilever Desire" pitchFamily="2" charset="77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96EB-314D-095C-F58A-1312666A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76BF8-9ADD-1BE4-22A2-D478FD46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867AD-284B-620A-7FF3-A3B1F5AA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C59D-7D76-C756-2665-CF702A2F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96EB-314D-095C-F58A-1312666A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76BF8-9ADD-1BE4-22A2-D478FD46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867AD-284B-620A-7FF3-A3B1F5AA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C59D-7D76-C756-2665-CF702A2F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C240-FD45-A3FE-5ADF-732E6E80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EDDE5-98E4-C7F2-80B9-6CD6767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AB62F-025B-A363-AA54-9B892CD73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E634D-3EA6-1389-EFAC-C2B208F63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1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617B-E40A-F333-6181-E5E1E736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05130-8D5B-5731-8E20-693972E88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EE596-B9AE-B535-2CD9-C5AF5C4E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7D4A7-7E0E-F834-C6B2-A9E70002B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55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4C8B-CA0F-ABBF-422A-F2ECB2D9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7F7F-65FC-ABD9-831B-DE937AFD4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215E8-BA73-72B5-0A03-EA51D5BF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1D947-8FC3-2894-2853-29229986C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67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8E8B-DCA6-91D9-EC8C-6448914A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DED7F3-BDB5-1C5A-A717-4744AEE93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ED1835-7A38-CB76-B18C-3781161F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D5860E-9F8C-3BE0-C13C-04588BEE2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4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BBCA-FD99-F42E-94FD-D689D7A3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9DADC-0A8D-EB7F-5791-F7CE11747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443AD-7C56-6CC2-C595-73F19C801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BC4C-91B8-B543-622B-7B9DE374A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33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9806-DFEB-DDDE-728B-1F03A560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0A547-2724-1220-6F79-40395476E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380BD-B00F-63D2-F6C2-12B101D5A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48321-50B7-4602-FD6C-C6BA16A51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59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29B3-9D0C-702C-D727-71E052A8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F548C-8CB1-A531-D6D9-5C75C231D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D75A1-F5C4-EEFB-2D51-B23A1516B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851F2-3ADE-F481-07D4-A88B74BE9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2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56DCB-1A26-7C4E-34D2-D21C3172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31AF1-C3AC-D726-4725-ABD932803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DA6E8-602D-5407-3B8D-B801E9CE2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C763E-4D91-C76C-8607-25641474F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86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5D63-D474-9725-6240-F3269B81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2F8F-508A-4B81-2F17-600A2186B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62F1D-A703-B324-4D7F-260021BB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F8716-E8C6-9087-0108-7E935DCF0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0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EA0B-039B-CBC4-81B7-B66EF5B0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7E295-B261-4365-FA68-D596C499E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5FF2A-7225-C0E3-A7D1-D15523BAD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CD880-C289-C208-6612-3E40AD69B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8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CF84-DA0D-F0D8-6627-54DF1E8F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57294-1AE9-5ED5-0DEA-58F84EE26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91925-1174-B841-9678-CE1110AAC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A7FF-EA10-4435-5E52-C856D5904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49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07B6-B559-B278-784B-199E6029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656E4-F356-0326-1559-0FBE6F78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FE05E-A061-0613-C24A-52FD514C3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10119-A9DA-827D-C4AD-35CBF692C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10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0AED-A420-BB11-FE08-A4C6D104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1FFE8-04DF-E6AC-B312-19DDB39E7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A610A-590B-1FCC-27A4-FF9A78755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161B-DD6A-BAA1-AD7C-BFEF003FF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7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5596-3714-77E1-FD06-A780303C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42818-DA58-9CE4-550C-C880FC37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5D66D-CFAA-688F-1D3A-66C60D7A7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D12A4-FAD6-25B0-EA15-7B58D2AF5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59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1962-440B-1A06-E841-2624B61D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10F8F-3959-F95B-748F-58C87840F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40E3E-4E48-5338-90A9-95C12BD1D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9B03A-BE30-1CD6-3036-C388E330F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22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7E03-3C2B-8CB3-9EFF-833C71E4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9F4B1-06ED-6668-8839-C7934F4CB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EEDA-077E-4E32-D406-22E378A98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9F6F-C76A-2B0A-1003-116609220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52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8133-6BFF-868D-32D9-37225BA9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3EF57-798E-3463-727D-3B7CEB14F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24AF-2B0D-D43D-3099-971EB516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9B6B-A9CF-308B-A207-208287786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74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06B9-16C4-A0C1-8193-178E80D6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04942-B8A9-3E0C-3D3D-2BD7E7A4C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8857D-345B-3D3E-F858-357F55C41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997ED-83BA-0299-F141-1CD7DDDC4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7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9702E-C954-D687-B801-9A6D8FDA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6A9EE-D5BC-D80F-FF12-4A391A2DC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A6553-9C4B-77E9-2444-D43CB389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4379-1DA5-DCE1-A365-35357CE93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75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9E56-4C12-EB3A-3FD5-BDBB7AB0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B9F90-EE82-28B0-A39E-2A04A4E2F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9BCF4-4A80-3E46-2F47-92091151F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C01B-AC77-2499-9903-ABBF07729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96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796D-F035-C0FC-44E3-1B2429B5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0292A-5B40-0EE3-E5E8-710442FD9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1BA13-790D-E7AD-5C06-0DD5AD6A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B36F-477D-7A8D-8054-03B460A3C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18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8913-59D7-E399-0564-F1CAC4CB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7217F-CC43-9DA3-6455-7CE5B243B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FB73C-E50F-6899-C1CA-A1778C96A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E9E8-F040-B73C-8AAC-2D050D0E9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53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3938-4E96-6D7B-B6EC-7EF97DE9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4205D-7EEF-3A9C-779E-D6E4B21D5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D1D9-9810-A1CB-0B51-8C20BE271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9D6AC-DDEF-6138-24AD-3299DB615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49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Abertura</a:t>
            </a:r>
            <a:r>
              <a:rPr lang="en-US"/>
              <a:t> do </a:t>
            </a:r>
            <a:r>
              <a:rPr lang="en-US" dirty="0" err="1"/>
              <a:t>treinamento</a:t>
            </a:r>
            <a:r>
              <a:rPr lang="en-US"/>
              <a:t> com </a:t>
            </a:r>
            <a:r>
              <a:rPr lang="en-US" dirty="0" err="1"/>
              <a:t>agência</a:t>
            </a:r>
            <a:r>
              <a:rPr lang="en-US"/>
              <a:t>, </a:t>
            </a:r>
            <a:r>
              <a:rPr lang="en-US" dirty="0" err="1"/>
              <a:t>Stormx</a:t>
            </a:r>
            <a:r>
              <a:rPr lang="en-US"/>
              <a:t> e </a:t>
            </a:r>
            <a:r>
              <a:rPr lang="en-US" dirty="0" err="1"/>
              <a:t>Innovid</a:t>
            </a:r>
            <a:r>
              <a:rPr lang="en-US"/>
              <a:t>. </a:t>
            </a:r>
            <a:r>
              <a:rPr lang="en-US" dirty="0" err="1"/>
              <a:t>Objetivo</a:t>
            </a:r>
            <a:r>
              <a:rPr lang="en-US"/>
              <a:t>, </a:t>
            </a:r>
            <a:r>
              <a:rPr lang="en-US" dirty="0" err="1"/>
              <a:t>alinhar</a:t>
            </a:r>
            <a:r>
              <a:rPr lang="en-US"/>
              <a:t> o </a:t>
            </a:r>
            <a:r>
              <a:rPr lang="en-US" dirty="0" err="1"/>
              <a:t>fluxo</a:t>
            </a:r>
            <a:r>
              <a:rPr lang="en-US"/>
              <a:t> da </a:t>
            </a:r>
            <a:r>
              <a:rPr lang="en-US" dirty="0" err="1"/>
              <a:t>operação</a:t>
            </a:r>
            <a:r>
              <a:rPr lang="en-US"/>
              <a:t>, as </a:t>
            </a:r>
            <a:r>
              <a:rPr lang="en-US" dirty="0" err="1"/>
              <a:t>regras</a:t>
            </a:r>
            <a:r>
              <a:rPr lang="en-US"/>
              <a:t> de </a:t>
            </a:r>
            <a:r>
              <a:rPr lang="en-US" dirty="0" err="1"/>
              <a:t>taxonomia</a:t>
            </a:r>
            <a:r>
              <a:rPr lang="en-US"/>
              <a:t> e o </a:t>
            </a:r>
            <a:r>
              <a:rPr lang="en-US" dirty="0" err="1"/>
              <a:t>papel</a:t>
            </a:r>
            <a:r>
              <a:rPr lang="en-US"/>
              <a:t> de </a:t>
            </a:r>
            <a:r>
              <a:rPr lang="en-US" dirty="0" err="1"/>
              <a:t>cada</a:t>
            </a:r>
            <a:r>
              <a:rPr lang="en-US"/>
              <a:t> time.</a:t>
            </a:r>
            <a:endParaRPr/>
          </a:p>
        </p:txBody>
      </p:sp>
      <p:sp>
        <p:nvSpPr>
          <p:cNvPr id="23" name="Google Shape;2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sistema</a:t>
            </a:r>
            <a:r>
              <a:rPr lang="en-US"/>
              <a:t> de </a:t>
            </a:r>
            <a:r>
              <a:rPr lang="en-US" err="1"/>
              <a:t>nomenclatura</a:t>
            </a:r>
            <a:r>
              <a:rPr lang="en-US"/>
              <a:t> </a:t>
            </a:r>
            <a:r>
              <a:rPr lang="en-US" err="1"/>
              <a:t>padronizado</a:t>
            </a:r>
            <a:r>
              <a:rPr lang="en-US"/>
              <a:t> </a:t>
            </a:r>
            <a:r>
              <a:rPr lang="en-US" err="1"/>
              <a:t>aplicado</a:t>
            </a:r>
            <a:r>
              <a:rPr lang="en-US"/>
              <a:t> a Campaign, Ad Group e Ad Name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veículos</a:t>
            </a:r>
            <a:r>
              <a:rPr lang="en-US"/>
              <a:t> </a:t>
            </a:r>
            <a:r>
              <a:rPr lang="en-US" err="1"/>
              <a:t>digitais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pessoa</a:t>
            </a:r>
            <a:r>
              <a:rPr lang="en-US"/>
              <a:t>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momento</a:t>
            </a:r>
            <a:r>
              <a:rPr lang="en-US"/>
              <a:t>, </a:t>
            </a:r>
            <a:r>
              <a:rPr lang="en-US" err="1"/>
              <a:t>entenda</a:t>
            </a:r>
            <a:r>
              <a:rPr lang="en-US"/>
              <a:t> </a:t>
            </a:r>
            <a:r>
              <a:rPr lang="en-US" err="1"/>
              <a:t>exatamente</a:t>
            </a:r>
            <a:r>
              <a:rPr lang="en-US"/>
              <a:t> 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representa</a:t>
            </a:r>
            <a:r>
              <a:rPr lang="en-US"/>
              <a:t>. Erros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implementação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quebra</a:t>
            </a:r>
            <a:r>
              <a:rPr lang="en-US"/>
              <a:t> de </a:t>
            </a:r>
            <a:r>
              <a:rPr lang="en-US" err="1"/>
              <a:t>estrutura</a:t>
            </a:r>
            <a:r>
              <a:rPr lang="en-US"/>
              <a:t>, </a:t>
            </a:r>
            <a:r>
              <a:rPr lang="en-US" err="1"/>
              <a:t>confusão</a:t>
            </a:r>
            <a:r>
              <a:rPr lang="en-US"/>
              <a:t> entre </a:t>
            </a:r>
            <a:r>
              <a:rPr lang="en-US" err="1"/>
              <a:t>plataformas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campos fora do </a:t>
            </a:r>
            <a:r>
              <a:rPr lang="en-US" err="1"/>
              <a:t>padrão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impedir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contabilizados</a:t>
            </a:r>
            <a:r>
              <a:rPr lang="en-US"/>
              <a:t> no dashboard de </a:t>
            </a:r>
            <a:r>
              <a:rPr lang="en-US" err="1"/>
              <a:t>métricas</a:t>
            </a:r>
            <a:r>
              <a:rPr lang="en-US"/>
              <a:t>, </a:t>
            </a:r>
            <a:r>
              <a:rPr lang="en-US" err="1"/>
              <a:t>incluindo</a:t>
            </a:r>
            <a:r>
              <a:rPr lang="en-US"/>
              <a:t> </a:t>
            </a:r>
            <a:r>
              <a:rPr lang="en-US" err="1"/>
              <a:t>investimento</a:t>
            </a:r>
            <a:r>
              <a:rPr lang="en-US"/>
              <a:t>, </a:t>
            </a:r>
            <a:r>
              <a:rPr lang="en-US" err="1"/>
              <a:t>impressões</a:t>
            </a:r>
            <a:r>
              <a:rPr lang="en-US"/>
              <a:t> e cliques.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impacta</a:t>
            </a:r>
            <a:r>
              <a:rPr lang="en-US"/>
              <a:t> o RROI, </a:t>
            </a:r>
            <a:r>
              <a:rPr lang="en-US" err="1"/>
              <a:t>controle</a:t>
            </a:r>
            <a:r>
              <a:rPr lang="en-US"/>
              <a:t> global da UL </a:t>
            </a:r>
            <a:r>
              <a:rPr lang="en-US" err="1"/>
              <a:t>sobre</a:t>
            </a:r>
            <a:r>
              <a:rPr lang="en-US"/>
              <a:t> o </a:t>
            </a:r>
            <a:r>
              <a:rPr lang="en-US" err="1"/>
              <a:t>retorno</a:t>
            </a:r>
            <a:r>
              <a:rPr lang="en-US"/>
              <a:t> dos </a:t>
            </a:r>
            <a:r>
              <a:rPr lang="en-US" err="1"/>
              <a:t>investimentos</a:t>
            </a:r>
            <a:r>
              <a:rPr lang="en-US"/>
              <a:t>, pois </a:t>
            </a:r>
            <a:r>
              <a:rPr lang="en-US" err="1"/>
              <a:t>há</a:t>
            </a:r>
            <a:r>
              <a:rPr lang="en-US"/>
              <a:t> </a:t>
            </a:r>
            <a:r>
              <a:rPr lang="en-US" err="1"/>
              <a:t>investimento</a:t>
            </a:r>
            <a:r>
              <a:rPr lang="en-US"/>
              <a:t> </a:t>
            </a:r>
            <a:r>
              <a:rPr lang="en-US" err="1"/>
              <a:t>realizado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correspondentes</a:t>
            </a:r>
            <a:r>
              <a:rPr lang="en-US"/>
              <a:t> para </a:t>
            </a:r>
            <a:r>
              <a:rPr lang="en-US" err="1"/>
              <a:t>análise</a:t>
            </a:r>
            <a:r>
              <a:rPr lang="en-US"/>
              <a:t>. </a:t>
            </a:r>
            <a:r>
              <a:rPr lang="en-US" err="1"/>
              <a:t>Atenção</a:t>
            </a:r>
            <a:r>
              <a:rPr lang="en-US"/>
              <a:t>, </a:t>
            </a:r>
            <a:r>
              <a:rPr lang="en-US" err="1"/>
              <a:t>temos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janela</a:t>
            </a:r>
            <a:r>
              <a:rPr lang="en-US"/>
              <a:t> de 30 </a:t>
            </a:r>
            <a:r>
              <a:rPr lang="en-US" err="1"/>
              <a:t>dias</a:t>
            </a:r>
            <a:r>
              <a:rPr lang="en-US"/>
              <a:t> para </a:t>
            </a:r>
            <a:r>
              <a:rPr lang="en-US" err="1"/>
              <a:t>corrigir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e no banco de dados,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contabilizados</a:t>
            </a:r>
            <a:r>
              <a:rPr lang="en-US"/>
              <a:t> no dashboard e no RROI.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composta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tipos</a:t>
            </a:r>
            <a:r>
              <a:rPr lang="en-US"/>
              <a:t> de campos </a:t>
            </a:r>
            <a:r>
              <a:rPr lang="en-US" err="1"/>
              <a:t>obrigatórios</a:t>
            </a:r>
            <a:r>
              <a:rPr lang="en-US"/>
              <a:t>. Campos Galileo, </a:t>
            </a:r>
            <a:r>
              <a:rPr lang="en-US" err="1"/>
              <a:t>mandatórios</a:t>
            </a:r>
            <a:r>
              <a:rPr lang="en-US"/>
              <a:t> Global,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padronizados</a:t>
            </a:r>
            <a:r>
              <a:rPr lang="en-US"/>
              <a:t> </a:t>
            </a:r>
            <a:r>
              <a:rPr lang="en-US" err="1"/>
              <a:t>globalmente</a:t>
            </a:r>
            <a:r>
              <a:rPr lang="en-US"/>
              <a:t> pela Unilever, </a:t>
            </a:r>
            <a:r>
              <a:rPr lang="en-US" err="1"/>
              <a:t>garantem</a:t>
            </a:r>
            <a:r>
              <a:rPr lang="en-US"/>
              <a:t> </a:t>
            </a:r>
            <a:r>
              <a:rPr lang="en-US" err="1"/>
              <a:t>consistência</a:t>
            </a:r>
            <a:r>
              <a:rPr lang="en-US"/>
              <a:t> e </a:t>
            </a:r>
            <a:r>
              <a:rPr lang="en-US" err="1"/>
              <a:t>governança</a:t>
            </a:r>
            <a:r>
              <a:rPr lang="en-US"/>
              <a:t> </a:t>
            </a:r>
            <a:r>
              <a:rPr lang="en-US" err="1"/>
              <a:t>internacional</a:t>
            </a:r>
            <a:r>
              <a:rPr lang="en-US"/>
              <a:t>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underscore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adicionados</a:t>
            </a:r>
            <a:r>
              <a:rPr lang="en-US"/>
              <a:t>, </a:t>
            </a:r>
            <a:r>
              <a:rPr lang="en-US" err="1"/>
              <a:t>removidos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alterados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autorização</a:t>
            </a:r>
            <a:r>
              <a:rPr lang="en-US"/>
              <a:t> da UL Global. Campos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mandatórios</a:t>
            </a:r>
            <a:r>
              <a:rPr lang="en-US"/>
              <a:t>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definidos</a:t>
            </a:r>
            <a:r>
              <a:rPr lang="en-US"/>
              <a:t> </a:t>
            </a:r>
            <a:r>
              <a:rPr lang="en-US" err="1"/>
              <a:t>localmente</a:t>
            </a:r>
            <a:r>
              <a:rPr lang="en-US"/>
              <a:t> para </a:t>
            </a:r>
            <a:r>
              <a:rPr lang="en-US" err="1"/>
              <a:t>complementar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do mercado </a:t>
            </a:r>
            <a:r>
              <a:rPr lang="en-US" err="1"/>
              <a:t>brasileiro</a:t>
            </a:r>
            <a:r>
              <a:rPr lang="en-US"/>
              <a:t> e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pipe. Como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mandatórios</a:t>
            </a:r>
            <a:r>
              <a:rPr lang="en-US"/>
              <a:t> do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precisamos</a:t>
            </a:r>
            <a:r>
              <a:rPr lang="en-US"/>
              <a:t> </a:t>
            </a:r>
            <a:r>
              <a:rPr lang="en-US" err="1"/>
              <a:t>aguardar</a:t>
            </a:r>
            <a:r>
              <a:rPr lang="en-US"/>
              <a:t> a </a:t>
            </a:r>
            <a:r>
              <a:rPr lang="en-US" err="1"/>
              <a:t>aprovação</a:t>
            </a:r>
            <a:r>
              <a:rPr lang="en-US"/>
              <a:t> da UL Global para </a:t>
            </a:r>
            <a:r>
              <a:rPr lang="en-US" err="1"/>
              <a:t>incluir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alterar</a:t>
            </a:r>
            <a:r>
              <a:rPr lang="en-US"/>
              <a:t> </a:t>
            </a:r>
            <a:r>
              <a:rPr lang="en-US" err="1"/>
              <a:t>opções</a:t>
            </a:r>
            <a:r>
              <a:rPr lang="en-US"/>
              <a:t> de dropdown, mas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alinhar</a:t>
            </a:r>
            <a:r>
              <a:rPr lang="en-US"/>
              <a:t> as </a:t>
            </a:r>
            <a:r>
              <a:rPr lang="en-US" err="1"/>
              <a:t>mudanças</a:t>
            </a:r>
            <a:r>
              <a:rPr lang="en-US"/>
              <a:t> com a UL </a:t>
            </a:r>
            <a:r>
              <a:rPr lang="en-US" err="1"/>
              <a:t>Brasil</a:t>
            </a:r>
            <a:r>
              <a:rPr lang="en-US"/>
              <a:t> antes de </a:t>
            </a:r>
            <a:r>
              <a:rPr lang="en-US" err="1"/>
              <a:t>seguir</a:t>
            </a:r>
            <a:r>
              <a:rPr lang="en-US"/>
              <a:t>.</a:t>
            </a: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Rotina</a:t>
            </a:r>
            <a:r>
              <a:rPr lang="en-US"/>
              <a:t> </a:t>
            </a:r>
            <a:r>
              <a:rPr lang="en-US" err="1"/>
              <a:t>semanal</a:t>
            </a:r>
            <a:r>
              <a:rPr lang="en-US"/>
              <a:t>. Na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7h a UL Global </a:t>
            </a:r>
            <a:r>
              <a:rPr lang="en-US" err="1"/>
              <a:t>aprova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. Na sexta o Global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atualizações</a:t>
            </a:r>
            <a:r>
              <a:rPr lang="en-US"/>
              <a:t> do Galileo e do UNCC e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inclui</a:t>
            </a:r>
            <a:r>
              <a:rPr lang="en-US"/>
              <a:t> as </a:t>
            </a:r>
            <a:r>
              <a:rPr lang="en-US" err="1"/>
              <a:t>novidades</a:t>
            </a:r>
            <a:r>
              <a:rPr lang="en-US"/>
              <a:t> no ADP. Na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,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17h,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times a nova </a:t>
            </a:r>
            <a:r>
              <a:rPr lang="en-US" err="1"/>
              <a:t>versão</a:t>
            </a:r>
            <a:r>
              <a:rPr lang="en-US"/>
              <a:t> do ADP, com as </a:t>
            </a:r>
            <a:r>
              <a:rPr lang="en-US" err="1"/>
              <a:t>inclusões</a:t>
            </a:r>
            <a:r>
              <a:rPr lang="en-US"/>
              <a:t> de Galileo e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solicitações</a:t>
            </a:r>
            <a:r>
              <a:rPr lang="en-US"/>
              <a:t> dos </a:t>
            </a:r>
            <a:r>
              <a:rPr lang="en-US" err="1"/>
              <a:t>mídias</a:t>
            </a:r>
            <a:r>
              <a:rPr lang="en-US"/>
              <a:t>, e </a:t>
            </a:r>
            <a:r>
              <a:rPr lang="en-US" err="1"/>
              <a:t>atualiza</a:t>
            </a:r>
            <a:r>
              <a:rPr lang="en-US"/>
              <a:t> a RM online </a:t>
            </a:r>
            <a:r>
              <a:rPr lang="en-US" err="1"/>
              <a:t>disponível</a:t>
            </a:r>
            <a:r>
              <a:rPr lang="en-US"/>
              <a:t> no SharePoint com as </a:t>
            </a:r>
            <a:r>
              <a:rPr lang="en-US" err="1"/>
              <a:t>mesmas</a:t>
            </a:r>
            <a:r>
              <a:rPr lang="en-US"/>
              <a:t> </a:t>
            </a:r>
            <a:r>
              <a:rPr lang="en-US" err="1"/>
              <a:t>novidades</a:t>
            </a:r>
            <a:r>
              <a:rPr lang="en-US"/>
              <a:t>. CN Code. Sempre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precisar</a:t>
            </a:r>
            <a:r>
              <a:rPr lang="en-US"/>
              <a:t> 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lista</a:t>
            </a:r>
            <a:r>
              <a:rPr lang="en-US"/>
              <a:t> do Global, a </a:t>
            </a:r>
            <a:r>
              <a:rPr lang="en-US" err="1"/>
              <a:t>inclusão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solicitada</a:t>
            </a:r>
            <a:r>
              <a:rPr lang="en-US"/>
              <a:t> à UL Global </a:t>
            </a:r>
            <a:r>
              <a:rPr lang="en-US" err="1"/>
              <a:t>pelo</a:t>
            </a:r>
            <a:r>
              <a:rPr lang="en-US"/>
              <a:t> time da Unilever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campanha</a:t>
            </a:r>
            <a:r>
              <a:rPr lang="en-US"/>
              <a:t>, marketing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da BU. A UL Global </a:t>
            </a:r>
            <a:r>
              <a:rPr lang="en-US" err="1"/>
              <a:t>aprova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segundas</a:t>
            </a:r>
            <a:r>
              <a:rPr lang="en-US"/>
              <a:t>, </a:t>
            </a:r>
            <a:r>
              <a:rPr lang="en-US" err="1"/>
              <a:t>às</a:t>
            </a:r>
            <a:r>
              <a:rPr lang="en-US"/>
              <a:t> 7h, e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atualizações</a:t>
            </a:r>
            <a:r>
              <a:rPr lang="en-US"/>
              <a:t> do UNCC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sextas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ter </a:t>
            </a:r>
            <a:r>
              <a:rPr lang="en-US" err="1"/>
              <a:t>sido</a:t>
            </a:r>
            <a:r>
              <a:rPr lang="en-US"/>
              <a:t> </a:t>
            </a:r>
            <a:r>
              <a:rPr lang="en-US" err="1"/>
              <a:t>incluída</a:t>
            </a:r>
            <a:r>
              <a:rPr lang="en-US"/>
              <a:t>. </a:t>
            </a:r>
            <a:r>
              <a:rPr lang="en-US" err="1"/>
              <a:t>Há</a:t>
            </a:r>
            <a:r>
              <a:rPr lang="en-US"/>
              <a:t> duas </a:t>
            </a:r>
            <a:r>
              <a:rPr lang="en-US" err="1"/>
              <a:t>opções</a:t>
            </a:r>
            <a:r>
              <a:rPr lang="en-US"/>
              <a:t>, </a:t>
            </a:r>
            <a:r>
              <a:rPr lang="en-US" err="1"/>
              <a:t>aguardar</a:t>
            </a:r>
            <a:r>
              <a:rPr lang="en-US"/>
              <a:t> a </a:t>
            </a:r>
            <a:r>
              <a:rPr lang="en-US" err="1"/>
              <a:t>próxima</a:t>
            </a:r>
            <a:r>
              <a:rPr lang="en-US"/>
              <a:t> </a:t>
            </a:r>
            <a:r>
              <a:rPr lang="en-US" err="1"/>
              <a:t>atualização</a:t>
            </a:r>
            <a:r>
              <a:rPr lang="en-US"/>
              <a:t> da UL Global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consultar</a:t>
            </a:r>
            <a:r>
              <a:rPr lang="en-US"/>
              <a:t> a UL </a:t>
            </a:r>
            <a:r>
              <a:rPr lang="en-US" err="1"/>
              <a:t>Brasil</a:t>
            </a:r>
            <a:r>
              <a:rPr lang="en-US"/>
              <a:t> para saber se as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criadas</a:t>
            </a:r>
            <a:r>
              <a:rPr lang="en-US"/>
              <a:t> antes da </a:t>
            </a:r>
            <a:r>
              <a:rPr lang="en-US" err="1"/>
              <a:t>inclusão</a:t>
            </a:r>
            <a:r>
              <a:rPr lang="en-US"/>
              <a:t> no UNCC. Se a UL </a:t>
            </a:r>
            <a:r>
              <a:rPr lang="en-US" err="1"/>
              <a:t>Brasil</a:t>
            </a:r>
            <a:r>
              <a:rPr lang="en-US"/>
              <a:t> </a:t>
            </a:r>
            <a:r>
              <a:rPr lang="en-US" err="1"/>
              <a:t>autorizar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CN Code e o Campaign,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idênticos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cadastrados</a:t>
            </a:r>
            <a:r>
              <a:rPr lang="en-US"/>
              <a:t> no UNCC.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formaliza</a:t>
            </a:r>
            <a:r>
              <a:rPr lang="en-US"/>
              <a:t> o </a:t>
            </a:r>
            <a:r>
              <a:rPr lang="en-US" err="1"/>
              <a:t>acordo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e-mail para a </a:t>
            </a:r>
            <a:r>
              <a:rPr lang="en-US" err="1"/>
              <a:t>Stormx</a:t>
            </a:r>
            <a:r>
              <a:rPr lang="en-US"/>
              <a:t>, com o print da </a:t>
            </a:r>
            <a:r>
              <a:rPr lang="en-US" err="1"/>
              <a:t>autorização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. Ao </a:t>
            </a:r>
            <a:r>
              <a:rPr lang="en-US" err="1"/>
              <a:t>receber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cadastra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</a:t>
            </a:r>
            <a:r>
              <a:rPr lang="en-US" err="1"/>
              <a:t>versão</a:t>
            </a:r>
            <a:r>
              <a:rPr lang="en-US"/>
              <a:t> 6.0. Campaign Name.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nome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global, </a:t>
            </a:r>
            <a:r>
              <a:rPr lang="en-US" err="1"/>
              <a:t>definido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Global da Unilever.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recebe</a:t>
            </a:r>
            <a:r>
              <a:rPr lang="en-US"/>
              <a:t> a </a:t>
            </a:r>
            <a:r>
              <a:rPr lang="en-US" err="1"/>
              <a:t>atualização</a:t>
            </a:r>
            <a:r>
              <a:rPr lang="en-US"/>
              <a:t> das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globais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sextas</a:t>
            </a:r>
            <a:r>
              <a:rPr lang="en-US"/>
              <a:t> e </a:t>
            </a:r>
            <a:r>
              <a:rPr lang="en-US" err="1"/>
              <a:t>inclui</a:t>
            </a:r>
            <a:r>
              <a:rPr lang="en-US"/>
              <a:t>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no ADP </a:t>
            </a:r>
            <a:r>
              <a:rPr lang="en-US" err="1"/>
              <a:t>enviado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toda</a:t>
            </a:r>
            <a:r>
              <a:rPr lang="en-US"/>
              <a:t>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. Para </a:t>
            </a:r>
            <a:r>
              <a:rPr lang="en-US" err="1"/>
              <a:t>criar</a:t>
            </a:r>
            <a:r>
              <a:rPr lang="en-US"/>
              <a:t> um Campaign Name,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solicitam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à Unilever,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aprova</a:t>
            </a:r>
            <a:r>
              <a:rPr lang="en-US"/>
              <a:t> e </a:t>
            </a:r>
            <a:r>
              <a:rPr lang="en-US" err="1"/>
              <a:t>envia</a:t>
            </a:r>
            <a:r>
              <a:rPr lang="en-US"/>
              <a:t> a </a:t>
            </a:r>
            <a:r>
              <a:rPr lang="en-US" err="1"/>
              <a:t>atualização</a:t>
            </a:r>
            <a:r>
              <a:rPr lang="en-US"/>
              <a:t> do Global à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sextas</a:t>
            </a:r>
            <a:r>
              <a:rPr lang="en-US"/>
              <a:t>.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Camphouse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sistema</a:t>
            </a:r>
            <a:r>
              <a:rPr lang="en-US"/>
              <a:t> online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planos</a:t>
            </a:r>
            <a:r>
              <a:rPr lang="en-US"/>
              <a:t>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cadastrados</a:t>
            </a:r>
            <a:r>
              <a:rPr lang="en-US"/>
              <a:t> e </a:t>
            </a:r>
            <a:r>
              <a:rPr lang="en-US" err="1"/>
              <a:t>aprovados</a:t>
            </a:r>
            <a:r>
              <a:rPr lang="en-US"/>
              <a:t>, com </a:t>
            </a:r>
            <a:r>
              <a:rPr lang="en-US" err="1"/>
              <a:t>acesso</a:t>
            </a:r>
            <a:r>
              <a:rPr lang="en-US"/>
              <a:t> da </a:t>
            </a:r>
            <a:r>
              <a:rPr lang="en-US" err="1"/>
              <a:t>agência</a:t>
            </a:r>
            <a:r>
              <a:rPr lang="en-US"/>
              <a:t> e da Unilever. O </a:t>
            </a:r>
            <a:r>
              <a:rPr lang="en-US" err="1"/>
              <a:t>mídia</a:t>
            </a:r>
            <a:r>
              <a:rPr lang="en-US"/>
              <a:t> da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cadastra</a:t>
            </a:r>
            <a:r>
              <a:rPr lang="en-US"/>
              <a:t> o plano e </a:t>
            </a:r>
            <a:r>
              <a:rPr lang="en-US" err="1"/>
              <a:t>envia</a:t>
            </a:r>
            <a:r>
              <a:rPr lang="en-US"/>
              <a:t> para </a:t>
            </a:r>
            <a:r>
              <a:rPr lang="en-US" err="1"/>
              <a:t>aprovação</a:t>
            </a:r>
            <a:r>
              <a:rPr lang="en-US"/>
              <a:t> da UL. Quem </a:t>
            </a:r>
            <a:r>
              <a:rPr lang="en-US" err="1"/>
              <a:t>controla</a:t>
            </a:r>
            <a:r>
              <a:rPr lang="en-US"/>
              <a:t> o Camphouse </a:t>
            </a:r>
            <a:r>
              <a:rPr lang="en-US" err="1"/>
              <a:t>é</a:t>
            </a:r>
            <a:r>
              <a:rPr lang="en-US"/>
              <a:t> 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ajusta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e </a:t>
            </a:r>
            <a:r>
              <a:rPr lang="en-US" err="1"/>
              <a:t>inclui</a:t>
            </a:r>
            <a:r>
              <a:rPr lang="en-US"/>
              <a:t> novas </a:t>
            </a:r>
            <a:r>
              <a:rPr lang="en-US" err="1"/>
              <a:t>opções</a:t>
            </a:r>
            <a:r>
              <a:rPr lang="en-US"/>
              <a:t> de dropdown. Ele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traz</a:t>
            </a:r>
            <a:r>
              <a:rPr lang="en-US"/>
              <a:t> as </a:t>
            </a:r>
            <a:r>
              <a:rPr lang="en-US" err="1"/>
              <a:t>regras</a:t>
            </a:r>
            <a:r>
              <a:rPr lang="en-US"/>
              <a:t> e </a:t>
            </a:r>
            <a:r>
              <a:rPr lang="en-US" err="1"/>
              <a:t>definições</a:t>
            </a:r>
            <a:r>
              <a:rPr lang="en-US"/>
              <a:t> do UNCC Global e da </a:t>
            </a:r>
            <a:r>
              <a:rPr lang="en-US" err="1"/>
              <a:t>documentação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 pela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então</a:t>
            </a:r>
            <a:r>
              <a:rPr lang="en-US"/>
              <a:t>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tudo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</a:t>
            </a:r>
            <a:r>
              <a:rPr lang="en-US" err="1"/>
              <a:t>elas</a:t>
            </a:r>
            <a:r>
              <a:rPr lang="en-US"/>
              <a:t>. Uma </a:t>
            </a:r>
            <a:r>
              <a:rPr lang="en-US" err="1"/>
              <a:t>informação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no Camphouse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chegar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podendo</a:t>
            </a:r>
            <a:r>
              <a:rPr lang="en-US"/>
              <a:t> ser </a:t>
            </a:r>
            <a:r>
              <a:rPr lang="en-US" err="1"/>
              <a:t>repassada</a:t>
            </a:r>
            <a:r>
              <a:rPr lang="en-US"/>
              <a:t> para a </a:t>
            </a:r>
            <a:r>
              <a:rPr lang="en-US" err="1"/>
              <a:t>taxonomia</a:t>
            </a:r>
            <a:r>
              <a:rPr lang="en-US"/>
              <a:t>. Nas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digitais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no </a:t>
            </a:r>
            <a:r>
              <a:rPr lang="en-US" err="1"/>
              <a:t>fluxo</a:t>
            </a:r>
            <a:r>
              <a:rPr lang="en-US"/>
              <a:t> para ter </a:t>
            </a:r>
            <a:r>
              <a:rPr lang="en-US" err="1"/>
              <a:t>visão</a:t>
            </a:r>
            <a:r>
              <a:rPr lang="en-US"/>
              <a:t> do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pedido</a:t>
            </a:r>
            <a:r>
              <a:rPr lang="en-US"/>
              <a:t> 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as </a:t>
            </a:r>
            <a:r>
              <a:rPr lang="en-US" err="1"/>
              <a:t>novidades</a:t>
            </a:r>
            <a:r>
              <a:rPr lang="en-US"/>
              <a:t> no ADP e no </a:t>
            </a:r>
            <a:r>
              <a:rPr lang="en-US" err="1"/>
              <a:t>dicionário</a:t>
            </a:r>
            <a:r>
              <a:rPr lang="en-US"/>
              <a:t>. Quando algo novo </a:t>
            </a:r>
            <a:r>
              <a:rPr lang="en-US" err="1"/>
              <a:t>chega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Camphouse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repassado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consultar</a:t>
            </a:r>
            <a:r>
              <a:rPr lang="en-US"/>
              <a:t> a UL, 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atrasa</a:t>
            </a:r>
            <a:r>
              <a:rPr lang="en-US"/>
              <a:t> a </a:t>
            </a:r>
            <a:r>
              <a:rPr lang="en-US" err="1"/>
              <a:t>demanda</a:t>
            </a:r>
            <a:r>
              <a:rPr lang="en-US"/>
              <a:t>. Com 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aprovada</a:t>
            </a:r>
            <a:r>
              <a:rPr lang="en-US"/>
              <a:t>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exportar</a:t>
            </a:r>
            <a:r>
              <a:rPr lang="en-US"/>
              <a:t> o plano e </a:t>
            </a:r>
            <a:r>
              <a:rPr lang="en-US" err="1"/>
              <a:t>preencher</a:t>
            </a:r>
            <a:r>
              <a:rPr lang="en-US"/>
              <a:t> a RM.</a:t>
            </a:r>
            <a:endParaRPr/>
          </a:p>
        </p:txBody>
      </p:sp>
      <p:sp>
        <p:nvSpPr>
          <p:cNvPr id="147" name="Google Shape;1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RM </a:t>
            </a:r>
            <a:r>
              <a:rPr lang="en-US" err="1"/>
              <a:t>é</a:t>
            </a:r>
            <a:r>
              <a:rPr lang="en-US"/>
              <a:t> um </a:t>
            </a:r>
            <a:r>
              <a:rPr lang="en-US" err="1"/>
              <a:t>documento</a:t>
            </a:r>
            <a:r>
              <a:rPr lang="en-US"/>
              <a:t> online </a:t>
            </a:r>
            <a:r>
              <a:rPr lang="en-US" err="1"/>
              <a:t>enviado</a:t>
            </a:r>
            <a:r>
              <a:rPr lang="en-US"/>
              <a:t> </a:t>
            </a:r>
            <a:r>
              <a:rPr lang="en-US" err="1"/>
              <a:t>pelos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e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contém</a:t>
            </a:r>
            <a:r>
              <a:rPr lang="en-US"/>
              <a:t> o briefing e o plano de </a:t>
            </a:r>
            <a:r>
              <a:rPr lang="en-US" err="1"/>
              <a:t>mídia</a:t>
            </a:r>
            <a:r>
              <a:rPr lang="en-US"/>
              <a:t> com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desenvolva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. </a:t>
            </a:r>
            <a:r>
              <a:rPr lang="en-US" err="1"/>
              <a:t>Além</a:t>
            </a:r>
            <a:r>
              <a:rPr lang="en-US"/>
              <a:t> de </a:t>
            </a:r>
            <a:r>
              <a:rPr lang="en-US" err="1"/>
              <a:t>centralizar</a:t>
            </a:r>
            <a:r>
              <a:rPr lang="en-US"/>
              <a:t>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, a RM </a:t>
            </a:r>
            <a:r>
              <a:rPr lang="en-US" err="1"/>
              <a:t>funciona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controle</a:t>
            </a:r>
            <a:r>
              <a:rPr lang="en-US"/>
              <a:t> de status das </a:t>
            </a:r>
            <a:r>
              <a:rPr lang="en-US" err="1"/>
              <a:t>solicitações</a:t>
            </a:r>
            <a:r>
              <a:rPr lang="en-US"/>
              <a:t>.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registradas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devidamente</a:t>
            </a:r>
            <a:r>
              <a:rPr lang="en-US"/>
              <a:t> </a:t>
            </a:r>
            <a:r>
              <a:rPr lang="en-US" err="1"/>
              <a:t>sinalizadas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</a:t>
            </a:r>
            <a:r>
              <a:rPr lang="en-US" err="1"/>
              <a:t>correspondente</a:t>
            </a:r>
            <a:r>
              <a:rPr lang="en-US"/>
              <a:t> do Jira.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a </a:t>
            </a:r>
            <a:r>
              <a:rPr lang="en-US" err="1"/>
              <a:t>única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atualizar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estruturais</a:t>
            </a:r>
            <a:r>
              <a:rPr lang="en-US"/>
              <a:t> da RM, </a:t>
            </a:r>
            <a:r>
              <a:rPr lang="en-US" err="1"/>
              <a:t>incluindo</a:t>
            </a:r>
            <a:r>
              <a:rPr lang="en-US"/>
              <a:t>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novos</a:t>
            </a:r>
            <a:r>
              <a:rPr lang="en-US"/>
              <a:t> campos, </a:t>
            </a:r>
            <a:r>
              <a:rPr lang="en-US" err="1"/>
              <a:t>alteração</a:t>
            </a:r>
            <a:r>
              <a:rPr lang="en-US"/>
              <a:t> de </a:t>
            </a:r>
            <a:r>
              <a:rPr lang="en-US" err="1"/>
              <a:t>regras</a:t>
            </a:r>
            <a:r>
              <a:rPr lang="en-US"/>
              <a:t>, </a:t>
            </a:r>
            <a:r>
              <a:rPr lang="en-US" err="1"/>
              <a:t>inclusão</a:t>
            </a:r>
            <a:r>
              <a:rPr lang="en-US"/>
              <a:t> de novas </a:t>
            </a:r>
            <a:r>
              <a:rPr lang="en-US" err="1"/>
              <a:t>listas</a:t>
            </a:r>
            <a:r>
              <a:rPr lang="en-US"/>
              <a:t> </a:t>
            </a:r>
            <a:r>
              <a:rPr lang="en-US" err="1"/>
              <a:t>suspensas</a:t>
            </a:r>
            <a:r>
              <a:rPr lang="en-US"/>
              <a:t> e </a:t>
            </a:r>
            <a:r>
              <a:rPr lang="en-US" err="1"/>
              <a:t>ajustes</a:t>
            </a:r>
            <a:r>
              <a:rPr lang="en-US"/>
              <a:t> de </a:t>
            </a:r>
            <a:r>
              <a:rPr lang="en-US" err="1"/>
              <a:t>lógica</a:t>
            </a:r>
            <a:r>
              <a:rPr lang="en-US"/>
              <a:t>.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ocorrer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as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semanais</a:t>
            </a:r>
            <a:r>
              <a:rPr lang="en-US"/>
              <a:t> do Galileo, </a:t>
            </a:r>
            <a:r>
              <a:rPr lang="en-US" err="1"/>
              <a:t>novidades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ajustes</a:t>
            </a:r>
            <a:r>
              <a:rPr lang="en-US"/>
              <a:t> no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inclusão</a:t>
            </a:r>
            <a:r>
              <a:rPr lang="en-US"/>
              <a:t> de novas </a:t>
            </a:r>
            <a:r>
              <a:rPr lang="en-US" err="1"/>
              <a:t>opções</a:t>
            </a:r>
            <a:r>
              <a:rPr lang="en-US"/>
              <a:t> de dropdown,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estruturais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</a:t>
            </a:r>
            <a:r>
              <a:rPr lang="en-US" err="1"/>
              <a:t>adequação</a:t>
            </a:r>
            <a:r>
              <a:rPr lang="en-US"/>
              <a:t> a </a:t>
            </a:r>
            <a:r>
              <a:rPr lang="en-US" err="1"/>
              <a:t>novos</a:t>
            </a:r>
            <a:r>
              <a:rPr lang="en-US"/>
              <a:t> </a:t>
            </a:r>
            <a:r>
              <a:rPr lang="en-US" err="1"/>
              <a:t>planos</a:t>
            </a:r>
            <a:r>
              <a:rPr lang="en-US"/>
              <a:t> de </a:t>
            </a:r>
            <a:r>
              <a:rPr lang="en-US" err="1"/>
              <a:t>mídia</a:t>
            </a:r>
            <a:r>
              <a:rPr lang="en-US"/>
              <a:t> e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técnicos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impactem</a:t>
            </a:r>
            <a:r>
              <a:rPr lang="en-US"/>
              <a:t> a </a:t>
            </a:r>
            <a:r>
              <a:rPr lang="en-US" err="1"/>
              <a:t>padronização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. </a:t>
            </a:r>
            <a:r>
              <a:rPr lang="en-US" err="1"/>
              <a:t>Apenas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novas </a:t>
            </a:r>
            <a:r>
              <a:rPr lang="en-US" err="1"/>
              <a:t>versões</a:t>
            </a:r>
            <a:r>
              <a:rPr lang="en-US"/>
              <a:t> da RM e </a:t>
            </a:r>
            <a:r>
              <a:rPr lang="en-US" err="1"/>
              <a:t>realizar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estruturais</a:t>
            </a:r>
            <a:r>
              <a:rPr lang="en-US"/>
              <a:t>.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sempre usar a </a:t>
            </a:r>
            <a:r>
              <a:rPr lang="en-US" err="1"/>
              <a:t>versão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recente</a:t>
            </a:r>
            <a:r>
              <a:rPr lang="en-US"/>
              <a:t> e,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, </a:t>
            </a: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 dessa </a:t>
            </a:r>
            <a:r>
              <a:rPr lang="en-US" err="1"/>
              <a:t>versão</a:t>
            </a:r>
            <a:r>
              <a:rPr lang="en-US"/>
              <a:t>, </a:t>
            </a:r>
            <a:r>
              <a:rPr lang="en-US" err="1"/>
              <a:t>nunca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. Cada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ter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ativa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RMs </a:t>
            </a:r>
            <a:r>
              <a:rPr lang="en-US" err="1"/>
              <a:t>adicionais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possui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aberto</a:t>
            </a:r>
            <a:r>
              <a:rPr lang="en-US"/>
              <a:t>, pois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</a:t>
            </a:r>
            <a:r>
              <a:rPr lang="en-US" err="1"/>
              <a:t>duplicidade</a:t>
            </a:r>
            <a:r>
              <a:rPr lang="en-US"/>
              <a:t> de </a:t>
            </a:r>
            <a:r>
              <a:rPr lang="en-US" err="1"/>
              <a:t>informações</a:t>
            </a:r>
            <a:r>
              <a:rPr lang="en-US"/>
              <a:t> e </a:t>
            </a:r>
            <a:r>
              <a:rPr lang="en-US" err="1"/>
              <a:t>compromete</a:t>
            </a:r>
            <a:r>
              <a:rPr lang="en-US"/>
              <a:t> o </a:t>
            </a:r>
            <a:r>
              <a:rPr lang="en-US" err="1"/>
              <a:t>controle</a:t>
            </a:r>
            <a:r>
              <a:rPr lang="en-US"/>
              <a:t> de status das </a:t>
            </a:r>
            <a:r>
              <a:rPr lang="en-US" err="1"/>
              <a:t>solicitações</a:t>
            </a:r>
            <a:r>
              <a:rPr lang="en-US"/>
              <a:t>. Se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existir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aberta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utilizada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o </a:t>
            </a:r>
            <a:r>
              <a:rPr lang="en-US" err="1"/>
              <a:t>encerramento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Caso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migrar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, a RM anterior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desativada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esteja</a:t>
            </a:r>
            <a:r>
              <a:rPr lang="en-US"/>
              <a:t> </a:t>
            </a:r>
            <a:r>
              <a:rPr lang="en-US" err="1"/>
              <a:t>ativa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 </a:t>
            </a:r>
            <a:r>
              <a:rPr lang="en-US" err="1"/>
              <a:t>Ajustes</a:t>
            </a:r>
            <a:r>
              <a:rPr lang="en-US"/>
              <a:t> de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novas </a:t>
            </a:r>
            <a:r>
              <a:rPr lang="en-US" err="1"/>
              <a:t>solicitações</a:t>
            </a:r>
            <a:r>
              <a:rPr lang="en-US"/>
              <a:t> para a </a:t>
            </a:r>
            <a:r>
              <a:rPr lang="en-US" err="1"/>
              <a:t>mesma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feitos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</a:t>
            </a:r>
            <a:r>
              <a:rPr lang="en-US" err="1"/>
              <a:t>ativa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organização</a:t>
            </a:r>
            <a:r>
              <a:rPr lang="en-US"/>
              <a:t>, </a:t>
            </a:r>
            <a:r>
              <a:rPr lang="en-US" err="1"/>
              <a:t>rastreabilidade</a:t>
            </a:r>
            <a:r>
              <a:rPr lang="en-US"/>
              <a:t> e </a:t>
            </a:r>
            <a:r>
              <a:rPr lang="en-US" err="1"/>
              <a:t>centralização</a:t>
            </a:r>
            <a:r>
              <a:rPr lang="en-US"/>
              <a:t> das </a:t>
            </a:r>
            <a:r>
              <a:rPr lang="en-US" err="1"/>
              <a:t>informações</a:t>
            </a:r>
            <a:r>
              <a:rPr lang="en-US"/>
              <a:t>. Caso </a:t>
            </a:r>
            <a:r>
              <a:rPr lang="en-US" err="1"/>
              <a:t>identifique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falta</a:t>
            </a:r>
            <a:r>
              <a:rPr lang="en-US"/>
              <a:t> </a:t>
            </a:r>
            <a:r>
              <a:rPr lang="en-US" err="1"/>
              <a:t>alguma</a:t>
            </a:r>
            <a:r>
              <a:rPr lang="en-US"/>
              <a:t> </a:t>
            </a:r>
            <a:r>
              <a:rPr lang="en-US" err="1"/>
              <a:t>opção</a:t>
            </a:r>
            <a:r>
              <a:rPr lang="en-US"/>
              <a:t> de dropdown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solicitar</a:t>
            </a:r>
            <a:r>
              <a:rPr lang="en-US"/>
              <a:t> à Carolina da </a:t>
            </a:r>
            <a:r>
              <a:rPr lang="en-US" err="1"/>
              <a:t>Stormx</a:t>
            </a:r>
            <a:r>
              <a:rPr lang="en-US"/>
              <a:t> a </a:t>
            </a:r>
            <a:r>
              <a:rPr lang="en-US" err="1"/>
              <a:t>inclusão</a:t>
            </a:r>
            <a:r>
              <a:rPr lang="en-US"/>
              <a:t>.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</a:t>
            </a:r>
            <a:r>
              <a:rPr lang="en-US" err="1"/>
              <a:t>iniciar</a:t>
            </a:r>
            <a:r>
              <a:rPr lang="en-US"/>
              <a:t> o </a:t>
            </a:r>
            <a:r>
              <a:rPr lang="en-US" err="1"/>
              <a:t>preenchimento</a:t>
            </a:r>
            <a:r>
              <a:rPr lang="en-US"/>
              <a:t> da RM,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 da RM. Para </a:t>
            </a:r>
            <a:r>
              <a:rPr lang="en-US" err="1"/>
              <a:t>isso</a:t>
            </a:r>
            <a:r>
              <a:rPr lang="en-US"/>
              <a:t>, </a:t>
            </a:r>
            <a:r>
              <a:rPr lang="en-US" err="1"/>
              <a:t>exportar</a:t>
            </a:r>
            <a:r>
              <a:rPr lang="en-US"/>
              <a:t>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utilizando</a:t>
            </a:r>
            <a:r>
              <a:rPr lang="en-US"/>
              <a:t> a </a:t>
            </a:r>
            <a:r>
              <a:rPr lang="en-US" err="1"/>
              <a:t>opção</a:t>
            </a:r>
            <a:r>
              <a:rPr lang="en-US"/>
              <a:t> Export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feito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Alexandre Parma. O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um </a:t>
            </a:r>
            <a:r>
              <a:rPr lang="en-US" err="1"/>
              <a:t>arquivo</a:t>
            </a:r>
            <a:r>
              <a:rPr lang="en-US"/>
              <a:t> Excel. </a:t>
            </a:r>
            <a:r>
              <a:rPr lang="en-US" err="1"/>
              <a:t>Copiar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do </a:t>
            </a:r>
            <a:r>
              <a:rPr lang="en-US" err="1"/>
              <a:t>arquivo</a:t>
            </a:r>
            <a:r>
              <a:rPr lang="en-US"/>
              <a:t> </a:t>
            </a:r>
            <a:r>
              <a:rPr lang="en-US" err="1"/>
              <a:t>exportado</a:t>
            </a:r>
            <a:r>
              <a:rPr lang="en-US"/>
              <a:t> e </a:t>
            </a:r>
            <a:r>
              <a:rPr lang="en-US" err="1"/>
              <a:t>colar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 a </a:t>
            </a:r>
            <a:r>
              <a:rPr lang="en-US" err="1"/>
              <a:t>partir</a:t>
            </a:r>
            <a:r>
              <a:rPr lang="en-US"/>
              <a:t> da </a:t>
            </a:r>
            <a:r>
              <a:rPr lang="en-US" err="1"/>
              <a:t>célula</a:t>
            </a:r>
            <a:r>
              <a:rPr lang="en-US"/>
              <a:t> C3, </a:t>
            </a:r>
            <a:r>
              <a:rPr lang="en-US" err="1"/>
              <a:t>utilizando</a:t>
            </a:r>
            <a:r>
              <a:rPr lang="en-US"/>
              <a:t> Colar Especial, Valores, para </a:t>
            </a:r>
            <a:r>
              <a:rPr lang="en-US" err="1"/>
              <a:t>evitar</a:t>
            </a:r>
            <a:r>
              <a:rPr lang="en-US"/>
              <a:t> </a:t>
            </a:r>
            <a:r>
              <a:rPr lang="en-US" err="1"/>
              <a:t>conflitos</a:t>
            </a:r>
            <a:r>
              <a:rPr lang="en-US"/>
              <a:t> de </a:t>
            </a:r>
            <a:r>
              <a:rPr lang="en-US" err="1"/>
              <a:t>formatação</a:t>
            </a:r>
            <a:r>
              <a:rPr lang="en-US"/>
              <a:t>. </a:t>
            </a:r>
            <a:r>
              <a:rPr lang="en-US" err="1"/>
              <a:t>Depois</a:t>
            </a:r>
            <a:r>
              <a:rPr lang="en-US"/>
              <a:t>, </a:t>
            </a:r>
            <a:r>
              <a:rPr lang="en-US" err="1"/>
              <a:t>acessar</a:t>
            </a:r>
            <a:r>
              <a:rPr lang="en-US"/>
              <a:t> a aba </a:t>
            </a:r>
            <a:r>
              <a:rPr lang="en-US" err="1"/>
              <a:t>correspondente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veículo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, Google, Programmatic, YouTube, Meta e TikTok, Pinterest, Snapchat e Twitter, </a:t>
            </a:r>
            <a:r>
              <a:rPr lang="en-US" err="1"/>
              <a:t>Innovid</a:t>
            </a:r>
            <a:r>
              <a:rPr lang="en-US"/>
              <a:t>. Na </a:t>
            </a:r>
            <a:r>
              <a:rPr lang="en-US" err="1"/>
              <a:t>coluna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, </a:t>
            </a:r>
            <a:r>
              <a:rPr lang="en-US" err="1"/>
              <a:t>informar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correspondente</a:t>
            </a:r>
            <a:r>
              <a:rPr lang="en-US"/>
              <a:t> no plano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preenchidos</a:t>
            </a:r>
            <a:r>
              <a:rPr lang="en-US"/>
              <a:t> </a:t>
            </a:r>
            <a:r>
              <a:rPr lang="en-US" err="1"/>
              <a:t>automaticamente</a:t>
            </a:r>
            <a:r>
              <a:rPr lang="en-US"/>
              <a:t>. </a:t>
            </a:r>
            <a:r>
              <a:rPr lang="en-US" err="1"/>
              <a:t>Alguns</a:t>
            </a:r>
            <a:r>
              <a:rPr lang="en-US"/>
              <a:t> campos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preenchidos</a:t>
            </a:r>
            <a:r>
              <a:rPr lang="en-US"/>
              <a:t> </a:t>
            </a:r>
            <a:r>
              <a:rPr lang="en-US" err="1"/>
              <a:t>automaticamente</a:t>
            </a:r>
            <a:r>
              <a:rPr lang="en-US"/>
              <a:t> e </a:t>
            </a:r>
            <a:r>
              <a:rPr lang="en-US" err="1"/>
              <a:t>exigem</a:t>
            </a:r>
            <a:r>
              <a:rPr lang="en-US"/>
              <a:t> </a:t>
            </a:r>
            <a:r>
              <a:rPr lang="en-US" err="1"/>
              <a:t>atenção</a:t>
            </a:r>
            <a:r>
              <a:rPr lang="en-US"/>
              <a:t> manual. Campos </a:t>
            </a:r>
            <a:r>
              <a:rPr lang="en-US" err="1"/>
              <a:t>roxos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selecionados</a:t>
            </a:r>
            <a:r>
              <a:rPr lang="en-US"/>
              <a:t> via dropdown. Campos </a:t>
            </a:r>
            <a:r>
              <a:rPr lang="en-US" err="1"/>
              <a:t>amarelos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de </a:t>
            </a:r>
            <a:r>
              <a:rPr lang="en-US" err="1"/>
              <a:t>preenchimento</a:t>
            </a:r>
            <a:r>
              <a:rPr lang="en-US"/>
              <a:t> livre,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uso</a:t>
            </a:r>
            <a:r>
              <a:rPr lang="en-US"/>
              <a:t> de </a:t>
            </a:r>
            <a:r>
              <a:rPr lang="en-US" err="1"/>
              <a:t>caracteres</a:t>
            </a:r>
            <a:r>
              <a:rPr lang="en-US"/>
              <a:t> </a:t>
            </a:r>
            <a:r>
              <a:rPr lang="en-US" err="1"/>
              <a:t>especiais</a:t>
            </a:r>
            <a:r>
              <a:rPr lang="en-US"/>
              <a:t>. Nas </a:t>
            </a:r>
            <a:r>
              <a:rPr lang="en-US" err="1"/>
              <a:t>últimas</a:t>
            </a:r>
            <a:r>
              <a:rPr lang="en-US"/>
              <a:t> </a:t>
            </a:r>
            <a:r>
              <a:rPr lang="en-US" err="1"/>
              <a:t>colunas</a:t>
            </a:r>
            <a:r>
              <a:rPr lang="en-US"/>
              <a:t> da RM,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cor</a:t>
            </a:r>
            <a:r>
              <a:rPr lang="en-US"/>
              <a:t> </a:t>
            </a:r>
            <a:r>
              <a:rPr lang="en-US" err="1"/>
              <a:t>roxo</a:t>
            </a:r>
            <a:r>
              <a:rPr lang="en-US"/>
              <a:t> claro,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preenche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criadas</a:t>
            </a:r>
            <a:r>
              <a:rPr lang="en-US"/>
              <a:t>, o ID, da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, a URL </a:t>
            </a:r>
            <a:r>
              <a:rPr lang="en-US" err="1"/>
              <a:t>parametrizada</a:t>
            </a:r>
            <a:r>
              <a:rPr lang="en-US"/>
              <a:t> e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. A RM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completamente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dê</a:t>
            </a:r>
            <a:r>
              <a:rPr lang="en-US"/>
              <a:t> </a:t>
            </a:r>
            <a:r>
              <a:rPr lang="en-US" err="1"/>
              <a:t>início</a:t>
            </a:r>
            <a:r>
              <a:rPr lang="en-US"/>
              <a:t> à </a:t>
            </a:r>
            <a:r>
              <a:rPr lang="en-US" err="1"/>
              <a:t>criação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. Caso </a:t>
            </a:r>
            <a:r>
              <a:rPr lang="en-US" err="1"/>
              <a:t>esteja</a:t>
            </a:r>
            <a:r>
              <a:rPr lang="en-US"/>
              <a:t> </a:t>
            </a:r>
            <a:r>
              <a:rPr lang="en-US" err="1"/>
              <a:t>faltando</a:t>
            </a:r>
            <a:r>
              <a:rPr lang="en-US"/>
              <a:t> </a:t>
            </a:r>
            <a:r>
              <a:rPr lang="en-US" err="1"/>
              <a:t>alguma</a:t>
            </a:r>
            <a:r>
              <a:rPr lang="en-US"/>
              <a:t> </a:t>
            </a:r>
            <a:r>
              <a:rPr lang="en-US" err="1"/>
              <a:t>informação</a:t>
            </a:r>
            <a:r>
              <a:rPr lang="en-US"/>
              <a:t>, o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autorizado</a:t>
            </a:r>
            <a:r>
              <a:rPr lang="en-US"/>
              <a:t> a </a:t>
            </a:r>
            <a:r>
              <a:rPr lang="en-US" err="1"/>
              <a:t>recusar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com a </a:t>
            </a:r>
            <a:r>
              <a:rPr lang="en-US" err="1"/>
              <a:t>demanda</a:t>
            </a:r>
            <a:r>
              <a:rPr lang="en-US"/>
              <a:t>. Novas </a:t>
            </a:r>
            <a:r>
              <a:rPr lang="en-US" err="1"/>
              <a:t>linhas</a:t>
            </a:r>
            <a:r>
              <a:rPr lang="en-US"/>
              <a:t> no Camphouse. Caso novas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adicionadas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o </a:t>
            </a:r>
            <a:r>
              <a:rPr lang="en-US" err="1"/>
              <a:t>preenchimento</a:t>
            </a:r>
            <a:r>
              <a:rPr lang="en-US"/>
              <a:t> </a:t>
            </a:r>
            <a:r>
              <a:rPr lang="en-US" err="1"/>
              <a:t>inicial</a:t>
            </a:r>
            <a:r>
              <a:rPr lang="en-US"/>
              <a:t> da RM,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atualizar</a:t>
            </a:r>
            <a:r>
              <a:rPr lang="en-US"/>
              <a:t> a RM. </a:t>
            </a:r>
            <a:r>
              <a:rPr lang="en-US" err="1"/>
              <a:t>Exportar</a:t>
            </a:r>
            <a:r>
              <a:rPr lang="en-US"/>
              <a:t> </a:t>
            </a:r>
            <a:r>
              <a:rPr lang="en-US" err="1"/>
              <a:t>novamente</a:t>
            </a:r>
            <a:r>
              <a:rPr lang="en-US"/>
              <a:t> o plano, </a:t>
            </a:r>
            <a:r>
              <a:rPr lang="en-US" err="1"/>
              <a:t>copiar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as novas </a:t>
            </a:r>
            <a:r>
              <a:rPr lang="en-US" err="1"/>
              <a:t>linhas</a:t>
            </a:r>
            <a:r>
              <a:rPr lang="en-US"/>
              <a:t> e </a:t>
            </a:r>
            <a:r>
              <a:rPr lang="en-US" err="1"/>
              <a:t>colar</a:t>
            </a:r>
            <a:r>
              <a:rPr lang="en-US"/>
              <a:t> logo </a:t>
            </a:r>
            <a:r>
              <a:rPr lang="en-US" err="1"/>
              <a:t>abaixo</a:t>
            </a:r>
            <a:r>
              <a:rPr lang="en-US"/>
              <a:t> da </a:t>
            </a:r>
            <a:r>
              <a:rPr lang="en-US" err="1"/>
              <a:t>última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Camphouse, com Colar Especial, Valores.</a:t>
            </a:r>
            <a:endParaRPr/>
          </a:p>
        </p:txBody>
      </p:sp>
      <p:sp>
        <p:nvSpPr>
          <p:cNvPr id="212" name="Google Shape;2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pedido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um status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sinalização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Jira. Novo </a:t>
            </a:r>
            <a:r>
              <a:rPr lang="en-US" err="1"/>
              <a:t>pedido</a:t>
            </a:r>
            <a:r>
              <a:rPr lang="en-US"/>
              <a:t>,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colunas</a:t>
            </a:r>
            <a:r>
              <a:rPr lang="en-US"/>
              <a:t> da </a:t>
            </a:r>
            <a:r>
              <a:rPr lang="en-US" err="1"/>
              <a:t>linha</a:t>
            </a:r>
            <a:r>
              <a:rPr lang="en-US"/>
              <a:t>, status </a:t>
            </a:r>
            <a:r>
              <a:rPr lang="en-US" err="1"/>
              <a:t>Solicitado</a:t>
            </a:r>
            <a:r>
              <a:rPr lang="en-US"/>
              <a:t> para </a:t>
            </a:r>
            <a:r>
              <a:rPr lang="en-US" err="1"/>
              <a:t>Stormx</a:t>
            </a:r>
            <a:r>
              <a:rPr lang="en-US"/>
              <a:t> e </a:t>
            </a:r>
            <a:r>
              <a:rPr lang="en-US" err="1"/>
              <a:t>criar</a:t>
            </a:r>
            <a:r>
              <a:rPr lang="en-US"/>
              <a:t> a task no Jira com o link da RM. </a:t>
            </a:r>
            <a:r>
              <a:rPr lang="en-US" err="1"/>
              <a:t>Alteração</a:t>
            </a:r>
            <a:r>
              <a:rPr lang="en-US"/>
              <a:t>, </a:t>
            </a:r>
            <a:r>
              <a:rPr lang="en-US" err="1"/>
              <a:t>destacar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amarelo</a:t>
            </a:r>
            <a:r>
              <a:rPr lang="en-US"/>
              <a:t> as </a:t>
            </a:r>
            <a:r>
              <a:rPr lang="en-US" err="1"/>
              <a:t>células</a:t>
            </a:r>
            <a:r>
              <a:rPr lang="en-US"/>
              <a:t> </a:t>
            </a:r>
            <a:r>
              <a:rPr lang="en-US" err="1"/>
              <a:t>alteradas</a:t>
            </a:r>
            <a:r>
              <a:rPr lang="en-US"/>
              <a:t>, status </a:t>
            </a:r>
            <a:r>
              <a:rPr lang="en-US" err="1"/>
              <a:t>Alterar</a:t>
            </a:r>
            <a:r>
              <a:rPr lang="en-US"/>
              <a:t> e </a:t>
            </a:r>
            <a:r>
              <a:rPr lang="en-US" err="1"/>
              <a:t>sinalizar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e </a:t>
            </a:r>
            <a:r>
              <a:rPr lang="en-US" err="1"/>
              <a:t>coluna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alterada</a:t>
            </a:r>
            <a:r>
              <a:rPr lang="en-US"/>
              <a:t>. </a:t>
            </a:r>
            <a:r>
              <a:rPr lang="en-US" err="1"/>
              <a:t>Cancelamento</a:t>
            </a:r>
            <a:r>
              <a:rPr lang="en-US"/>
              <a:t>, status </a:t>
            </a:r>
            <a:r>
              <a:rPr lang="en-US" err="1"/>
              <a:t>Cancelar</a:t>
            </a:r>
            <a:r>
              <a:rPr lang="en-US"/>
              <a:t> e </a:t>
            </a:r>
            <a:r>
              <a:rPr lang="en-US" err="1"/>
              <a:t>informar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cancelada</a:t>
            </a:r>
            <a:r>
              <a:rPr lang="en-US"/>
              <a:t>. </a:t>
            </a:r>
            <a:r>
              <a:rPr lang="en-US" err="1"/>
              <a:t>Prorrogação</a:t>
            </a:r>
            <a:r>
              <a:rPr lang="en-US"/>
              <a:t> da data de </a:t>
            </a:r>
            <a:r>
              <a:rPr lang="en-US" err="1"/>
              <a:t>implementação</a:t>
            </a:r>
            <a:r>
              <a:rPr lang="en-US"/>
              <a:t>. Sempre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de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prevista</a:t>
            </a:r>
            <a:r>
              <a:rPr lang="en-US"/>
              <a:t> no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for </a:t>
            </a:r>
            <a:r>
              <a:rPr lang="en-US" err="1"/>
              <a:t>implementada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data </a:t>
            </a:r>
            <a:r>
              <a:rPr lang="en-US" err="1"/>
              <a:t>originalmente</a:t>
            </a:r>
            <a:r>
              <a:rPr lang="en-US"/>
              <a:t> </a:t>
            </a:r>
            <a:r>
              <a:rPr lang="en-US" err="1"/>
              <a:t>planejada</a:t>
            </a:r>
            <a:r>
              <a:rPr lang="en-US"/>
              <a:t>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sinalizar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realizado</a:t>
            </a:r>
            <a:r>
              <a:rPr lang="en-US"/>
              <a:t> o QA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. Passo a </a:t>
            </a:r>
            <a:r>
              <a:rPr lang="en-US" err="1"/>
              <a:t>passo</a:t>
            </a:r>
            <a:r>
              <a:rPr lang="en-US"/>
              <a:t>, </a:t>
            </a:r>
            <a:r>
              <a:rPr lang="en-US" err="1"/>
              <a:t>alterar</a:t>
            </a:r>
            <a:r>
              <a:rPr lang="en-US"/>
              <a:t> o status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para </a:t>
            </a:r>
            <a:r>
              <a:rPr lang="en-US" err="1"/>
              <a:t>Prorrogado</a:t>
            </a:r>
            <a:r>
              <a:rPr lang="en-US"/>
              <a:t>, </a:t>
            </a:r>
            <a:r>
              <a:rPr lang="en-US" err="1"/>
              <a:t>atualizar</a:t>
            </a:r>
            <a:r>
              <a:rPr lang="en-US"/>
              <a:t> a data de </a:t>
            </a:r>
            <a:r>
              <a:rPr lang="en-US" err="1"/>
              <a:t>início</a:t>
            </a:r>
            <a:r>
              <a:rPr lang="en-US"/>
              <a:t>, </a:t>
            </a:r>
            <a:r>
              <a:rPr lang="en-US" err="1"/>
              <a:t>destacando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amarelo</a:t>
            </a:r>
            <a:r>
              <a:rPr lang="en-US"/>
              <a:t>, e </a:t>
            </a:r>
            <a:r>
              <a:rPr lang="en-US" err="1"/>
              <a:t>sinalizar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sofreu</a:t>
            </a:r>
            <a:r>
              <a:rPr lang="en-US"/>
              <a:t> </a:t>
            </a:r>
            <a:r>
              <a:rPr lang="en-US" err="1"/>
              <a:t>prorrogação</a:t>
            </a:r>
            <a:r>
              <a:rPr lang="en-US"/>
              <a:t>.</a:t>
            </a:r>
            <a:endParaRPr/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possa</a:t>
            </a:r>
            <a:r>
              <a:rPr lang="en-US"/>
              <a:t> </a:t>
            </a:r>
            <a:r>
              <a:rPr lang="en-US" err="1"/>
              <a:t>iniciar</a:t>
            </a:r>
            <a:r>
              <a:rPr lang="en-US"/>
              <a:t> o </a:t>
            </a:r>
            <a:r>
              <a:rPr lang="en-US" err="1"/>
              <a:t>desenvolvimento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criem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 no Jira </a:t>
            </a:r>
            <a:r>
              <a:rPr lang="en-US" err="1"/>
              <a:t>contendo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a </a:t>
            </a:r>
            <a:r>
              <a:rPr lang="en-US" err="1"/>
              <a:t>solicitação</a:t>
            </a:r>
            <a:r>
              <a:rPr lang="en-US"/>
              <a:t>. O link da RM, com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integrado</a:t>
            </a:r>
            <a:r>
              <a:rPr lang="en-US"/>
              <a:t>,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incluído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descrição</a:t>
            </a:r>
            <a:r>
              <a:rPr lang="en-US"/>
              <a:t> da task. Caso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implementada</a:t>
            </a:r>
            <a:r>
              <a:rPr lang="en-US"/>
              <a:t> via tag,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enviadas</a:t>
            </a:r>
            <a:r>
              <a:rPr lang="en-US"/>
              <a:t>, </a:t>
            </a:r>
            <a:r>
              <a:rPr lang="en-US" err="1"/>
              <a:t>seja</a:t>
            </a:r>
            <a:r>
              <a:rPr lang="en-US"/>
              <a:t> via link drive, </a:t>
            </a:r>
            <a:r>
              <a:rPr lang="en-US" err="1"/>
              <a:t>dropbox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wetransfer</a:t>
            </a:r>
            <a:r>
              <a:rPr lang="en-US"/>
              <a:t>. Essa </a:t>
            </a:r>
            <a:r>
              <a:rPr lang="en-US" err="1"/>
              <a:t>tarefa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a task pai da </a:t>
            </a:r>
            <a:r>
              <a:rPr lang="en-US" err="1"/>
              <a:t>campanha</a:t>
            </a:r>
            <a:r>
              <a:rPr lang="en-US"/>
              <a:t> e </a:t>
            </a:r>
            <a:r>
              <a:rPr lang="en-US" err="1"/>
              <a:t>permanecerá</a:t>
            </a:r>
            <a:r>
              <a:rPr lang="en-US"/>
              <a:t> com o status Em </a:t>
            </a:r>
            <a:r>
              <a:rPr lang="en-US" err="1"/>
              <a:t>andamento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o </a:t>
            </a:r>
            <a:r>
              <a:rPr lang="en-US" err="1"/>
              <a:t>seu</a:t>
            </a:r>
            <a:r>
              <a:rPr lang="en-US"/>
              <a:t> </a:t>
            </a:r>
            <a:r>
              <a:rPr lang="en-US" err="1"/>
              <a:t>encerramento</a:t>
            </a:r>
            <a:r>
              <a:rPr lang="en-US"/>
              <a:t>. Durante </a:t>
            </a:r>
            <a:r>
              <a:rPr lang="en-US" err="1"/>
              <a:t>toda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, novas </a:t>
            </a:r>
            <a:r>
              <a:rPr lang="en-US" err="1"/>
              <a:t>solicitações</a:t>
            </a:r>
            <a:r>
              <a:rPr lang="en-US"/>
              <a:t> de </a:t>
            </a:r>
            <a:r>
              <a:rPr lang="en-US" err="1"/>
              <a:t>taxonomias</a:t>
            </a:r>
            <a:r>
              <a:rPr lang="en-US"/>
              <a:t>, </a:t>
            </a:r>
            <a:r>
              <a:rPr lang="en-US" err="1"/>
              <a:t>alterações</a:t>
            </a:r>
            <a:r>
              <a:rPr lang="en-US"/>
              <a:t>, </a:t>
            </a:r>
            <a:r>
              <a:rPr lang="en-US" err="1"/>
              <a:t>cancelamentos</a:t>
            </a:r>
            <a:r>
              <a:rPr lang="en-US"/>
              <a:t> e </a:t>
            </a:r>
            <a:r>
              <a:rPr lang="en-US" err="1"/>
              <a:t>prorrogações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sinalizados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pai e </a:t>
            </a:r>
            <a:r>
              <a:rPr lang="en-US" err="1"/>
              <a:t>atualizados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conforme</a:t>
            </a:r>
            <a:r>
              <a:rPr lang="en-US"/>
              <a:t> o </a:t>
            </a:r>
            <a:r>
              <a:rPr lang="en-US" err="1"/>
              <a:t>fluxo</a:t>
            </a:r>
            <a:r>
              <a:rPr lang="en-US"/>
              <a:t> </a:t>
            </a:r>
            <a:r>
              <a:rPr lang="en-US" err="1"/>
              <a:t>definido</a:t>
            </a:r>
            <a:r>
              <a:rPr lang="en-US"/>
              <a:t>. A </a:t>
            </a:r>
            <a:r>
              <a:rPr lang="en-US" err="1"/>
              <a:t>partir</a:t>
            </a:r>
            <a:r>
              <a:rPr lang="en-US"/>
              <a:t> dessa </a:t>
            </a:r>
            <a:r>
              <a:rPr lang="en-US" err="1"/>
              <a:t>solicitação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cria</a:t>
            </a:r>
            <a:r>
              <a:rPr lang="en-US"/>
              <a:t> as </a:t>
            </a:r>
            <a:r>
              <a:rPr lang="en-US" err="1"/>
              <a:t>subtarefas</a:t>
            </a:r>
            <a:r>
              <a:rPr lang="en-US"/>
              <a:t> </a:t>
            </a:r>
            <a:r>
              <a:rPr lang="en-US" err="1"/>
              <a:t>internas</a:t>
            </a:r>
            <a:r>
              <a:rPr lang="en-US"/>
              <a:t> para </a:t>
            </a:r>
            <a:r>
              <a:rPr lang="en-US" err="1"/>
              <a:t>controle</a:t>
            </a:r>
            <a:r>
              <a:rPr lang="en-US"/>
              <a:t> das </a:t>
            </a:r>
            <a:r>
              <a:rPr lang="en-US" err="1"/>
              <a:t>demandas</a:t>
            </a:r>
            <a:r>
              <a:rPr lang="en-US"/>
              <a:t>, </a:t>
            </a:r>
            <a:r>
              <a:rPr lang="en-US" err="1"/>
              <a:t>desenvolvimento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 e </a:t>
            </a:r>
            <a:r>
              <a:rPr lang="en-US" err="1"/>
              <a:t>acompanhamento</a:t>
            </a:r>
            <a:r>
              <a:rPr lang="en-US"/>
              <a:t> do QA,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corresponde</a:t>
            </a:r>
            <a:r>
              <a:rPr lang="en-US"/>
              <a:t> à </a:t>
            </a:r>
            <a:r>
              <a:rPr lang="en-US" err="1"/>
              <a:t>validação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 </a:t>
            </a:r>
            <a:r>
              <a:rPr lang="en-US" err="1"/>
              <a:t>realizada</a:t>
            </a:r>
            <a:r>
              <a:rPr lang="en-US"/>
              <a:t> </a:t>
            </a:r>
            <a:r>
              <a:rPr lang="en-US" err="1"/>
              <a:t>pelos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da Initiative. SLA. O </a:t>
            </a:r>
            <a:r>
              <a:rPr lang="en-US" err="1"/>
              <a:t>atendimento</a:t>
            </a:r>
            <a:r>
              <a:rPr lang="en-US"/>
              <a:t> e a </a:t>
            </a:r>
            <a:r>
              <a:rPr lang="en-US" err="1"/>
              <a:t>operação</a:t>
            </a:r>
            <a:r>
              <a:rPr lang="en-US"/>
              <a:t> </a:t>
            </a:r>
            <a:r>
              <a:rPr lang="en-US" err="1"/>
              <a:t>funcionam</a:t>
            </a:r>
            <a:r>
              <a:rPr lang="en-US"/>
              <a:t> das 9h30 </a:t>
            </a:r>
            <a:r>
              <a:rPr lang="en-US" err="1"/>
              <a:t>às</a:t>
            </a:r>
            <a:r>
              <a:rPr lang="en-US"/>
              <a:t> 18h30, de </a:t>
            </a:r>
            <a:r>
              <a:rPr lang="en-US" err="1"/>
              <a:t>segunda</a:t>
            </a:r>
            <a:r>
              <a:rPr lang="en-US"/>
              <a:t> a sexta.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recebidas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16h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atendidas</a:t>
            </a:r>
            <a:r>
              <a:rPr lang="en-US"/>
              <a:t> no </a:t>
            </a:r>
            <a:r>
              <a:rPr lang="en-US" err="1"/>
              <a:t>mesmo</a:t>
            </a:r>
            <a:r>
              <a:rPr lang="en-US"/>
              <a:t> dia. </a:t>
            </a:r>
            <a:r>
              <a:rPr lang="en-US" err="1"/>
              <a:t>Após</a:t>
            </a:r>
            <a:r>
              <a:rPr lang="en-US"/>
              <a:t> as 16h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atendidas</a:t>
            </a:r>
            <a:r>
              <a:rPr lang="en-US"/>
              <a:t> no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urgentes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informadas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12h do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vigente</a:t>
            </a:r>
            <a:r>
              <a:rPr lang="en-US"/>
              <a:t>. War Room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informado</a:t>
            </a:r>
            <a:r>
              <a:rPr lang="en-US"/>
              <a:t> com 3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 de </a:t>
            </a:r>
            <a:r>
              <a:rPr lang="en-US" err="1"/>
              <a:t>antecedência</a:t>
            </a:r>
            <a:r>
              <a:rPr lang="en-US"/>
              <a:t>. O SLA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contempla</a:t>
            </a:r>
            <a:r>
              <a:rPr lang="en-US"/>
              <a:t> a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rastreadores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.</a:t>
            </a:r>
            <a:endParaRPr/>
          </a:p>
        </p:txBody>
      </p:sp>
      <p:sp>
        <p:nvSpPr>
          <p:cNvPr id="271" name="Google Shape;2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</a:t>
            </a:r>
            <a:r>
              <a:rPr lang="en-US" err="1"/>
              <a:t>consultar</a:t>
            </a:r>
            <a:r>
              <a:rPr lang="en-US"/>
              <a:t> qual e-mail </a:t>
            </a:r>
            <a:r>
              <a:rPr lang="en-US" err="1"/>
              <a:t>corresponde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time, </a:t>
            </a:r>
            <a:r>
              <a:rPr lang="en-US" err="1"/>
              <a:t>acesse</a:t>
            </a:r>
            <a:r>
              <a:rPr lang="en-US"/>
              <a:t> a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acesso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Jira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Acesse</a:t>
            </a:r>
            <a:r>
              <a:rPr lang="en-US"/>
              <a:t> o link do 1Password </a:t>
            </a:r>
            <a:r>
              <a:rPr lang="en-US" err="1"/>
              <a:t>correspondente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time. </a:t>
            </a:r>
            <a:r>
              <a:rPr lang="en-US" err="1"/>
              <a:t>Faça</a:t>
            </a:r>
            <a:r>
              <a:rPr lang="en-US"/>
              <a:t> login no Google,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accounts.google.com</a:t>
            </a:r>
            <a:r>
              <a:rPr lang="en-US"/>
              <a:t>, </a:t>
            </a:r>
            <a:r>
              <a:rPr lang="en-US" err="1"/>
              <a:t>utilizando</a:t>
            </a:r>
            <a:r>
              <a:rPr lang="en-US"/>
              <a:t> o e-mail, a </a:t>
            </a:r>
            <a:r>
              <a:rPr lang="en-US" err="1"/>
              <a:t>senha</a:t>
            </a:r>
            <a:r>
              <a:rPr lang="en-US"/>
              <a:t> e o token </a:t>
            </a:r>
            <a:r>
              <a:rPr lang="en-US" err="1"/>
              <a:t>disponíveis</a:t>
            </a:r>
            <a:r>
              <a:rPr lang="en-US"/>
              <a:t> no 1Password. </a:t>
            </a:r>
            <a:r>
              <a:rPr lang="en-US" err="1"/>
              <a:t>Acesse</a:t>
            </a:r>
            <a:r>
              <a:rPr lang="en-US"/>
              <a:t> o Jira e clique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Continuar</a:t>
            </a:r>
            <a:r>
              <a:rPr lang="en-US"/>
              <a:t> com o Google.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informar</a:t>
            </a:r>
            <a:r>
              <a:rPr lang="en-US"/>
              <a:t> e-mail e </a:t>
            </a:r>
            <a:r>
              <a:rPr lang="en-US" err="1"/>
              <a:t>senha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.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pessoa</a:t>
            </a:r>
            <a:r>
              <a:rPr lang="en-US"/>
              <a:t> com </a:t>
            </a:r>
            <a:r>
              <a:rPr lang="en-US" err="1"/>
              <a:t>acesso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1Password </a:t>
            </a:r>
            <a:r>
              <a:rPr lang="en-US" err="1"/>
              <a:t>consegue</a:t>
            </a:r>
            <a:r>
              <a:rPr lang="en-US"/>
              <a:t> </a:t>
            </a:r>
            <a:r>
              <a:rPr lang="en-US" err="1"/>
              <a:t>acessar</a:t>
            </a:r>
            <a:r>
              <a:rPr lang="en-US"/>
              <a:t> o Jira. Como </a:t>
            </a:r>
            <a:r>
              <a:rPr lang="en-US" err="1"/>
              <a:t>os</a:t>
            </a:r>
            <a:r>
              <a:rPr lang="en-US"/>
              <a:t> logins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time,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confirmar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utilizando</a:t>
            </a:r>
            <a:r>
              <a:rPr lang="en-US"/>
              <a:t> o e-mail </a:t>
            </a:r>
            <a:r>
              <a:rPr lang="en-US" err="1"/>
              <a:t>correto</a:t>
            </a:r>
            <a:r>
              <a:rPr lang="en-US"/>
              <a:t> do </a:t>
            </a:r>
            <a:r>
              <a:rPr lang="en-US" err="1"/>
              <a:t>seu</a:t>
            </a:r>
            <a:r>
              <a:rPr lang="en-US"/>
              <a:t> time antes de </a:t>
            </a:r>
            <a:r>
              <a:rPr lang="en-US" err="1"/>
              <a:t>abrir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,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demanda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nome</a:t>
            </a:r>
            <a:r>
              <a:rPr lang="en-US"/>
              <a:t> de outro time.</a:t>
            </a:r>
            <a:endParaRPr/>
          </a:p>
        </p:txBody>
      </p:sp>
      <p:sp>
        <p:nvSpPr>
          <p:cNvPr id="301" name="Google Shape;30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Criação</a:t>
            </a:r>
            <a:r>
              <a:rPr lang="en-US"/>
              <a:t>.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receber</a:t>
            </a:r>
            <a:r>
              <a:rPr lang="en-US"/>
              <a:t> a </a:t>
            </a:r>
            <a:r>
              <a:rPr lang="en-US" err="1"/>
              <a:t>solicitação</a:t>
            </a:r>
            <a:r>
              <a:rPr lang="en-US"/>
              <a:t> via RM Online e Jira,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cria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com base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preenchidas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no plano de </a:t>
            </a:r>
            <a:r>
              <a:rPr lang="en-US" err="1"/>
              <a:t>mídia</a:t>
            </a:r>
            <a:r>
              <a:rPr lang="en-US"/>
              <a:t> e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regras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 e da UL Global. Antes da </a:t>
            </a:r>
            <a:r>
              <a:rPr lang="en-US" err="1"/>
              <a:t>entrega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passam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um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validador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verifica</a:t>
            </a:r>
            <a:r>
              <a:rPr lang="en-US"/>
              <a:t> se a </a:t>
            </a:r>
            <a:r>
              <a:rPr lang="en-US" err="1"/>
              <a:t>estrutura</a:t>
            </a:r>
            <a:r>
              <a:rPr lang="en-US"/>
              <a:t> e </a:t>
            </a:r>
            <a:r>
              <a:rPr lang="en-US" err="1"/>
              <a:t>os</a:t>
            </a:r>
            <a:r>
              <a:rPr lang="en-US"/>
              <a:t> campos </a:t>
            </a:r>
            <a:r>
              <a:rPr lang="en-US" err="1"/>
              <a:t>estão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as </a:t>
            </a:r>
            <a:r>
              <a:rPr lang="en-US" err="1"/>
              <a:t>regras</a:t>
            </a:r>
            <a:r>
              <a:rPr lang="en-US"/>
              <a:t> </a:t>
            </a:r>
            <a:r>
              <a:rPr lang="en-US" err="1"/>
              <a:t>estabelecidas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a </a:t>
            </a:r>
            <a:r>
              <a:rPr lang="en-US" err="1"/>
              <a:t>padronização</a:t>
            </a:r>
            <a:r>
              <a:rPr lang="en-US"/>
              <a:t> e a </a:t>
            </a:r>
            <a:r>
              <a:rPr lang="en-US" err="1"/>
              <a:t>qualidade</a:t>
            </a:r>
            <a:r>
              <a:rPr lang="en-US"/>
              <a:t> dos dados. Por </a:t>
            </a:r>
            <a:r>
              <a:rPr lang="en-US" err="1"/>
              <a:t>isso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da RM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preenchidas</a:t>
            </a:r>
            <a:r>
              <a:rPr lang="en-US"/>
              <a:t> </a:t>
            </a:r>
            <a:r>
              <a:rPr lang="en-US" err="1"/>
              <a:t>corretamente</a:t>
            </a:r>
            <a:r>
              <a:rPr lang="en-US"/>
              <a:t> e de </a:t>
            </a:r>
            <a:r>
              <a:rPr lang="en-US" err="1"/>
              <a:t>acordo</a:t>
            </a:r>
            <a:r>
              <a:rPr lang="en-US"/>
              <a:t> com a </a:t>
            </a:r>
            <a:r>
              <a:rPr lang="en-US" err="1"/>
              <a:t>documentação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 e as </a:t>
            </a:r>
            <a:r>
              <a:rPr lang="en-US" err="1"/>
              <a:t>regras</a:t>
            </a:r>
            <a:r>
              <a:rPr lang="en-US"/>
              <a:t> da UL Global. Entrega. TikTok, Meta e YouTube,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incluídas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o status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atualizado</a:t>
            </a:r>
            <a:r>
              <a:rPr lang="en-US"/>
              <a:t> para </a:t>
            </a:r>
            <a:r>
              <a:rPr lang="en-US" err="1"/>
              <a:t>Concluído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. Pinterest, Twitter,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, Amazon DSP e </a:t>
            </a:r>
            <a:r>
              <a:rPr lang="en-US" err="1"/>
              <a:t>Programática</a:t>
            </a:r>
            <a:r>
              <a:rPr lang="en-US"/>
              <a:t>, </a:t>
            </a:r>
            <a:r>
              <a:rPr lang="en-US" err="1"/>
              <a:t>pode</a:t>
            </a:r>
            <a:r>
              <a:rPr lang="en-US"/>
              <a:t> ser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solicitar</a:t>
            </a:r>
            <a:r>
              <a:rPr lang="en-US"/>
              <a:t> tags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à </a:t>
            </a:r>
            <a:r>
              <a:rPr lang="en-US" err="1"/>
              <a:t>Innovid</a:t>
            </a:r>
            <a:r>
              <a:rPr lang="en-US"/>
              <a:t>, com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entrega</a:t>
            </a:r>
            <a:r>
              <a:rPr lang="en-US"/>
              <a:t> de 48 horas. Quando </a:t>
            </a:r>
            <a:r>
              <a:rPr lang="en-US" err="1"/>
              <a:t>houver</a:t>
            </a:r>
            <a:r>
              <a:rPr lang="en-US"/>
              <a:t> </a:t>
            </a:r>
            <a:r>
              <a:rPr lang="en-US" err="1"/>
              <a:t>necessidade</a:t>
            </a:r>
            <a:r>
              <a:rPr lang="en-US"/>
              <a:t> de </a:t>
            </a:r>
            <a:r>
              <a:rPr lang="en-US" err="1"/>
              <a:t>envelopamento</a:t>
            </a:r>
            <a:r>
              <a:rPr lang="en-US"/>
              <a:t>,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o link das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</a:t>
            </a:r>
            <a:r>
              <a:rPr lang="en-US" err="1"/>
              <a:t>Destinatários</a:t>
            </a:r>
            <a:r>
              <a:rPr lang="en-US"/>
              <a:t>. Para </a:t>
            </a:r>
            <a:r>
              <a:rPr lang="en-US" err="1"/>
              <a:t>Kinesso</a:t>
            </a:r>
            <a:r>
              <a:rPr lang="en-US"/>
              <a:t>, </a:t>
            </a:r>
            <a:r>
              <a:rPr lang="en-US" err="1"/>
              <a:t>incluímos</a:t>
            </a:r>
            <a:r>
              <a:rPr lang="en-US"/>
              <a:t> </a:t>
            </a:r>
            <a:r>
              <a:rPr lang="en-US" err="1"/>
              <a:t>taxonomias</a:t>
            </a:r>
            <a:r>
              <a:rPr lang="en-US"/>
              <a:t> e </a:t>
            </a:r>
            <a:r>
              <a:rPr lang="en-US" err="1"/>
              <a:t>contadores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Para </a:t>
            </a:r>
            <a:r>
              <a:rPr lang="en-US" err="1"/>
              <a:t>veículos</a:t>
            </a:r>
            <a:r>
              <a:rPr lang="en-US"/>
              <a:t> </a:t>
            </a:r>
            <a:r>
              <a:rPr lang="en-US" err="1"/>
              <a:t>externos</a:t>
            </a:r>
            <a:r>
              <a:rPr lang="en-US"/>
              <a:t>, </a:t>
            </a:r>
            <a:r>
              <a:rPr lang="en-US" err="1"/>
              <a:t>incluímos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, e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destinatários</a:t>
            </a:r>
            <a:r>
              <a:rPr lang="en-US"/>
              <a:t>. Pontos de </a:t>
            </a:r>
            <a:r>
              <a:rPr lang="en-US" err="1"/>
              <a:t>atenção</a:t>
            </a:r>
            <a:r>
              <a:rPr lang="en-US"/>
              <a:t>.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utilizada</a:t>
            </a:r>
            <a:r>
              <a:rPr lang="en-US"/>
              <a:t> </a:t>
            </a:r>
            <a:r>
              <a:rPr lang="en-US" err="1"/>
              <a:t>exatamente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entregue</a:t>
            </a:r>
            <a:r>
              <a:rPr lang="en-US"/>
              <a:t> pela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. Caso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algum</a:t>
            </a:r>
            <a:r>
              <a:rPr lang="en-US"/>
              <a:t> </a:t>
            </a:r>
            <a:r>
              <a:rPr lang="en-US" err="1"/>
              <a:t>ajuste</a:t>
            </a:r>
            <a:r>
              <a:rPr lang="en-US"/>
              <a:t>, </a:t>
            </a:r>
            <a:r>
              <a:rPr lang="en-US" err="1"/>
              <a:t>ele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via Jira. Antes da </a:t>
            </a:r>
            <a:r>
              <a:rPr lang="en-US" err="1"/>
              <a:t>implementação</a:t>
            </a:r>
            <a:r>
              <a:rPr lang="en-US"/>
              <a:t>, </a:t>
            </a:r>
            <a:r>
              <a:rPr lang="en-US" err="1"/>
              <a:t>confira</a:t>
            </a:r>
            <a:r>
              <a:rPr lang="en-US"/>
              <a:t> se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corresponde</a:t>
            </a:r>
            <a:r>
              <a:rPr lang="en-US"/>
              <a:t> à </a:t>
            </a:r>
            <a:r>
              <a:rPr lang="en-US" err="1"/>
              <a:t>plataforma</a:t>
            </a:r>
            <a:r>
              <a:rPr lang="en-US"/>
              <a:t> e à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correta</a:t>
            </a:r>
            <a:r>
              <a:rPr lang="en-US"/>
              <a:t> do plano de </a:t>
            </a:r>
            <a:r>
              <a:rPr lang="en-US" err="1"/>
              <a:t>mídia</a:t>
            </a:r>
            <a:r>
              <a:rPr lang="en-US"/>
              <a:t>.</a:t>
            </a:r>
            <a:endParaRPr/>
          </a:p>
        </p:txBody>
      </p:sp>
      <p:sp>
        <p:nvSpPr>
          <p:cNvPr id="328" name="Google Shape;3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Meta, TikTok e YouTube.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criamos</a:t>
            </a:r>
            <a:r>
              <a:rPr lang="en-US"/>
              <a:t> um ID </a:t>
            </a:r>
            <a:r>
              <a:rPr lang="en-US" err="1"/>
              <a:t>único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incluído</a:t>
            </a:r>
            <a:r>
              <a:rPr lang="en-US"/>
              <a:t> no Ad Name e </a:t>
            </a:r>
            <a:r>
              <a:rPr lang="en-US" err="1"/>
              <a:t>relacionado</a:t>
            </a:r>
            <a:r>
              <a:rPr lang="en-US"/>
              <a:t> à Campaign </a:t>
            </a:r>
            <a:r>
              <a:rPr lang="en-US" err="1"/>
              <a:t>ou</a:t>
            </a:r>
            <a:r>
              <a:rPr lang="en-US"/>
              <a:t> IO, </a:t>
            </a:r>
            <a:r>
              <a:rPr lang="en-US" err="1"/>
              <a:t>ao</a:t>
            </a:r>
            <a:r>
              <a:rPr lang="en-US"/>
              <a:t> Ad Group e </a:t>
            </a:r>
            <a:r>
              <a:rPr lang="en-US" err="1"/>
              <a:t>ao</a:t>
            </a:r>
            <a:r>
              <a:rPr lang="en-US"/>
              <a:t> Line Item. Esse ID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exclusivo</a:t>
            </a:r>
            <a:r>
              <a:rPr lang="en-US"/>
              <a:t>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ser </a:t>
            </a:r>
            <a:r>
              <a:rPr lang="en-US" err="1"/>
              <a:t>reutilizado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outras</a:t>
            </a:r>
            <a:r>
              <a:rPr lang="en-US"/>
              <a:t> </a:t>
            </a:r>
            <a:r>
              <a:rPr lang="en-US" err="1"/>
              <a:t>linhas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,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garantir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 Campaign </a:t>
            </a:r>
            <a:r>
              <a:rPr lang="en-US" err="1"/>
              <a:t>ou</a:t>
            </a:r>
            <a:r>
              <a:rPr lang="en-US"/>
              <a:t> IO, o Ad Group e o Ad Name </a:t>
            </a:r>
            <a:r>
              <a:rPr lang="en-US" err="1"/>
              <a:t>pertençam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mesmo</a:t>
            </a:r>
            <a:r>
              <a:rPr lang="en-US"/>
              <a:t> ID. </a:t>
            </a:r>
            <a:r>
              <a:rPr lang="en-US" err="1"/>
              <a:t>Misturar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de IDs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</a:t>
            </a:r>
            <a:r>
              <a:rPr lang="en-US" err="1"/>
              <a:t>divergências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implementação</a:t>
            </a:r>
            <a:r>
              <a:rPr lang="en-US"/>
              <a:t>. Sempre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anúncio</a:t>
            </a:r>
            <a:r>
              <a:rPr lang="en-US"/>
              <a:t> </a:t>
            </a:r>
            <a:r>
              <a:rPr lang="en-US" err="1"/>
              <a:t>precisar</a:t>
            </a:r>
            <a:r>
              <a:rPr lang="en-US"/>
              <a:t> ser </a:t>
            </a:r>
            <a:r>
              <a:rPr lang="en-US" err="1"/>
              <a:t>implementado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campanhas</a:t>
            </a:r>
            <a:r>
              <a:rPr lang="en-US"/>
              <a:t>, IOs </a:t>
            </a:r>
            <a:r>
              <a:rPr lang="en-US" err="1"/>
              <a:t>ou</a:t>
            </a:r>
            <a:r>
              <a:rPr lang="en-US"/>
              <a:t> Ad Groups </a:t>
            </a:r>
            <a:r>
              <a:rPr lang="en-US" err="1"/>
              <a:t>diferentes</a:t>
            </a:r>
            <a:r>
              <a:rPr lang="en-US"/>
              <a:t>,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individualmente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criado</a:t>
            </a:r>
            <a:r>
              <a:rPr lang="en-US"/>
              <a:t> um ID </a:t>
            </a:r>
            <a:r>
              <a:rPr lang="en-US" err="1"/>
              <a:t>específico</a:t>
            </a:r>
            <a:r>
              <a:rPr lang="en-US"/>
              <a:t>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. Pinterest, Twitter, Amazon DSP, </a:t>
            </a:r>
            <a:r>
              <a:rPr lang="en-US" err="1"/>
              <a:t>Programática</a:t>
            </a:r>
            <a:r>
              <a:rPr lang="en-US"/>
              <a:t> 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. Nesses </a:t>
            </a:r>
            <a:r>
              <a:rPr lang="en-US" err="1"/>
              <a:t>veículos</a:t>
            </a:r>
            <a:r>
              <a:rPr lang="en-US"/>
              <a:t>,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um ID </a:t>
            </a:r>
            <a:r>
              <a:rPr lang="en-US" err="1"/>
              <a:t>único</a:t>
            </a:r>
            <a:r>
              <a:rPr lang="en-US"/>
              <a:t> para </a:t>
            </a:r>
            <a:r>
              <a:rPr lang="en-US" err="1"/>
              <a:t>cada</a:t>
            </a:r>
            <a:r>
              <a:rPr lang="en-US"/>
              <a:t> Placement,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respeitado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. </a:t>
            </a:r>
            <a:r>
              <a:rPr lang="en-US" err="1"/>
              <a:t>Atenção</a:t>
            </a:r>
            <a:r>
              <a:rPr lang="en-US"/>
              <a:t>,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vinculada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ID </a:t>
            </a:r>
            <a:r>
              <a:rPr lang="en-US" err="1"/>
              <a:t>correspondente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reutilize IDs nem </a:t>
            </a:r>
            <a:r>
              <a:rPr lang="en-US" err="1"/>
              <a:t>misture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de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diferentes</a:t>
            </a:r>
            <a:r>
              <a:rPr lang="en-US"/>
              <a:t>.</a:t>
            </a:r>
            <a:endParaRPr/>
          </a:p>
        </p:txBody>
      </p:sp>
      <p:sp>
        <p:nvSpPr>
          <p:cNvPr id="371" name="Google Shape;3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ADP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enviado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e-mail,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thread com </a:t>
            </a:r>
            <a:r>
              <a:rPr lang="en-US" err="1"/>
              <a:t>instruções</a:t>
            </a:r>
            <a:r>
              <a:rPr lang="en-US"/>
              <a:t> e </a:t>
            </a:r>
            <a:r>
              <a:rPr lang="en-US" err="1"/>
              <a:t>solicitação</a:t>
            </a:r>
            <a:r>
              <a:rPr lang="en-US"/>
              <a:t> dos </a:t>
            </a:r>
            <a:r>
              <a:rPr lang="en-US" err="1"/>
              <a:t>rastreadores</a:t>
            </a:r>
            <a:r>
              <a:rPr lang="en-US"/>
              <a:t>. Nessa thread,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envolvidos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adicionados</a:t>
            </a:r>
            <a:r>
              <a:rPr lang="en-US"/>
              <a:t>, </a:t>
            </a:r>
            <a:r>
              <a:rPr lang="en-US" err="1"/>
              <a:t>temos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, </a:t>
            </a:r>
            <a:r>
              <a:rPr lang="en-US" err="1"/>
              <a:t>Kinesso</a:t>
            </a:r>
            <a:r>
              <a:rPr lang="en-US"/>
              <a:t> e,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via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incluído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o </a:t>
            </a:r>
            <a:r>
              <a:rPr lang="en-US" err="1"/>
              <a:t>responsável</a:t>
            </a:r>
            <a:r>
              <a:rPr lang="en-US"/>
              <a:t> do </a:t>
            </a:r>
            <a:r>
              <a:rPr lang="en-US" err="1"/>
              <a:t>veículo</a:t>
            </a:r>
            <a:r>
              <a:rPr lang="en-US"/>
              <a:t>,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exemplo</a:t>
            </a:r>
            <a:r>
              <a:rPr lang="en-US"/>
              <a:t>, Globo. Durante o </a:t>
            </a:r>
            <a:r>
              <a:rPr lang="en-US" err="1"/>
              <a:t>processo</a:t>
            </a:r>
            <a:r>
              <a:rPr lang="en-US"/>
              <a:t>,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feitos</a:t>
            </a:r>
            <a:r>
              <a:rPr lang="en-US"/>
              <a:t> </a:t>
            </a:r>
            <a:r>
              <a:rPr lang="en-US" err="1"/>
              <a:t>conforme</a:t>
            </a:r>
            <a:r>
              <a:rPr lang="en-US"/>
              <a:t>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AdServer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,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confirmação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 </a:t>
            </a:r>
            <a:r>
              <a:rPr lang="en-US" err="1"/>
              <a:t>atualizado</a:t>
            </a:r>
            <a:r>
              <a:rPr lang="en-US"/>
              <a:t>. Com </a:t>
            </a:r>
            <a:r>
              <a:rPr lang="en-US" err="1"/>
              <a:t>isso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adiciona</a:t>
            </a:r>
            <a:r>
              <a:rPr lang="en-US"/>
              <a:t> o ADP, </a:t>
            </a:r>
            <a:r>
              <a:rPr lang="en-US" err="1"/>
              <a:t>enviado</a:t>
            </a:r>
            <a:r>
              <a:rPr lang="en-US"/>
              <a:t> pela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 principal do Jira e </a:t>
            </a:r>
            <a:r>
              <a:rPr lang="en-US" err="1"/>
              <a:t>informa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para </a:t>
            </a:r>
            <a:r>
              <a:rPr lang="en-US" err="1"/>
              <a:t>darem</a:t>
            </a:r>
            <a:r>
              <a:rPr lang="en-US"/>
              <a:t> </a:t>
            </a:r>
            <a:r>
              <a:rPr lang="en-US" err="1"/>
              <a:t>continuidade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 Caso no </a:t>
            </a:r>
            <a:r>
              <a:rPr lang="en-US" err="1"/>
              <a:t>meio</a:t>
            </a:r>
            <a:r>
              <a:rPr lang="en-US"/>
              <a:t> do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fazer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peça</a:t>
            </a:r>
            <a:r>
              <a:rPr lang="en-US"/>
              <a:t>, se for via </a:t>
            </a:r>
            <a:r>
              <a:rPr lang="en-US" err="1"/>
              <a:t>contador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o </a:t>
            </a:r>
            <a:r>
              <a:rPr lang="en-US" err="1"/>
              <a:t>período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outro,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enviar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 via Jira </a:t>
            </a:r>
            <a:r>
              <a:rPr lang="en-US" err="1"/>
              <a:t>ou</a:t>
            </a:r>
            <a:r>
              <a:rPr lang="en-US"/>
              <a:t> Teams para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responsável</a:t>
            </a:r>
            <a:r>
              <a:rPr lang="en-US"/>
              <a:t> da BU,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envie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a </a:t>
            </a:r>
            <a:r>
              <a:rPr lang="en-US" err="1"/>
              <a:t>alteração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thread e </a:t>
            </a:r>
            <a:r>
              <a:rPr lang="en-US" err="1"/>
              <a:t>eles</a:t>
            </a:r>
            <a:r>
              <a:rPr lang="en-US"/>
              <a:t> </a:t>
            </a:r>
            <a:r>
              <a:rPr lang="en-US" err="1"/>
              <a:t>sigam</a:t>
            </a:r>
            <a:r>
              <a:rPr lang="en-US"/>
              <a:t> com a nova </a:t>
            </a:r>
            <a:r>
              <a:rPr lang="en-US" err="1"/>
              <a:t>solicitação</a:t>
            </a:r>
            <a:r>
              <a:rPr lang="en-US"/>
              <a:t>. </a:t>
            </a:r>
            <a:r>
              <a:rPr lang="en-US" err="1"/>
              <a:t>Exemplo</a:t>
            </a:r>
            <a:r>
              <a:rPr lang="en-US"/>
              <a:t> de thread, ADP | Brilhante | Diamond | 2026 | </a:t>
            </a:r>
            <a:r>
              <a:rPr lang="en-US" err="1"/>
              <a:t>Innovid</a:t>
            </a:r>
            <a:r>
              <a:rPr lang="en-US"/>
              <a:t>. </a:t>
            </a:r>
            <a:r>
              <a:rPr lang="en-US" err="1"/>
              <a:t>Grupos</a:t>
            </a:r>
            <a:r>
              <a:rPr lang="en-US"/>
              <a:t> Teams.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grupos</a:t>
            </a:r>
            <a:r>
              <a:rPr lang="en-US"/>
              <a:t> do Microsoft Teams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utilizados</a:t>
            </a:r>
            <a:r>
              <a:rPr lang="en-US"/>
              <a:t> </a:t>
            </a:r>
            <a:r>
              <a:rPr lang="en-US" err="1"/>
              <a:t>exclusivamente</a:t>
            </a:r>
            <a:r>
              <a:rPr lang="en-US"/>
              <a:t> para </a:t>
            </a:r>
            <a:r>
              <a:rPr lang="en-US" err="1"/>
              <a:t>alinhamentos</a:t>
            </a:r>
            <a:r>
              <a:rPr lang="en-US"/>
              <a:t> entre </a:t>
            </a:r>
            <a:r>
              <a:rPr lang="en-US" err="1"/>
              <a:t>Stormx</a:t>
            </a:r>
            <a:r>
              <a:rPr lang="en-US"/>
              <a:t>, Initiative e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envolvidos</a:t>
            </a:r>
            <a:r>
              <a:rPr lang="en-US"/>
              <a:t> </a:t>
            </a:r>
            <a:r>
              <a:rPr lang="en-US" err="1"/>
              <a:t>acompanhem</a:t>
            </a:r>
            <a:r>
              <a:rPr lang="en-US"/>
              <a:t> as </a:t>
            </a:r>
            <a:r>
              <a:rPr lang="en-US" err="1"/>
              <a:t>definições</a:t>
            </a:r>
            <a:r>
              <a:rPr lang="en-US"/>
              <a:t> da </a:t>
            </a:r>
            <a:r>
              <a:rPr lang="en-US" err="1"/>
              <a:t>operação</a:t>
            </a:r>
            <a:r>
              <a:rPr lang="en-US"/>
              <a:t>. Utilize para </a:t>
            </a:r>
            <a:r>
              <a:rPr lang="en-US" err="1"/>
              <a:t>alinhamentos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e </a:t>
            </a:r>
            <a:r>
              <a:rPr lang="en-US" err="1"/>
              <a:t>dúvidas</a:t>
            </a:r>
            <a:r>
              <a:rPr lang="en-US"/>
              <a:t> e </a:t>
            </a:r>
            <a:r>
              <a:rPr lang="en-US" err="1"/>
              <a:t>definições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utilize para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cancelamentos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prorrogações</a:t>
            </a:r>
            <a:r>
              <a:rPr lang="en-US"/>
              <a:t> de </a:t>
            </a:r>
            <a:r>
              <a:rPr lang="en-US" err="1"/>
              <a:t>linhas</a:t>
            </a:r>
            <a:r>
              <a:rPr lang="en-US"/>
              <a:t>. </a:t>
            </a:r>
            <a:r>
              <a:rPr lang="en-US" err="1"/>
              <a:t>Importante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registradas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sinalizadas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Jira.</a:t>
            </a:r>
            <a:endParaRPr/>
          </a:p>
        </p:txBody>
      </p:sp>
      <p:sp>
        <p:nvSpPr>
          <p:cNvPr id="406" name="Google Shape;40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Solicitação</a:t>
            </a:r>
            <a:r>
              <a:rPr lang="en-US"/>
              <a:t> de TAGs, </a:t>
            </a:r>
            <a:r>
              <a:rPr lang="en-US" err="1"/>
              <a:t>em</a:t>
            </a:r>
            <a:r>
              <a:rPr lang="en-US"/>
              <a:t> 7 </a:t>
            </a:r>
            <a:r>
              <a:rPr lang="en-US" err="1"/>
              <a:t>passos</a:t>
            </a:r>
            <a:r>
              <a:rPr lang="en-US"/>
              <a:t>. 01,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 e as </a:t>
            </a:r>
            <a:r>
              <a:rPr lang="en-US" err="1"/>
              <a:t>peças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02, o CS/Ops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o ADP. 03, o Creative/QA </a:t>
            </a:r>
            <a:r>
              <a:rPr lang="en-US" err="1"/>
              <a:t>valida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. 04,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validadas</a:t>
            </a:r>
            <a:r>
              <a:rPr lang="en-US"/>
              <a:t>, </a:t>
            </a:r>
            <a:r>
              <a:rPr lang="en-US" err="1"/>
              <a:t>pelo</a:t>
            </a:r>
            <a:r>
              <a:rPr lang="en-US"/>
              <a:t> Creative/QA. 05, o CS/Ops </a:t>
            </a:r>
            <a:r>
              <a:rPr lang="en-US" err="1"/>
              <a:t>faz</a:t>
            </a:r>
            <a:r>
              <a:rPr lang="en-US"/>
              <a:t> a </a:t>
            </a:r>
            <a:r>
              <a:rPr lang="en-US" err="1"/>
              <a:t>criação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, </a:t>
            </a:r>
            <a:r>
              <a:rPr lang="en-US" err="1"/>
              <a:t>associa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 e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previews para a </a:t>
            </a:r>
            <a:r>
              <a:rPr lang="en-US" err="1"/>
              <a:t>validação</a:t>
            </a:r>
            <a:r>
              <a:rPr lang="en-US"/>
              <a:t>. 06,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previews. 07, o CS/Ops libera as TAGs, </a:t>
            </a:r>
            <a:r>
              <a:rPr lang="en-US" err="1"/>
              <a:t>verifica</a:t>
            </a:r>
            <a:r>
              <a:rPr lang="en-US"/>
              <a:t> as </a:t>
            </a:r>
            <a:r>
              <a:rPr lang="en-US" err="1"/>
              <a:t>contabilizações</a:t>
            </a:r>
            <a:r>
              <a:rPr lang="en-US"/>
              <a:t> e as </a:t>
            </a:r>
            <a:r>
              <a:rPr lang="en-US" err="1"/>
              <a:t>discrepâncias</a:t>
            </a:r>
            <a:r>
              <a:rPr lang="en-US"/>
              <a:t>. </a:t>
            </a:r>
            <a:r>
              <a:rPr lang="en-US" err="1"/>
              <a:t>Solicitação</a:t>
            </a:r>
            <a:r>
              <a:rPr lang="en-US"/>
              <a:t> de </a:t>
            </a:r>
            <a:r>
              <a:rPr lang="en-US" err="1"/>
              <a:t>Trackings</a:t>
            </a:r>
            <a:r>
              <a:rPr lang="en-US"/>
              <a:t>, </a:t>
            </a:r>
            <a:r>
              <a:rPr lang="en-US" err="1"/>
              <a:t>em</a:t>
            </a:r>
            <a:r>
              <a:rPr lang="en-US"/>
              <a:t> 2 </a:t>
            </a:r>
            <a:r>
              <a:rPr lang="en-US" err="1"/>
              <a:t>passos</a:t>
            </a:r>
            <a:r>
              <a:rPr lang="en-US"/>
              <a:t>. 01,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ADP. 02, o CS/Ops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o ADP, </a:t>
            </a:r>
            <a:r>
              <a:rPr lang="en-US" err="1"/>
              <a:t>cria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, libera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e </a:t>
            </a:r>
            <a:r>
              <a:rPr lang="en-US" err="1"/>
              <a:t>verifica</a:t>
            </a:r>
            <a:r>
              <a:rPr lang="en-US"/>
              <a:t> as </a:t>
            </a:r>
            <a:r>
              <a:rPr lang="en-US" err="1"/>
              <a:t>contabilizações</a:t>
            </a:r>
            <a:r>
              <a:rPr lang="en-US"/>
              <a:t> e as </a:t>
            </a:r>
            <a:r>
              <a:rPr lang="en-US" err="1"/>
              <a:t>discrepâncias</a:t>
            </a:r>
            <a:r>
              <a:rPr lang="en-US"/>
              <a:t>. </a:t>
            </a:r>
            <a:r>
              <a:rPr lang="en-US" err="1"/>
              <a:t>Observação</a:t>
            </a:r>
            <a:r>
              <a:rPr lang="en-US"/>
              <a:t>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de social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inseridos</a:t>
            </a:r>
            <a:r>
              <a:rPr lang="en-US"/>
              <a:t> no ADP e </a:t>
            </a:r>
            <a:r>
              <a:rPr lang="en-US" err="1"/>
              <a:t>implementados</a:t>
            </a:r>
            <a:r>
              <a:rPr lang="en-US"/>
              <a:t> pela </a:t>
            </a:r>
            <a:r>
              <a:rPr lang="en-US" err="1"/>
              <a:t>agência</a:t>
            </a:r>
            <a:r>
              <a:rPr lang="en-US"/>
              <a:t>.</a:t>
            </a:r>
            <a:endParaRPr/>
          </a:p>
        </p:txBody>
      </p:sp>
      <p:sp>
        <p:nvSpPr>
          <p:cNvPr id="440" name="Google Shape;4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Horário</a:t>
            </a:r>
            <a:r>
              <a:rPr lang="en-US"/>
              <a:t> de </a:t>
            </a:r>
            <a:r>
              <a:rPr lang="en-US" err="1"/>
              <a:t>funcionamento</a:t>
            </a:r>
            <a:r>
              <a:rPr lang="en-US"/>
              <a:t>. O </a:t>
            </a:r>
            <a:r>
              <a:rPr lang="en-US" err="1"/>
              <a:t>atendimento</a:t>
            </a:r>
            <a:r>
              <a:rPr lang="en-US"/>
              <a:t> e </a:t>
            </a:r>
            <a:r>
              <a:rPr lang="en-US" err="1"/>
              <a:t>operação</a:t>
            </a:r>
            <a:r>
              <a:rPr lang="en-US"/>
              <a:t> </a:t>
            </a:r>
            <a:r>
              <a:rPr lang="en-US" err="1"/>
              <a:t>funcionam</a:t>
            </a:r>
            <a:r>
              <a:rPr lang="en-US"/>
              <a:t> das 10h </a:t>
            </a:r>
            <a:r>
              <a:rPr lang="en-US" err="1"/>
              <a:t>às</a:t>
            </a:r>
            <a:r>
              <a:rPr lang="en-US"/>
              <a:t> 19h, de </a:t>
            </a:r>
            <a:r>
              <a:rPr lang="en-US" err="1"/>
              <a:t>segunda</a:t>
            </a:r>
            <a:r>
              <a:rPr lang="en-US"/>
              <a:t> a sexta.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enviadas</a:t>
            </a:r>
            <a:r>
              <a:rPr lang="en-US"/>
              <a:t> entre 17h e 19h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analisadas</a:t>
            </a:r>
            <a:r>
              <a:rPr lang="en-US"/>
              <a:t> no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no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, no </a:t>
            </a:r>
            <a:r>
              <a:rPr lang="en-US" err="1"/>
              <a:t>primeiro</a:t>
            </a:r>
            <a:r>
              <a:rPr lang="en-US"/>
              <a:t> </a:t>
            </a:r>
            <a:r>
              <a:rPr lang="en-US" err="1"/>
              <a:t>horário</a:t>
            </a:r>
            <a:r>
              <a:rPr lang="en-US"/>
              <a:t>, de </a:t>
            </a:r>
            <a:r>
              <a:rPr lang="en-US" err="1"/>
              <a:t>acordo</a:t>
            </a:r>
            <a:r>
              <a:rPr lang="en-US"/>
              <a:t> com a fila de </a:t>
            </a:r>
            <a:r>
              <a:rPr lang="en-US" err="1"/>
              <a:t>solicitações</a:t>
            </a:r>
            <a:r>
              <a:rPr lang="en-US"/>
              <a:t>. Para </a:t>
            </a:r>
            <a:r>
              <a:rPr lang="en-US" err="1"/>
              <a:t>casos</a:t>
            </a:r>
            <a:r>
              <a:rPr lang="en-US"/>
              <a:t> e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urgentes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sinalizem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com o </a:t>
            </a:r>
            <a:r>
              <a:rPr lang="en-US" err="1"/>
              <a:t>máximo</a:t>
            </a:r>
            <a:r>
              <a:rPr lang="en-US"/>
              <a:t> de </a:t>
            </a:r>
            <a:r>
              <a:rPr lang="en-US" err="1"/>
              <a:t>antecedência</a:t>
            </a:r>
            <a:r>
              <a:rPr lang="en-US"/>
              <a:t> </a:t>
            </a:r>
            <a:r>
              <a:rPr lang="en-US" err="1"/>
              <a:t>possível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organizem</a:t>
            </a:r>
            <a:r>
              <a:rPr lang="en-US"/>
              <a:t> </a:t>
            </a:r>
            <a:r>
              <a:rPr lang="en-US" err="1"/>
              <a:t>internamente</a:t>
            </a:r>
            <a:r>
              <a:rPr lang="en-US"/>
              <a:t> e </a:t>
            </a:r>
            <a:r>
              <a:rPr lang="en-US" err="1"/>
              <a:t>consigam</a:t>
            </a:r>
            <a:r>
              <a:rPr lang="en-US"/>
              <a:t> </a:t>
            </a:r>
            <a:r>
              <a:rPr lang="en-US" err="1"/>
              <a:t>realizar</a:t>
            </a:r>
            <a:r>
              <a:rPr lang="en-US"/>
              <a:t> o </a:t>
            </a:r>
            <a:r>
              <a:rPr lang="en-US" err="1"/>
              <a:t>atendimento</a:t>
            </a:r>
            <a:r>
              <a:rPr lang="en-US"/>
              <a:t> e </a:t>
            </a:r>
            <a:r>
              <a:rPr lang="en-US" err="1"/>
              <a:t>suporte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. </a:t>
            </a:r>
            <a:r>
              <a:rPr lang="en-US" err="1"/>
              <a:t>Validação</a:t>
            </a:r>
            <a:r>
              <a:rPr lang="en-US"/>
              <a:t> e upload de </a:t>
            </a:r>
            <a:r>
              <a:rPr lang="en-US" err="1"/>
              <a:t>materiais</a:t>
            </a:r>
            <a:r>
              <a:rPr lang="en-US"/>
              <a:t> </a:t>
            </a:r>
            <a:r>
              <a:rPr lang="en-US" err="1"/>
              <a:t>publicitários</a:t>
            </a:r>
            <a:r>
              <a:rPr lang="en-US"/>
              <a:t>. Todos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materiais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enviados</a:t>
            </a:r>
            <a:r>
              <a:rPr lang="en-US"/>
              <a:t> </a:t>
            </a:r>
            <a:r>
              <a:rPr lang="en-US" err="1"/>
              <a:t>respeitando</a:t>
            </a:r>
            <a:r>
              <a:rPr lang="en-US"/>
              <a:t> as </a:t>
            </a:r>
            <a:r>
              <a:rPr lang="en-US" err="1"/>
              <a:t>especificações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do </a:t>
            </a:r>
            <a:r>
              <a:rPr lang="en-US" err="1"/>
              <a:t>sistema</a:t>
            </a:r>
            <a:r>
              <a:rPr lang="en-US"/>
              <a:t> e as </a:t>
            </a:r>
            <a:r>
              <a:rPr lang="en-US" err="1"/>
              <a:t>especificações</a:t>
            </a:r>
            <a:r>
              <a:rPr lang="en-US"/>
              <a:t> do site </a:t>
            </a:r>
            <a:r>
              <a:rPr lang="en-US" err="1"/>
              <a:t>onde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</a:t>
            </a:r>
            <a:r>
              <a:rPr lang="en-US" err="1"/>
              <a:t>veiculada</a:t>
            </a:r>
            <a:r>
              <a:rPr lang="en-US"/>
              <a:t>. O </a:t>
            </a:r>
            <a:r>
              <a:rPr lang="en-US" err="1"/>
              <a:t>prazo</a:t>
            </a:r>
            <a:r>
              <a:rPr lang="en-US"/>
              <a:t> para </a:t>
            </a:r>
            <a:r>
              <a:rPr lang="en-US" err="1"/>
              <a:t>validação</a:t>
            </a:r>
            <a:r>
              <a:rPr lang="en-US"/>
              <a:t> e upload de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de 48h,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das </a:t>
            </a:r>
            <a:r>
              <a:rPr lang="en-US" err="1"/>
              <a:t>especificações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e de </a:t>
            </a:r>
            <a:r>
              <a:rPr lang="en-US" err="1"/>
              <a:t>arte</a:t>
            </a:r>
            <a:r>
              <a:rPr lang="en-US"/>
              <a:t>. </a:t>
            </a:r>
            <a:r>
              <a:rPr lang="en-US" err="1"/>
              <a:t>Correções</a:t>
            </a:r>
            <a:r>
              <a:rPr lang="en-US"/>
              <a:t>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enviadas</a:t>
            </a:r>
            <a:r>
              <a:rPr lang="en-US"/>
              <a:t> de volta à </a:t>
            </a:r>
            <a:r>
              <a:rPr lang="en-US" err="1"/>
              <a:t>agência</a:t>
            </a:r>
            <a:r>
              <a:rPr lang="en-US"/>
              <a:t>, e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envio</a:t>
            </a:r>
            <a:r>
              <a:rPr lang="en-US"/>
              <a:t> de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inicia</a:t>
            </a:r>
            <a:r>
              <a:rPr lang="en-US"/>
              <a:t> um novo </a:t>
            </a:r>
            <a:r>
              <a:rPr lang="en-US" err="1"/>
              <a:t>prazo</a:t>
            </a:r>
            <a:r>
              <a:rPr lang="en-US"/>
              <a:t>. A </a:t>
            </a:r>
            <a:r>
              <a:rPr lang="en-US" err="1"/>
              <a:t>viabilidade</a:t>
            </a:r>
            <a:r>
              <a:rPr lang="en-US"/>
              <a:t> e o </a:t>
            </a:r>
            <a:r>
              <a:rPr lang="en-US" err="1"/>
              <a:t>prazo</a:t>
            </a:r>
            <a:r>
              <a:rPr lang="en-US"/>
              <a:t> final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determinados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análise</a:t>
            </a:r>
            <a:r>
              <a:rPr lang="en-US"/>
              <a:t> da </a:t>
            </a:r>
            <a:r>
              <a:rPr lang="en-US" err="1"/>
              <a:t>requisição</a:t>
            </a:r>
            <a:r>
              <a:rPr lang="en-US"/>
              <a:t>. </a:t>
            </a:r>
            <a:r>
              <a:rPr lang="en-US" err="1"/>
              <a:t>Dúvidas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direcionadas</a:t>
            </a:r>
            <a:r>
              <a:rPr lang="en-US"/>
              <a:t> a </a:t>
            </a:r>
            <a:r>
              <a:rPr lang="en-US" err="1"/>
              <a:t>creative.as@adsmovil.com</a:t>
            </a:r>
            <a:r>
              <a:rPr lang="en-US"/>
              <a:t>, com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resposta</a:t>
            </a:r>
            <a:r>
              <a:rPr lang="en-US"/>
              <a:t> de 4h </a:t>
            </a:r>
            <a:r>
              <a:rPr lang="en-US" err="1"/>
              <a:t>úteis</a:t>
            </a:r>
            <a:r>
              <a:rPr lang="en-US"/>
              <a:t>. O time </a:t>
            </a:r>
            <a:r>
              <a:rPr lang="en-US" err="1"/>
              <a:t>criativo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responsabilidade</a:t>
            </a:r>
            <a:r>
              <a:rPr lang="en-US"/>
              <a:t>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faz</a:t>
            </a:r>
            <a:r>
              <a:rPr lang="en-US"/>
              <a:t> </a:t>
            </a:r>
            <a:r>
              <a:rPr lang="en-US" err="1"/>
              <a:t>nenhum</a:t>
            </a:r>
            <a:r>
              <a:rPr lang="en-US"/>
              <a:t>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validação</a:t>
            </a:r>
            <a:r>
              <a:rPr lang="en-US"/>
              <a:t> da </a:t>
            </a:r>
            <a:r>
              <a:rPr lang="en-US" err="1"/>
              <a:t>arte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animação</a:t>
            </a:r>
            <a:r>
              <a:rPr lang="en-US"/>
              <a:t> da </a:t>
            </a:r>
            <a:r>
              <a:rPr lang="en-US" err="1"/>
              <a:t>peça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aprovada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cliente</a:t>
            </a:r>
            <a:r>
              <a:rPr lang="en-US"/>
              <a:t> e </a:t>
            </a:r>
            <a:r>
              <a:rPr lang="en-US" err="1"/>
              <a:t>nenhum</a:t>
            </a:r>
            <a:r>
              <a:rPr lang="en-US"/>
              <a:t>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alteração</a:t>
            </a:r>
            <a:r>
              <a:rPr lang="en-US"/>
              <a:t> </a:t>
            </a:r>
            <a:r>
              <a:rPr lang="en-US" err="1"/>
              <a:t>neste</a:t>
            </a:r>
            <a:r>
              <a:rPr lang="en-US"/>
              <a:t> </a:t>
            </a:r>
            <a:r>
              <a:rPr lang="en-US" err="1"/>
              <a:t>sentido</a:t>
            </a:r>
            <a:r>
              <a:rPr lang="en-US"/>
              <a:t>. </a:t>
            </a:r>
            <a:r>
              <a:rPr lang="en-US" err="1"/>
              <a:t>Tráfego</a:t>
            </a:r>
            <a:r>
              <a:rPr lang="en-US"/>
              <a:t>, </a:t>
            </a:r>
            <a:r>
              <a:rPr lang="en-US" err="1"/>
              <a:t>execução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de tags. A </a:t>
            </a:r>
            <a:r>
              <a:rPr lang="en-US" err="1"/>
              <a:t>execução</a:t>
            </a:r>
            <a:r>
              <a:rPr lang="en-US"/>
              <a:t> do ADP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, o attachment de </a:t>
            </a:r>
            <a:r>
              <a:rPr lang="en-US" err="1"/>
              <a:t>peças</a:t>
            </a:r>
            <a:r>
              <a:rPr lang="en-US"/>
              <a:t> e URLs e o </a:t>
            </a:r>
            <a:r>
              <a:rPr lang="en-US" err="1"/>
              <a:t>processo</a:t>
            </a:r>
            <a:r>
              <a:rPr lang="en-US"/>
              <a:t> de </a:t>
            </a:r>
            <a:r>
              <a:rPr lang="en-US" err="1"/>
              <a:t>tráfego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de tags </a:t>
            </a:r>
            <a:r>
              <a:rPr lang="en-US" err="1"/>
              <a:t>têm</a:t>
            </a:r>
            <a:r>
              <a:rPr lang="en-US"/>
              <a:t>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programação</a:t>
            </a:r>
            <a:r>
              <a:rPr lang="en-US"/>
              <a:t> entre 2 e 48h,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</a:t>
            </a:r>
            <a:r>
              <a:rPr lang="en-US" err="1"/>
              <a:t>considerando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corretas</a:t>
            </a:r>
            <a:r>
              <a:rPr lang="en-US"/>
              <a:t> no ADP e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das specs. Caso </a:t>
            </a:r>
            <a:r>
              <a:rPr lang="en-US" err="1"/>
              <a:t>contrário</a:t>
            </a:r>
            <a:r>
              <a:rPr lang="en-US"/>
              <a:t>, </a:t>
            </a:r>
            <a:r>
              <a:rPr lang="en-US" err="1"/>
              <a:t>haverá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tempo de </a:t>
            </a:r>
            <a:r>
              <a:rPr lang="en-US" err="1"/>
              <a:t>execução</a:t>
            </a:r>
            <a:r>
              <a:rPr lang="en-US"/>
              <a:t> e </a:t>
            </a:r>
            <a:r>
              <a:rPr lang="en-US" err="1"/>
              <a:t>operação</a:t>
            </a:r>
            <a:r>
              <a:rPr lang="en-US"/>
              <a:t>, </a:t>
            </a:r>
            <a:r>
              <a:rPr lang="en-US" err="1"/>
              <a:t>dependendo</a:t>
            </a:r>
            <a:r>
              <a:rPr lang="en-US"/>
              <a:t> do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suporte</a:t>
            </a:r>
            <a:r>
              <a:rPr lang="en-US"/>
              <a:t> e </a:t>
            </a:r>
            <a:r>
              <a:rPr lang="en-US" err="1"/>
              <a:t>ajuste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, e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impactará</a:t>
            </a:r>
            <a:r>
              <a:rPr lang="en-US"/>
              <a:t> </a:t>
            </a:r>
            <a:r>
              <a:rPr lang="en-US" err="1"/>
              <a:t>todo</a:t>
            </a:r>
            <a:r>
              <a:rPr lang="en-US"/>
              <a:t> 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operacional</a:t>
            </a:r>
            <a:r>
              <a:rPr lang="en-US"/>
              <a:t> de </a:t>
            </a:r>
            <a:r>
              <a:rPr lang="en-US" err="1"/>
              <a:t>programação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</a:t>
            </a:r>
            <a:r>
              <a:rPr lang="en-US" err="1"/>
              <a:t>Diárias</a:t>
            </a:r>
            <a:r>
              <a:rPr lang="en-US"/>
              <a:t>.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diárias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sinalizadas</a:t>
            </a:r>
            <a:r>
              <a:rPr lang="en-US"/>
              <a:t> no ADP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possa</a:t>
            </a:r>
            <a:r>
              <a:rPr lang="en-US"/>
              <a:t> </a:t>
            </a:r>
            <a:r>
              <a:rPr lang="en-US" err="1"/>
              <a:t>dar</a:t>
            </a:r>
            <a:r>
              <a:rPr lang="en-US"/>
              <a:t> </a:t>
            </a:r>
            <a:r>
              <a:rPr lang="en-US" err="1"/>
              <a:t>prioridade</a:t>
            </a:r>
            <a:r>
              <a:rPr lang="en-US"/>
              <a:t>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formato</a:t>
            </a:r>
            <a:r>
              <a:rPr lang="en-US"/>
              <a:t>, </a:t>
            </a:r>
            <a:r>
              <a:rPr lang="en-US" err="1"/>
              <a:t>programação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da tag, para </a:t>
            </a:r>
            <a:r>
              <a:rPr lang="en-US" err="1"/>
              <a:t>que</a:t>
            </a:r>
            <a:r>
              <a:rPr lang="en-US"/>
              <a:t> o publisher </a:t>
            </a:r>
            <a:r>
              <a:rPr lang="en-US" err="1"/>
              <a:t>inicie</a:t>
            </a:r>
            <a:r>
              <a:rPr lang="en-US"/>
              <a:t> o </a:t>
            </a:r>
            <a:r>
              <a:rPr lang="en-US" err="1"/>
              <a:t>processo</a:t>
            </a:r>
            <a:r>
              <a:rPr lang="en-US"/>
              <a:t> de </a:t>
            </a:r>
            <a:r>
              <a:rPr lang="en-US" err="1"/>
              <a:t>validação</a:t>
            </a:r>
            <a:r>
              <a:rPr lang="en-US"/>
              <a:t> e QA </a:t>
            </a:r>
            <a:r>
              <a:rPr lang="en-US" err="1"/>
              <a:t>dentro</a:t>
            </a:r>
            <a:r>
              <a:rPr lang="en-US"/>
              <a:t> do SLA </a:t>
            </a:r>
            <a:r>
              <a:rPr lang="en-US" err="1"/>
              <a:t>preciso</a:t>
            </a:r>
            <a:r>
              <a:rPr lang="en-US"/>
              <a:t>.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precisam</a:t>
            </a:r>
            <a:r>
              <a:rPr lang="en-US"/>
              <a:t> ser </a:t>
            </a:r>
            <a:r>
              <a:rPr lang="en-US" err="1"/>
              <a:t>enviadas</a:t>
            </a:r>
            <a:r>
              <a:rPr lang="en-US"/>
              <a:t> com no </a:t>
            </a:r>
            <a:r>
              <a:rPr lang="en-US" err="1"/>
              <a:t>mínimo</a:t>
            </a:r>
            <a:r>
              <a:rPr lang="en-US"/>
              <a:t> 72h,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de </a:t>
            </a:r>
            <a:r>
              <a:rPr lang="en-US" err="1"/>
              <a:t>antecedência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ter tempo </a:t>
            </a:r>
            <a:r>
              <a:rPr lang="en-US" err="1"/>
              <a:t>hábil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testes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efetuados</a:t>
            </a:r>
            <a:r>
              <a:rPr lang="en-US"/>
              <a:t> 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possíveis</a:t>
            </a:r>
            <a:r>
              <a:rPr lang="en-US"/>
              <a:t>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solicitados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publisher. </a:t>
            </a:r>
            <a:r>
              <a:rPr lang="en-US" err="1"/>
              <a:t>Discrepâncias</a:t>
            </a:r>
            <a:r>
              <a:rPr lang="en-US"/>
              <a:t>.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realiza</a:t>
            </a:r>
            <a:r>
              <a:rPr lang="en-US"/>
              <a:t> a </a:t>
            </a:r>
            <a:r>
              <a:rPr lang="en-US" err="1"/>
              <a:t>comparação</a:t>
            </a:r>
            <a:r>
              <a:rPr lang="en-US"/>
              <a:t> dos dados </a:t>
            </a:r>
            <a:r>
              <a:rPr lang="en-US" err="1"/>
              <a:t>quando</a:t>
            </a:r>
            <a:r>
              <a:rPr lang="en-US"/>
              <a:t> a </a:t>
            </a:r>
            <a:r>
              <a:rPr lang="en-US" err="1"/>
              <a:t>veiculação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com o portal. As </a:t>
            </a:r>
            <a:r>
              <a:rPr lang="en-US" err="1"/>
              <a:t>discrepâncias</a:t>
            </a:r>
            <a:r>
              <a:rPr lang="en-US"/>
              <a:t> </a:t>
            </a:r>
            <a:r>
              <a:rPr lang="en-US" err="1"/>
              <a:t>acima</a:t>
            </a:r>
            <a:r>
              <a:rPr lang="en-US"/>
              <a:t> de 10%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veiculação</a:t>
            </a:r>
            <a:r>
              <a:rPr lang="en-US"/>
              <a:t> no Desktop e 20% no Mobile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analisadas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detectar</a:t>
            </a:r>
            <a:r>
              <a:rPr lang="en-US"/>
              <a:t> o </a:t>
            </a:r>
            <a:r>
              <a:rPr lang="en-US" err="1"/>
              <a:t>motivo</a:t>
            </a:r>
            <a:r>
              <a:rPr lang="en-US"/>
              <a:t>. O </a:t>
            </a:r>
            <a:r>
              <a:rPr lang="en-US" err="1"/>
              <a:t>prazo</a:t>
            </a:r>
            <a:r>
              <a:rPr lang="en-US"/>
              <a:t> para </a:t>
            </a:r>
            <a:r>
              <a:rPr lang="en-US" err="1"/>
              <a:t>início</a:t>
            </a:r>
            <a:r>
              <a:rPr lang="en-US"/>
              <a:t> da </a:t>
            </a:r>
            <a:r>
              <a:rPr lang="en-US" err="1"/>
              <a:t>análise</a:t>
            </a:r>
            <a:r>
              <a:rPr lang="en-US"/>
              <a:t> </a:t>
            </a:r>
            <a:r>
              <a:rPr lang="en-US" err="1"/>
              <a:t>depende</a:t>
            </a:r>
            <a:r>
              <a:rPr lang="en-US"/>
              <a:t> da </a:t>
            </a:r>
            <a:r>
              <a:rPr lang="en-US" err="1"/>
              <a:t>cooperação</a:t>
            </a:r>
            <a:r>
              <a:rPr lang="en-US"/>
              <a:t> do portal, mas </a:t>
            </a:r>
            <a:r>
              <a:rPr lang="en-US" err="1"/>
              <a:t>normalmente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de 48h, e a </a:t>
            </a:r>
            <a:r>
              <a:rPr lang="en-US" err="1"/>
              <a:t>resolução</a:t>
            </a:r>
            <a:r>
              <a:rPr lang="en-US"/>
              <a:t> do </a:t>
            </a:r>
            <a:r>
              <a:rPr lang="en-US" err="1"/>
              <a:t>caso</a:t>
            </a:r>
            <a:r>
              <a:rPr lang="en-US"/>
              <a:t> varia de </a:t>
            </a:r>
            <a:r>
              <a:rPr lang="en-US" err="1"/>
              <a:t>acordo</a:t>
            </a:r>
            <a:r>
              <a:rPr lang="en-US"/>
              <a:t> com a </a:t>
            </a:r>
            <a:r>
              <a:rPr lang="en-US" err="1"/>
              <a:t>dificuldade</a:t>
            </a:r>
            <a:r>
              <a:rPr lang="en-US"/>
              <a:t> </a:t>
            </a:r>
            <a:r>
              <a:rPr lang="en-US" err="1"/>
              <a:t>encontrada</a:t>
            </a:r>
            <a:r>
              <a:rPr lang="en-US"/>
              <a:t>.</a:t>
            </a:r>
            <a:endParaRPr/>
          </a:p>
        </p:txBody>
      </p:sp>
      <p:sp>
        <p:nvSpPr>
          <p:cNvPr id="636" name="Google Shape;63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ter </a:t>
            </a:r>
            <a:r>
              <a:rPr lang="en-US" err="1"/>
              <a:t>uma</a:t>
            </a:r>
            <a:r>
              <a:rPr lang="en-US"/>
              <a:t> thread do ADP e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para 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realizadas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respectivas</a:t>
            </a:r>
            <a:r>
              <a:rPr lang="en-US"/>
              <a:t> threads, para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organização</a:t>
            </a:r>
            <a:r>
              <a:rPr lang="en-US"/>
              <a:t> </a:t>
            </a:r>
            <a:r>
              <a:rPr lang="en-US" err="1"/>
              <a:t>melhor</a:t>
            </a:r>
            <a:r>
              <a:rPr lang="en-US"/>
              <a:t> e para </a:t>
            </a:r>
            <a:r>
              <a:rPr lang="en-US" err="1"/>
              <a:t>manter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históricos</a:t>
            </a:r>
            <a:r>
              <a:rPr lang="en-US"/>
              <a:t> de </a:t>
            </a:r>
            <a:r>
              <a:rPr lang="en-US" err="1"/>
              <a:t>solicitações</a:t>
            </a:r>
            <a:r>
              <a:rPr lang="en-US"/>
              <a:t>. Quando a </a:t>
            </a:r>
            <a:r>
              <a:rPr lang="en-US" err="1"/>
              <a:t>entrega</a:t>
            </a:r>
            <a:r>
              <a:rPr lang="en-US"/>
              <a:t> do placement for </a:t>
            </a:r>
            <a:r>
              <a:rPr lang="en-US" err="1"/>
              <a:t>por</a:t>
            </a:r>
            <a:r>
              <a:rPr lang="en-US"/>
              <a:t> Tag, a </a:t>
            </a:r>
            <a:r>
              <a:rPr lang="en-US" err="1"/>
              <a:t>criação</a:t>
            </a:r>
            <a:r>
              <a:rPr lang="en-US"/>
              <a:t> das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as specs da </a:t>
            </a:r>
            <a:r>
              <a:rPr lang="en-US" err="1"/>
              <a:t>Innovid</a:t>
            </a:r>
            <a:r>
              <a:rPr lang="en-US"/>
              <a:t>. Quando for </a:t>
            </a:r>
            <a:r>
              <a:rPr lang="en-US" err="1"/>
              <a:t>por</a:t>
            </a:r>
            <a:r>
              <a:rPr lang="en-US"/>
              <a:t> Tracking,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as specs do publisher. Caso </a:t>
            </a:r>
            <a:r>
              <a:rPr lang="en-US" err="1"/>
              <a:t>haja</a:t>
            </a:r>
            <a:r>
              <a:rPr lang="en-US"/>
              <a:t> </a:t>
            </a:r>
            <a:r>
              <a:rPr lang="en-US" err="1"/>
              <a:t>dúvida</a:t>
            </a:r>
            <a:r>
              <a:rPr lang="en-US"/>
              <a:t> se o </a:t>
            </a:r>
            <a:r>
              <a:rPr lang="en-US" err="1"/>
              <a:t>formato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Tag </a:t>
            </a:r>
            <a:r>
              <a:rPr lang="en-US" err="1"/>
              <a:t>ou</a:t>
            </a:r>
            <a:r>
              <a:rPr lang="en-US"/>
              <a:t> Tracking, </a:t>
            </a:r>
            <a:r>
              <a:rPr lang="en-US" err="1"/>
              <a:t>questionar</a:t>
            </a:r>
            <a:r>
              <a:rPr lang="en-US"/>
              <a:t> o time de CS da </a:t>
            </a:r>
            <a:r>
              <a:rPr lang="en-US" err="1"/>
              <a:t>Innovid</a:t>
            </a:r>
            <a:r>
              <a:rPr lang="en-US"/>
              <a:t>. Para social </a:t>
            </a:r>
            <a:r>
              <a:rPr lang="en-US" err="1"/>
              <a:t>somente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aceitos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, mas para as </a:t>
            </a:r>
            <a:r>
              <a:rPr lang="en-US" err="1"/>
              <a:t>demais</a:t>
            </a:r>
            <a:r>
              <a:rPr lang="en-US"/>
              <a:t> </a:t>
            </a:r>
            <a:r>
              <a:rPr lang="en-US" err="1"/>
              <a:t>veiculações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-se </a:t>
            </a:r>
            <a:r>
              <a:rPr lang="en-US" err="1"/>
              <a:t>priorizar</a:t>
            </a:r>
            <a:r>
              <a:rPr lang="en-US"/>
              <a:t> a </a:t>
            </a:r>
            <a:r>
              <a:rPr lang="en-US" err="1"/>
              <a:t>veiculação</a:t>
            </a:r>
            <a:r>
              <a:rPr lang="en-US"/>
              <a:t> via TAG. Nada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veiculado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a TAG </a:t>
            </a:r>
            <a:r>
              <a:rPr lang="en-US" err="1"/>
              <a:t>ou</a:t>
            </a:r>
            <a:r>
              <a:rPr lang="en-US"/>
              <a:t> o </a:t>
            </a:r>
            <a:r>
              <a:rPr lang="en-US" err="1"/>
              <a:t>contador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a </a:t>
            </a:r>
            <a:r>
              <a:rPr lang="en-US" err="1"/>
              <a:t>autorização</a:t>
            </a:r>
            <a:r>
              <a:rPr lang="en-US"/>
              <a:t> do </a:t>
            </a:r>
            <a:r>
              <a:rPr lang="en-US" err="1"/>
              <a:t>cliente</a:t>
            </a:r>
            <a:r>
              <a:rPr lang="en-US"/>
              <a:t>,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de </a:t>
            </a:r>
            <a:r>
              <a:rPr lang="en-US" err="1"/>
              <a:t>entregar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auditados</a:t>
            </a:r>
            <a:r>
              <a:rPr lang="en-US"/>
              <a:t> para o </a:t>
            </a:r>
            <a:r>
              <a:rPr lang="en-US" err="1"/>
              <a:t>cliente</a:t>
            </a:r>
            <a:r>
              <a:rPr lang="en-US"/>
              <a:t>. Sempre </a:t>
            </a:r>
            <a:r>
              <a:rPr lang="en-US" err="1"/>
              <a:t>manter</a:t>
            </a:r>
            <a:r>
              <a:rPr lang="en-US"/>
              <a:t> o e-mail </a:t>
            </a:r>
            <a:r>
              <a:rPr lang="en-US" err="1"/>
              <a:t>unilever.as@adsmovil.com</a:t>
            </a:r>
            <a:r>
              <a:rPr lang="en-US"/>
              <a:t> para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,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toda</a:t>
            </a:r>
            <a:r>
              <a:rPr lang="en-US"/>
              <a:t> a equipe de CS fique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. Double Verify. Toda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for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campanha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do </a:t>
            </a:r>
            <a:r>
              <a:rPr lang="en-US" err="1"/>
              <a:t>lado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Double Verify. Sempre </a:t>
            </a:r>
            <a:r>
              <a:rPr lang="en-US" err="1"/>
              <a:t>lembrar</a:t>
            </a:r>
            <a:r>
              <a:rPr lang="en-US"/>
              <a:t> de </a:t>
            </a:r>
            <a:r>
              <a:rPr lang="en-US" err="1"/>
              <a:t>inserir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de Campaign ID da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encontra</a:t>
            </a:r>
            <a:r>
              <a:rPr lang="en-US"/>
              <a:t> no campo Campaign ID no </a:t>
            </a:r>
            <a:r>
              <a:rPr lang="en-US" err="1"/>
              <a:t>cabeçalho</a:t>
            </a:r>
            <a:r>
              <a:rPr lang="en-US"/>
              <a:t> do ADP, e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publishers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vão</a:t>
            </a:r>
            <a:r>
              <a:rPr lang="en-US"/>
              <a:t> </a:t>
            </a:r>
            <a:r>
              <a:rPr lang="en-US" err="1"/>
              <a:t>veicular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</a:t>
            </a:r>
            <a:endParaRPr/>
          </a:p>
        </p:txBody>
      </p:sp>
      <p:sp>
        <p:nvSpPr>
          <p:cNvPr id="662" name="Google Shape;66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Fluxo</a:t>
            </a:r>
            <a:r>
              <a:rPr lang="en-US"/>
              <a:t> do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6 </a:t>
            </a:r>
            <a:r>
              <a:rPr lang="en-US" err="1"/>
              <a:t>etapas</a:t>
            </a:r>
            <a:r>
              <a:rPr lang="en-US"/>
              <a:t>. 01, </a:t>
            </a:r>
            <a:r>
              <a:rPr lang="en-US" err="1"/>
              <a:t>solicitação</a:t>
            </a:r>
            <a:r>
              <a:rPr lang="en-US"/>
              <a:t> de tasks </a:t>
            </a:r>
            <a:r>
              <a:rPr lang="en-US" err="1"/>
              <a:t>pelo</a:t>
            </a:r>
            <a:r>
              <a:rPr lang="en-US"/>
              <a:t> Jira, </a:t>
            </a:r>
            <a:r>
              <a:rPr lang="en-US" err="1"/>
              <a:t>feita</a:t>
            </a:r>
            <a:r>
              <a:rPr lang="en-US"/>
              <a:t> pela Initiative e pela </a:t>
            </a:r>
            <a:r>
              <a:rPr lang="en-US" err="1"/>
              <a:t>Cadastra</a:t>
            </a:r>
            <a:r>
              <a:rPr lang="en-US"/>
              <a:t>. 02,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e </a:t>
            </a:r>
            <a:r>
              <a:rPr lang="en-US" err="1"/>
              <a:t>distribui</a:t>
            </a:r>
            <a:r>
              <a:rPr lang="en-US"/>
              <a:t> as tasks do Jira, </a:t>
            </a:r>
            <a:r>
              <a:rPr lang="en-US" err="1"/>
              <a:t>preenche</a:t>
            </a:r>
            <a:r>
              <a:rPr lang="en-US"/>
              <a:t> o Galileo e o </a:t>
            </a:r>
            <a:r>
              <a:rPr lang="en-US" err="1"/>
              <a:t>FreeText</a:t>
            </a:r>
            <a:r>
              <a:rPr lang="en-US"/>
              <a:t> </a:t>
            </a:r>
            <a:r>
              <a:rPr lang="en-US" err="1"/>
              <a:t>conforme</a:t>
            </a:r>
            <a:r>
              <a:rPr lang="en-US"/>
              <a:t> o ADP, </a:t>
            </a:r>
            <a:r>
              <a:rPr lang="en-US" err="1"/>
              <a:t>cria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e a URL </a:t>
            </a:r>
            <a:r>
              <a:rPr lang="en-US" err="1"/>
              <a:t>parametrizada</a:t>
            </a:r>
            <a:r>
              <a:rPr lang="en-US"/>
              <a:t> e </a:t>
            </a:r>
            <a:r>
              <a:rPr lang="en-US" err="1"/>
              <a:t>faz</a:t>
            </a:r>
            <a:r>
              <a:rPr lang="en-US"/>
              <a:t> a </a:t>
            </a:r>
            <a:r>
              <a:rPr lang="en-US" err="1"/>
              <a:t>validação</a:t>
            </a:r>
            <a:r>
              <a:rPr lang="en-US"/>
              <a:t> </a:t>
            </a:r>
            <a:r>
              <a:rPr lang="en-US" err="1"/>
              <a:t>automatizada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. 03,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contadores</a:t>
            </a:r>
            <a:r>
              <a:rPr lang="en-US"/>
              <a:t> e tags, pela </a:t>
            </a:r>
            <a:r>
              <a:rPr lang="en-US" err="1"/>
              <a:t>Innovid</a:t>
            </a:r>
            <a:r>
              <a:rPr lang="en-US"/>
              <a:t>. 04, QA, pela </a:t>
            </a:r>
            <a:r>
              <a:rPr lang="en-US" err="1"/>
              <a:t>Stormx</a:t>
            </a:r>
            <a:r>
              <a:rPr lang="en-US"/>
              <a:t>. 05, </a:t>
            </a:r>
            <a:r>
              <a:rPr lang="en-US" err="1"/>
              <a:t>implementação</a:t>
            </a:r>
            <a:r>
              <a:rPr lang="en-US"/>
              <a:t>, pela Initiative e pela </a:t>
            </a:r>
            <a:r>
              <a:rPr lang="en-US" err="1"/>
              <a:t>Cadastra</a:t>
            </a:r>
            <a:r>
              <a:rPr lang="en-US"/>
              <a:t>. 06, report </a:t>
            </a:r>
            <a:r>
              <a:rPr lang="en-US" err="1"/>
              <a:t>diário</a:t>
            </a:r>
            <a:r>
              <a:rPr lang="en-US"/>
              <a:t> e QA </a:t>
            </a:r>
            <a:r>
              <a:rPr lang="en-US" err="1"/>
              <a:t>automatizado</a:t>
            </a:r>
            <a:r>
              <a:rPr lang="en-US"/>
              <a:t>, pela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criação</a:t>
            </a:r>
            <a:r>
              <a:rPr lang="en-US"/>
              <a:t> e </a:t>
            </a:r>
            <a:r>
              <a:rPr lang="en-US" err="1"/>
              <a:t>distribuição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.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AdServer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rastreadores</a:t>
            </a:r>
            <a:r>
              <a:rPr lang="en-US"/>
              <a:t>.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usar a </a:t>
            </a:r>
            <a:r>
              <a:rPr lang="en-US" err="1"/>
              <a:t>taxonomia</a:t>
            </a:r>
            <a:r>
              <a:rPr lang="en-US"/>
              <a:t> 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outra</a:t>
            </a:r>
            <a:r>
              <a:rPr lang="en-US"/>
              <a:t>. Cada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estrutura</a:t>
            </a:r>
            <a:r>
              <a:rPr lang="en-US"/>
              <a:t> </a:t>
            </a:r>
            <a:r>
              <a:rPr lang="en-US" err="1"/>
              <a:t>própria</a:t>
            </a:r>
            <a:r>
              <a:rPr lang="en-US"/>
              <a:t> e </a:t>
            </a:r>
            <a:r>
              <a:rPr lang="en-US" err="1"/>
              <a:t>misturar</a:t>
            </a:r>
            <a:r>
              <a:rPr lang="en-US"/>
              <a:t> </a:t>
            </a:r>
            <a:r>
              <a:rPr lang="en-US" err="1"/>
              <a:t>compromete</a:t>
            </a:r>
            <a:r>
              <a:rPr lang="en-US"/>
              <a:t> o banco. Ad Name </a:t>
            </a:r>
            <a:r>
              <a:rPr lang="en-US" err="1"/>
              <a:t>duplicado</a:t>
            </a:r>
            <a:r>
              <a:rPr lang="en-US"/>
              <a:t>. O </a:t>
            </a:r>
            <a:r>
              <a:rPr lang="en-US" err="1"/>
              <a:t>mesmo</a:t>
            </a:r>
            <a:r>
              <a:rPr lang="en-US"/>
              <a:t> asset </a:t>
            </a:r>
            <a:r>
              <a:rPr lang="en-US" err="1"/>
              <a:t>precisa</a:t>
            </a:r>
            <a:r>
              <a:rPr lang="en-US"/>
              <a:t> de Ad Name </a:t>
            </a:r>
            <a:r>
              <a:rPr lang="en-US" err="1"/>
              <a:t>diferente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Ad Group. O ID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único</a:t>
            </a:r>
            <a:r>
              <a:rPr lang="en-US"/>
              <a:t> e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individualmente</a:t>
            </a:r>
            <a:r>
              <a:rPr lang="en-US"/>
              <a:t> à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Cópia</a:t>
            </a:r>
            <a:r>
              <a:rPr lang="en-US"/>
              <a:t> de Ad Group </a:t>
            </a:r>
            <a:r>
              <a:rPr lang="en-US" err="1"/>
              <a:t>ou</a:t>
            </a:r>
            <a:r>
              <a:rPr lang="en-US"/>
              <a:t> Ad Name. Nunca </a:t>
            </a:r>
            <a:r>
              <a:rPr lang="en-US" err="1"/>
              <a:t>duplicar</a:t>
            </a:r>
            <a:r>
              <a:rPr lang="en-US"/>
              <a:t> </a:t>
            </a:r>
            <a:r>
              <a:rPr lang="en-US" err="1"/>
              <a:t>direto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, pois </a:t>
            </a:r>
            <a:r>
              <a:rPr lang="en-US" err="1"/>
              <a:t>sufixos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copy </a:t>
            </a:r>
            <a:r>
              <a:rPr lang="en-US" err="1"/>
              <a:t>quebram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. Sempre </a:t>
            </a:r>
            <a:r>
              <a:rPr lang="en-US" err="1"/>
              <a:t>solicitar</a:t>
            </a:r>
            <a:r>
              <a:rPr lang="en-US"/>
              <a:t> nova </a:t>
            </a:r>
            <a:r>
              <a:rPr lang="en-US" err="1"/>
              <a:t>taxonomia</a:t>
            </a:r>
            <a:r>
              <a:rPr lang="en-US"/>
              <a:t> à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Caracteres</a:t>
            </a:r>
            <a:r>
              <a:rPr lang="en-US"/>
              <a:t> </a:t>
            </a:r>
            <a:r>
              <a:rPr lang="en-US" err="1"/>
              <a:t>especiais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usar </a:t>
            </a:r>
            <a:r>
              <a:rPr lang="en-US" err="1"/>
              <a:t>acentos</a:t>
            </a:r>
            <a:r>
              <a:rPr lang="en-US"/>
              <a:t>, </a:t>
            </a:r>
            <a:r>
              <a:rPr lang="en-US" err="1"/>
              <a:t>apóstrofo</a:t>
            </a:r>
            <a:r>
              <a:rPr lang="en-US"/>
              <a:t>, </a:t>
            </a:r>
            <a:r>
              <a:rPr lang="en-US" err="1"/>
              <a:t>travessão</a:t>
            </a:r>
            <a:r>
              <a:rPr lang="en-US"/>
              <a:t>, underscore e pipe. Usar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letras</a:t>
            </a:r>
            <a:r>
              <a:rPr lang="en-US"/>
              <a:t>, </a:t>
            </a:r>
            <a:r>
              <a:rPr lang="en-US" err="1"/>
              <a:t>números</a:t>
            </a:r>
            <a:r>
              <a:rPr lang="en-US"/>
              <a:t> e </a:t>
            </a:r>
            <a:r>
              <a:rPr lang="en-US" err="1"/>
              <a:t>hífen</a:t>
            </a:r>
            <a:r>
              <a:rPr lang="en-US"/>
              <a:t>.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genérica</a:t>
            </a:r>
            <a:r>
              <a:rPr lang="en-US"/>
              <a:t>. </a:t>
            </a:r>
            <a:r>
              <a:rPr lang="en-US" err="1"/>
              <a:t>Exceção</a:t>
            </a:r>
            <a:r>
              <a:rPr lang="en-US"/>
              <a:t> para </a:t>
            </a:r>
            <a:r>
              <a:rPr lang="en-US" err="1"/>
              <a:t>quando</a:t>
            </a:r>
            <a:r>
              <a:rPr lang="en-US"/>
              <a:t> o </a:t>
            </a:r>
            <a:r>
              <a:rPr lang="en-US" err="1"/>
              <a:t>criativo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chegou</a:t>
            </a:r>
            <a:r>
              <a:rPr lang="en-US"/>
              <a:t> e a </a:t>
            </a:r>
            <a:r>
              <a:rPr lang="en-US" err="1"/>
              <a:t>implementação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feriado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fora do </a:t>
            </a:r>
            <a:r>
              <a:rPr lang="en-US" err="1"/>
              <a:t>horário</a:t>
            </a:r>
            <a:r>
              <a:rPr lang="en-US"/>
              <a:t> </a:t>
            </a:r>
            <a:r>
              <a:rPr lang="en-US" err="1"/>
              <a:t>comercial</a:t>
            </a:r>
            <a:r>
              <a:rPr lang="en-US"/>
              <a:t>. Segue a </a:t>
            </a:r>
            <a:r>
              <a:rPr lang="en-US" err="1"/>
              <a:t>estrutura</a:t>
            </a:r>
            <a:r>
              <a:rPr lang="en-US"/>
              <a:t> </a:t>
            </a:r>
            <a:r>
              <a:rPr lang="en-US" err="1"/>
              <a:t>correta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, com </a:t>
            </a:r>
            <a:r>
              <a:rPr lang="en-US" err="1"/>
              <a:t>algumas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genéricas</a:t>
            </a:r>
            <a:r>
              <a:rPr lang="en-US"/>
              <a:t>, e o time </a:t>
            </a:r>
            <a:r>
              <a:rPr lang="en-US" err="1"/>
              <a:t>tem</a:t>
            </a:r>
            <a:r>
              <a:rPr lang="en-US"/>
              <a:t> 24h para </a:t>
            </a:r>
            <a:r>
              <a:rPr lang="en-US" err="1"/>
              <a:t>solicitar</a:t>
            </a:r>
            <a:r>
              <a:rPr lang="en-US"/>
              <a:t> o </a:t>
            </a:r>
            <a:r>
              <a:rPr lang="en-US" err="1"/>
              <a:t>ajuste</a:t>
            </a:r>
            <a:r>
              <a:rPr lang="en-US"/>
              <a:t> com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corretos</a:t>
            </a:r>
            <a:r>
              <a:rPr lang="en-US"/>
              <a:t>. Campaign Name e Campaign Local. O Campaign Local, </a:t>
            </a:r>
            <a:r>
              <a:rPr lang="en-US" err="1"/>
              <a:t>campanha</a:t>
            </a:r>
            <a:r>
              <a:rPr lang="en-US"/>
              <a:t> local do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deve</a:t>
            </a:r>
            <a:r>
              <a:rPr lang="en-US"/>
              <a:t> ser sempre </a:t>
            </a:r>
            <a:r>
              <a:rPr lang="en-US" err="1"/>
              <a:t>igual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Campaign Name, global, salvo </a:t>
            </a:r>
            <a:r>
              <a:rPr lang="en-US" err="1"/>
              <a:t>mediante</a:t>
            </a:r>
            <a:r>
              <a:rPr lang="en-US"/>
              <a:t> </a:t>
            </a:r>
            <a:r>
              <a:rPr lang="en-US" err="1"/>
              <a:t>aprovação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adicionar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extras no Campaign Local Extra,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crie</a:t>
            </a:r>
            <a:r>
              <a:rPr lang="en-US"/>
              <a:t> e </a:t>
            </a:r>
            <a:r>
              <a:rPr lang="en-US" err="1"/>
              <a:t>cadastre</a:t>
            </a:r>
            <a:r>
              <a:rPr lang="en-US"/>
              <a:t> no ADP.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o </a:t>
            </a:r>
            <a:r>
              <a:rPr lang="en-US" err="1"/>
              <a:t>uso</a:t>
            </a:r>
            <a:r>
              <a:rPr lang="en-US"/>
              <a:t> de Campaign Name </a:t>
            </a:r>
            <a:r>
              <a:rPr lang="en-US" err="1"/>
              <a:t>genérico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Always On Non Search, </a:t>
            </a:r>
            <a:r>
              <a:rPr lang="en-US" err="1"/>
              <a:t>sendo</a:t>
            </a:r>
            <a:r>
              <a:rPr lang="en-US"/>
              <a:t> </a:t>
            </a:r>
            <a:r>
              <a:rPr lang="en-US" err="1"/>
              <a:t>autorizado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o Campaign Name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tenha</a:t>
            </a:r>
            <a:r>
              <a:rPr lang="en-US"/>
              <a:t> </a:t>
            </a:r>
            <a:r>
              <a:rPr lang="en-US" err="1"/>
              <a:t>sido</a:t>
            </a:r>
            <a:r>
              <a:rPr lang="en-US"/>
              <a:t> </a:t>
            </a:r>
            <a:r>
              <a:rPr lang="en-US" err="1"/>
              <a:t>aprovado</a:t>
            </a:r>
            <a:r>
              <a:rPr lang="en-US"/>
              <a:t>. Assim </a:t>
            </a:r>
            <a:r>
              <a:rPr lang="en-US" err="1"/>
              <a:t>que</a:t>
            </a:r>
            <a:r>
              <a:rPr lang="en-US"/>
              <a:t> o Global </a:t>
            </a:r>
            <a:r>
              <a:rPr lang="en-US" err="1"/>
              <a:t>enviar</a:t>
            </a:r>
            <a:r>
              <a:rPr lang="en-US"/>
              <a:t> o Campaign Name </a:t>
            </a:r>
            <a:r>
              <a:rPr lang="en-US" err="1"/>
              <a:t>oficial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ajustadas</a:t>
            </a:r>
            <a:r>
              <a:rPr lang="en-US"/>
              <a:t> para </a:t>
            </a:r>
            <a:r>
              <a:rPr lang="en-US" err="1"/>
              <a:t>refletir</a:t>
            </a:r>
            <a:r>
              <a:rPr lang="en-US"/>
              <a:t> o novo </a:t>
            </a:r>
            <a:r>
              <a:rPr lang="en-US" err="1"/>
              <a:t>nome</a:t>
            </a:r>
            <a:r>
              <a:rPr lang="en-US"/>
              <a:t>.</a:t>
            </a:r>
            <a:endParaRPr/>
          </a:p>
        </p:txBody>
      </p:sp>
      <p:sp>
        <p:nvSpPr>
          <p:cNvPr id="747" name="Google Shape;74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TikTok Shop. Na </a:t>
            </a:r>
            <a:r>
              <a:rPr lang="en-US" err="1"/>
              <a:t>plataforma</a:t>
            </a:r>
            <a:r>
              <a:rPr lang="en-US"/>
              <a:t> do TikTok Shop </a:t>
            </a:r>
            <a:r>
              <a:rPr lang="en-US" err="1"/>
              <a:t>só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o Campaign,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existe</a:t>
            </a:r>
            <a:r>
              <a:rPr lang="en-US"/>
              <a:t> Ad Group nem Ad Name.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taxonomia</a:t>
            </a:r>
            <a:r>
              <a:rPr lang="en-US"/>
              <a:t> de Campaign </a:t>
            </a:r>
            <a:r>
              <a:rPr lang="en-US" err="1"/>
              <a:t>personalizada</a:t>
            </a:r>
            <a:r>
              <a:rPr lang="en-US"/>
              <a:t> para a </a:t>
            </a:r>
            <a:r>
              <a:rPr lang="en-US" err="1"/>
              <a:t>plataforma</a:t>
            </a:r>
            <a:r>
              <a:rPr lang="en-US"/>
              <a:t>. Como esse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extraído</a:t>
            </a:r>
            <a:r>
              <a:rPr lang="en-US"/>
              <a:t> via API,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manual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.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sendo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, o BI </a:t>
            </a:r>
            <a:r>
              <a:rPr lang="en-US" err="1"/>
              <a:t>criou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regra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lida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TikTok, com a </a:t>
            </a:r>
            <a:r>
              <a:rPr lang="en-US" err="1"/>
              <a:t>estrutura</a:t>
            </a:r>
            <a:r>
              <a:rPr lang="en-US"/>
              <a:t> normal da </a:t>
            </a:r>
            <a:r>
              <a:rPr lang="en-US" err="1"/>
              <a:t>plataforma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entrega</a:t>
            </a:r>
            <a:r>
              <a:rPr lang="en-US"/>
              <a:t> 4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Campaign, Ad Group e Ad Name </a:t>
            </a:r>
            <a:r>
              <a:rPr lang="en-US" err="1"/>
              <a:t>vão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e </a:t>
            </a:r>
            <a:r>
              <a:rPr lang="en-US" err="1"/>
              <a:t>ficam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primeiras</a:t>
            </a:r>
            <a:r>
              <a:rPr lang="en-US"/>
              <a:t> </a:t>
            </a:r>
            <a:r>
              <a:rPr lang="en-US" err="1"/>
              <a:t>colunas</a:t>
            </a:r>
            <a:r>
              <a:rPr lang="en-US"/>
              <a:t> de </a:t>
            </a:r>
            <a:r>
              <a:rPr lang="en-US" err="1"/>
              <a:t>taxonomia</a:t>
            </a:r>
            <a:r>
              <a:rPr lang="en-US"/>
              <a:t> da RM. O Campaign de TikTok Shop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e </a:t>
            </a:r>
            <a:r>
              <a:rPr lang="en-US" err="1"/>
              <a:t>fica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final da RM. Google </a:t>
            </a:r>
            <a:r>
              <a:rPr lang="en-US" err="1"/>
              <a:t>PMax</a:t>
            </a:r>
            <a:r>
              <a:rPr lang="en-US"/>
              <a:t>. Sem Ad Group, </a:t>
            </a:r>
            <a:r>
              <a:rPr lang="en-US" err="1"/>
              <a:t>quebra</a:t>
            </a:r>
            <a:r>
              <a:rPr lang="en-US"/>
              <a:t> extra de Format Type Local no Campaign, valor </a:t>
            </a:r>
            <a:r>
              <a:rPr lang="en-US" err="1"/>
              <a:t>pmax</a:t>
            </a:r>
            <a:r>
              <a:rPr lang="en-US"/>
              <a:t>. Publisher google-</a:t>
            </a:r>
            <a:r>
              <a:rPr lang="en-US" err="1"/>
              <a:t>pmax</a:t>
            </a:r>
            <a:r>
              <a:rPr lang="en-US"/>
              <a:t>. Google Search e Demand Gen. Search, Publisher google-search. Demand Gen, Publisher google-ads para Google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youtube</a:t>
            </a:r>
            <a:r>
              <a:rPr lang="en-US"/>
              <a:t> para YouTube. Twitter Amplify. </a:t>
            </a:r>
            <a:r>
              <a:rPr lang="en-US" err="1"/>
              <a:t>Campanhas</a:t>
            </a:r>
            <a:r>
              <a:rPr lang="en-US"/>
              <a:t> Amplify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têm</a:t>
            </a:r>
            <a:r>
              <a:rPr lang="en-US"/>
              <a:t> Ad Name. Publisher </a:t>
            </a:r>
            <a:r>
              <a:rPr lang="en-US" err="1"/>
              <a:t>na</a:t>
            </a:r>
            <a:r>
              <a:rPr lang="en-US"/>
              <a:t> RM, Twitter-Amplify. YouTube Masthead CPH.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com Buying Type </a:t>
            </a:r>
            <a:r>
              <a:rPr lang="en-US" err="1"/>
              <a:t>cph</a:t>
            </a:r>
            <a:r>
              <a:rPr lang="en-US"/>
              <a:t>. </a:t>
            </a:r>
            <a:r>
              <a:rPr lang="en-US" err="1"/>
              <a:t>Innovid</a:t>
            </a:r>
            <a:r>
              <a:rPr lang="en-US"/>
              <a:t> via API. Ad Group e Ad Name </a:t>
            </a:r>
            <a:r>
              <a:rPr lang="en-US" err="1"/>
              <a:t>unificados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Placement Name.</a:t>
            </a:r>
            <a:endParaRPr/>
          </a:p>
        </p:txBody>
      </p:sp>
      <p:sp>
        <p:nvSpPr>
          <p:cNvPr id="777" name="Google Shape;77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Mercado Livre em Programática, o Ad Name tem limite de 50 caracteres. Por isso a taxonomia é reduzida. No IO, entram o Landing Page Type e o Retailer, que antes ficavam no Ad Name. O Line Item é unificado com o Ad Name e recebe Influencer, FormatGroup, Position, InfluencerorBrand, InfluencerName, TipodeTag e MidiaAdName-Extra. O Ad Name é reduzido de 12 para 3 campos, ficando só com Placement-Type, CreativeName e Seconds. Na RM existem a taxonomia normal e a reduzida. A reduzida deve ser usada na plataforma, mas na planilha de Compra Direta deve entrar a normal, a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4664-BC16-D913-BB67-3FE90207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9C588F-D6F9-E9A7-09E6-4120F3CBF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4B2227-C978-AEC3-2A42-68C5687B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5F14A8-B1C7-37C5-F245-98C444983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114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50693-588A-C63B-3C97-2650E44BA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C0C5D-80D2-456E-0127-11DD93C4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3202B-E9C6-CD4D-0AD0-345C7F61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E620E-610B-CE3A-E68A-B6D3ABB4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45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BD02-E58D-48E6-3167-BF1D34E0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3F8E1-6256-9BDA-6258-AC9D3AA84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EC1B8-29A7-0DBA-49C6-B20369008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0FC88-D030-5EB7-CFEE-C006182F6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786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8239-7FCE-3074-3B1A-C5A5694D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B5ED0-73D3-98B9-AF7E-FB12BDAB6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3D566-6B1B-4D89-CCFC-225DDB6DF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81B04-3E16-DAFB-1FB8-0491D3BAD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175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BC12-AF3B-E25A-A9F7-6AE43B79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114EF-05CD-2FF3-0CCF-1A6FC8CE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80E91-1D33-D7BB-9980-4EC4CCB72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25EA-44C0-1F7B-CDAF-5FCF41C3D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0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C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3B8A3FC-B1D8-93B4-801E-B8017662EE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1202" y="1519967"/>
            <a:ext cx="9149596" cy="51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F70818-598B-016E-64C8-BE6A4FA6DC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975" r="25383" b="8897"/>
          <a:stretch>
            <a:fillRect/>
          </a:stretch>
        </p:blipFill>
        <p:spPr>
          <a:xfrm>
            <a:off x="6109428" y="-1"/>
            <a:ext cx="6082572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4FFC22E-7BDD-7B73-942F-2B4EB9E66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738" y="3264408"/>
            <a:ext cx="2257262" cy="329184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FD37FF6-A221-1A1A-D781-064FA5B1F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281" y="6003561"/>
            <a:ext cx="5681344" cy="553999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0" i="0" kern="1200" spc="0" dirty="0">
                <a:solidFill>
                  <a:schemeClr val="bg1"/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INSERT SUBHEADING HERE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C1CDE-20FB-BA2C-4313-84AC9DF7E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" y="2643240"/>
            <a:ext cx="5041392" cy="1571520"/>
          </a:xfrm>
        </p:spPr>
        <p:txBody>
          <a:bodyPr tIns="137160" anchor="ctr"/>
          <a:lstStyle>
            <a:lvl1pPr>
              <a:lnSpc>
                <a:spcPct val="85000"/>
              </a:lnSpc>
              <a:defRPr sz="5400" b="0" i="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r>
              <a:rPr lang="en-US"/>
              <a:t>BRAND NAME OR TITLE</a:t>
            </a:r>
          </a:p>
        </p:txBody>
      </p:sp>
    </p:spTree>
    <p:extLst>
      <p:ext uri="{BB962C8B-B14F-4D97-AF65-F5344CB8AC3E}">
        <p14:creationId xmlns:p14="http://schemas.microsoft.com/office/powerpoint/2010/main" val="352966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17BBDA-FD4E-D36D-0769-1D55A2320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059932D-1CE0-5D2A-41BE-C788548A7F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D19C81C-DEAE-0406-1365-3AE54B364B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273" y="-3864"/>
            <a:ext cx="6836727" cy="6082402"/>
          </a:xfrm>
          <a:solidFill>
            <a:schemeClr val="bg2"/>
          </a:solidFill>
        </p:spPr>
        <p:txBody>
          <a:bodyPr/>
          <a:lstStyle>
            <a:lvl1pPr>
              <a:defRPr b="0" i="0"/>
            </a:lvl1pPr>
          </a:lstStyle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77F9DE3-7063-28C4-8BBE-3F5185F6E4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280" y="1413386"/>
            <a:ext cx="4684712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en-US" sz="1400" b="0" i="0" kern="1200" spc="0" dirty="0">
                <a:solidFill>
                  <a:schemeClr val="tx1"/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Insert Campaign Name Here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7956881-B06A-6CE3-57C9-6F4A4793F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8103" y="347373"/>
            <a:ext cx="365760" cy="123111"/>
          </a:xfrm>
        </p:spPr>
        <p:txBody>
          <a:bodyPr vert="horz" wrap="square" lIns="0" tIns="0" rIns="0" bIns="0" rtlCol="0" anchor="t">
            <a:spAutoFit/>
          </a:bodyPr>
          <a:lstStyle>
            <a:lvl1pPr algn="r">
              <a:buNone/>
              <a:defRPr lang="en-US" sz="800" b="0" i="0" dirty="0">
                <a:solidFill>
                  <a:schemeClr val="bg1">
                    <a:alpha val="5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algn="r">
              <a:spcAft>
                <a:spcPts val="0"/>
              </a:spcAft>
            </a:pPr>
            <a:fld id="{7892F68E-6A35-5849-B3B3-4409C0226E8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35B0B8-16C2-E02F-2D45-01CEEB2D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711956"/>
            <a:ext cx="4684712" cy="323165"/>
          </a:xfrm>
        </p:spPr>
        <p:txBody>
          <a:bodyPr/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ED32C1-BC78-E794-FE25-A0E86E8A664B}"/>
              </a:ext>
            </a:extLst>
          </p:cNvPr>
          <p:cNvCxnSpPr>
            <a:cxnSpLocks/>
          </p:cNvCxnSpPr>
          <p:nvPr userDrawn="1"/>
        </p:nvCxnSpPr>
        <p:spPr>
          <a:xfrm>
            <a:off x="335280" y="776413"/>
            <a:ext cx="1152144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6C799C-2E27-2BEB-AFD4-3D4097701DBB}"/>
              </a:ext>
            </a:extLst>
          </p:cNvPr>
          <p:cNvCxnSpPr>
            <a:cxnSpLocks/>
          </p:cNvCxnSpPr>
          <p:nvPr userDrawn="1"/>
        </p:nvCxnSpPr>
        <p:spPr>
          <a:xfrm>
            <a:off x="335280" y="6071686"/>
            <a:ext cx="1152144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50B9953-6291-43B1-5958-774BB45A7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081A43B-0ED8-2E3E-E085-17E08D90A2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E1303814-D8CB-3009-660C-C55D3571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978932"/>
            <a:ext cx="11521440" cy="382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2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Title - Bl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D1AE3BD-3985-6926-29CC-465599500F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29693" y="-3"/>
            <a:ext cx="2662310" cy="6858002"/>
            <a:chOff x="13816828" y="288579"/>
            <a:chExt cx="2710625" cy="6982459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EC65D64-0285-645C-E2EE-DC9A55715B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25760" b="50088"/>
            <a:stretch>
              <a:fillRect/>
            </a:stretch>
          </p:blipFill>
          <p:spPr>
            <a:xfrm rot="16200000">
              <a:off x="13411993" y="693414"/>
              <a:ext cx="2470829" cy="166116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F9DC1E7-361F-2987-797B-68E1B32DDD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2848" b="50088"/>
            <a:stretch>
              <a:fillRect/>
            </a:stretch>
          </p:blipFill>
          <p:spPr>
            <a:xfrm rot="5400000">
              <a:off x="14412996" y="3144743"/>
              <a:ext cx="3328172" cy="900736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F2DBC5D-A4F0-B75B-3E7B-099E73379C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50088" r="57300" b="22848"/>
            <a:stretch>
              <a:fillRect/>
            </a:stretch>
          </p:blipFill>
          <p:spPr>
            <a:xfrm rot="16200000">
              <a:off x="15366514" y="548779"/>
              <a:ext cx="1421136" cy="900737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4067706-2186-AC9C-99F3-AC72A60C1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50088"/>
            <a:stretch>
              <a:fillRect/>
            </a:stretch>
          </p:blipFill>
          <p:spPr>
            <a:xfrm rot="5400000">
              <a:off x="12983322" y="3814225"/>
              <a:ext cx="3328172" cy="166116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2130500-EF3B-51E2-A0D6-6DB809B2B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6201" t="50088" b="22848"/>
            <a:stretch>
              <a:fillRect/>
            </a:stretch>
          </p:blipFill>
          <p:spPr>
            <a:xfrm rot="16200000">
              <a:off x="15181818" y="5925404"/>
              <a:ext cx="1790531" cy="90073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33F635C-C677-B65F-03E9-71CDCA6F40CE}"/>
              </a:ext>
            </a:extLst>
          </p:cNvPr>
          <p:cNvSpPr/>
          <p:nvPr userDrawn="1"/>
        </p:nvSpPr>
        <p:spPr>
          <a:xfrm>
            <a:off x="9244584" y="6053328"/>
            <a:ext cx="2121408" cy="804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37278-BA91-8670-7DE0-6980B215B802}"/>
              </a:ext>
            </a:extLst>
          </p:cNvPr>
          <p:cNvSpPr txBox="1"/>
          <p:nvPr userDrawn="1"/>
        </p:nvSpPr>
        <p:spPr>
          <a:xfrm>
            <a:off x="8086725" y="6427906"/>
            <a:ext cx="243637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r">
              <a:defRPr sz="1000" b="0" i="1">
                <a:solidFill>
                  <a:schemeClr val="tx1">
                    <a:alpha val="50000"/>
                  </a:schemeClr>
                </a:solidFill>
                <a:latin typeface="Roboto Lt" panose="02000000000000000000" pitchFamily="2" charset="0"/>
                <a:ea typeface="Roboto Lt" panose="02000000000000000000" pitchFamily="2" charset="0"/>
              </a:defRPr>
            </a:lvl1pPr>
          </a:lstStyle>
          <a:p>
            <a:pPr lvl="0" algn="l"/>
            <a:r>
              <a:rPr lang="en-US" sz="800" b="0" i="0" noProof="0">
                <a:solidFill>
                  <a:schemeClr val="bg1">
                    <a:alpha val="25000"/>
                  </a:schemeClr>
                </a:solidFill>
                <a:latin typeface="Instrument Sans" pitchFamily="2" charset="0"/>
                <a:ea typeface="Roboto Light" panose="02000000000000000000" pitchFamily="2" charset="0"/>
              </a:rPr>
              <a:t>© 2026 Omnicom Group Inc.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6E8AB5-3BA8-7BD1-6063-25732F495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54" y="6411722"/>
            <a:ext cx="752421" cy="10972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83F31A-315E-D9AC-90B8-2A0D15330BC9}"/>
              </a:ext>
            </a:extLst>
          </p:cNvPr>
          <p:cNvCxnSpPr>
            <a:cxnSpLocks/>
          </p:cNvCxnSpPr>
          <p:nvPr userDrawn="1"/>
        </p:nvCxnSpPr>
        <p:spPr>
          <a:xfrm>
            <a:off x="335280" y="1607741"/>
            <a:ext cx="676656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F77BD12-66C0-85F7-6426-5AA342941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883394F-50C6-6E5E-67F6-86AA1F1C9B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25DE38-4DD7-BCDC-220E-B60D4E2A1927}"/>
              </a:ext>
            </a:extLst>
          </p:cNvPr>
          <p:cNvSpPr txBox="1"/>
          <p:nvPr userDrawn="1"/>
        </p:nvSpPr>
        <p:spPr>
          <a:xfrm>
            <a:off x="11487359" y="347373"/>
            <a:ext cx="366504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r">
              <a:defRPr sz="1000" b="0" i="1">
                <a:solidFill>
                  <a:schemeClr val="tx1">
                    <a:alpha val="50000"/>
                  </a:schemeClr>
                </a:solidFill>
                <a:latin typeface="Roboto Lt" panose="02000000000000000000" pitchFamily="2" charset="0"/>
                <a:ea typeface="Roboto Lt" panose="02000000000000000000" pitchFamily="2" charset="0"/>
              </a:defRPr>
            </a:lvl1pPr>
          </a:lstStyle>
          <a:p>
            <a:pPr lvl="0">
              <a:spcAft>
                <a:spcPts val="0"/>
              </a:spcAft>
            </a:pPr>
            <a:fld id="{38E47142-4445-C047-AF2C-29F4F5894EE9}" type="slidenum">
              <a:rPr lang="en-US" sz="800" b="0" i="0" noProof="0" smtClean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rPr>
              <a:pPr lvl="0">
                <a:spcAft>
                  <a:spcPts val="0"/>
                </a:spcAft>
              </a:pPr>
              <a:t>‹nº›</a:t>
            </a:fld>
            <a:endParaRPr lang="en-US" sz="800" b="0" i="0" noProof="0">
              <a:solidFill>
                <a:schemeClr val="bg1">
                  <a:alpha val="50000"/>
                </a:schemeClr>
              </a:solidFill>
              <a:latin typeface="Instrument Sans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FDC2C9C6-16B0-B834-2CFE-4B87B361D9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78" y="616327"/>
            <a:ext cx="6766560" cy="766364"/>
          </a:xfrm>
        </p:spPr>
        <p:txBody>
          <a:bodyPr tIns="137160" anchor="t"/>
          <a:lstStyle>
            <a:lvl1pPr>
              <a:lnSpc>
                <a:spcPct val="85000"/>
              </a:lnSpc>
              <a:defRPr sz="4800" b="0" i="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2065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5D02A38-9E74-9162-DEC0-F132EB422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11657" y="6348097"/>
            <a:ext cx="2162628" cy="4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1E1E1F"/>
                </a:solidFill>
                <a:latin typeface="Franklin Gothic Medium" panose="020B0603020102020204" pitchFamily="34" charset="0"/>
              </a:defRPr>
            </a:lvl1pPr>
          </a:lstStyle>
          <a:p>
            <a:fld id="{1B7279F3-9621-0B4C-998C-16FC299AC252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B14F2-E93D-B832-E94E-D8A3A51376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rgbClr val="1F1F1F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0A341-22F8-1C4B-1E45-2DFC97AE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79" y="511710"/>
            <a:ext cx="3779693" cy="961446"/>
          </a:xfrm>
        </p:spPr>
        <p:txBody>
          <a:bodyPr anchor="t">
            <a:noAutofit/>
          </a:bodyPr>
          <a:lstStyle>
            <a:lvl1pPr>
              <a:defRPr>
                <a:solidFill>
                  <a:srgbClr val="1F1F1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442AAD3-36E2-26B2-A3A9-8677347F9D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580" y="1683925"/>
            <a:ext cx="3779693" cy="36929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rgbClr val="1F1F1F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8359D2-89CC-6776-372D-E634804D022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2579" y="2277205"/>
            <a:ext cx="3779693" cy="134090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>
              <a:buNone/>
              <a:defRPr sz="1400">
                <a:solidFill>
                  <a:srgbClr val="1F1F1F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24767306"/>
      </p:ext>
    </p:extLst>
  </p:cSld>
  <p:clrMapOvr>
    <a:masterClrMapping/>
  </p:clrMapOvr>
  <p:transition spd="slow" advClick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AP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4" descr="/home/claude/deck15/asset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7328" y="2840736"/>
            <a:ext cx="4645152" cy="1177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873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">
  <p:cSld name="CONTEUDO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/>
          <p:nvPr/>
        </p:nvSpPr>
        <p:spPr>
          <a:xfrm>
            <a:off x="426720" y="203607"/>
            <a:ext cx="1706880" cy="182880"/>
          </a:xfrm>
          <a:prstGeom prst="roundRect">
            <a:avLst>
              <a:gd name="adj" fmla="val 4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Unilever | Operação 2026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/>
          <p:nvPr/>
        </p:nvSpPr>
        <p:spPr>
          <a:xfrm>
            <a:off x="203607" y="195072"/>
            <a:ext cx="182880" cy="1828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5" descr="/home/claude/deck15/assets/torna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920" y="512064"/>
            <a:ext cx="707136" cy="70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5"/>
          <p:cNvSpPr/>
          <p:nvPr/>
        </p:nvSpPr>
        <p:spPr>
          <a:xfrm>
            <a:off x="73152" y="6461760"/>
            <a:ext cx="29260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Stormx for Unilever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7559040" y="6461760"/>
            <a:ext cx="45110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rights reserved to Stormx @2026 // Digital Forward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933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11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03607"/>
            <a:ext cx="1706880" cy="182880"/>
          </a:xfrm>
          <a:prstGeom prst="roundRect">
            <a:avLst>
              <a:gd name="adj" fmla="val 4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03607" y="195072"/>
            <a:ext cx="182880" cy="1828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Image 0" descr="/home/claude/deck15/assets/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512064"/>
            <a:ext cx="707136" cy="701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" y="6461760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559040" y="6461760"/>
            <a:ext cx="4511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@2026 // Digital Forward</a:t>
            </a:r>
            <a:endParaRPr lang="en-US" sz="800" dirty="0"/>
          </a:p>
        </p:txBody>
      </p:sp>
      <p:sp>
        <p:nvSpPr>
          <p:cNvPr id="7" name="Text 4"/>
          <p:cNvSpPr>
            <a:spLocks noGrp="1"/>
          </p:cNvSpPr>
          <p:nvPr>
            <p:ph type="title" idx="105" hasCustomPrompt="1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933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933" dirty="0"/>
          </a:p>
        </p:txBody>
      </p:sp>
    </p:spTree>
    <p:extLst>
      <p:ext uri="{BB962C8B-B14F-4D97-AF65-F5344CB8AC3E}">
        <p14:creationId xmlns:p14="http://schemas.microsoft.com/office/powerpoint/2010/main" val="58892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otafiscal.mbww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checkingbr@mbww.com" TargetMode="External"/><Relationship Id="rId2" Type="http://schemas.openxmlformats.org/officeDocument/2006/relationships/hyperlink" Target="mailto:info.nfe@mbww.com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public.sharepoint.com/:x:/r/sites/ul-implementaocampanhas/Shared%20Documents/General/RM_Planilha%20Online%20Taxonomias/RM_STORMX_2026_v5.9.xlsx?d=wa3c86bdd672f4a4c90ccc8f68077e703&amp;csf=1&amp;web=1&amp;e=U81bq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OrTQrI1CkQL-OE8th6O43Z3kfGIIT55peUoWuUyujc/edit?usp=sharing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D12186-B4BD-92DA-1D7B-27BA5DCA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3" y="2147864"/>
            <a:ext cx="6766560" cy="826573"/>
          </a:xfrm>
        </p:spPr>
        <p:txBody>
          <a:bodyPr/>
          <a:lstStyle/>
          <a:p>
            <a:pPr algn="l"/>
            <a:r>
              <a:rPr lang="en-US" sz="6600" b="1" dirty="0">
                <a:latin typeface="Unilever Desire" pitchFamily="2" charset="77"/>
              </a:rPr>
              <a:t>UPDATES &amp; PROCESSOS</a:t>
            </a:r>
            <a:br>
              <a:rPr lang="en-US" sz="6600" b="1" dirty="0">
                <a:latin typeface="Unilever Desire" pitchFamily="2" charset="77"/>
              </a:rPr>
            </a:br>
            <a:r>
              <a:rPr lang="en-US" sz="4400" dirty="0">
                <a:latin typeface="Unilever Desire" pitchFamily="2" charset="77"/>
              </a:rPr>
              <a:t>UNILEVER</a:t>
            </a:r>
            <a:endParaRPr lang="en-US" sz="6600">
              <a:latin typeface="Unilever Desire" pitchFamily="2" charset="7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6951B4-A482-CF8D-28BB-B24ED5BBFC1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0B3508-283B-EFB2-BF70-B8831E20E5EC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67DD06-AE77-600E-26E1-42A0A16DB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D8213A6-AC05-105B-388A-12B72630C2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9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CD53-1434-8299-4713-09FA26C7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A90E4AC-6BC7-6BBA-616C-AB03F3843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</a:t>
            </a:r>
            <a:r>
              <a:rPr lang="en-US" err="1"/>
              <a:t>Introdução</a:t>
            </a:r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DF69445-14F8-065F-7F21-26B3F81B8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E8305AD0-9473-D1FE-E2D2-9DF66B41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13" y="644884"/>
            <a:ext cx="10680593" cy="1385888"/>
          </a:xfrm>
        </p:spPr>
        <p:txBody>
          <a:bodyPr/>
          <a:lstStyle/>
          <a:p>
            <a:pPr algn="l"/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Cenário da conta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9155E7-C607-B7AF-F5D6-61966D2F1D8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5F445ED8-7093-17CF-B489-ECDE7F1BC539}"/>
              </a:ext>
            </a:extLst>
          </p:cNvPr>
          <p:cNvSpPr txBox="1"/>
          <p:nvPr/>
        </p:nvSpPr>
        <p:spPr>
          <a:xfrm>
            <a:off x="335281" y="1481211"/>
            <a:ext cx="1068454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SzPts val="2000"/>
            </a:pP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A operação de Unilever está em um momento de maior atenção em relação a qualidade dos dados e ao cumprimento dos processos. Isso impacta diretamente a mensuração dos resultados e as exigências contratuais da conta – Ou seja, em </a:t>
            </a:r>
            <a:r>
              <a:rPr lang="pt-BR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Unilever Desire Light" pitchFamily="2" charset="77"/>
              </a:rPr>
              <a:t>malus</a:t>
            </a: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latin typeface="Unilever Desire Light" pitchFamily="2" charset="77"/>
              </a:rPr>
              <a:t> e bônus financeiros.</a:t>
            </a:r>
            <a:endParaRPr lang="pt-BR" sz="1600" u="none">
              <a:solidFill>
                <a:srgbClr val="475569"/>
              </a:solidFill>
              <a:effectLst/>
              <a:latin typeface="Unilever Desire" pitchFamily="2" charset="77"/>
            </a:endParaRPr>
          </a:p>
        </p:txBody>
      </p:sp>
      <p:sp>
        <p:nvSpPr>
          <p:cNvPr id="6" name="Google Shape;244;p8">
            <a:extLst>
              <a:ext uri="{FF2B5EF4-FFF2-40B4-BE49-F238E27FC236}">
                <a16:creationId xmlns:a16="http://schemas.microsoft.com/office/drawing/2014/main" id="{CDAE422D-0E37-8365-42E6-7F6CED9F8145}"/>
              </a:ext>
            </a:extLst>
          </p:cNvPr>
          <p:cNvSpPr/>
          <p:nvPr/>
        </p:nvSpPr>
        <p:spPr>
          <a:xfrm>
            <a:off x="466564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" name="Google Shape;245;p8">
            <a:extLst>
              <a:ext uri="{FF2B5EF4-FFF2-40B4-BE49-F238E27FC236}">
                <a16:creationId xmlns:a16="http://schemas.microsoft.com/office/drawing/2014/main" id="{2C610EA0-2B4E-B446-7AF3-746E6784CC4C}"/>
              </a:ext>
            </a:extLst>
          </p:cNvPr>
          <p:cNvSpPr txBox="1"/>
          <p:nvPr/>
        </p:nvSpPr>
        <p:spPr>
          <a:xfrm>
            <a:off x="1431912" y="3176353"/>
            <a:ext cx="1535596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RROI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" name="Google Shape;246;p8">
            <a:extLst>
              <a:ext uri="{FF2B5EF4-FFF2-40B4-BE49-F238E27FC236}">
                <a16:creationId xmlns:a16="http://schemas.microsoft.com/office/drawing/2014/main" id="{070AAC25-BCC5-81CA-8A25-E8F4A2E7F838}"/>
              </a:ext>
            </a:extLst>
          </p:cNvPr>
          <p:cNvSpPr txBox="1"/>
          <p:nvPr/>
        </p:nvSpPr>
        <p:spPr>
          <a:xfrm>
            <a:off x="650792" y="3859694"/>
            <a:ext cx="3117863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BR" sz="1400">
                <a:latin typeface="Unilever Desire" pitchFamily="2" charset="77"/>
              </a:rPr>
              <a:t>O RapidROI depende de bases consistentes, com taxonomia correta</a:t>
            </a:r>
            <a:br>
              <a:rPr lang="en-BR" sz="1400">
                <a:latin typeface="Unilever Desire" pitchFamily="2" charset="77"/>
              </a:rPr>
            </a:br>
            <a:r>
              <a:rPr lang="en-BR" sz="1400">
                <a:latin typeface="Unilever Desire" pitchFamily="2" charset="77"/>
              </a:rPr>
              <a:t>e dados completos, pra gerar análises confiáveis e orientar as decisões de mídia.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F2E25D-377F-EF77-9EA0-EF1CD58691F3}"/>
              </a:ext>
            </a:extLst>
          </p:cNvPr>
          <p:cNvSpPr/>
          <p:nvPr/>
        </p:nvSpPr>
        <p:spPr>
          <a:xfrm>
            <a:off x="649444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5" name="Google Shape;244;p8">
            <a:extLst>
              <a:ext uri="{FF2B5EF4-FFF2-40B4-BE49-F238E27FC236}">
                <a16:creationId xmlns:a16="http://schemas.microsoft.com/office/drawing/2014/main" id="{0E6E5605-E739-D2EE-0CF2-4875FD8D439F}"/>
              </a:ext>
            </a:extLst>
          </p:cNvPr>
          <p:cNvSpPr/>
          <p:nvPr/>
        </p:nvSpPr>
        <p:spPr>
          <a:xfrm>
            <a:off x="4107681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6" name="Google Shape;245;p8">
            <a:extLst>
              <a:ext uri="{FF2B5EF4-FFF2-40B4-BE49-F238E27FC236}">
                <a16:creationId xmlns:a16="http://schemas.microsoft.com/office/drawing/2014/main" id="{82B49D8D-3BE1-DFE2-00BF-B54B0D27E7FA}"/>
              </a:ext>
            </a:extLst>
          </p:cNvPr>
          <p:cNvSpPr txBox="1"/>
          <p:nvPr/>
        </p:nvSpPr>
        <p:spPr>
          <a:xfrm>
            <a:off x="5050244" y="3180505"/>
            <a:ext cx="1535596" cy="3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BR" sz="1733" b="1">
                <a:solidFill>
                  <a:schemeClr val="dk1"/>
                </a:solidFill>
                <a:latin typeface="Unilever Desire" pitchFamily="2" charset="77"/>
                <a:cs typeface="Arial"/>
              </a:rPr>
              <a:t>Taxonomia</a:t>
            </a:r>
            <a:endParaRPr sz="1733" b="1">
              <a:solidFill>
                <a:schemeClr val="dk1"/>
              </a:solidFill>
              <a:latin typeface="Unilever Desire" pitchFamily="2" charset="77"/>
              <a:cs typeface="Arial"/>
              <a:sym typeface="Arial"/>
            </a:endParaRPr>
          </a:p>
        </p:txBody>
      </p:sp>
      <p:sp>
        <p:nvSpPr>
          <p:cNvPr id="27" name="Google Shape;246;p8">
            <a:extLst>
              <a:ext uri="{FF2B5EF4-FFF2-40B4-BE49-F238E27FC236}">
                <a16:creationId xmlns:a16="http://schemas.microsoft.com/office/drawing/2014/main" id="{11AB62CD-D060-B368-EA69-E6C301604EDA}"/>
              </a:ext>
            </a:extLst>
          </p:cNvPr>
          <p:cNvSpPr txBox="1"/>
          <p:nvPr/>
        </p:nvSpPr>
        <p:spPr>
          <a:xfrm>
            <a:off x="4300420" y="3859694"/>
            <a:ext cx="3014779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BR" sz="1400">
                <a:latin typeface="Unilever Desire" pitchFamily="2" charset="77"/>
              </a:rPr>
              <a:t>Estar dentro do complice da taxonomia</a:t>
            </a:r>
            <a:r>
              <a:rPr lang="en-BR" sz="1400">
                <a:solidFill>
                  <a:srgbClr val="FF0000"/>
                </a:solidFill>
                <a:latin typeface="Unilever Desire" pitchFamily="2" charset="77"/>
              </a:rPr>
              <a:t> </a:t>
            </a:r>
            <a:r>
              <a:rPr lang="en-BR" sz="1400">
                <a:solidFill>
                  <a:srgbClr val="4F7FF2"/>
                </a:solidFill>
                <a:latin typeface="Unilever Desire" pitchFamily="2" charset="77"/>
              </a:rPr>
              <a:t>(que é de 98%) </a:t>
            </a:r>
            <a:r>
              <a:rPr lang="en-BR" sz="1400">
                <a:latin typeface="Unilever Desire" pitchFamily="2" charset="77"/>
              </a:rPr>
              <a:t>faz parte dos KPIs contratuais e pode gerar impacto financeiro caso as metas não sejam atingidas.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326A84-1BC3-95F9-4CCD-9466A87F9FC1}"/>
              </a:ext>
            </a:extLst>
          </p:cNvPr>
          <p:cNvSpPr/>
          <p:nvPr/>
        </p:nvSpPr>
        <p:spPr>
          <a:xfrm>
            <a:off x="4267775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0" name="Google Shape;244;p8">
            <a:extLst>
              <a:ext uri="{FF2B5EF4-FFF2-40B4-BE49-F238E27FC236}">
                <a16:creationId xmlns:a16="http://schemas.microsoft.com/office/drawing/2014/main" id="{4AFBBE40-7C9A-CEE6-261C-1B1FF7974159}"/>
              </a:ext>
            </a:extLst>
          </p:cNvPr>
          <p:cNvSpPr/>
          <p:nvPr/>
        </p:nvSpPr>
        <p:spPr>
          <a:xfrm>
            <a:off x="7748797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" name="Google Shape;245;p8">
            <a:extLst>
              <a:ext uri="{FF2B5EF4-FFF2-40B4-BE49-F238E27FC236}">
                <a16:creationId xmlns:a16="http://schemas.microsoft.com/office/drawing/2014/main" id="{B115B02E-3847-7736-1423-FFCCFE0805E6}"/>
              </a:ext>
            </a:extLst>
          </p:cNvPr>
          <p:cNvSpPr txBox="1"/>
          <p:nvPr/>
        </p:nvSpPr>
        <p:spPr>
          <a:xfrm>
            <a:off x="8726447" y="3180505"/>
            <a:ext cx="2033639" cy="3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cs typeface="Arial"/>
              </a:rPr>
              <a:t>Smart Bidding</a:t>
            </a:r>
          </a:p>
        </p:txBody>
      </p:sp>
      <p:sp>
        <p:nvSpPr>
          <p:cNvPr id="32" name="Google Shape;246;p8">
            <a:extLst>
              <a:ext uri="{FF2B5EF4-FFF2-40B4-BE49-F238E27FC236}">
                <a16:creationId xmlns:a16="http://schemas.microsoft.com/office/drawing/2014/main" id="{6BB0FFBD-4114-7D15-CFE4-560CFC9C676E}"/>
              </a:ext>
            </a:extLst>
          </p:cNvPr>
          <p:cNvSpPr txBox="1"/>
          <p:nvPr/>
        </p:nvSpPr>
        <p:spPr>
          <a:xfrm>
            <a:off x="7948700" y="3859694"/>
            <a:ext cx="2953206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pt-BR" sz="1400">
                <a:latin typeface="Unilever Desire" pitchFamily="2" charset="77"/>
              </a:rPr>
              <a:t>A meta é utilizar as soluções de </a:t>
            </a:r>
            <a:r>
              <a:rPr lang="pt-BR" sz="1400" err="1">
                <a:latin typeface="Unilever Desire" pitchFamily="2" charset="77"/>
              </a:rPr>
              <a:t>smart</a:t>
            </a:r>
            <a:r>
              <a:rPr lang="pt-BR" sz="1400">
                <a:latin typeface="Unilever Desire" pitchFamily="2" charset="77"/>
              </a:rPr>
              <a:t> bidding em pelo menos 85% do investimento digital elegível.</a:t>
            </a:r>
          </a:p>
          <a:p>
            <a:pPr>
              <a:buClr>
                <a:schemeClr val="dk2"/>
              </a:buClr>
              <a:buSzPts val="1000"/>
            </a:pPr>
            <a:endParaRPr lang="pt-BR"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1000"/>
            </a:pPr>
            <a:r>
              <a:rPr lang="pt-BR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Alinhamento acordado para o Brasil </a:t>
            </a:r>
            <a:r>
              <a:rPr lang="pt-BR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(projeção de 71%)</a:t>
            </a:r>
            <a:endParaRPr lang="pt-BR" sz="1333" b="1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8A341B-030A-50D8-1935-79E3B814D672}"/>
              </a:ext>
            </a:extLst>
          </p:cNvPr>
          <p:cNvSpPr/>
          <p:nvPr/>
        </p:nvSpPr>
        <p:spPr>
          <a:xfrm>
            <a:off x="7943979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C253B95C-6DBF-9725-6F9A-79CDBDD87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149" y="3080905"/>
            <a:ext cx="357570" cy="35757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06A9A51-7B0F-0503-E9F9-F4E2B6F62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8637" y="3050050"/>
            <a:ext cx="418868" cy="41886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24197A1-1097-8396-65E5-452CCD15F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051" y="3034470"/>
            <a:ext cx="434448" cy="4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3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CD53-1434-8299-4713-09FA26C7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A90E4AC-6BC7-6BBA-616C-AB03F3843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A34BFE4-01F7-3BEF-FDD6-0FB10D0A3E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DF69445-14F8-065F-7F21-26B3F81B8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E8305AD0-9473-D1FE-E2D2-9DF66B41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03" y="2936821"/>
            <a:ext cx="10680593" cy="1385888"/>
          </a:xfrm>
        </p:spPr>
        <p:txBody>
          <a:bodyPr/>
          <a:lstStyle/>
          <a:p>
            <a:r>
              <a:rPr lang="pt-BR" sz="7200" b="1">
                <a:latin typeface="Unilever Desire" pitchFamily="2" charset="77"/>
              </a:rPr>
              <a:t>O que é o </a:t>
            </a:r>
            <a:r>
              <a:rPr lang="pt-BR" sz="72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7200" b="1">
                <a:latin typeface="Unilever Desire" pitchFamily="2" charset="77"/>
              </a:rPr>
              <a:t>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9155E7-C607-B7AF-F5D6-61966D2F1D8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25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5973-1676-6065-7E32-0284D8FC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67633B4-AF77-D248-0D66-8340CCB61D32}"/>
              </a:ext>
            </a:extLst>
          </p:cNvPr>
          <p:cNvGrpSpPr/>
          <p:nvPr/>
        </p:nvGrpSpPr>
        <p:grpSpPr>
          <a:xfrm>
            <a:off x="7571232" y="2012048"/>
            <a:ext cx="4005072" cy="3566160"/>
            <a:chOff x="7571232" y="1956816"/>
            <a:chExt cx="4005072" cy="3493008"/>
          </a:xfrm>
        </p:grpSpPr>
        <p:sp>
          <p:nvSpPr>
            <p:cNvPr id="6" name="Shape 9">
              <a:extLst>
                <a:ext uri="{FF2B5EF4-FFF2-40B4-BE49-F238E27FC236}">
                  <a16:creationId xmlns:a16="http://schemas.microsoft.com/office/drawing/2014/main" id="{FBD9A2D5-DDB0-7D44-B818-F08A7E0842DF}"/>
                </a:ext>
              </a:extLst>
            </p:cNvPr>
            <p:cNvSpPr/>
            <p:nvPr/>
          </p:nvSpPr>
          <p:spPr>
            <a:xfrm>
              <a:off x="7571232" y="1956816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Shape 11">
              <a:extLst>
                <a:ext uri="{FF2B5EF4-FFF2-40B4-BE49-F238E27FC236}">
                  <a16:creationId xmlns:a16="http://schemas.microsoft.com/office/drawing/2014/main" id="{867F3206-3D7B-96C5-59CA-CEC9D65D06AB}"/>
                </a:ext>
              </a:extLst>
            </p:cNvPr>
            <p:cNvSpPr/>
            <p:nvPr/>
          </p:nvSpPr>
          <p:spPr>
            <a:xfrm>
              <a:off x="7571232" y="3182112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13">
              <a:extLst>
                <a:ext uri="{FF2B5EF4-FFF2-40B4-BE49-F238E27FC236}">
                  <a16:creationId xmlns:a16="http://schemas.microsoft.com/office/drawing/2014/main" id="{C5C9B541-06F7-3232-8C12-CEE8BE21CE01}"/>
                </a:ext>
              </a:extLst>
            </p:cNvPr>
            <p:cNvSpPr/>
            <p:nvPr/>
          </p:nvSpPr>
          <p:spPr>
            <a:xfrm>
              <a:off x="7571232" y="4407408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62E48FD-2B4C-5C90-D472-166C640839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9F70EA3-3E6B-30D4-6BF5-C449085CF1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7E63106-D591-3C1F-4F8A-DD92B746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A39D1A35-4A9F-66D2-C312-4D9B3BC2F1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564DED1D-949F-7890-CE06-62F2E367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ED923A7C-B931-8BD5-A3D2-4FD6F8944292}"/>
              </a:ext>
            </a:extLst>
          </p:cNvPr>
          <p:cNvSpPr/>
          <p:nvPr/>
        </p:nvSpPr>
        <p:spPr>
          <a:xfrm>
            <a:off x="283952" y="2012048"/>
            <a:ext cx="6766560" cy="356616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1E5A8375-4341-6A82-1B9C-6E715B17A4BD}"/>
              </a:ext>
            </a:extLst>
          </p:cNvPr>
          <p:cNvSpPr/>
          <p:nvPr/>
        </p:nvSpPr>
        <p:spPr>
          <a:xfrm>
            <a:off x="1005840" y="46817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5BEF2ECB-0373-719B-77B7-6151E35A62CF}"/>
              </a:ext>
            </a:extLst>
          </p:cNvPr>
          <p:cNvSpPr/>
          <p:nvPr/>
        </p:nvSpPr>
        <p:spPr>
          <a:xfrm>
            <a:off x="7762888" y="2241574"/>
            <a:ext cx="3474720" cy="751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Unilever Desire" pitchFamily="2" charset="77"/>
              </a:rPr>
              <a:t>Mais rápido</a:t>
            </a:r>
          </a:p>
          <a:p>
            <a:endParaRPr lang="pt-BR" sz="1200" b="1">
              <a:solidFill>
                <a:schemeClr val="bg1"/>
              </a:solidFill>
              <a:latin typeface="Unilever Desire" pitchFamily="2" charset="77"/>
            </a:endParaRPr>
          </a:p>
          <a:p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Tomada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decisão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rápida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análise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desempenho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frequente</a:t>
            </a:r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ACAF21F9-E1E0-11F4-2D40-03301AD60D58}"/>
              </a:ext>
            </a:extLst>
          </p:cNvPr>
          <p:cNvSpPr/>
          <p:nvPr/>
        </p:nvSpPr>
        <p:spPr>
          <a:xfrm>
            <a:off x="7818120" y="3474719"/>
            <a:ext cx="3474720" cy="61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pt-BR" sz="1200" b="1">
                <a:solidFill>
                  <a:schemeClr val="bg1"/>
                </a:solidFill>
                <a:latin typeface="Unilever Desire" pitchFamily="2" charset="77"/>
                <a:ea typeface="Roboto Lt" panose="02000000000000000000" pitchFamily="2" charset="0"/>
              </a:rPr>
              <a:t>Melhor</a:t>
            </a:r>
          </a:p>
          <a:p>
            <a:pPr algn="just"/>
            <a:endParaRPr lang="pt-BR" sz="1200" b="1">
              <a:solidFill>
                <a:schemeClr val="bg1"/>
              </a:solidFill>
              <a:latin typeface="Unilever Desire" pitchFamily="2" charset="77"/>
              <a:ea typeface="Roboto Lt" panose="02000000000000000000" pitchFamily="2" charset="0"/>
            </a:endParaRPr>
          </a:p>
          <a:p>
            <a:pPr algn="just"/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Análise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granular,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canais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campanhas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,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plataformas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formatos</a:t>
            </a:r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B290F8B2-B3AE-5F28-5208-A0D7B271F355}"/>
              </a:ext>
            </a:extLst>
          </p:cNvPr>
          <p:cNvSpPr/>
          <p:nvPr/>
        </p:nvSpPr>
        <p:spPr>
          <a:xfrm>
            <a:off x="7818120" y="4650919"/>
            <a:ext cx="3474720" cy="7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en-GB" sz="1200" b="1" err="1">
                <a:solidFill>
                  <a:schemeClr val="bg1"/>
                </a:solidFill>
                <a:latin typeface="Unilever Desire" pitchFamily="50" charset="0"/>
              </a:rPr>
              <a:t>Orientado</a:t>
            </a:r>
            <a:r>
              <a:rPr lang="en-GB" sz="1200" b="1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b="1" err="1">
                <a:solidFill>
                  <a:schemeClr val="bg1"/>
                </a:solidFill>
                <a:latin typeface="Unilever Desire" pitchFamily="50" charset="0"/>
              </a:rPr>
              <a:t>por</a:t>
            </a:r>
            <a:r>
              <a:rPr lang="en-GB" sz="1200" b="1">
                <a:solidFill>
                  <a:schemeClr val="bg1"/>
                </a:solidFill>
                <a:latin typeface="Unilever Desire" pitchFamily="50" charset="0"/>
              </a:rPr>
              <a:t> dados </a:t>
            </a:r>
          </a:p>
          <a:p>
            <a:pPr algn="just"/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  <a:p>
            <a:pPr algn="just"/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Uma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solução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global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unificada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com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múltiplos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conjuntos de dados para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trazer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confiança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à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tomada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decisão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89CBF2-2625-B41E-9198-0AC1D8ED3849}"/>
              </a:ext>
            </a:extLst>
          </p:cNvPr>
          <p:cNvSpPr txBox="1"/>
          <p:nvPr/>
        </p:nvSpPr>
        <p:spPr>
          <a:xfrm>
            <a:off x="593285" y="2338654"/>
            <a:ext cx="623096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pt-BR" sz="4400">
                <a:solidFill>
                  <a:schemeClr val="bg1"/>
                </a:solidFill>
                <a:latin typeface="Unilever Desire" pitchFamily="2" charset="77"/>
              </a:rPr>
              <a:t>RROI</a:t>
            </a:r>
          </a:p>
          <a:p>
            <a:pPr algn="just"/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Rapid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Return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on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Investment</a:t>
            </a:r>
            <a:endParaRPr lang="pt-BR" sz="2400">
              <a:solidFill>
                <a:schemeClr val="bg1"/>
              </a:solidFill>
              <a:latin typeface="Unilever Desire" pitchFamily="2" charset="77"/>
              <a:ea typeface="Roboto Lt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C33F9B-426D-595F-1233-D51121BA47CF}"/>
              </a:ext>
            </a:extLst>
          </p:cNvPr>
          <p:cNvSpPr txBox="1"/>
          <p:nvPr/>
        </p:nvSpPr>
        <p:spPr>
          <a:xfrm>
            <a:off x="567903" y="3903257"/>
            <a:ext cx="6256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>
                <a:solidFill>
                  <a:schemeClr val="bg1"/>
                </a:solidFill>
                <a:latin typeface="Unilever Desire" pitchFamily="2" charset="77"/>
              </a:rPr>
              <a:t>é uma metodologia de mensuração utilizada pela Unilever para avaliar o retorno dos investimentos em mídia e entender quais campanhas, canais e plataformas estão contribuindo para os resultados de negócio.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0F63C6-E6DD-9AFC-9F27-2E400402EEA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9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31D3-2579-7624-45C9-2FE3E698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4ACA07D-56B6-B6C8-AD5A-7679AFB0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5797327-6CD4-3EE4-8D0E-0A91A8A138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02DC749-77DE-1730-6583-42DEB82D2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289A2E80-34D5-9650-3D21-428FBDE609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971BD700-0AE5-03AF-6462-748B0F75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pic>
        <p:nvPicPr>
          <p:cNvPr id="13" name="Gráfico 12" descr="Luzes acesas estrutura de tópicos">
            <a:extLst>
              <a:ext uri="{FF2B5EF4-FFF2-40B4-BE49-F238E27FC236}">
                <a16:creationId xmlns:a16="http://schemas.microsoft.com/office/drawing/2014/main" id="{7469FE27-BA17-77C8-B170-B5CC5AFE6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224" y="2909688"/>
            <a:ext cx="914400" cy="914400"/>
          </a:xfrm>
          <a:prstGeom prst="rect">
            <a:avLst/>
          </a:prstGeom>
        </p:spPr>
      </p:pic>
      <p:pic>
        <p:nvPicPr>
          <p:cNvPr id="20" name="Gráfico 19" descr="Gráfico de barras com tendência ascendente estrutura de tópicos">
            <a:extLst>
              <a:ext uri="{FF2B5EF4-FFF2-40B4-BE49-F238E27FC236}">
                <a16:creationId xmlns:a16="http://schemas.microsoft.com/office/drawing/2014/main" id="{76A716C0-095D-43C1-B974-A9720CFC1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0019" y="2909688"/>
            <a:ext cx="914400" cy="914400"/>
          </a:xfrm>
          <a:prstGeom prst="rect">
            <a:avLst/>
          </a:prstGeom>
        </p:spPr>
      </p:pic>
      <p:pic>
        <p:nvPicPr>
          <p:cNvPr id="24" name="Gráfico 23" descr="Gráfico de dispersão estrutura de tópicos">
            <a:extLst>
              <a:ext uri="{FF2B5EF4-FFF2-40B4-BE49-F238E27FC236}">
                <a16:creationId xmlns:a16="http://schemas.microsoft.com/office/drawing/2014/main" id="{DD22BD76-2957-9860-6A4B-91911F38B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3588" y="2909688"/>
            <a:ext cx="914400" cy="914400"/>
          </a:xfrm>
          <a:prstGeom prst="rect">
            <a:avLst/>
          </a:prstGeom>
        </p:spPr>
      </p:pic>
      <p:pic>
        <p:nvPicPr>
          <p:cNvPr id="26" name="Gráfico 25" descr="Banco de dados estrutura de tópicos">
            <a:extLst>
              <a:ext uri="{FF2B5EF4-FFF2-40B4-BE49-F238E27FC236}">
                <a16:creationId xmlns:a16="http://schemas.microsoft.com/office/drawing/2014/main" id="{8C25E13E-3E16-6BF7-6453-BEC368210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7278" y="2909688"/>
            <a:ext cx="914400" cy="914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3D9FB60-0DC7-033B-ABF1-5CC423E6B5A8}"/>
              </a:ext>
            </a:extLst>
          </p:cNvPr>
          <p:cNvSpPr txBox="1"/>
          <p:nvPr/>
        </p:nvSpPr>
        <p:spPr>
          <a:xfrm>
            <a:off x="143028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Dados </a:t>
            </a:r>
          </a:p>
          <a:p>
            <a:pPr algn="ctr"/>
            <a:r>
              <a:rPr lang="pt-BR" sz="1400">
                <a:latin typeface="Unilever Desire" pitchFamily="2" charset="77"/>
              </a:rPr>
              <a:t>históricos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B68671C-7463-E745-259B-385CAE09FC6E}"/>
              </a:ext>
            </a:extLst>
          </p:cNvPr>
          <p:cNvSpPr txBox="1"/>
          <p:nvPr/>
        </p:nvSpPr>
        <p:spPr>
          <a:xfrm>
            <a:off x="3823751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Modelagem</a:t>
            </a:r>
          </a:p>
          <a:p>
            <a:pPr algn="ctr"/>
            <a:r>
              <a:rPr lang="pt-BR" sz="1400">
                <a:latin typeface="Unilever Desire" pitchFamily="2" charset="77"/>
              </a:rPr>
              <a:t>estatística 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270B6FD-7DCA-30F4-215A-785C474FA694}"/>
              </a:ext>
            </a:extLst>
          </p:cNvPr>
          <p:cNvSpPr txBox="1"/>
          <p:nvPr/>
        </p:nvSpPr>
        <p:spPr>
          <a:xfrm>
            <a:off x="6217214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Insights</a:t>
            </a:r>
          </a:p>
          <a:p>
            <a:pPr algn="ctr"/>
            <a:r>
              <a:rPr lang="pt-BR" sz="1400">
                <a:latin typeface="Unilever Desire" pitchFamily="2" charset="77"/>
              </a:rPr>
              <a:t>acionáveis</a:t>
            </a:r>
            <a:endParaRPr lang="en-GB" sz="1400">
              <a:latin typeface="Unilever Desire" pitchFamily="50" charset="0"/>
            </a:endParaRPr>
          </a:p>
        </p:txBody>
      </p:sp>
      <p:pic>
        <p:nvPicPr>
          <p:cNvPr id="32" name="Gráfico 31" descr="Seta para Direita estrutura de tópicos">
            <a:extLst>
              <a:ext uri="{FF2B5EF4-FFF2-40B4-BE49-F238E27FC236}">
                <a16:creationId xmlns:a16="http://schemas.microsoft.com/office/drawing/2014/main" id="{DFF4E8AF-58EA-C4D1-DCC3-09E311D8B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586" y="3138288"/>
            <a:ext cx="457200" cy="457200"/>
          </a:xfrm>
          <a:prstGeom prst="rect">
            <a:avLst/>
          </a:prstGeom>
        </p:spPr>
      </p:pic>
      <p:pic>
        <p:nvPicPr>
          <p:cNvPr id="33" name="Gráfico 32" descr="Seta para Direita estrutura de tópicos">
            <a:extLst>
              <a:ext uri="{FF2B5EF4-FFF2-40B4-BE49-F238E27FC236}">
                <a16:creationId xmlns:a16="http://schemas.microsoft.com/office/drawing/2014/main" id="{F774EFE6-5658-8BDD-190A-C15D54D0D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2506" y="3138288"/>
            <a:ext cx="457200" cy="457200"/>
          </a:xfrm>
          <a:prstGeom prst="rect">
            <a:avLst/>
          </a:prstGeom>
        </p:spPr>
      </p:pic>
      <p:pic>
        <p:nvPicPr>
          <p:cNvPr id="34" name="Gráfico 33" descr="Seta para Direita estrutura de tópicos">
            <a:extLst>
              <a:ext uri="{FF2B5EF4-FFF2-40B4-BE49-F238E27FC236}">
                <a16:creationId xmlns:a16="http://schemas.microsoft.com/office/drawing/2014/main" id="{B7BAEE33-06AA-0147-85BD-C3328204D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9426" y="3138288"/>
            <a:ext cx="457200" cy="45720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D6E5AD1B-C5D7-30A9-E18D-1A88E2FB1CCD}"/>
              </a:ext>
            </a:extLst>
          </p:cNvPr>
          <p:cNvSpPr txBox="1"/>
          <p:nvPr/>
        </p:nvSpPr>
        <p:spPr>
          <a:xfrm>
            <a:off x="8760403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latin typeface="Unilever Desire" pitchFamily="2" charset="77"/>
              </a:rPr>
              <a:t>Melhores</a:t>
            </a:r>
          </a:p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decisões</a:t>
            </a:r>
            <a:endParaRPr lang="en-GB" sz="1400" b="1">
              <a:solidFill>
                <a:srgbClr val="4F7FF2"/>
              </a:solidFill>
              <a:latin typeface="Unilever Desire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26A54B-5498-CD24-A1F9-823E6B5242D0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00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0CF6-7E6C-948F-B913-9804FF81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94503D1-F223-5883-FECE-72B6C56BDD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F063749-2722-54C8-5C58-EDC38C5AB1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9738343-A384-E050-D31B-99D04886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5896028-02DE-C5EC-D099-0EA1204B72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D5914D91-2446-752E-75C6-4FC96ABB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pic>
        <p:nvPicPr>
          <p:cNvPr id="13" name="Gráfico 12" descr="Luzes acesas estrutura de tópicos">
            <a:extLst>
              <a:ext uri="{FF2B5EF4-FFF2-40B4-BE49-F238E27FC236}">
                <a16:creationId xmlns:a16="http://schemas.microsoft.com/office/drawing/2014/main" id="{414DFFD6-71FB-C14A-D20B-88D9AA592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224" y="2909688"/>
            <a:ext cx="914400" cy="914400"/>
          </a:xfrm>
          <a:prstGeom prst="rect">
            <a:avLst/>
          </a:prstGeom>
        </p:spPr>
      </p:pic>
      <p:pic>
        <p:nvPicPr>
          <p:cNvPr id="20" name="Gráfico 19" descr="Gráfico de barras com tendência ascendente estrutura de tópicos">
            <a:extLst>
              <a:ext uri="{FF2B5EF4-FFF2-40B4-BE49-F238E27FC236}">
                <a16:creationId xmlns:a16="http://schemas.microsoft.com/office/drawing/2014/main" id="{BC28C32F-02A2-F2AF-8C40-86B2BF694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7254" y="2909688"/>
            <a:ext cx="914400" cy="914400"/>
          </a:xfrm>
          <a:prstGeom prst="rect">
            <a:avLst/>
          </a:prstGeom>
        </p:spPr>
      </p:pic>
      <p:pic>
        <p:nvPicPr>
          <p:cNvPr id="24" name="Gráfico 23" descr="Gráfico de dispersão estrutura de tópicos">
            <a:extLst>
              <a:ext uri="{FF2B5EF4-FFF2-40B4-BE49-F238E27FC236}">
                <a16:creationId xmlns:a16="http://schemas.microsoft.com/office/drawing/2014/main" id="{36836089-699E-8EF9-63C6-CF2638496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3588" y="2909688"/>
            <a:ext cx="914400" cy="914400"/>
          </a:xfrm>
          <a:prstGeom prst="rect">
            <a:avLst/>
          </a:prstGeom>
        </p:spPr>
      </p:pic>
      <p:pic>
        <p:nvPicPr>
          <p:cNvPr id="26" name="Gráfico 25" descr="Banco de dados estrutura de tópicos">
            <a:extLst>
              <a:ext uri="{FF2B5EF4-FFF2-40B4-BE49-F238E27FC236}">
                <a16:creationId xmlns:a16="http://schemas.microsoft.com/office/drawing/2014/main" id="{FC48EC47-9D85-3D64-7D4D-649734D0A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7278" y="2909688"/>
            <a:ext cx="914400" cy="914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0A2716-C26A-A588-DFCA-EDEFBF9F4A0F}"/>
              </a:ext>
            </a:extLst>
          </p:cNvPr>
          <p:cNvSpPr txBox="1"/>
          <p:nvPr/>
        </p:nvSpPr>
        <p:spPr>
          <a:xfrm>
            <a:off x="143028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Dados </a:t>
            </a:r>
          </a:p>
          <a:p>
            <a:pPr algn="ctr"/>
            <a:r>
              <a:rPr lang="pt-BR" sz="1400">
                <a:latin typeface="Unilever Desire" pitchFamily="2" charset="77"/>
              </a:rPr>
              <a:t>históricos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30E1C9B-5222-6D7D-4AC4-BC915EC44060}"/>
              </a:ext>
            </a:extLst>
          </p:cNvPr>
          <p:cNvSpPr txBox="1"/>
          <p:nvPr/>
        </p:nvSpPr>
        <p:spPr>
          <a:xfrm>
            <a:off x="3823751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Modelagem</a:t>
            </a:r>
          </a:p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estatística </a:t>
            </a:r>
            <a:endParaRPr lang="en-GB" sz="1400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298050C-4D80-EE79-BBE2-F8BEFD0F809E}"/>
              </a:ext>
            </a:extLst>
          </p:cNvPr>
          <p:cNvSpPr txBox="1"/>
          <p:nvPr/>
        </p:nvSpPr>
        <p:spPr>
          <a:xfrm>
            <a:off x="6217214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Insights</a:t>
            </a:r>
          </a:p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acionáveis</a:t>
            </a:r>
            <a:endParaRPr lang="en-GB" sz="1400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pic>
        <p:nvPicPr>
          <p:cNvPr id="32" name="Gráfico 31" descr="Seta para Direita estrutura de tópicos">
            <a:extLst>
              <a:ext uri="{FF2B5EF4-FFF2-40B4-BE49-F238E27FC236}">
                <a16:creationId xmlns:a16="http://schemas.microsoft.com/office/drawing/2014/main" id="{DF07DA18-D523-57F4-3B28-6662C6C26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586" y="3138288"/>
            <a:ext cx="457200" cy="457200"/>
          </a:xfrm>
          <a:prstGeom prst="rect">
            <a:avLst/>
          </a:prstGeom>
        </p:spPr>
      </p:pic>
      <p:pic>
        <p:nvPicPr>
          <p:cNvPr id="33" name="Gráfico 32" descr="Seta para Direita estrutura de tópicos">
            <a:extLst>
              <a:ext uri="{FF2B5EF4-FFF2-40B4-BE49-F238E27FC236}">
                <a16:creationId xmlns:a16="http://schemas.microsoft.com/office/drawing/2014/main" id="{1D1EA27B-4052-F99D-1CAA-6FB906E5E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2506" y="3138288"/>
            <a:ext cx="457200" cy="457200"/>
          </a:xfrm>
          <a:prstGeom prst="rect">
            <a:avLst/>
          </a:prstGeom>
        </p:spPr>
      </p:pic>
      <p:pic>
        <p:nvPicPr>
          <p:cNvPr id="34" name="Gráfico 33" descr="Seta para Direita estrutura de tópicos">
            <a:extLst>
              <a:ext uri="{FF2B5EF4-FFF2-40B4-BE49-F238E27FC236}">
                <a16:creationId xmlns:a16="http://schemas.microsoft.com/office/drawing/2014/main" id="{9A7F8DC8-6C86-B128-81CB-1C526C183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9426" y="3138288"/>
            <a:ext cx="457200" cy="45720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7A5764FB-C3AF-68D0-6D85-54E71F0CAB59}"/>
              </a:ext>
            </a:extLst>
          </p:cNvPr>
          <p:cNvSpPr txBox="1"/>
          <p:nvPr/>
        </p:nvSpPr>
        <p:spPr>
          <a:xfrm>
            <a:off x="882763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Melhores</a:t>
            </a:r>
          </a:p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decisões</a:t>
            </a:r>
            <a:endParaRPr lang="en-GB" sz="1400" b="1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CFBA60A-27ED-AB48-0648-3EDB60DEDA7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44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2A32-736B-FD26-409B-66294E9E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71">
            <a:extLst>
              <a:ext uri="{FF2B5EF4-FFF2-40B4-BE49-F238E27FC236}">
                <a16:creationId xmlns:a16="http://schemas.microsoft.com/office/drawing/2014/main" id="{7DCE08BC-4AF7-FEFA-1D09-B87128A883D3}"/>
              </a:ext>
            </a:extLst>
          </p:cNvPr>
          <p:cNvSpPr/>
          <p:nvPr/>
        </p:nvSpPr>
        <p:spPr>
          <a:xfrm>
            <a:off x="6065109" y="1802816"/>
            <a:ext cx="1800000" cy="3044658"/>
          </a:xfrm>
          <a:prstGeom prst="roundRect">
            <a:avLst/>
          </a:prstGeom>
          <a:solidFill>
            <a:srgbClr val="4F7FF2"/>
          </a:solidFill>
          <a:ln w="6350"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3E6AF-01D6-5519-D60C-38250BF27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UL |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8665-CA5E-4BAB-A0E9-549C1766D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RROI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77F560-2D62-E7A0-79A3-AB0B246251AF}"/>
              </a:ext>
            </a:extLst>
          </p:cNvPr>
          <p:cNvSpPr txBox="1"/>
          <p:nvPr/>
        </p:nvSpPr>
        <p:spPr>
          <a:xfrm>
            <a:off x="266700" y="9365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>
                <a:latin typeface="Unilever Desire" pitchFamily="2" charset="77"/>
              </a:rPr>
              <a:t>Como funciona o RROI</a:t>
            </a:r>
            <a:r>
              <a:rPr lang="pt-BR" sz="2000" b="1">
                <a:solidFill>
                  <a:srgbClr val="4F7FF2"/>
                </a:solidFill>
                <a:latin typeface="Unilever Desire" pitchFamily="2" charset="77"/>
              </a:rPr>
              <a:t>.</a:t>
            </a:r>
            <a:endParaRPr lang="pt-BR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E502CBE-F740-AB88-26D1-0AB61CCF7E24}"/>
              </a:ext>
            </a:extLst>
          </p:cNvPr>
          <p:cNvSpPr txBox="1"/>
          <p:nvPr/>
        </p:nvSpPr>
        <p:spPr>
          <a:xfrm>
            <a:off x="428419" y="2969560"/>
            <a:ext cx="85484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Volume de Vendas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C476F10-6EAD-C411-FFA9-F406C945154A}"/>
              </a:ext>
            </a:extLst>
          </p:cNvPr>
          <p:cNvSpPr txBox="1"/>
          <p:nvPr/>
        </p:nvSpPr>
        <p:spPr>
          <a:xfrm>
            <a:off x="4173132" y="2016099"/>
            <a:ext cx="141955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Promoções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F28C4E44-4505-2A55-D9BC-82DB5B1A7BCE}"/>
              </a:ext>
            </a:extLst>
          </p:cNvPr>
          <p:cNvSpPr txBox="1"/>
          <p:nvPr/>
        </p:nvSpPr>
        <p:spPr>
          <a:xfrm>
            <a:off x="6246336" y="2016099"/>
            <a:ext cx="14248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Mídia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B3F38DB5-79B2-25C3-A3BE-A839F1737219}"/>
              </a:ext>
            </a:extLst>
          </p:cNvPr>
          <p:cNvSpPr txBox="1"/>
          <p:nvPr/>
        </p:nvSpPr>
        <p:spPr>
          <a:xfrm>
            <a:off x="8322167" y="2016099"/>
            <a:ext cx="14248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Saúde da Marca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CC4DD9DE-7291-ECA4-53EB-25457B4A1FC5}"/>
              </a:ext>
            </a:extLst>
          </p:cNvPr>
          <p:cNvSpPr txBox="1"/>
          <p:nvPr/>
        </p:nvSpPr>
        <p:spPr>
          <a:xfrm>
            <a:off x="10397997" y="1996848"/>
            <a:ext cx="14248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Externo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1BC0FA2-4EB1-3072-B2CF-7E6BD1BD84D5}"/>
              </a:ext>
            </a:extLst>
          </p:cNvPr>
          <p:cNvSpPr txBox="1"/>
          <p:nvPr/>
        </p:nvSpPr>
        <p:spPr>
          <a:xfrm>
            <a:off x="5771546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12354601-EB80-80E1-1F99-1E39CFCEFA4E}"/>
              </a:ext>
            </a:extLst>
          </p:cNvPr>
          <p:cNvSpPr txBox="1"/>
          <p:nvPr/>
        </p:nvSpPr>
        <p:spPr>
          <a:xfrm>
            <a:off x="7848360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689A2FDC-F976-1F57-133C-67FE36E6C967}"/>
              </a:ext>
            </a:extLst>
          </p:cNvPr>
          <p:cNvSpPr txBox="1"/>
          <p:nvPr/>
        </p:nvSpPr>
        <p:spPr>
          <a:xfrm>
            <a:off x="9925173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0BE3F566-2BB6-B6E5-DF19-CA50ADCA39CF}"/>
              </a:ext>
            </a:extLst>
          </p:cNvPr>
          <p:cNvSpPr txBox="1"/>
          <p:nvPr/>
        </p:nvSpPr>
        <p:spPr>
          <a:xfrm>
            <a:off x="1599557" y="317159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=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B766544-4562-48F9-38CC-9BA81226589D}"/>
              </a:ext>
            </a:extLst>
          </p:cNvPr>
          <p:cNvSpPr txBox="1"/>
          <p:nvPr/>
        </p:nvSpPr>
        <p:spPr>
          <a:xfrm>
            <a:off x="4037267" y="3342086"/>
            <a:ext cx="1653731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Promoções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de Trade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Promoções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ao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Consumidor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B8426433-A4C9-8371-FCDA-F53ED5A8CC7D}"/>
              </a:ext>
            </a:extLst>
          </p:cNvPr>
          <p:cNvSpPr txBox="1"/>
          <p:nvPr/>
        </p:nvSpPr>
        <p:spPr>
          <a:xfrm>
            <a:off x="6114069" y="3342086"/>
            <a:ext cx="1676334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Tradicional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TV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Impressos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OOH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Digital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Redes sociais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Busca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YouTube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B241CD22-106C-C890-5456-6161BE9777F6}"/>
              </a:ext>
            </a:extLst>
          </p:cNvPr>
          <p:cNvSpPr txBox="1"/>
          <p:nvPr/>
        </p:nvSpPr>
        <p:spPr>
          <a:xfrm>
            <a:off x="8257203" y="3342086"/>
            <a:ext cx="1605193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Relevante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Diferente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Notório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B0D210A-9627-8A05-6A71-F849B20FD87D}"/>
              </a:ext>
            </a:extLst>
          </p:cNvPr>
          <p:cNvSpPr txBox="1"/>
          <p:nvPr/>
        </p:nvSpPr>
        <p:spPr>
          <a:xfrm>
            <a:off x="10397997" y="3342086"/>
            <a:ext cx="1424813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Economia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Concorrência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Feriados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Clima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Sazonalidade</a:t>
            </a:r>
          </a:p>
        </p:txBody>
      </p:sp>
      <p:pic>
        <p:nvPicPr>
          <p:cNvPr id="19" name="Graphic 20">
            <a:extLst>
              <a:ext uri="{FF2B5EF4-FFF2-40B4-BE49-F238E27FC236}">
                <a16:creationId xmlns:a16="http://schemas.microsoft.com/office/drawing/2014/main" id="{D37D9B3C-4565-3972-9A3F-2EC521617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787" y="2430923"/>
            <a:ext cx="406585" cy="424858"/>
          </a:xfrm>
          <a:prstGeom prst="rect">
            <a:avLst/>
          </a:prstGeom>
        </p:spPr>
      </p:pic>
      <p:cxnSp>
        <p:nvCxnSpPr>
          <p:cNvPr id="20" name="Straight Connector 24">
            <a:extLst>
              <a:ext uri="{FF2B5EF4-FFF2-40B4-BE49-F238E27FC236}">
                <a16:creationId xmlns:a16="http://schemas.microsoft.com/office/drawing/2014/main" id="{A88E5A1F-F14C-C135-784E-1913306342AB}"/>
              </a:ext>
            </a:extLst>
          </p:cNvPr>
          <p:cNvCxnSpPr>
            <a:cxnSpLocks/>
          </p:cNvCxnSpPr>
          <p:nvPr/>
        </p:nvCxnSpPr>
        <p:spPr>
          <a:xfrm>
            <a:off x="4170505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2" name="Straight Connector 25">
            <a:extLst>
              <a:ext uri="{FF2B5EF4-FFF2-40B4-BE49-F238E27FC236}">
                <a16:creationId xmlns:a16="http://schemas.microsoft.com/office/drawing/2014/main" id="{0A54AA28-7584-EDB0-8DAF-B94789879409}"/>
              </a:ext>
            </a:extLst>
          </p:cNvPr>
          <p:cNvCxnSpPr>
            <a:cxnSpLocks/>
          </p:cNvCxnSpPr>
          <p:nvPr/>
        </p:nvCxnSpPr>
        <p:spPr>
          <a:xfrm>
            <a:off x="6246336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3" name="Straight Connector 26">
            <a:extLst>
              <a:ext uri="{FF2B5EF4-FFF2-40B4-BE49-F238E27FC236}">
                <a16:creationId xmlns:a16="http://schemas.microsoft.com/office/drawing/2014/main" id="{BB66C125-FAF3-DA44-FC5E-F4DA9154DC5D}"/>
              </a:ext>
            </a:extLst>
          </p:cNvPr>
          <p:cNvCxnSpPr>
            <a:cxnSpLocks/>
          </p:cNvCxnSpPr>
          <p:nvPr/>
        </p:nvCxnSpPr>
        <p:spPr>
          <a:xfrm>
            <a:off x="8322167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5" name="Straight Connector 27">
            <a:extLst>
              <a:ext uri="{FF2B5EF4-FFF2-40B4-BE49-F238E27FC236}">
                <a16:creationId xmlns:a16="http://schemas.microsoft.com/office/drawing/2014/main" id="{98AB5465-01B1-C83C-21FD-937171D93B19}"/>
              </a:ext>
            </a:extLst>
          </p:cNvPr>
          <p:cNvCxnSpPr>
            <a:cxnSpLocks/>
          </p:cNvCxnSpPr>
          <p:nvPr/>
        </p:nvCxnSpPr>
        <p:spPr>
          <a:xfrm>
            <a:off x="10397997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6" name="Straight Connector 34">
            <a:extLst>
              <a:ext uri="{FF2B5EF4-FFF2-40B4-BE49-F238E27FC236}">
                <a16:creationId xmlns:a16="http://schemas.microsoft.com/office/drawing/2014/main" id="{5D5FCEA2-9E65-530D-4F32-92B9DD19DECE}"/>
              </a:ext>
            </a:extLst>
          </p:cNvPr>
          <p:cNvCxnSpPr>
            <a:cxnSpLocks/>
          </p:cNvCxnSpPr>
          <p:nvPr/>
        </p:nvCxnSpPr>
        <p:spPr>
          <a:xfrm>
            <a:off x="2094674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sp>
        <p:nvSpPr>
          <p:cNvPr id="27" name="TextBox 35">
            <a:extLst>
              <a:ext uri="{FF2B5EF4-FFF2-40B4-BE49-F238E27FC236}">
                <a16:creationId xmlns:a16="http://schemas.microsoft.com/office/drawing/2014/main" id="{9BD4BBD9-EDDB-B251-9005-379746890D30}"/>
              </a:ext>
            </a:extLst>
          </p:cNvPr>
          <p:cNvSpPr txBox="1"/>
          <p:nvPr/>
        </p:nvSpPr>
        <p:spPr>
          <a:xfrm>
            <a:off x="3696939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06E3C775-8543-D4E3-21E4-1EE47BB69C99}"/>
              </a:ext>
            </a:extLst>
          </p:cNvPr>
          <p:cNvSpPr txBox="1"/>
          <p:nvPr/>
        </p:nvSpPr>
        <p:spPr>
          <a:xfrm>
            <a:off x="2007264" y="3342086"/>
            <a:ext cx="154689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Vendas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em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Volume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Vendas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em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Valor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Preço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Distribuição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5D2B8325-3F50-42AE-9BA5-90C188C61C19}"/>
              </a:ext>
            </a:extLst>
          </p:cNvPr>
          <p:cNvSpPr txBox="1"/>
          <p:nvPr/>
        </p:nvSpPr>
        <p:spPr>
          <a:xfrm>
            <a:off x="2094674" y="1996848"/>
            <a:ext cx="14248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Varejo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0" name="Arrow: Pentagon 47">
            <a:extLst>
              <a:ext uri="{FF2B5EF4-FFF2-40B4-BE49-F238E27FC236}">
                <a16:creationId xmlns:a16="http://schemas.microsoft.com/office/drawing/2014/main" id="{B56FB6A2-790E-F777-3328-16BEB4468B6D}"/>
              </a:ext>
            </a:extLst>
          </p:cNvPr>
          <p:cNvSpPr/>
          <p:nvPr/>
        </p:nvSpPr>
        <p:spPr>
          <a:xfrm rot="5400000">
            <a:off x="6779090" y="93598"/>
            <a:ext cx="369329" cy="10124083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1" name="TextBox 53">
            <a:extLst>
              <a:ext uri="{FF2B5EF4-FFF2-40B4-BE49-F238E27FC236}">
                <a16:creationId xmlns:a16="http://schemas.microsoft.com/office/drawing/2014/main" id="{6B8A526C-6060-7802-70DB-C74817A3D13D}"/>
              </a:ext>
            </a:extLst>
          </p:cNvPr>
          <p:cNvSpPr txBox="1"/>
          <p:nvPr/>
        </p:nvSpPr>
        <p:spPr>
          <a:xfrm>
            <a:off x="1617208" y="5315756"/>
            <a:ext cx="1005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Modelagem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habilitada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por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ML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quantifica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o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impacto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das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alavancas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e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otimiza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os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investimentos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4F7FF2"/>
              </a:solidFill>
              <a:effectLst/>
              <a:uLnTx/>
              <a:uFillTx/>
              <a:latin typeface="Unilever Desire" pitchFamily="2" charset="77"/>
              <a:cs typeface="Unilever DIN Offc Pro" pitchFamily="34" charset="0"/>
            </a:endParaRPr>
          </a:p>
        </p:txBody>
      </p:sp>
      <p:sp>
        <p:nvSpPr>
          <p:cNvPr id="32" name="Rectangle: Rounded Corners 54">
            <a:extLst>
              <a:ext uri="{FF2B5EF4-FFF2-40B4-BE49-F238E27FC236}">
                <a16:creationId xmlns:a16="http://schemas.microsoft.com/office/drawing/2014/main" id="{F417C76E-4B99-F9DE-ADA2-3318F6659850}"/>
              </a:ext>
            </a:extLst>
          </p:cNvPr>
          <p:cNvSpPr/>
          <p:nvPr/>
        </p:nvSpPr>
        <p:spPr>
          <a:xfrm>
            <a:off x="280354" y="1803152"/>
            <a:ext cx="1336854" cy="3044658"/>
          </a:xfrm>
          <a:prstGeom prst="roundRect">
            <a:avLst/>
          </a:prstGeom>
          <a:solidFill>
            <a:srgbClr val="4F7FF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Volume de Vendas</a:t>
            </a:r>
          </a:p>
        </p:txBody>
      </p:sp>
      <p:pic>
        <p:nvPicPr>
          <p:cNvPr id="33" name="Picture 56">
            <a:extLst>
              <a:ext uri="{FF2B5EF4-FFF2-40B4-BE49-F238E27FC236}">
                <a16:creationId xmlns:a16="http://schemas.microsoft.com/office/drawing/2014/main" id="{CF852CAC-E06D-4169-90F7-42AC4FE30B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48539" y="2512545"/>
            <a:ext cx="537975" cy="537975"/>
          </a:xfrm>
          <a:prstGeom prst="rect">
            <a:avLst/>
          </a:prstGeom>
        </p:spPr>
      </p:pic>
      <p:pic>
        <p:nvPicPr>
          <p:cNvPr id="34" name="Picture 58">
            <a:extLst>
              <a:ext uri="{FF2B5EF4-FFF2-40B4-BE49-F238E27FC236}">
                <a16:creationId xmlns:a16="http://schemas.microsoft.com/office/drawing/2014/main" id="{C6881EFB-1B58-28B7-DA81-DDCB00B2919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17477" y="2437551"/>
            <a:ext cx="612972" cy="612972"/>
          </a:xfrm>
          <a:prstGeom prst="rect">
            <a:avLst/>
          </a:prstGeom>
        </p:spPr>
      </p:pic>
      <p:pic>
        <p:nvPicPr>
          <p:cNvPr id="35" name="Picture 60">
            <a:extLst>
              <a:ext uri="{FF2B5EF4-FFF2-40B4-BE49-F238E27FC236}">
                <a16:creationId xmlns:a16="http://schemas.microsoft.com/office/drawing/2014/main" id="{6ECCB1C0-40ED-6482-EC98-166695B7661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6799" y="2405741"/>
            <a:ext cx="711872" cy="711872"/>
          </a:xfrm>
          <a:prstGeom prst="rect">
            <a:avLst/>
          </a:prstGeom>
        </p:spPr>
      </p:pic>
      <p:pic>
        <p:nvPicPr>
          <p:cNvPr id="36" name="Picture 64">
            <a:extLst>
              <a:ext uri="{FF2B5EF4-FFF2-40B4-BE49-F238E27FC236}">
                <a16:creationId xmlns:a16="http://schemas.microsoft.com/office/drawing/2014/main" id="{1B66F9A3-92D5-C5A1-EB0F-ADCD6162BCB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57893" y="2332718"/>
            <a:ext cx="836514" cy="836514"/>
          </a:xfrm>
          <a:prstGeom prst="rect">
            <a:avLst/>
          </a:prstGeom>
        </p:spPr>
      </p:pic>
      <p:pic>
        <p:nvPicPr>
          <p:cNvPr id="37" name="Picture 66">
            <a:extLst>
              <a:ext uri="{FF2B5EF4-FFF2-40B4-BE49-F238E27FC236}">
                <a16:creationId xmlns:a16="http://schemas.microsoft.com/office/drawing/2014/main" id="{8731339D-E235-CA3B-05F1-34026FC9DBE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65706" y="2538945"/>
            <a:ext cx="578472" cy="578472"/>
          </a:xfrm>
          <a:prstGeom prst="rect">
            <a:avLst/>
          </a:prstGeom>
        </p:spPr>
      </p:pic>
      <p:pic>
        <p:nvPicPr>
          <p:cNvPr id="38" name="Picture 68">
            <a:extLst>
              <a:ext uri="{FF2B5EF4-FFF2-40B4-BE49-F238E27FC236}">
                <a16:creationId xmlns:a16="http://schemas.microsoft.com/office/drawing/2014/main" id="{E27C2593-69E4-DA3E-EF77-0CE43341687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42344" y="2319892"/>
            <a:ext cx="829024" cy="829024"/>
          </a:xfrm>
          <a:prstGeom prst="rect">
            <a:avLst/>
          </a:prstGeom>
        </p:spPr>
      </p:pic>
      <p:sp>
        <p:nvSpPr>
          <p:cNvPr id="39" name="Rectangle: Rounded Corners 69">
            <a:extLst>
              <a:ext uri="{FF2B5EF4-FFF2-40B4-BE49-F238E27FC236}">
                <a16:creationId xmlns:a16="http://schemas.microsoft.com/office/drawing/2014/main" id="{4CE524DA-7DB1-1491-9239-F899C3D6B4F0}"/>
              </a:ext>
            </a:extLst>
          </p:cNvPr>
          <p:cNvSpPr/>
          <p:nvPr/>
        </p:nvSpPr>
        <p:spPr>
          <a:xfrm>
            <a:off x="1909441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0" name="Rectangle: Rounded Corners 70">
            <a:extLst>
              <a:ext uri="{FF2B5EF4-FFF2-40B4-BE49-F238E27FC236}">
                <a16:creationId xmlns:a16="http://schemas.microsoft.com/office/drawing/2014/main" id="{03E81761-12D4-FC56-59AA-D0DD04F4ABE0}"/>
              </a:ext>
            </a:extLst>
          </p:cNvPr>
          <p:cNvSpPr/>
          <p:nvPr/>
        </p:nvSpPr>
        <p:spPr>
          <a:xfrm>
            <a:off x="3987275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2" name="Rectangle: Rounded Corners 72">
            <a:extLst>
              <a:ext uri="{FF2B5EF4-FFF2-40B4-BE49-F238E27FC236}">
                <a16:creationId xmlns:a16="http://schemas.microsoft.com/office/drawing/2014/main" id="{EDC79732-9681-BC2B-6665-72B79E0462F6}"/>
              </a:ext>
            </a:extLst>
          </p:cNvPr>
          <p:cNvSpPr/>
          <p:nvPr/>
        </p:nvSpPr>
        <p:spPr>
          <a:xfrm>
            <a:off x="8142943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73">
            <a:extLst>
              <a:ext uri="{FF2B5EF4-FFF2-40B4-BE49-F238E27FC236}">
                <a16:creationId xmlns:a16="http://schemas.microsoft.com/office/drawing/2014/main" id="{8A19BB92-5EBD-C8B7-AC06-D35418980198}"/>
              </a:ext>
            </a:extLst>
          </p:cNvPr>
          <p:cNvSpPr/>
          <p:nvPr/>
        </p:nvSpPr>
        <p:spPr>
          <a:xfrm>
            <a:off x="10220778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DF8AF2-28A4-CF4A-234D-B7EB0FE9C6B6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38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1183-75CF-3DD5-0139-FB52DCA3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3A5C5F5C-9CA7-43F3-871E-33FAA5856B0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826875" y="347663"/>
            <a:ext cx="365125" cy="122237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90CDF943-EF35-359F-89DD-535D43D0D8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90700" y="2755900"/>
            <a:ext cx="8939213" cy="1346200"/>
          </a:xfrm>
        </p:spPr>
        <p:txBody>
          <a:bodyPr/>
          <a:lstStyle/>
          <a:p>
            <a:r>
              <a:rPr lang="pt-BR" sz="4000" b="1">
                <a:solidFill>
                  <a:schemeClr val="bg1"/>
                </a:solidFill>
                <a:latin typeface="Unilever Desire" pitchFamily="2" charset="77"/>
              </a:rPr>
              <a:t>Os dados de mídia é uma das principais fontes do estudo.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94B709-7DF4-E8D2-675C-01A172AACCD1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66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D893-F9D6-CACE-0CE6-3C04B3AC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1611B5-5E5F-3051-FEC5-B3ADD9CD35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2315577-B5B3-72BC-3163-921291956D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F5CC57F-D71D-F97C-09DF-BD675E758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E8AF3D41-B893-E217-02D8-A8B569519B9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1C003AAD-B9C0-30FF-8404-8C370DAC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03" y="2134053"/>
            <a:ext cx="10680593" cy="1385888"/>
          </a:xfrm>
        </p:spPr>
        <p:txBody>
          <a:bodyPr/>
          <a:lstStyle/>
          <a:p>
            <a:r>
              <a:rPr lang="pt-BR" sz="7200" b="1">
                <a:latin typeface="Unilever Desire" pitchFamily="2" charset="77"/>
              </a:rPr>
              <a:t>Quais dados de mídia enviamos para RROI?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312BAE24-4528-89FA-78B1-C668FA071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3915" y="3629765"/>
            <a:ext cx="2547830" cy="25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3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3483-D529-78AB-1300-64BC61AF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B795336-00F0-A45C-FBCD-7CB460A52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D9AF9E1-12B6-A609-000E-181BCFC928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3230A73-934D-FC80-F15E-88FBDF2E02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3E810A4B-38B9-993C-4F96-D31750C4B06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EDB8112A-12A6-F3C7-4741-99A0015151EC}"/>
              </a:ext>
            </a:extLst>
          </p:cNvPr>
          <p:cNvSpPr txBox="1">
            <a:spLocks/>
          </p:cNvSpPr>
          <p:nvPr/>
        </p:nvSpPr>
        <p:spPr>
          <a:xfrm>
            <a:off x="1465106" y="1078056"/>
            <a:ext cx="8938577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>
                <a:latin typeface="Unilever Desire" pitchFamily="2" charset="77"/>
              </a:rPr>
              <a:t>Enviamos 2 bases para o estudo. </a:t>
            </a:r>
            <a:endParaRPr lang="pt-BR" sz="3200" b="1">
              <a:solidFill>
                <a:srgbClr val="4F7FF2"/>
              </a:solidFill>
              <a:latin typeface="Unilever Desire" pitchFamily="2" charset="77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541FF36-2C8F-8A2D-BC4A-A8E3961ECA02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EB27FEFE-3D9F-7560-B042-BEAAFE712932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2A6F16BD-73BA-281A-406A-15BE3390FDE7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1E0CD061-366D-ED26-0AE5-3A093D4B1A4C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bg1"/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A07B1ECA-0E37-40B9-5D91-713266D0C0AE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DD343A45-D491-D582-638A-69F6C57D3460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FE52A6A-771B-ED0E-9397-6DB6B1B22A1A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4483890C-BFFE-C1D4-F3FA-28BE5A92E32F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729F41AF-FEC7-10AA-F68A-03454D90FE98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E7E8189F-0AD4-9405-5BD7-157762D05A15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E3E0DAFD-CE49-DBDD-A4F9-B4BBDC67DA34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01CFD103-C852-C33C-046C-29C00828CF6A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7488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E7A5-9E15-40B2-5315-8C30D979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15B0EBC-2EA0-FC86-9E56-70CD2495C9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673001D-B090-6FCD-7276-44B66228B0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C7B5DF9-CDB5-1863-679A-3263212D0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DD639605-ADCE-0EFB-7632-D9DC9DD1433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BF4065A-C077-0B5E-BB4A-791E7F6C2EF4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D16405B2-1330-6675-B9CF-36F3B62B8A7F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7C69F8DD-8C04-A761-E039-E9D3AE5A8F6F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7BB836A7-D597-D2D3-34DB-9F621F773B85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bg1"/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F91D78CD-A060-9822-9727-E083A22D7C97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84298C54-CA3B-5CFC-FD90-36C80C4A13B6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6107217-E559-E2E7-55DE-8B4D3D4FEAA1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bg1">
              <a:lumMod val="95000"/>
            </a:schemeClr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A04F036F-8EFC-AD6A-CBC9-CD94CD5A1727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3FFC7994-3628-7821-C22A-B88F5C89200E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A7C65E2F-EBA9-709F-5419-C86687AD9E42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>
                    <a:lumMod val="5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33A5D7A9-ADDF-6077-9864-844316EF23F3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3FF1F31B-0EB7-5063-D912-1EF8F6A3A8B5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>
                    <a:lumMod val="50000"/>
                  </a:schemeClr>
                </a:solidFill>
                <a:latin typeface="Unilever Desire" pitchFamily="2" charset="77"/>
              </a:endParaRP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CB70E33C-2860-7FAF-2C93-F4B41EFEC291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5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4F766-03F8-DFB5-3DD8-986AB0F6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tângulo Arredondado 166">
            <a:extLst>
              <a:ext uri="{FF2B5EF4-FFF2-40B4-BE49-F238E27FC236}">
                <a16:creationId xmlns:a16="http://schemas.microsoft.com/office/drawing/2014/main" id="{8DD94D18-7AAC-1730-3261-29466940D9E9}"/>
              </a:ext>
            </a:extLst>
          </p:cNvPr>
          <p:cNvSpPr/>
          <p:nvPr/>
        </p:nvSpPr>
        <p:spPr>
          <a:xfrm>
            <a:off x="3516626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Retângulo Arredondado 164">
            <a:extLst>
              <a:ext uri="{FF2B5EF4-FFF2-40B4-BE49-F238E27FC236}">
                <a16:creationId xmlns:a16="http://schemas.microsoft.com/office/drawing/2014/main" id="{4064F687-1B50-2DD3-ECFE-340EBBB61567}"/>
              </a:ext>
            </a:extLst>
          </p:cNvPr>
          <p:cNvSpPr/>
          <p:nvPr/>
        </p:nvSpPr>
        <p:spPr>
          <a:xfrm>
            <a:off x="229609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28EFF87-238A-A267-487C-947C8E0188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3E703DE-D979-58CF-40C6-5B6E36CB5C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AD36A741-8257-B421-026B-5701CC82A4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82D93768-EA6E-D8E2-BAED-42F16BAAD0A7}"/>
              </a:ext>
            </a:extLst>
          </p:cNvPr>
          <p:cNvSpPr txBox="1">
            <a:spLocks/>
          </p:cNvSpPr>
          <p:nvPr/>
        </p:nvSpPr>
        <p:spPr>
          <a:xfrm>
            <a:off x="140915" y="708625"/>
            <a:ext cx="3958195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>
                <a:latin typeface="Unilever Desire" pitchFamily="2" charset="77"/>
              </a:rPr>
              <a:t>A base offline é composta por 2 fontes que são enviadas diariamente para a Unilever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778358-96F9-C368-B54A-D8C5573D419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6" name="Straight Arrow Connector 1023">
            <a:extLst>
              <a:ext uri="{FF2B5EF4-FFF2-40B4-BE49-F238E27FC236}">
                <a16:creationId xmlns:a16="http://schemas.microsoft.com/office/drawing/2014/main" id="{F58A21AA-41BA-E52F-2C42-F69A67F398B7}"/>
              </a:ext>
            </a:extLst>
          </p:cNvPr>
          <p:cNvCxnSpPr>
            <a:cxnSpLocks/>
          </p:cNvCxnSpPr>
          <p:nvPr/>
        </p:nvCxnSpPr>
        <p:spPr>
          <a:xfrm flipV="1">
            <a:off x="2337860" y="3571572"/>
            <a:ext cx="1074823" cy="15500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dash"/>
            <a:miter lim="800000"/>
            <a:tailEnd type="triangle"/>
          </a:ln>
          <a:effectLst/>
          <a:sp3d/>
        </p:spPr>
      </p:cxnSp>
      <p:pic>
        <p:nvPicPr>
          <p:cNvPr id="117" name="Picture 4" descr="Sql server - Free logo icons">
            <a:extLst>
              <a:ext uri="{FF2B5EF4-FFF2-40B4-BE49-F238E27FC236}">
                <a16:creationId xmlns:a16="http://schemas.microsoft.com/office/drawing/2014/main" id="{F5A1786C-8EF8-390E-A8C4-2C23823CA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110" y="3263779"/>
            <a:ext cx="748238" cy="74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B4F455A2-7D36-8A02-C3A9-1932644984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1DB91873-81C5-7681-B5AD-39B42F0002DD}"/>
              </a:ext>
            </a:extLst>
          </p:cNvPr>
          <p:cNvGrpSpPr/>
          <p:nvPr/>
        </p:nvGrpSpPr>
        <p:grpSpPr>
          <a:xfrm>
            <a:off x="173337" y="3085195"/>
            <a:ext cx="1873395" cy="988255"/>
            <a:chOff x="1199171" y="3429000"/>
            <a:chExt cx="1379858" cy="727904"/>
          </a:xfrm>
        </p:grpSpPr>
        <p:pic>
          <p:nvPicPr>
            <p:cNvPr id="115" name="Picture 61">
              <a:extLst>
                <a:ext uri="{FF2B5EF4-FFF2-40B4-BE49-F238E27FC236}">
                  <a16:creationId xmlns:a16="http://schemas.microsoft.com/office/drawing/2014/main" id="{5B3E5331-A57D-A7B8-7D9A-25EE3B27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99171" y="3429000"/>
              <a:ext cx="560954" cy="727904"/>
            </a:xfrm>
            <a:prstGeom prst="rect">
              <a:avLst/>
            </a:prstGeom>
          </p:spPr>
        </p:pic>
        <p:pic>
          <p:nvPicPr>
            <p:cNvPr id="159" name="Imagem 158" descr="Kantar lança solução para análise de eficiência de mídia digital que traz insights a partir de 24 horas">
              <a:extLst>
                <a:ext uri="{FF2B5EF4-FFF2-40B4-BE49-F238E27FC236}">
                  <a16:creationId xmlns:a16="http://schemas.microsoft.com/office/drawing/2014/main" id="{5CDBE9ED-15F4-FD68-D051-498D4177B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74557" y="3591462"/>
              <a:ext cx="604472" cy="402981"/>
            </a:xfrm>
            <a:prstGeom prst="rect">
              <a:avLst/>
            </a:prstGeom>
          </p:spPr>
        </p:pic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6C2C1A28-1A0E-1B93-93DF-DC45B0A624BA}"/>
              </a:ext>
            </a:extLst>
          </p:cNvPr>
          <p:cNvGrpSpPr/>
          <p:nvPr/>
        </p:nvGrpSpPr>
        <p:grpSpPr>
          <a:xfrm>
            <a:off x="5627507" y="2819667"/>
            <a:ext cx="3091973" cy="1519311"/>
            <a:chOff x="3245389" y="3204235"/>
            <a:chExt cx="3091973" cy="1519311"/>
          </a:xfrm>
        </p:grpSpPr>
        <p:sp>
          <p:nvSpPr>
            <p:cNvPr id="168" name="Retângulo Arredondado 167">
              <a:extLst>
                <a:ext uri="{FF2B5EF4-FFF2-40B4-BE49-F238E27FC236}">
                  <a16:creationId xmlns:a16="http://schemas.microsoft.com/office/drawing/2014/main" id="{314DBF90-1A78-FD1E-C45C-1F90743B8165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9" name="Straight Arrow Connector 1023">
              <a:extLst>
                <a:ext uri="{FF2B5EF4-FFF2-40B4-BE49-F238E27FC236}">
                  <a16:creationId xmlns:a16="http://schemas.microsoft.com/office/drawing/2014/main" id="{92AA3ADB-6160-E778-5804-C583092FE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B9039BF4-5DB9-F83E-E13C-355EA89C975D}"/>
              </a:ext>
            </a:extLst>
          </p:cNvPr>
          <p:cNvGrpSpPr/>
          <p:nvPr/>
        </p:nvGrpSpPr>
        <p:grpSpPr>
          <a:xfrm>
            <a:off x="7384095" y="2938535"/>
            <a:ext cx="757562" cy="1197065"/>
            <a:chOff x="7546039" y="3302445"/>
            <a:chExt cx="757562" cy="1197065"/>
          </a:xfrm>
        </p:grpSpPr>
        <p:grpSp>
          <p:nvGrpSpPr>
            <p:cNvPr id="174" name="Group 1">
              <a:extLst>
                <a:ext uri="{FF2B5EF4-FFF2-40B4-BE49-F238E27FC236}">
                  <a16:creationId xmlns:a16="http://schemas.microsoft.com/office/drawing/2014/main" id="{385AFBB2-9E9E-6AB6-1247-CAEF07E671AF}"/>
                </a:ext>
              </a:extLst>
            </p:cNvPr>
            <p:cNvGrpSpPr/>
            <p:nvPr/>
          </p:nvGrpSpPr>
          <p:grpSpPr>
            <a:xfrm>
              <a:off x="7652878" y="3906048"/>
              <a:ext cx="543885" cy="593462"/>
              <a:chOff x="4001595" y="1437606"/>
              <a:chExt cx="3874225" cy="3873108"/>
            </a:xfrm>
          </p:grpSpPr>
          <p:sp>
            <p:nvSpPr>
              <p:cNvPr id="177" name="Cube 36">
                <a:extLst>
                  <a:ext uri="{FF2B5EF4-FFF2-40B4-BE49-F238E27FC236}">
                    <a16:creationId xmlns:a16="http://schemas.microsoft.com/office/drawing/2014/main" id="{80388E94-A9CE-670F-A9E3-13C8EAEFFD07}"/>
                  </a:ext>
                </a:extLst>
              </p:cNvPr>
              <p:cNvSpPr/>
              <p:nvPr/>
            </p:nvSpPr>
            <p:spPr>
              <a:xfrm>
                <a:off x="4646169" y="3378392"/>
                <a:ext cx="1153447" cy="1153447"/>
              </a:xfrm>
              <a:prstGeom prst="cube">
                <a:avLst/>
              </a:prstGeom>
              <a:solidFill>
                <a:srgbClr val="E11E28">
                  <a:lumMod val="40000"/>
                  <a:lumOff val="60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8" name="Cube 37">
                <a:extLst>
                  <a:ext uri="{FF2B5EF4-FFF2-40B4-BE49-F238E27FC236}">
                    <a16:creationId xmlns:a16="http://schemas.microsoft.com/office/drawing/2014/main" id="{73662853-E896-922A-865E-8B35D9BC9DBD}"/>
                  </a:ext>
                </a:extLst>
              </p:cNvPr>
              <p:cNvSpPr/>
              <p:nvPr/>
            </p:nvSpPr>
            <p:spPr>
              <a:xfrm>
                <a:off x="5684271" y="3378392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9" name="Cube 38">
                <a:extLst>
                  <a:ext uri="{FF2B5EF4-FFF2-40B4-BE49-F238E27FC236}">
                    <a16:creationId xmlns:a16="http://schemas.microsoft.com/office/drawing/2014/main" id="{AA704E45-60A9-605F-AAED-EC5ABE040249}"/>
                  </a:ext>
                </a:extLst>
              </p:cNvPr>
              <p:cNvSpPr/>
              <p:nvPr/>
            </p:nvSpPr>
            <p:spPr>
              <a:xfrm>
                <a:off x="6722373" y="3378392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0" name="Cube 39">
                <a:extLst>
                  <a:ext uri="{FF2B5EF4-FFF2-40B4-BE49-F238E27FC236}">
                    <a16:creationId xmlns:a16="http://schemas.microsoft.com/office/drawing/2014/main" id="{7FA176B5-62D4-52B0-7837-A339407397D4}"/>
                  </a:ext>
                </a:extLst>
              </p:cNvPr>
              <p:cNvSpPr/>
              <p:nvPr/>
            </p:nvSpPr>
            <p:spPr>
              <a:xfrm>
                <a:off x="4646169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1" name="Cube 40">
                <a:extLst>
                  <a:ext uri="{FF2B5EF4-FFF2-40B4-BE49-F238E27FC236}">
                    <a16:creationId xmlns:a16="http://schemas.microsoft.com/office/drawing/2014/main" id="{019CFE14-96C8-5644-6A60-609BB5FCC68F}"/>
                  </a:ext>
                </a:extLst>
              </p:cNvPr>
              <p:cNvSpPr/>
              <p:nvPr/>
            </p:nvSpPr>
            <p:spPr>
              <a:xfrm>
                <a:off x="5684271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2" name="Cube 41">
                <a:extLst>
                  <a:ext uri="{FF2B5EF4-FFF2-40B4-BE49-F238E27FC236}">
                    <a16:creationId xmlns:a16="http://schemas.microsoft.com/office/drawing/2014/main" id="{5F5614D2-08AD-E21A-CB48-78AF58F3CB74}"/>
                  </a:ext>
                </a:extLst>
              </p:cNvPr>
              <p:cNvSpPr/>
              <p:nvPr/>
            </p:nvSpPr>
            <p:spPr>
              <a:xfrm>
                <a:off x="6722373" y="2401213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3" name="Cube 42">
                <a:extLst>
                  <a:ext uri="{FF2B5EF4-FFF2-40B4-BE49-F238E27FC236}">
                    <a16:creationId xmlns:a16="http://schemas.microsoft.com/office/drawing/2014/main" id="{851C6024-CAEA-4E6F-BBD7-96A06C4D6D48}"/>
                  </a:ext>
                </a:extLst>
              </p:cNvPr>
              <p:cNvSpPr/>
              <p:nvPr/>
            </p:nvSpPr>
            <p:spPr>
              <a:xfrm>
                <a:off x="4646169" y="1437606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4" name="Cube 43">
                <a:extLst>
                  <a:ext uri="{FF2B5EF4-FFF2-40B4-BE49-F238E27FC236}">
                    <a16:creationId xmlns:a16="http://schemas.microsoft.com/office/drawing/2014/main" id="{CD5FFE26-FD41-7E84-35F5-DFF6BFCE1A64}"/>
                  </a:ext>
                </a:extLst>
              </p:cNvPr>
              <p:cNvSpPr/>
              <p:nvPr/>
            </p:nvSpPr>
            <p:spPr>
              <a:xfrm>
                <a:off x="5684271" y="1437606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5" name="Cube 44">
                <a:extLst>
                  <a:ext uri="{FF2B5EF4-FFF2-40B4-BE49-F238E27FC236}">
                    <a16:creationId xmlns:a16="http://schemas.microsoft.com/office/drawing/2014/main" id="{43E61031-84BB-43CB-09BA-4205E346A798}"/>
                  </a:ext>
                </a:extLst>
              </p:cNvPr>
              <p:cNvSpPr/>
              <p:nvPr/>
            </p:nvSpPr>
            <p:spPr>
              <a:xfrm>
                <a:off x="6722373" y="1437606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6" name="Cube 45">
                <a:extLst>
                  <a:ext uri="{FF2B5EF4-FFF2-40B4-BE49-F238E27FC236}">
                    <a16:creationId xmlns:a16="http://schemas.microsoft.com/office/drawing/2014/main" id="{8798B85A-7DA3-7F5E-D09B-66DFA60FC2E5}"/>
                  </a:ext>
                </a:extLst>
              </p:cNvPr>
              <p:cNvSpPr/>
              <p:nvPr/>
            </p:nvSpPr>
            <p:spPr>
              <a:xfrm>
                <a:off x="4279779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7" name="Cube 46">
                <a:extLst>
                  <a:ext uri="{FF2B5EF4-FFF2-40B4-BE49-F238E27FC236}">
                    <a16:creationId xmlns:a16="http://schemas.microsoft.com/office/drawing/2014/main" id="{997D16E6-AADA-4C63-251E-01720F19D735}"/>
                  </a:ext>
                </a:extLst>
              </p:cNvPr>
              <p:cNvSpPr/>
              <p:nvPr/>
            </p:nvSpPr>
            <p:spPr>
              <a:xfrm>
                <a:off x="5317882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8" name="Cube 47">
                <a:extLst>
                  <a:ext uri="{FF2B5EF4-FFF2-40B4-BE49-F238E27FC236}">
                    <a16:creationId xmlns:a16="http://schemas.microsoft.com/office/drawing/2014/main" id="{9435A488-408B-C200-4A8C-261DD29CC240}"/>
                  </a:ext>
                </a:extLst>
              </p:cNvPr>
              <p:cNvSpPr/>
              <p:nvPr/>
            </p:nvSpPr>
            <p:spPr>
              <a:xfrm>
                <a:off x="6355984" y="3765275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9" name="Cube 48">
                <a:extLst>
                  <a:ext uri="{FF2B5EF4-FFF2-40B4-BE49-F238E27FC236}">
                    <a16:creationId xmlns:a16="http://schemas.microsoft.com/office/drawing/2014/main" id="{E8E1C61C-425D-5ECF-4217-CFE886B9C359}"/>
                  </a:ext>
                </a:extLst>
              </p:cNvPr>
              <p:cNvSpPr/>
              <p:nvPr/>
            </p:nvSpPr>
            <p:spPr>
              <a:xfrm>
                <a:off x="4279780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0" name="Cube 49">
                <a:extLst>
                  <a:ext uri="{FF2B5EF4-FFF2-40B4-BE49-F238E27FC236}">
                    <a16:creationId xmlns:a16="http://schemas.microsoft.com/office/drawing/2014/main" id="{883CD3E8-AA23-4319-A49C-D90967691808}"/>
                  </a:ext>
                </a:extLst>
              </p:cNvPr>
              <p:cNvSpPr/>
              <p:nvPr/>
            </p:nvSpPr>
            <p:spPr>
              <a:xfrm>
                <a:off x="5317882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1" name="Cube 50">
                <a:extLst>
                  <a:ext uri="{FF2B5EF4-FFF2-40B4-BE49-F238E27FC236}">
                    <a16:creationId xmlns:a16="http://schemas.microsoft.com/office/drawing/2014/main" id="{DEBAD872-9D02-7946-AC5F-DBBF212EED20}"/>
                  </a:ext>
                </a:extLst>
              </p:cNvPr>
              <p:cNvSpPr/>
              <p:nvPr/>
            </p:nvSpPr>
            <p:spPr>
              <a:xfrm>
                <a:off x="6355984" y="278809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2" name="Cube 51">
                <a:extLst>
                  <a:ext uri="{FF2B5EF4-FFF2-40B4-BE49-F238E27FC236}">
                    <a16:creationId xmlns:a16="http://schemas.microsoft.com/office/drawing/2014/main" id="{86A3DD2D-24A5-AC6C-401F-68E627A47989}"/>
                  </a:ext>
                </a:extLst>
              </p:cNvPr>
              <p:cNvSpPr/>
              <p:nvPr/>
            </p:nvSpPr>
            <p:spPr>
              <a:xfrm>
                <a:off x="4279780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3" name="Cube 52">
                <a:extLst>
                  <a:ext uri="{FF2B5EF4-FFF2-40B4-BE49-F238E27FC236}">
                    <a16:creationId xmlns:a16="http://schemas.microsoft.com/office/drawing/2014/main" id="{192878AB-3995-8718-D633-70308B3F1A85}"/>
                  </a:ext>
                </a:extLst>
              </p:cNvPr>
              <p:cNvSpPr/>
              <p:nvPr/>
            </p:nvSpPr>
            <p:spPr>
              <a:xfrm>
                <a:off x="5317882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4" name="Cube 53">
                <a:extLst>
                  <a:ext uri="{FF2B5EF4-FFF2-40B4-BE49-F238E27FC236}">
                    <a16:creationId xmlns:a16="http://schemas.microsoft.com/office/drawing/2014/main" id="{4A512C08-04C5-DB7A-908A-24E707BE923B}"/>
                  </a:ext>
                </a:extLst>
              </p:cNvPr>
              <p:cNvSpPr/>
              <p:nvPr/>
            </p:nvSpPr>
            <p:spPr>
              <a:xfrm>
                <a:off x="6355984" y="1824489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5" name="Cube 54">
                <a:extLst>
                  <a:ext uri="{FF2B5EF4-FFF2-40B4-BE49-F238E27FC236}">
                    <a16:creationId xmlns:a16="http://schemas.microsoft.com/office/drawing/2014/main" id="{23A53136-CC38-124F-93C1-E9E221C42A28}"/>
                  </a:ext>
                </a:extLst>
              </p:cNvPr>
              <p:cNvSpPr/>
              <p:nvPr/>
            </p:nvSpPr>
            <p:spPr>
              <a:xfrm>
                <a:off x="4001595" y="415726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6" name="Cube 55">
                <a:extLst>
                  <a:ext uri="{FF2B5EF4-FFF2-40B4-BE49-F238E27FC236}">
                    <a16:creationId xmlns:a16="http://schemas.microsoft.com/office/drawing/2014/main" id="{0E13CBDF-B610-E932-5CC3-7382CC6FD07E}"/>
                  </a:ext>
                </a:extLst>
              </p:cNvPr>
              <p:cNvSpPr/>
              <p:nvPr/>
            </p:nvSpPr>
            <p:spPr>
              <a:xfrm>
                <a:off x="4965063" y="415215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7" name="Cube 56">
                <a:extLst>
                  <a:ext uri="{FF2B5EF4-FFF2-40B4-BE49-F238E27FC236}">
                    <a16:creationId xmlns:a16="http://schemas.microsoft.com/office/drawing/2014/main" id="{E98B5B1C-1032-B8CE-756D-814921B18460}"/>
                  </a:ext>
                </a:extLst>
              </p:cNvPr>
              <p:cNvSpPr/>
              <p:nvPr/>
            </p:nvSpPr>
            <p:spPr>
              <a:xfrm>
                <a:off x="6003165" y="4152159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8" name="Cube 57">
                <a:extLst>
                  <a:ext uri="{FF2B5EF4-FFF2-40B4-BE49-F238E27FC236}">
                    <a16:creationId xmlns:a16="http://schemas.microsoft.com/office/drawing/2014/main" id="{4677E2D8-371D-3F9D-26F9-52740A6AF29A}"/>
                  </a:ext>
                </a:extLst>
              </p:cNvPr>
              <p:cNvSpPr/>
              <p:nvPr/>
            </p:nvSpPr>
            <p:spPr>
              <a:xfrm>
                <a:off x="4001595" y="3180088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9" name="Cube 58">
                <a:extLst>
                  <a:ext uri="{FF2B5EF4-FFF2-40B4-BE49-F238E27FC236}">
                    <a16:creationId xmlns:a16="http://schemas.microsoft.com/office/drawing/2014/main" id="{4DE5A91E-D2BB-2CC3-A227-1B0F4D3FED64}"/>
                  </a:ext>
                </a:extLst>
              </p:cNvPr>
              <p:cNvSpPr/>
              <p:nvPr/>
            </p:nvSpPr>
            <p:spPr>
              <a:xfrm>
                <a:off x="4965063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0" name="Cube 59">
                <a:extLst>
                  <a:ext uri="{FF2B5EF4-FFF2-40B4-BE49-F238E27FC236}">
                    <a16:creationId xmlns:a16="http://schemas.microsoft.com/office/drawing/2014/main" id="{A6859750-9096-123B-E1CC-0D1082915570}"/>
                  </a:ext>
                </a:extLst>
              </p:cNvPr>
              <p:cNvSpPr/>
              <p:nvPr/>
            </p:nvSpPr>
            <p:spPr>
              <a:xfrm>
                <a:off x="6003165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1" name="Cube 60">
                <a:extLst>
                  <a:ext uri="{FF2B5EF4-FFF2-40B4-BE49-F238E27FC236}">
                    <a16:creationId xmlns:a16="http://schemas.microsoft.com/office/drawing/2014/main" id="{10DC344E-AF48-ACB2-228B-6113B23A5691}"/>
                  </a:ext>
                </a:extLst>
              </p:cNvPr>
              <p:cNvSpPr/>
              <p:nvPr/>
            </p:nvSpPr>
            <p:spPr>
              <a:xfrm>
                <a:off x="4001595" y="2216481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2" name="Cube 61">
                <a:extLst>
                  <a:ext uri="{FF2B5EF4-FFF2-40B4-BE49-F238E27FC236}">
                    <a16:creationId xmlns:a16="http://schemas.microsoft.com/office/drawing/2014/main" id="{D9B4E84F-D668-4EA6-5902-0AB945BD115F}"/>
                  </a:ext>
                </a:extLst>
              </p:cNvPr>
              <p:cNvSpPr/>
              <p:nvPr/>
            </p:nvSpPr>
            <p:spPr>
              <a:xfrm>
                <a:off x="4965063" y="2211373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3" name="Cube 62">
                <a:extLst>
                  <a:ext uri="{FF2B5EF4-FFF2-40B4-BE49-F238E27FC236}">
                    <a16:creationId xmlns:a16="http://schemas.microsoft.com/office/drawing/2014/main" id="{5DA785BD-9E0B-F3BD-1F1B-829AD87B8AF6}"/>
                  </a:ext>
                </a:extLst>
              </p:cNvPr>
              <p:cNvSpPr/>
              <p:nvPr/>
            </p:nvSpPr>
            <p:spPr>
              <a:xfrm>
                <a:off x="6003165" y="221137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</p:grpSp>
        <p:pic>
          <p:nvPicPr>
            <p:cNvPr id="175" name="Picture 2" descr="Google Big Query Logo PNG Vector (SVG) Free Download">
              <a:extLst>
                <a:ext uri="{FF2B5EF4-FFF2-40B4-BE49-F238E27FC236}">
                  <a16:creationId xmlns:a16="http://schemas.microsoft.com/office/drawing/2014/main" id="{324BF3B3-5131-28EA-B97E-D46C2A08C6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6039" y="3509194"/>
              <a:ext cx="757562" cy="260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6" descr="Google Cloud Logo – PNG e Vetor – Download de Logo">
              <a:extLst>
                <a:ext uri="{FF2B5EF4-FFF2-40B4-BE49-F238E27FC236}">
                  <a16:creationId xmlns:a16="http://schemas.microsoft.com/office/drawing/2014/main" id="{81658E3D-0A87-45D8-5FD0-BA15276818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576"/>
            <a:stretch>
              <a:fillRect/>
            </a:stretch>
          </p:blipFill>
          <p:spPr bwMode="auto">
            <a:xfrm>
              <a:off x="7636397" y="3302445"/>
              <a:ext cx="576847" cy="225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F90D4B-FB7D-021F-15A9-95971E7694AA}"/>
              </a:ext>
            </a:extLst>
          </p:cNvPr>
          <p:cNvGrpSpPr/>
          <p:nvPr/>
        </p:nvGrpSpPr>
        <p:grpSpPr>
          <a:xfrm>
            <a:off x="8916807" y="2819667"/>
            <a:ext cx="3091973" cy="1519311"/>
            <a:chOff x="3245389" y="3204235"/>
            <a:chExt cx="3091973" cy="1519311"/>
          </a:xfrm>
        </p:grpSpPr>
        <p:sp>
          <p:nvSpPr>
            <p:cNvPr id="206" name="Retângulo Arredondado 205">
              <a:extLst>
                <a:ext uri="{FF2B5EF4-FFF2-40B4-BE49-F238E27FC236}">
                  <a16:creationId xmlns:a16="http://schemas.microsoft.com/office/drawing/2014/main" id="{798588E2-CF6B-AB6D-8AF5-08AAA7A5B3C2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7" name="Straight Arrow Connector 1023">
              <a:extLst>
                <a:ext uri="{FF2B5EF4-FFF2-40B4-BE49-F238E27FC236}">
                  <a16:creationId xmlns:a16="http://schemas.microsoft.com/office/drawing/2014/main" id="{27E30438-3D3A-FD6C-FB09-013CD0743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6AB9B7F3-8ECF-81A3-9589-A732C3425ABB}"/>
              </a:ext>
            </a:extLst>
          </p:cNvPr>
          <p:cNvGrpSpPr/>
          <p:nvPr/>
        </p:nvGrpSpPr>
        <p:grpSpPr>
          <a:xfrm>
            <a:off x="10231821" y="3221279"/>
            <a:ext cx="1606373" cy="716087"/>
            <a:chOff x="10350901" y="3737892"/>
            <a:chExt cx="1606373" cy="716087"/>
          </a:xfrm>
        </p:grpSpPr>
        <p:pic>
          <p:nvPicPr>
            <p:cNvPr id="160" name="Picture 8" descr="Data visualization - Free computer icons">
              <a:extLst>
                <a:ext uri="{FF2B5EF4-FFF2-40B4-BE49-F238E27FC236}">
                  <a16:creationId xmlns:a16="http://schemas.microsoft.com/office/drawing/2014/main" id="{BE3351B4-59FE-896F-DB29-C26E5FCF1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0901" y="3737892"/>
              <a:ext cx="663748" cy="716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6" descr="Power BI - California Institute of Applied Technology">
              <a:extLst>
                <a:ext uri="{FF2B5EF4-FFF2-40B4-BE49-F238E27FC236}">
                  <a16:creationId xmlns:a16="http://schemas.microsoft.com/office/drawing/2014/main" id="{E3348475-7D0E-E891-9F40-C1454DCD6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1441" y="3769291"/>
              <a:ext cx="805833" cy="230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>
              <a:extLst>
                <a:ext uri="{FF2B5EF4-FFF2-40B4-BE49-F238E27FC236}">
                  <a16:creationId xmlns:a16="http://schemas.microsoft.com/office/drawing/2014/main" id="{B2CE041A-0B81-38BC-C83F-B8222A3EE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8422" y="4167194"/>
              <a:ext cx="725525" cy="144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9" name="Retângulo Arredondado 208">
            <a:extLst>
              <a:ext uri="{FF2B5EF4-FFF2-40B4-BE49-F238E27FC236}">
                <a16:creationId xmlns:a16="http://schemas.microsoft.com/office/drawing/2014/main" id="{4212B649-227A-0ADF-98C4-5FBD5C1AE4A4}"/>
              </a:ext>
            </a:extLst>
          </p:cNvPr>
          <p:cNvSpPr/>
          <p:nvPr/>
        </p:nvSpPr>
        <p:spPr>
          <a:xfrm>
            <a:off x="335281" y="4617839"/>
            <a:ext cx="11706837" cy="33050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i="1" dirty="0">
                <a:solidFill>
                  <a:schemeClr val="tx1"/>
                </a:solidFill>
                <a:latin typeface="Unilever Desire" pitchFamily="2" charset="77"/>
              </a:rPr>
              <a:t>Envio diário para a Unilever</a:t>
            </a:r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933CC672-8C19-74F0-76A2-E6E6BDA73958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>
              <a:latin typeface="Unilever Desire" pitchFamily="2" charset="77"/>
            </a:endParaRPr>
          </a:p>
        </p:txBody>
      </p:sp>
      <p:sp>
        <p:nvSpPr>
          <p:cNvPr id="211" name="Text Placeholder 37">
            <a:extLst>
              <a:ext uri="{FF2B5EF4-FFF2-40B4-BE49-F238E27FC236}">
                <a16:creationId xmlns:a16="http://schemas.microsoft.com/office/drawing/2014/main" id="{24D8033A-D3A9-7684-6876-74E9423D36FB}"/>
              </a:ext>
            </a:extLst>
          </p:cNvPr>
          <p:cNvSpPr txBox="1">
            <a:spLocks/>
          </p:cNvSpPr>
          <p:nvPr/>
        </p:nvSpPr>
        <p:spPr>
          <a:xfrm>
            <a:off x="522130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Unilever Desire" pitchFamily="2" charset="77"/>
              </a:rPr>
              <a:t>Fontes de dados</a:t>
            </a:r>
          </a:p>
        </p:txBody>
      </p:sp>
      <p:sp>
        <p:nvSpPr>
          <p:cNvPr id="212" name="Text Placeholder 37">
            <a:extLst>
              <a:ext uri="{FF2B5EF4-FFF2-40B4-BE49-F238E27FC236}">
                <a16:creationId xmlns:a16="http://schemas.microsoft.com/office/drawing/2014/main" id="{7ED58804-3CC7-5AA2-834F-8F79DA09597F}"/>
              </a:ext>
            </a:extLst>
          </p:cNvPr>
          <p:cNvSpPr txBox="1">
            <a:spLocks/>
          </p:cNvSpPr>
          <p:nvPr/>
        </p:nvSpPr>
        <p:spPr>
          <a:xfrm>
            <a:off x="3767563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Integração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3" name="Text Placeholder 37">
            <a:extLst>
              <a:ext uri="{FF2B5EF4-FFF2-40B4-BE49-F238E27FC236}">
                <a16:creationId xmlns:a16="http://schemas.microsoft.com/office/drawing/2014/main" id="{BF7B6FDB-1B79-D520-E81A-F763884F87F7}"/>
              </a:ext>
            </a:extLst>
          </p:cNvPr>
          <p:cNvSpPr txBox="1">
            <a:spLocks/>
          </p:cNvSpPr>
          <p:nvPr/>
        </p:nvSpPr>
        <p:spPr>
          <a:xfrm>
            <a:off x="7078478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Processamento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4" name="Text Placeholder 37">
            <a:extLst>
              <a:ext uri="{FF2B5EF4-FFF2-40B4-BE49-F238E27FC236}">
                <a16:creationId xmlns:a16="http://schemas.microsoft.com/office/drawing/2014/main" id="{B13BEF72-C750-7D9E-95C7-F99AEC33BA37}"/>
              </a:ext>
            </a:extLst>
          </p:cNvPr>
          <p:cNvSpPr txBox="1">
            <a:spLocks/>
          </p:cNvSpPr>
          <p:nvPr/>
        </p:nvSpPr>
        <p:spPr>
          <a:xfrm>
            <a:off x="10359812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Disponibilização</a:t>
            </a:r>
            <a:endParaRPr lang="en-US" sz="1400"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6339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A673-9FFC-6988-B23A-46639F5B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B057D8-59E5-24E8-AE0F-DEED78EA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62" y="1981381"/>
            <a:ext cx="7413391" cy="27289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AD MEDIA</a:t>
            </a:r>
            <a:br>
              <a:rPr lang="en-US" sz="4400" b="1">
                <a:solidFill>
                  <a:srgbClr val="FFFFFF"/>
                </a:solidFill>
                <a:latin typeface="Unilever Desire" pitchFamily="2" charset="77"/>
              </a:rPr>
            </a:b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PADRONIZAÇÃO DE PIS</a:t>
            </a:r>
            <a:br>
              <a:rPr lang="pt-BR" sz="4400" b="1">
                <a:solidFill>
                  <a:srgbClr val="FFFFFF"/>
                </a:solidFill>
                <a:latin typeface="Unilever Desire" pitchFamily="2" charset="77"/>
              </a:rPr>
            </a:br>
            <a:r>
              <a:rPr lang="pt-BR" sz="4400" b="1">
                <a:solidFill>
                  <a:srgbClr val="4F7FF2"/>
                </a:solidFill>
                <a:latin typeface="Unilever Desire" pitchFamily="2" charset="77"/>
              </a:rPr>
              <a:t>BOAS PRÁTICAS</a:t>
            </a:r>
            <a:endParaRPr lang="en-US" sz="1400" b="1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60BCB1-71D8-0850-029D-78EBE3DF9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Analytics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41F371-2522-998C-265A-4E15DFD011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do RROI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DAC110-B4F0-E54C-CB3F-E058F7D147F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390E8A-9B06-E28C-C405-850D65C0F1BC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4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AD17-0E66-0064-018D-6AAC8461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3A371675-6C38-FB75-E89C-6D98C441D260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79B419C-27A5-1557-CCA7-F0B28CF0E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34CCB39-2257-4A11-A54D-5FD7F25DFA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2FFBE8F-0A90-B9C9-563B-659ADFAD23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B439EB14-9B9A-AA64-E7F4-AC53F07F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31F861CF-BDF5-A6A0-F657-C8CA79A831F5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67CB1A-F4AF-4B1D-B5EC-F57990ECE90B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969980B-78D0-5A30-1EED-A147F6261B45}"/>
              </a:ext>
            </a:extLst>
          </p:cNvPr>
          <p:cNvGrpSpPr/>
          <p:nvPr/>
        </p:nvGrpSpPr>
        <p:grpSpPr>
          <a:xfrm>
            <a:off x="3903985" y="1327590"/>
            <a:ext cx="7835096" cy="4202821"/>
            <a:chOff x="3915559" y="1024359"/>
            <a:chExt cx="7835096" cy="4202821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151299F8-483D-7D59-0CC0-A09C8572ED6E}"/>
                </a:ext>
              </a:extLst>
            </p:cNvPr>
            <p:cNvSpPr/>
            <p:nvPr/>
          </p:nvSpPr>
          <p:spPr>
            <a:xfrm>
              <a:off x="3941180" y="1024359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D54FA610-F5BA-C3BD-1259-6A684CA5FC4E}"/>
                </a:ext>
              </a:extLst>
            </p:cNvPr>
            <p:cNvSpPr/>
            <p:nvPr/>
          </p:nvSpPr>
          <p:spPr>
            <a:xfrm>
              <a:off x="3915559" y="1024359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AB0A36FC-38BE-F7D7-FC2E-F5B6F178E17E}"/>
                </a:ext>
              </a:extLst>
            </p:cNvPr>
            <p:cNvSpPr/>
            <p:nvPr/>
          </p:nvSpPr>
          <p:spPr>
            <a:xfrm>
              <a:off x="4213764" y="110291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BRAND</a:t>
              </a: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10670DE8-D1BE-F56D-9A01-83F769FC7B64}"/>
                </a:ext>
              </a:extLst>
            </p:cNvPr>
            <p:cNvSpPr/>
            <p:nvPr/>
          </p:nvSpPr>
          <p:spPr>
            <a:xfrm>
              <a:off x="7043103" y="109033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Marca anunciante associada à veiculação offline (DE/PARA com base no Produto).  Regra para criação de produto no AD: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Marca/ Categoria/  Segmento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6FD47A87-FA94-C861-FE61-DB9E3C71DA2E}"/>
                </a:ext>
              </a:extLst>
            </p:cNvPr>
            <p:cNvSpPr/>
            <p:nvPr/>
          </p:nvSpPr>
          <p:spPr>
            <a:xfrm>
              <a:off x="3941180" y="1630820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5674C2D2-AE2E-2CC1-F416-0921DDD9AE3B}"/>
                </a:ext>
              </a:extLst>
            </p:cNvPr>
            <p:cNvSpPr/>
            <p:nvPr/>
          </p:nvSpPr>
          <p:spPr>
            <a:xfrm>
              <a:off x="3915559" y="1630820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776BC3C4-70D4-B0E8-E98F-4125C1B19020}"/>
                </a:ext>
              </a:extLst>
            </p:cNvPr>
            <p:cNvSpPr/>
            <p:nvPr/>
          </p:nvSpPr>
          <p:spPr>
            <a:xfrm>
              <a:off x="7043103" y="1696796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94FD9E0D-1CEC-9E78-2209-A0430280592C}"/>
                </a:ext>
              </a:extLst>
            </p:cNvPr>
            <p:cNvSpPr/>
            <p:nvPr/>
          </p:nvSpPr>
          <p:spPr>
            <a:xfrm>
              <a:off x="3941180" y="2241762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3F361B0D-0CDC-2129-E770-3F32AECD465A}"/>
                </a:ext>
              </a:extLst>
            </p:cNvPr>
            <p:cNvSpPr/>
            <p:nvPr/>
          </p:nvSpPr>
          <p:spPr>
            <a:xfrm>
              <a:off x="3915559" y="2241762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AA8C897A-F6DD-B156-4B39-7A459B5F4868}"/>
                </a:ext>
              </a:extLst>
            </p:cNvPr>
            <p:cNvSpPr/>
            <p:nvPr/>
          </p:nvSpPr>
          <p:spPr>
            <a:xfrm>
              <a:off x="3941180" y="2848223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E6DC9C90-BBD5-0D01-05F0-A9D7BF77FC8E}"/>
                </a:ext>
              </a:extLst>
            </p:cNvPr>
            <p:cNvSpPr/>
            <p:nvPr/>
          </p:nvSpPr>
          <p:spPr>
            <a:xfrm>
              <a:off x="3915559" y="2848223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BA17161D-E9C7-2A7A-34FB-D37ECEEDF6D7}"/>
                </a:ext>
              </a:extLst>
            </p:cNvPr>
            <p:cNvSpPr/>
            <p:nvPr/>
          </p:nvSpPr>
          <p:spPr>
            <a:xfrm>
              <a:off x="4208462" y="2934420"/>
              <a:ext cx="320060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CHANNEL_REPRESENTATIVE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E431FF54-7BB3-0B0B-41B1-07354B5ECBE2}"/>
                </a:ext>
              </a:extLst>
            </p:cNvPr>
            <p:cNvSpPr/>
            <p:nvPr/>
          </p:nvSpPr>
          <p:spPr>
            <a:xfrm>
              <a:off x="3915559" y="3512066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9D7753C3-593B-C57C-686A-6B738E71A57C}"/>
                </a:ext>
              </a:extLst>
            </p:cNvPr>
            <p:cNvSpPr/>
            <p:nvPr/>
          </p:nvSpPr>
          <p:spPr>
            <a:xfrm>
              <a:off x="3915560" y="3512066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D5832680-10DF-451E-1E10-0927F30F98F4}"/>
                </a:ext>
              </a:extLst>
            </p:cNvPr>
            <p:cNvSpPr/>
            <p:nvPr/>
          </p:nvSpPr>
          <p:spPr>
            <a:xfrm>
              <a:off x="4188143" y="359062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CREATIVE_LENGTH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97B06D4C-D502-3966-B3B4-0C52177DEAAE}"/>
                </a:ext>
              </a:extLst>
            </p:cNvPr>
            <p:cNvSpPr/>
            <p:nvPr/>
          </p:nvSpPr>
          <p:spPr>
            <a:xfrm>
              <a:off x="3915559" y="4118527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E4E66A00-5A94-3825-BBD0-475A00CC1BBC}"/>
                </a:ext>
              </a:extLst>
            </p:cNvPr>
            <p:cNvSpPr/>
            <p:nvPr/>
          </p:nvSpPr>
          <p:spPr>
            <a:xfrm>
              <a:off x="3915560" y="4118527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17E1AF6E-8685-7E1B-C91D-1218013D519B}"/>
                </a:ext>
              </a:extLst>
            </p:cNvPr>
            <p:cNvSpPr/>
            <p:nvPr/>
          </p:nvSpPr>
          <p:spPr>
            <a:xfrm>
              <a:off x="4188143" y="4197086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CREATIVE_TITLE</a:t>
              </a:r>
            </a:p>
          </p:txBody>
        </p:sp>
        <p:sp>
          <p:nvSpPr>
            <p:cNvPr id="64" name="Text 9">
              <a:extLst>
                <a:ext uri="{FF2B5EF4-FFF2-40B4-BE49-F238E27FC236}">
                  <a16:creationId xmlns:a16="http://schemas.microsoft.com/office/drawing/2014/main" id="{FFC5E3A6-92A8-888D-F86A-9F0D5D168D92}"/>
                </a:ext>
              </a:extLst>
            </p:cNvPr>
            <p:cNvSpPr/>
            <p:nvPr/>
          </p:nvSpPr>
          <p:spPr>
            <a:xfrm>
              <a:off x="7544415" y="4195579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Título, nome ou identificação do criativo/peça utilizada na veiculação.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A3F9BBED-4686-C99E-F80C-3B19DC65E1B4}"/>
                </a:ext>
              </a:extLst>
            </p:cNvPr>
            <p:cNvSpPr/>
            <p:nvPr/>
          </p:nvSpPr>
          <p:spPr>
            <a:xfrm>
              <a:off x="3915559" y="4729468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441EBCA9-CBAF-F099-EFF0-38626ACB8B54}"/>
                </a:ext>
              </a:extLst>
            </p:cNvPr>
            <p:cNvSpPr/>
            <p:nvPr/>
          </p:nvSpPr>
          <p:spPr>
            <a:xfrm>
              <a:off x="3915560" y="4729468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D161B2E2-3119-4F5E-38C8-11895FA307F1}"/>
                </a:ext>
              </a:extLst>
            </p:cNvPr>
            <p:cNvSpPr/>
            <p:nvPr/>
          </p:nvSpPr>
          <p:spPr>
            <a:xfrm>
              <a:off x="4188143" y="480802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900" b="1">
                  <a:solidFill>
                    <a:srgbClr val="4F7FF2"/>
                  </a:solidFill>
                  <a:latin typeface="Unilever Desire" pitchFamily="2" charset="77"/>
                </a:rPr>
                <a:t>DIVISION</a:t>
              </a:r>
              <a:endParaRPr lang="en-US" sz="19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24A43396-9FA8-5936-9A34-EC440A3D3344}"/>
                </a:ext>
              </a:extLst>
            </p:cNvPr>
            <p:cNvSpPr/>
            <p:nvPr/>
          </p:nvSpPr>
          <p:spPr>
            <a:xfrm>
              <a:off x="7017482" y="4795444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Divisão ou unidade de negócio da Unilever responsável pela marca/campanha. Ex. Home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Personal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</a:t>
              </a:r>
            </a:p>
          </p:txBody>
        </p:sp>
        <p:sp>
          <p:nvSpPr>
            <p:cNvPr id="3" name="Text 8">
              <a:extLst>
                <a:ext uri="{FF2B5EF4-FFF2-40B4-BE49-F238E27FC236}">
                  <a16:creationId xmlns:a16="http://schemas.microsoft.com/office/drawing/2014/main" id="{83D09CBF-FE7B-F646-C4DA-9A0DF04CDF80}"/>
                </a:ext>
              </a:extLst>
            </p:cNvPr>
            <p:cNvSpPr/>
            <p:nvPr/>
          </p:nvSpPr>
          <p:spPr>
            <a:xfrm>
              <a:off x="4182842" y="173795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CAMPAIGN_NAME</a:t>
              </a:r>
            </a:p>
          </p:txBody>
        </p:sp>
        <p:sp>
          <p:nvSpPr>
            <p:cNvPr id="4" name="Text 9">
              <a:extLst>
                <a:ext uri="{FF2B5EF4-FFF2-40B4-BE49-F238E27FC236}">
                  <a16:creationId xmlns:a16="http://schemas.microsoft.com/office/drawing/2014/main" id="{2596FCC1-D679-4AB9-E4A6-DC4BC0AE38E2}"/>
                </a:ext>
              </a:extLst>
            </p:cNvPr>
            <p:cNvSpPr/>
            <p:nvPr/>
          </p:nvSpPr>
          <p:spPr>
            <a:xfrm>
              <a:off x="7043103" y="1789469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Global da Campanha, composto por CN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Code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e Nome de Campanha.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CNCODE - Nome Global</a:t>
              </a:r>
            </a:p>
            <a:p>
              <a:endPara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8833204B-0102-8534-2119-F06C702D19B5}"/>
                </a:ext>
              </a:extLst>
            </p:cNvPr>
            <p:cNvSpPr/>
            <p:nvPr/>
          </p:nvSpPr>
          <p:spPr>
            <a:xfrm>
              <a:off x="4182842" y="230235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CHANNEL_NAME</a:t>
              </a:r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578648C5-EAB0-C142-DDFB-862FABF1B25A}"/>
                </a:ext>
              </a:extLst>
            </p:cNvPr>
            <p:cNvSpPr/>
            <p:nvPr/>
          </p:nvSpPr>
          <p:spPr>
            <a:xfrm>
              <a:off x="7068724" y="2321360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do veículo onde a mídia foi veiculada.</a:t>
              </a:r>
            </a:p>
          </p:txBody>
        </p:sp>
      </p:grpSp>
      <p:sp>
        <p:nvSpPr>
          <p:cNvPr id="11" name="Text 9">
            <a:extLst>
              <a:ext uri="{FF2B5EF4-FFF2-40B4-BE49-F238E27FC236}">
                <a16:creationId xmlns:a16="http://schemas.microsoft.com/office/drawing/2014/main" id="{DEAADE43-C5A8-F0D5-1E34-0FEBCA25F88F}"/>
              </a:ext>
            </a:extLst>
          </p:cNvPr>
          <p:cNvSpPr/>
          <p:nvPr/>
        </p:nvSpPr>
        <p:spPr>
          <a:xfrm>
            <a:off x="7467508" y="3246121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Representante comercial, grupo de mídia ou empresa responsável pela comercialização do canal/veículo informado na linha.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BB5E666-2F9C-F960-0A88-0BDF34123AB1}"/>
              </a:ext>
            </a:extLst>
          </p:cNvPr>
          <p:cNvSpPr/>
          <p:nvPr/>
        </p:nvSpPr>
        <p:spPr>
          <a:xfrm>
            <a:off x="7467507" y="3882480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Duração ou formato principal do criativo/inserção. Em TV pode indicar </a:t>
            </a:r>
            <a:r>
              <a:rPr lang="pt-BR" sz="100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secundagem</a:t>
            </a:r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; em outros meios pode indicar formatos como DOOH, Social, Compra Direta, jornais,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642611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A5D0-901E-86A5-FE13-B2E1A455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FACCE9D3-1F98-C3F6-0109-079BE4E7F7B7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52E96F5-8209-60E8-3089-5C6E133641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1F56D90-AEDB-264C-3BDD-3AF8270128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EBDC6B0-2C20-BEB1-5E22-6D7C628F5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5AFD6ECB-9217-EB39-A803-C967FDD309A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F3979428-3EA1-DB10-5826-5D71D1EB6134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7B99F2-AA4B-B62E-9B66-20F775AEFFE6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51B293BD-30DC-D26D-FCE1-8AACCFEE1A2E}"/>
              </a:ext>
            </a:extLst>
          </p:cNvPr>
          <p:cNvGrpSpPr/>
          <p:nvPr/>
        </p:nvGrpSpPr>
        <p:grpSpPr>
          <a:xfrm>
            <a:off x="3903985" y="1327590"/>
            <a:ext cx="7835096" cy="4202821"/>
            <a:chOff x="3915559" y="1024359"/>
            <a:chExt cx="7835096" cy="4202821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7DEC9C55-7B49-5940-8FB3-BE215879D19E}"/>
                </a:ext>
              </a:extLst>
            </p:cNvPr>
            <p:cNvSpPr/>
            <p:nvPr/>
          </p:nvSpPr>
          <p:spPr>
            <a:xfrm>
              <a:off x="3941180" y="1024359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9F36D2DF-5060-08FC-8BA2-C730E8839F7A}"/>
                </a:ext>
              </a:extLst>
            </p:cNvPr>
            <p:cNvSpPr/>
            <p:nvPr/>
          </p:nvSpPr>
          <p:spPr>
            <a:xfrm>
              <a:off x="3915559" y="1024359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A5DD0368-379C-1290-806D-5393C6CA4CCA}"/>
                </a:ext>
              </a:extLst>
            </p:cNvPr>
            <p:cNvSpPr/>
            <p:nvPr/>
          </p:nvSpPr>
          <p:spPr>
            <a:xfrm>
              <a:off x="4213764" y="110291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FLIGHT_INFO</a:t>
              </a: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DF06D940-BDAA-546A-A557-89E043700D0A}"/>
                </a:ext>
              </a:extLst>
            </p:cNvPr>
            <p:cNvSpPr/>
            <p:nvPr/>
          </p:nvSpPr>
          <p:spPr>
            <a:xfrm>
              <a:off x="7043103" y="109033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Informações complementares sobre o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flight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período, pacote ou janela de entrega da veiculação. Pode conter identificação do pacote comercial quando aplicável.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6D50BD91-7D18-6207-63E9-BA4F641042B7}"/>
                </a:ext>
              </a:extLst>
            </p:cNvPr>
            <p:cNvSpPr/>
            <p:nvPr/>
          </p:nvSpPr>
          <p:spPr>
            <a:xfrm>
              <a:off x="3941180" y="1630820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A52B2ED6-5A25-F5C2-EAB2-FBA021222DAD}"/>
                </a:ext>
              </a:extLst>
            </p:cNvPr>
            <p:cNvSpPr/>
            <p:nvPr/>
          </p:nvSpPr>
          <p:spPr>
            <a:xfrm>
              <a:off x="3915559" y="1630820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DCB0258C-4E18-D43E-BE03-7DC5E13CD038}"/>
                </a:ext>
              </a:extLst>
            </p:cNvPr>
            <p:cNvSpPr/>
            <p:nvPr/>
          </p:nvSpPr>
          <p:spPr>
            <a:xfrm>
              <a:off x="7043103" y="1696796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92F183D5-68AC-3859-AC59-098BA6F9E679}"/>
                </a:ext>
              </a:extLst>
            </p:cNvPr>
            <p:cNvSpPr/>
            <p:nvPr/>
          </p:nvSpPr>
          <p:spPr>
            <a:xfrm>
              <a:off x="3941180" y="2241762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8EE36DE4-CBF4-F08E-5B0C-FEA2CE0E44F2}"/>
                </a:ext>
              </a:extLst>
            </p:cNvPr>
            <p:cNvSpPr/>
            <p:nvPr/>
          </p:nvSpPr>
          <p:spPr>
            <a:xfrm>
              <a:off x="3915559" y="2241762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45030D8-829D-2CF4-09FB-E7C00D550C7E}"/>
                </a:ext>
              </a:extLst>
            </p:cNvPr>
            <p:cNvSpPr/>
            <p:nvPr/>
          </p:nvSpPr>
          <p:spPr>
            <a:xfrm>
              <a:off x="3941180" y="2848223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FE0D0E7D-3613-0800-927A-A91693E5B950}"/>
                </a:ext>
              </a:extLst>
            </p:cNvPr>
            <p:cNvSpPr/>
            <p:nvPr/>
          </p:nvSpPr>
          <p:spPr>
            <a:xfrm>
              <a:off x="3915559" y="2848223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D2EEBB8F-1D8C-B422-6259-FBE803146862}"/>
                </a:ext>
              </a:extLst>
            </p:cNvPr>
            <p:cNvSpPr/>
            <p:nvPr/>
          </p:nvSpPr>
          <p:spPr>
            <a:xfrm>
              <a:off x="4208462" y="2934420"/>
              <a:ext cx="320060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CHANNEL_REPRESENTATIVE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D304430E-07C4-10A4-A277-CD7B5550E516}"/>
                </a:ext>
              </a:extLst>
            </p:cNvPr>
            <p:cNvSpPr/>
            <p:nvPr/>
          </p:nvSpPr>
          <p:spPr>
            <a:xfrm>
              <a:off x="3915559" y="3512066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B42C1CAE-2E88-0F0C-7609-831767630F51}"/>
                </a:ext>
              </a:extLst>
            </p:cNvPr>
            <p:cNvSpPr/>
            <p:nvPr/>
          </p:nvSpPr>
          <p:spPr>
            <a:xfrm>
              <a:off x="3915560" y="3512066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F162975F-DA4A-1457-FD6F-D646AD6C520A}"/>
                </a:ext>
              </a:extLst>
            </p:cNvPr>
            <p:cNvSpPr/>
            <p:nvPr/>
          </p:nvSpPr>
          <p:spPr>
            <a:xfrm>
              <a:off x="4188143" y="359062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CREATIVE_LENGTH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96FF0CFC-C7DB-72DF-8923-AD9EFCE911E7}"/>
                </a:ext>
              </a:extLst>
            </p:cNvPr>
            <p:cNvSpPr/>
            <p:nvPr/>
          </p:nvSpPr>
          <p:spPr>
            <a:xfrm>
              <a:off x="3915559" y="4118527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25CA5B08-E18B-B0F0-0D28-288C83135519}"/>
                </a:ext>
              </a:extLst>
            </p:cNvPr>
            <p:cNvSpPr/>
            <p:nvPr/>
          </p:nvSpPr>
          <p:spPr>
            <a:xfrm>
              <a:off x="3915560" y="4118527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EBB2CFEB-6D57-66BB-8327-E8005C503CF2}"/>
                </a:ext>
              </a:extLst>
            </p:cNvPr>
            <p:cNvSpPr/>
            <p:nvPr/>
          </p:nvSpPr>
          <p:spPr>
            <a:xfrm>
              <a:off x="4188143" y="4197086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CREATIVE_TITLE</a:t>
              </a:r>
            </a:p>
          </p:txBody>
        </p:sp>
        <p:sp>
          <p:nvSpPr>
            <p:cNvPr id="64" name="Text 9">
              <a:extLst>
                <a:ext uri="{FF2B5EF4-FFF2-40B4-BE49-F238E27FC236}">
                  <a16:creationId xmlns:a16="http://schemas.microsoft.com/office/drawing/2014/main" id="{5BF12444-CF4C-50D9-9949-F75111624462}"/>
                </a:ext>
              </a:extLst>
            </p:cNvPr>
            <p:cNvSpPr/>
            <p:nvPr/>
          </p:nvSpPr>
          <p:spPr>
            <a:xfrm>
              <a:off x="7544415" y="4195579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Título, nome ou identificação do criativo/peça utilizada na veiculação.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FED43C66-7F39-03CD-3576-7921E3B4FBD5}"/>
                </a:ext>
              </a:extLst>
            </p:cNvPr>
            <p:cNvSpPr/>
            <p:nvPr/>
          </p:nvSpPr>
          <p:spPr>
            <a:xfrm>
              <a:off x="3915559" y="4729468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1C7E6E11-CD2D-6255-B409-05C76C36CF0B}"/>
                </a:ext>
              </a:extLst>
            </p:cNvPr>
            <p:cNvSpPr/>
            <p:nvPr/>
          </p:nvSpPr>
          <p:spPr>
            <a:xfrm>
              <a:off x="3915560" y="4729468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9019D257-87A8-2E5C-2E2E-64EFBFE993D0}"/>
                </a:ext>
              </a:extLst>
            </p:cNvPr>
            <p:cNvSpPr/>
            <p:nvPr/>
          </p:nvSpPr>
          <p:spPr>
            <a:xfrm>
              <a:off x="4188143" y="480802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900" b="1">
                  <a:solidFill>
                    <a:srgbClr val="4F7FF2"/>
                  </a:solidFill>
                  <a:latin typeface="Unilever Desire" pitchFamily="2" charset="77"/>
                </a:rPr>
                <a:t>DIVISION</a:t>
              </a:r>
              <a:endParaRPr lang="en-US" sz="19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032095BD-2A27-E238-CB31-92526E5311BC}"/>
                </a:ext>
              </a:extLst>
            </p:cNvPr>
            <p:cNvSpPr/>
            <p:nvPr/>
          </p:nvSpPr>
          <p:spPr>
            <a:xfrm>
              <a:off x="7017482" y="4795444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Divisão ou unidade de negócio da Unilever responsável pela marca/campanha. Ex. Home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Personal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</a:t>
              </a:r>
            </a:p>
          </p:txBody>
        </p:sp>
        <p:sp>
          <p:nvSpPr>
            <p:cNvPr id="3" name="Text 8">
              <a:extLst>
                <a:ext uri="{FF2B5EF4-FFF2-40B4-BE49-F238E27FC236}">
                  <a16:creationId xmlns:a16="http://schemas.microsoft.com/office/drawing/2014/main" id="{21170928-136F-BD7E-504A-B907DD657181}"/>
                </a:ext>
              </a:extLst>
            </p:cNvPr>
            <p:cNvSpPr/>
            <p:nvPr/>
          </p:nvSpPr>
          <p:spPr>
            <a:xfrm>
              <a:off x="4182842" y="173795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CAMPAIGN_NAME</a:t>
              </a:r>
            </a:p>
          </p:txBody>
        </p:sp>
        <p:sp>
          <p:nvSpPr>
            <p:cNvPr id="4" name="Text 9">
              <a:extLst>
                <a:ext uri="{FF2B5EF4-FFF2-40B4-BE49-F238E27FC236}">
                  <a16:creationId xmlns:a16="http://schemas.microsoft.com/office/drawing/2014/main" id="{391C29C4-DE03-FEDA-DE47-A2C7F91BA205}"/>
                </a:ext>
              </a:extLst>
            </p:cNvPr>
            <p:cNvSpPr/>
            <p:nvPr/>
          </p:nvSpPr>
          <p:spPr>
            <a:xfrm>
              <a:off x="7043103" y="1789469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Global da Campanha, composto por CN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Code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e Nome de Campanha.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CNCODE - Nome Global</a:t>
              </a:r>
            </a:p>
            <a:p>
              <a:endPara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019614BF-9CB2-61A6-8D7E-EB609D868861}"/>
                </a:ext>
              </a:extLst>
            </p:cNvPr>
            <p:cNvSpPr/>
            <p:nvPr/>
          </p:nvSpPr>
          <p:spPr>
            <a:xfrm>
              <a:off x="4182842" y="230235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CHANNEL_NAME</a:t>
              </a:r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BB3C73D-E11D-38A9-3CD3-0BAFCF945864}"/>
                </a:ext>
              </a:extLst>
            </p:cNvPr>
            <p:cNvSpPr/>
            <p:nvPr/>
          </p:nvSpPr>
          <p:spPr>
            <a:xfrm>
              <a:off x="7068724" y="2321360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do veículo onde a mídia foi veiculada.</a:t>
              </a:r>
            </a:p>
          </p:txBody>
        </p:sp>
      </p:grpSp>
      <p:sp>
        <p:nvSpPr>
          <p:cNvPr id="11" name="Text 9">
            <a:extLst>
              <a:ext uri="{FF2B5EF4-FFF2-40B4-BE49-F238E27FC236}">
                <a16:creationId xmlns:a16="http://schemas.microsoft.com/office/drawing/2014/main" id="{5F8B5B83-830D-FA57-6411-DE83223FBB60}"/>
              </a:ext>
            </a:extLst>
          </p:cNvPr>
          <p:cNvSpPr/>
          <p:nvPr/>
        </p:nvSpPr>
        <p:spPr>
          <a:xfrm>
            <a:off x="7467508" y="3246121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Representante comercial, grupo de mídia ou empresa responsável pela comercialização do canal/veículo informado na linha.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BC6105-9C4F-AD2D-6CE7-18A3B4BC2433}"/>
              </a:ext>
            </a:extLst>
          </p:cNvPr>
          <p:cNvSpPr/>
          <p:nvPr/>
        </p:nvSpPr>
        <p:spPr>
          <a:xfrm>
            <a:off x="7467507" y="3882480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Duração ou formato principal do criativo/inserção. Em TV pode indicar </a:t>
            </a:r>
            <a:r>
              <a:rPr lang="pt-BR" sz="100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secundagem</a:t>
            </a:r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; em outros meios pode indicar formatos como DOOH, Social, Compra Direta, jornais,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77772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FD49-9FCE-7E18-57FF-378F880E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C454653E-8B57-4753-6F2F-31E4B5A6EA81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2CF37D-D0A2-104B-D404-F790959F3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C629F7-5773-57EB-C47D-FF5702380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31F11E9C-DE4C-EA8C-4782-C006BE86CC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294FECA1-9567-FC53-D895-2A751DA843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1264840F-A043-4A13-F1A8-40C075A9533C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EC2C47-9320-3E8D-129C-E9E587D86278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B9A8DCC7-48D8-9613-A1AA-4B6CDAFDA45D}"/>
              </a:ext>
            </a:extLst>
          </p:cNvPr>
          <p:cNvSpPr txBox="1"/>
          <p:nvPr/>
        </p:nvSpPr>
        <p:spPr>
          <a:xfrm>
            <a:off x="12324396" y="1751553"/>
            <a:ext cx="713413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PERÍODO (CONCEITO DE COMPETÊNCIA)</a:t>
            </a: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pPr marL="285750" indent="-285750">
              <a:buFont typeface="+mj-lt"/>
              <a:buAutoNum type="romanUcPeriod"/>
            </a:pP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DATA INÍCIO</a:t>
            </a: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DATA FIM</a:t>
            </a:r>
          </a:p>
          <a:p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VEÍCULO: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O nome dos veículos são cadastrados através de pedidos dos mídias. Certificar se realmente é necessário um cadastro novo.</a:t>
            </a:r>
          </a:p>
          <a:p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REPRESENTANTE: 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Alguns veículos de OOH e TV possuem mais de um CNPJ, favor verificar qual será utilizado para que não haja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refações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Atenção para as veiculações que ocorrem via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Kinesso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 onde eles devem ser o representante (temos diversos casos onde os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PIs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 são criados para Google,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Amazon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,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etc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). Utilizar o campo COMPRA VIA para complementar a informação.</a:t>
            </a:r>
          </a:p>
          <a:p>
            <a:pPr marL="285750" indent="-285750">
              <a:buFont typeface="+mj-lt"/>
              <a:buAutoNum type="romanUcPeriod"/>
            </a:pP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endParaRPr lang="pt-BR" sz="1100" u="none">
              <a:solidFill>
                <a:srgbClr val="475569"/>
              </a:solidFill>
              <a:latin typeface="Unilever Desire" pitchFamily="2" charset="77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F4A48C8-D89B-0AE2-BCFC-E765ED25D8C6}"/>
              </a:ext>
            </a:extLst>
          </p:cNvPr>
          <p:cNvSpPr/>
          <p:nvPr/>
        </p:nvSpPr>
        <p:spPr>
          <a:xfrm>
            <a:off x="3929606" y="1327590"/>
            <a:ext cx="7720314" cy="1022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E3575E9-5ABF-5CF5-3F93-9E050463BBE7}"/>
              </a:ext>
            </a:extLst>
          </p:cNvPr>
          <p:cNvSpPr/>
          <p:nvPr/>
        </p:nvSpPr>
        <p:spPr>
          <a:xfrm>
            <a:off x="3903985" y="1327590"/>
            <a:ext cx="76622" cy="1022194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6C165964-045E-74B9-C080-CD5D119061B7}"/>
              </a:ext>
            </a:extLst>
          </p:cNvPr>
          <p:cNvSpPr/>
          <p:nvPr/>
        </p:nvSpPr>
        <p:spPr>
          <a:xfrm>
            <a:off x="4196889" y="165500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  <a:ea typeface="Aptos" pitchFamily="34" charset="-122"/>
                <a:cs typeface="Aptos" pitchFamily="34" charset="-120"/>
              </a:rPr>
              <a:t>VENCIMENTO</a:t>
            </a:r>
            <a:endParaRPr lang="en-US" sz="1400" i="1">
              <a:solidFill>
                <a:srgbClr val="4F7FF2"/>
              </a:solidFill>
              <a:latin typeface="Unilever Desire Light" pitchFamily="2" charset="77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D867766-3AEC-448C-461C-EC99C6BFD933}"/>
              </a:ext>
            </a:extLst>
          </p:cNvPr>
          <p:cNvSpPr/>
          <p:nvPr/>
        </p:nvSpPr>
        <p:spPr>
          <a:xfrm>
            <a:off x="7031529" y="16675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Prazos de faturamento: Respeitar os prazos de cada cliente, garantindo o recebimento antes do pagamento aos veículos. Negociar vencimentos de 30 a 60 dias (15 dias para TV aberta e Grupo Globo), com atenção aos novos veículos. Liberar os processos com 2 dias de antecedência para </a:t>
            </a:r>
            <a:r>
              <a:rPr lang="pt-BR" sz="60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Checking</a:t>
            </a:r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e Faturamento. Atrasos apenas em casos excepcionais.</a:t>
            </a:r>
          </a:p>
          <a:p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.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C517529-9573-55A4-06AC-E10B60BBA085}"/>
              </a:ext>
            </a:extLst>
          </p:cNvPr>
          <p:cNvSpPr/>
          <p:nvPr/>
        </p:nvSpPr>
        <p:spPr>
          <a:xfrm>
            <a:off x="3929606" y="2677199"/>
            <a:ext cx="7720314" cy="1051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8E6A735-1B40-0E2F-EA92-9A3180493C84}"/>
              </a:ext>
            </a:extLst>
          </p:cNvPr>
          <p:cNvSpPr/>
          <p:nvPr/>
        </p:nvSpPr>
        <p:spPr>
          <a:xfrm>
            <a:off x="3903984" y="2677199"/>
            <a:ext cx="76623" cy="1051334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9D69B61-A800-DBBE-CE45-147B3A74C491}"/>
              </a:ext>
            </a:extLst>
          </p:cNvPr>
          <p:cNvSpPr/>
          <p:nvPr/>
        </p:nvSpPr>
        <p:spPr>
          <a:xfrm>
            <a:off x="4196889" y="302355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  <a:ea typeface="Aptos" pitchFamily="34" charset="-122"/>
                <a:cs typeface="Aptos" pitchFamily="34" charset="-120"/>
              </a:rPr>
              <a:t>CONTRATO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584AFB04-813E-873A-D8DB-2CF4526D2009}"/>
              </a:ext>
            </a:extLst>
          </p:cNvPr>
          <p:cNvSpPr/>
          <p:nvPr/>
        </p:nvSpPr>
        <p:spPr>
          <a:xfrm>
            <a:off x="7031529" y="274317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pt-BR" sz="1600">
              <a:latin typeface="Unilever Desire Light" pitchFamily="2" charset="77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9946716-7949-3354-D71C-A08B8D8830CE}"/>
              </a:ext>
            </a:extLst>
          </p:cNvPr>
          <p:cNvSpPr/>
          <p:nvPr/>
        </p:nvSpPr>
        <p:spPr>
          <a:xfrm>
            <a:off x="3929606" y="4026808"/>
            <a:ext cx="7720314" cy="114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882FBF16-A71E-92DE-260C-C2E2A56487C3}"/>
              </a:ext>
            </a:extLst>
          </p:cNvPr>
          <p:cNvSpPr/>
          <p:nvPr/>
        </p:nvSpPr>
        <p:spPr>
          <a:xfrm>
            <a:off x="3903985" y="4026807"/>
            <a:ext cx="76622" cy="1145321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D8265A0E-F794-BEB7-CA30-C6EA8C92D539}"/>
              </a:ext>
            </a:extLst>
          </p:cNvPr>
          <p:cNvSpPr/>
          <p:nvPr/>
        </p:nvSpPr>
        <p:spPr>
          <a:xfrm>
            <a:off x="4196889" y="441658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4F7FF2"/>
                </a:solidFill>
                <a:latin typeface="Unilever Desire" pitchFamily="2" charset="77"/>
              </a:rPr>
              <a:t>STATUS DO PI</a:t>
            </a:r>
            <a:endParaRPr lang="en-US" sz="2200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A520A6FD-C6FD-76A6-C877-C50273E3D272}"/>
              </a:ext>
            </a:extLst>
          </p:cNvPr>
          <p:cNvSpPr/>
          <p:nvPr/>
        </p:nvSpPr>
        <p:spPr>
          <a:xfrm>
            <a:off x="7031529" y="4092784"/>
            <a:ext cx="4206240" cy="100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Converter todas as </a:t>
            </a:r>
            <a:r>
              <a:rPr lang="pt-BR" sz="60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MRs</a:t>
            </a:r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até dia 20, excluir </a:t>
            </a:r>
            <a:r>
              <a:rPr lang="pt-BR" sz="60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PIs</a:t>
            </a:r>
            <a:r>
              <a:rPr lang="pt-BR" sz="6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indevidos e emitir bonificações/reaplicações valoradas. Garantir status correto (Emitido, Liberado ou Não Faturável). Para digital, ajustar conforme nota até dia 05 do mês seguinte e liberar para faturamento.</a:t>
            </a: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E2610752-D141-3CF8-A141-E7D86C1D3B43}"/>
              </a:ext>
            </a:extLst>
          </p:cNvPr>
          <p:cNvSpPr/>
          <p:nvPr/>
        </p:nvSpPr>
        <p:spPr>
          <a:xfrm>
            <a:off x="7031529" y="3023551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600">
                <a:solidFill>
                  <a:srgbClr val="475569"/>
                </a:solidFill>
                <a:latin typeface="Unilever Desire Light" pitchFamily="2" charset="77"/>
              </a:rPr>
              <a:t>Responsável pelo fechamento do pacote deve ser da marca pagante (temos alguns casos em que várias marcas utilizam o mesmo pacote).</a:t>
            </a:r>
          </a:p>
          <a:p>
            <a:r>
              <a:rPr lang="pt-BR" sz="600">
                <a:solidFill>
                  <a:srgbClr val="475569"/>
                </a:solidFill>
                <a:latin typeface="Unilever Desire Light" pitchFamily="2" charset="77"/>
              </a:rPr>
              <a:t>Não esquecer de criar os </a:t>
            </a:r>
            <a:r>
              <a:rPr lang="pt-BR" sz="600" err="1">
                <a:solidFill>
                  <a:srgbClr val="475569"/>
                </a:solidFill>
                <a:latin typeface="Unilever Desire Light" pitchFamily="2" charset="77"/>
              </a:rPr>
              <a:t>PIs</a:t>
            </a:r>
            <a:r>
              <a:rPr lang="pt-BR" sz="600">
                <a:solidFill>
                  <a:srgbClr val="475569"/>
                </a:solidFill>
                <a:latin typeface="Unilever Desire Light" pitchFamily="2" charset="77"/>
              </a:rPr>
              <a:t> de utilização dos contratos conforme a veiculação</a:t>
            </a:r>
          </a:p>
        </p:txBody>
      </p:sp>
    </p:spTree>
    <p:extLst>
      <p:ext uri="{BB962C8B-B14F-4D97-AF65-F5344CB8AC3E}">
        <p14:creationId xmlns:p14="http://schemas.microsoft.com/office/powerpoint/2010/main" val="1713503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75E5-72B0-A9C8-29EB-9237A302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2126D1FA-52BC-1A67-F9F3-81EC671A4605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B72EDEB-EADA-A28F-D9B5-446F2BFDE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75E01E8-A14E-C03A-EDAF-D3B17E6578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FACD0CA-B5FB-15CF-3A54-F20B2DE74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3C482B0-7FE5-E3AE-8C56-069E9FAD5A9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9EE05DF6-601B-182A-4CC2-59DD698D4D5A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EDC407-8EFF-826E-726D-EE155B348370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E566EC8-CB31-3071-BB48-464EB4055807}"/>
              </a:ext>
            </a:extLst>
          </p:cNvPr>
          <p:cNvGrpSpPr/>
          <p:nvPr/>
        </p:nvGrpSpPr>
        <p:grpSpPr>
          <a:xfrm>
            <a:off x="3902749" y="954911"/>
            <a:ext cx="7745935" cy="1041845"/>
            <a:chOff x="3903985" y="1327590"/>
            <a:chExt cx="7745935" cy="1022194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CFAB4614-CCCC-06AD-017A-94162B24EBF9}"/>
                </a:ext>
              </a:extLst>
            </p:cNvPr>
            <p:cNvSpPr/>
            <p:nvPr/>
          </p:nvSpPr>
          <p:spPr>
            <a:xfrm>
              <a:off x="3929606" y="1327590"/>
              <a:ext cx="7720314" cy="10221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13B37C06-020D-4806-B6D5-7614969E1E6A}"/>
                </a:ext>
              </a:extLst>
            </p:cNvPr>
            <p:cNvSpPr/>
            <p:nvPr/>
          </p:nvSpPr>
          <p:spPr>
            <a:xfrm>
              <a:off x="3903985" y="1327590"/>
              <a:ext cx="76622" cy="102219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F3FA1383-6B8F-C004-FC6D-5A39C514DEB7}"/>
                </a:ext>
              </a:extLst>
            </p:cNvPr>
            <p:cNvSpPr/>
            <p:nvPr/>
          </p:nvSpPr>
          <p:spPr>
            <a:xfrm>
              <a:off x="4196889" y="165500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4F7FF2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DADOS AP</a:t>
              </a:r>
              <a:endParaRPr lang="en-US" sz="1400" i="1">
                <a:solidFill>
                  <a:srgbClr val="4F7FF2"/>
                </a:solidFill>
                <a:latin typeface="Unilever Desire Light" pitchFamily="2" charset="77"/>
              </a:endParaRP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82CB4993-325B-E7C2-6601-594035BDAEB5}"/>
                </a:ext>
              </a:extLst>
            </p:cNvPr>
            <p:cNvSpPr/>
            <p:nvPr/>
          </p:nvSpPr>
          <p:spPr>
            <a:xfrm>
              <a:off x="7031529" y="1791812"/>
              <a:ext cx="445781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>
                  <a:latin typeface="Unilever Desire Light" pitchFamily="2" charset="77"/>
                </a:rPr>
                <a:t>AGÊNCIA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>
                  <a:latin typeface="Unilever Desire Light" pitchFamily="2" charset="77"/>
                </a:rPr>
                <a:t>PERÍODO - 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competência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>
                  <a:latin typeface="Unilever Desire Light" pitchFamily="2" charset="77"/>
                </a:rPr>
                <a:t>PRODUTO - 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toda a organização do AD é feita pelo nome do produto. Não há cadastro de marcas e grupos de trabalho. Certifique que um cadastro novo de produto seja identificável por várias pessoas. O cadastro é feito primeiro no SAP e depois ele é criado no AD.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>
                  <a:latin typeface="Unilever Desire Light" pitchFamily="2" charset="77"/>
                </a:rPr>
                <a:t>CAMPANHA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  - Precisa seguir política de taxonomia do cliente (principalmente Unilever)</a:t>
              </a:r>
            </a:p>
            <a:p>
              <a:r>
                <a:rPr lang="pt-BR" sz="8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.</a:t>
              </a:r>
            </a:p>
            <a:p>
              <a:r>
                <a:rPr lang="pt-BR" sz="8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.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428B314-DC91-8FEB-54AA-879C90B9949D}"/>
              </a:ext>
            </a:extLst>
          </p:cNvPr>
          <p:cNvGrpSpPr/>
          <p:nvPr/>
        </p:nvGrpSpPr>
        <p:grpSpPr>
          <a:xfrm>
            <a:off x="3902749" y="3651763"/>
            <a:ext cx="7745935" cy="1167340"/>
            <a:chOff x="3903985" y="4026807"/>
            <a:chExt cx="7745935" cy="1145323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39F769EE-C2A5-89D7-BAD2-B45343CAC6CD}"/>
                </a:ext>
              </a:extLst>
            </p:cNvPr>
            <p:cNvSpPr/>
            <p:nvPr/>
          </p:nvSpPr>
          <p:spPr>
            <a:xfrm>
              <a:off x="3929606" y="4026808"/>
              <a:ext cx="7720314" cy="11453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EB04B499-07C4-ABB2-2ACF-7D4CBEA7E7E5}"/>
                </a:ext>
              </a:extLst>
            </p:cNvPr>
            <p:cNvSpPr/>
            <p:nvPr/>
          </p:nvSpPr>
          <p:spPr>
            <a:xfrm>
              <a:off x="3903985" y="4026807"/>
              <a:ext cx="76622" cy="1145321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9AF83178-90C0-B518-031F-44762E468F79}"/>
                </a:ext>
              </a:extLst>
            </p:cNvPr>
            <p:cNvSpPr/>
            <p:nvPr/>
          </p:nvSpPr>
          <p:spPr>
            <a:xfrm>
              <a:off x="7031529" y="4092784"/>
              <a:ext cx="4206240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Compensações/falhas, devem ser refletidas no PI e informados no campo de Observação no caso de Pis já faturados. </a:t>
              </a:r>
            </a:p>
            <a:p>
              <a:pPr marL="285750" lvl="1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Se o PI ainda não estiver faturado, não é necessário constar na observação. O ajuste deve ser realizado direto no PI como compensação normal.</a:t>
              </a:r>
            </a:p>
            <a:p>
              <a:pPr marL="285750" lvl="1" indent="-285750">
                <a:lnSpc>
                  <a:spcPct val="115000"/>
                </a:lnSpc>
                <a:buFont typeface="+mj-lt"/>
                <a:buAutoNum type="romanUcPeriod"/>
              </a:pPr>
              <a:endParaRPr lang="pt-BR" sz="800" dirty="0">
                <a:solidFill>
                  <a:srgbClr val="475569"/>
                </a:solidFill>
                <a:latin typeface="Unilever Desire Light" pitchFamily="2" charset="77"/>
              </a:endParaRPr>
            </a:p>
            <a:p>
              <a:pPr marL="0" lvl="1">
                <a:lnSpc>
                  <a:spcPct val="115000"/>
                </a:lnSpc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Nos casos de </a:t>
              </a:r>
              <a:r>
                <a:rPr lang="pt-BR" sz="800" dirty="0" err="1">
                  <a:solidFill>
                    <a:srgbClr val="475569"/>
                  </a:solidFill>
                  <a:latin typeface="Unilever Desire Light" pitchFamily="2" charset="77"/>
                </a:rPr>
                <a:t>PIs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 faturados por antecipação para TV e qualquer outro meio, devemos utilizar o DE/PARA.</a:t>
              </a:r>
            </a:p>
            <a:p>
              <a:pPr marL="685800" lvl="1" indent="-228600">
                <a:buFont typeface="+mj-lt"/>
                <a:buAutoNum type="alphaLcParenR"/>
              </a:pPr>
              <a:endParaRPr lang="pt-BR" sz="800" dirty="0">
                <a:solidFill>
                  <a:srgbClr val="475569"/>
                </a:solidFill>
                <a:latin typeface="Unilever Desire Light" pitchFamily="2" charset="77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4C1FC24-ECBD-69FD-D2AF-17CF0BBEED0C}"/>
              </a:ext>
            </a:extLst>
          </p:cNvPr>
          <p:cNvGrpSpPr/>
          <p:nvPr/>
        </p:nvGrpSpPr>
        <p:grpSpPr>
          <a:xfrm>
            <a:off x="3902748" y="2303961"/>
            <a:ext cx="7745936" cy="1071544"/>
            <a:chOff x="3903984" y="2677199"/>
            <a:chExt cx="7745936" cy="1051334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8E3E7B9D-63F1-74CD-DA23-B57C5B0173D0}"/>
                </a:ext>
              </a:extLst>
            </p:cNvPr>
            <p:cNvSpPr/>
            <p:nvPr/>
          </p:nvSpPr>
          <p:spPr>
            <a:xfrm>
              <a:off x="3929606" y="2677199"/>
              <a:ext cx="7720314" cy="10513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81D14B34-1F49-1083-7BAC-4677988AF0A5}"/>
                </a:ext>
              </a:extLst>
            </p:cNvPr>
            <p:cNvSpPr/>
            <p:nvPr/>
          </p:nvSpPr>
          <p:spPr>
            <a:xfrm>
              <a:off x="3903984" y="2677199"/>
              <a:ext cx="76623" cy="105133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DC4CAD3C-6D33-C96A-2636-CF225B7D0585}"/>
                </a:ext>
              </a:extLst>
            </p:cNvPr>
            <p:cNvSpPr/>
            <p:nvPr/>
          </p:nvSpPr>
          <p:spPr>
            <a:xfrm>
              <a:off x="4196889" y="3023551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4F7FF2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PO</a:t>
              </a:r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8C28434E-D257-7A57-4D36-6F104FCF8474}"/>
                </a:ext>
              </a:extLst>
            </p:cNvPr>
            <p:cNvSpPr/>
            <p:nvPr/>
          </p:nvSpPr>
          <p:spPr>
            <a:xfrm>
              <a:off x="7031529" y="274317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2" name="Text 9">
              <a:extLst>
                <a:ext uri="{FF2B5EF4-FFF2-40B4-BE49-F238E27FC236}">
                  <a16:creationId xmlns:a16="http://schemas.microsoft.com/office/drawing/2014/main" id="{1ABF3A4F-0265-4238-0B29-0BE6BE74583F}"/>
                </a:ext>
              </a:extLst>
            </p:cNvPr>
            <p:cNvSpPr/>
            <p:nvPr/>
          </p:nvSpPr>
          <p:spPr>
            <a:xfrm>
              <a:off x="7031529" y="3023551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 fictícias não serão faturadas. Garantir que a PO chegue a tempo para o time de </a:t>
              </a: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Controller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 ou Operações alterar antes do processo de faturamento.</a:t>
              </a:r>
            </a:p>
            <a:p>
              <a:pPr>
                <a:lnSpc>
                  <a:spcPct val="115000"/>
                </a:lnSpc>
              </a:pPr>
              <a:endParaRPr lang="pt-BR" sz="800">
                <a:solidFill>
                  <a:srgbClr val="475569"/>
                </a:solidFill>
                <a:latin typeface="Unilever Desire Light" pitchFamily="2" charset="77"/>
              </a:endParaRPr>
            </a:p>
            <a:p>
              <a:pPr>
                <a:lnSpc>
                  <a:spcPct val="115000"/>
                </a:lnSpc>
              </a:pP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Não é permitido ter 1 PI atrelado a 2 </a:t>
              </a: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. 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ACF285-0C4A-F336-EF1C-3E22BDE46375}"/>
              </a:ext>
            </a:extLst>
          </p:cNvPr>
          <p:cNvGrpSpPr/>
          <p:nvPr/>
        </p:nvGrpSpPr>
        <p:grpSpPr>
          <a:xfrm>
            <a:off x="3902748" y="5095358"/>
            <a:ext cx="7745935" cy="1167340"/>
            <a:chOff x="3903985" y="4026807"/>
            <a:chExt cx="7745935" cy="1145323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7DEA402-6023-CAAA-0BFB-5A251AB85685}"/>
                </a:ext>
              </a:extLst>
            </p:cNvPr>
            <p:cNvSpPr/>
            <p:nvPr/>
          </p:nvSpPr>
          <p:spPr>
            <a:xfrm>
              <a:off x="3929606" y="4026808"/>
              <a:ext cx="7720314" cy="11453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11D587A-BBB4-A5EA-103D-21C922CD3E10}"/>
                </a:ext>
              </a:extLst>
            </p:cNvPr>
            <p:cNvSpPr/>
            <p:nvPr/>
          </p:nvSpPr>
          <p:spPr>
            <a:xfrm>
              <a:off x="3903985" y="4026807"/>
              <a:ext cx="76622" cy="1145321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50860E40-41E1-7B3E-8237-6ADBACAEAD18}"/>
                </a:ext>
              </a:extLst>
            </p:cNvPr>
            <p:cNvSpPr/>
            <p:nvPr/>
          </p:nvSpPr>
          <p:spPr>
            <a:xfrm>
              <a:off x="4196889" y="441658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4F7FF2"/>
                  </a:solidFill>
                  <a:latin typeface="Unilever Desire" pitchFamily="2" charset="77"/>
                </a:rPr>
                <a:t>PRODUÇÃO SAP</a:t>
              </a:r>
              <a:endParaRPr lang="en-US" sz="22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7B42966E-A401-927D-0950-E9D1F224443C}"/>
                </a:ext>
              </a:extLst>
            </p:cNvPr>
            <p:cNvSpPr/>
            <p:nvPr/>
          </p:nvSpPr>
          <p:spPr>
            <a:xfrm>
              <a:off x="7031529" y="4092784"/>
              <a:ext cx="4206240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O processo é feito via Skills</a:t>
              </a:r>
            </a:p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Peçam </a:t>
              </a:r>
              <a:r>
                <a:rPr lang="pt-BR" sz="800" dirty="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 separadas para Produção e mídia.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1D1046C-F6A3-64EB-C93D-4DEDE5F26DAE}"/>
              </a:ext>
            </a:extLst>
          </p:cNvPr>
          <p:cNvSpPr txBox="1"/>
          <p:nvPr/>
        </p:nvSpPr>
        <p:spPr>
          <a:xfrm>
            <a:off x="4126104" y="3815242"/>
            <a:ext cx="2750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</a:rPr>
              <a:t>FALHAS E </a:t>
            </a:r>
          </a:p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</a:rPr>
              <a:t>COMPENSAÇÕES</a:t>
            </a:r>
            <a:endParaRPr lang="en-US" sz="2400">
              <a:solidFill>
                <a:srgbClr val="4F7FF2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834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605D-5832-1F30-9586-B54C4980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483523A-080A-5376-CE25-92305FD75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119A08C-9766-FCC1-B207-B9D7EAA85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494905E-4634-665C-F53F-35D5C3FBE4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55E65A56-3220-5255-032A-EFF7FB44CA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AD255658-A85A-4CDE-3D47-B72FAA2570B0}"/>
              </a:ext>
            </a:extLst>
          </p:cNvPr>
          <p:cNvSpPr txBox="1"/>
          <p:nvPr/>
        </p:nvSpPr>
        <p:spPr>
          <a:xfrm>
            <a:off x="3575964" y="790696"/>
            <a:ext cx="5384724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4400" b="1">
                <a:solidFill>
                  <a:srgbClr val="4F7FF2"/>
                </a:solidFill>
                <a:latin typeface="Unilever Desire Light" pitchFamily="2" charset="77"/>
              </a:rPr>
              <a:t>IMPORTANTE</a:t>
            </a:r>
            <a:endParaRPr lang="pt-BR" sz="6600" b="1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14585C-21DF-01BE-F410-AF69FAE455F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E82AA8B-258E-243D-29E5-5DF9C23B91E3}"/>
              </a:ext>
            </a:extLst>
          </p:cNvPr>
          <p:cNvGrpSpPr/>
          <p:nvPr/>
        </p:nvGrpSpPr>
        <p:grpSpPr>
          <a:xfrm>
            <a:off x="283952" y="1788016"/>
            <a:ext cx="11518582" cy="3346692"/>
            <a:chOff x="3929605" y="3343478"/>
            <a:chExt cx="9576593" cy="3283570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32D40F90-2257-4DB8-48A6-8198EB62701A}"/>
                </a:ext>
              </a:extLst>
            </p:cNvPr>
            <p:cNvSpPr/>
            <p:nvPr/>
          </p:nvSpPr>
          <p:spPr>
            <a:xfrm>
              <a:off x="3929605" y="3343478"/>
              <a:ext cx="9576593" cy="32835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20A3AF9C-521A-9940-45D4-EEDF3F970D69}"/>
                </a:ext>
              </a:extLst>
            </p:cNvPr>
            <p:cNvSpPr/>
            <p:nvPr/>
          </p:nvSpPr>
          <p:spPr>
            <a:xfrm>
              <a:off x="6137762" y="4450580"/>
              <a:ext cx="5852289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Unilever Desire" pitchFamily="2" charset="77"/>
                </a:rPr>
                <a:t>Cadastro de Nome de Campanhas no AD </a:t>
              </a:r>
            </a:p>
            <a:p>
              <a:pPr algn="ctr"/>
              <a:endParaRPr lang="pt-BR" sz="2400" b="1">
                <a:solidFill>
                  <a:schemeClr val="bg1"/>
                </a:solidFill>
                <a:latin typeface="Unilever Desire" pitchFamily="2" charset="77"/>
              </a:endParaRPr>
            </a:p>
            <a:p>
              <a:pPr algn="ctr"/>
              <a:r>
                <a:rPr lang="pt-BR" sz="2400" b="1">
                  <a:solidFill>
                    <a:srgbClr val="4F7FF2"/>
                  </a:solidFill>
                  <a:latin typeface="Unilever Desire" pitchFamily="2" charset="77"/>
                </a:rPr>
                <a:t>CNCODE + Nome Global</a:t>
              </a:r>
            </a:p>
            <a:p>
              <a:pPr algn="ctr"/>
              <a:endParaRPr lang="pt-BR" sz="2400" b="1">
                <a:solidFill>
                  <a:schemeClr val="bg1"/>
                </a:solidFill>
                <a:latin typeface="Unilever Desire" pitchFamily="2" charset="77"/>
              </a:endParaRPr>
            </a:p>
            <a:p>
              <a:pPr algn="ctr"/>
              <a:r>
                <a:rPr lang="pt-BR" sz="2400" b="1">
                  <a:solidFill>
                    <a:schemeClr val="bg1"/>
                  </a:solidFill>
                  <a:latin typeface="Unilever Desire" pitchFamily="2" charset="77"/>
                </a:rPr>
                <a:t>Ex.1 CN009517-CAMPANHA ATLAS (OMO)</a:t>
              </a:r>
            </a:p>
            <a:p>
              <a:pPr algn="ctr"/>
              <a:r>
                <a:rPr lang="pt-BR" sz="2400" b="1">
                  <a:solidFill>
                    <a:schemeClr val="bg1"/>
                  </a:solidFill>
                  <a:latin typeface="Unilever Desire" pitchFamily="2" charset="77"/>
                </a:rPr>
                <a:t>Ex.2 CN006298-ETHEREAL</a:t>
              </a:r>
            </a:p>
            <a:p>
              <a:pPr lvl="1"/>
              <a:endParaRPr lang="pt-BR" sz="700" b="1" i="1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937D85D6-1702-F874-0CA8-C6B5EC6F535B}"/>
              </a:ext>
            </a:extLst>
          </p:cNvPr>
          <p:cNvSpPr txBox="1"/>
          <p:nvPr/>
        </p:nvSpPr>
        <p:spPr>
          <a:xfrm>
            <a:off x="2505112" y="5423484"/>
            <a:ext cx="7908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000" b="1" i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Semi Bold" pitchFamily="2" charset="77"/>
              </a:rPr>
              <a:t>O CNCODE É A CHAVE DE RASTREABILIDADE DA CAMPANHA</a:t>
            </a:r>
            <a:r>
              <a:rPr lang="pt-BR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Unilever Desire Semi Bold" pitchFamily="2" charset="77"/>
              </a:rPr>
              <a:t> EM TODAS AS FRENTES: CAMPHOUSE, AD, TAXONOMIA.</a:t>
            </a:r>
            <a:endParaRPr lang="pt-BR" sz="3600" b="1" i="1">
              <a:solidFill>
                <a:schemeClr val="tx1">
                  <a:lumMod val="85000"/>
                  <a:lumOff val="15000"/>
                </a:schemeClr>
              </a:solidFill>
              <a:latin typeface="Unilever Desire Semi 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31947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BA70C6-18D0-8093-4BAB-DB7E9E50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691F69-C856-84CB-D4FD-A181B45C5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Analytics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B8C6F0D-F000-AF28-D160-48F936FE5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do RROI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BB40B0-A123-D48D-CE9E-F55B9B9ACE7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A6CB72-9FE9-FE26-81A4-A58112B516B2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7C59710B-DA5A-45A8-383C-6DFBBB11A218}"/>
              </a:ext>
            </a:extLst>
          </p:cNvPr>
          <p:cNvSpPr txBox="1">
            <a:spLocks/>
          </p:cNvSpPr>
          <p:nvPr/>
        </p:nvSpPr>
        <p:spPr>
          <a:xfrm>
            <a:off x="1564910" y="2639494"/>
            <a:ext cx="7413391" cy="1579013"/>
          </a:xfrm>
        </p:spPr>
        <p:txBody>
          <a:bodyPr tIns="137160" anchor="t"/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AD MEDIA</a:t>
            </a:r>
            <a:br>
              <a:rPr lang="en-US" sz="4400" b="1">
                <a:solidFill>
                  <a:srgbClr val="FFFFFF"/>
                </a:solidFill>
                <a:latin typeface="Unilever Desire" pitchFamily="2" charset="77"/>
              </a:rPr>
            </a:b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CRIAÇÃO DE PIS</a:t>
            </a:r>
            <a:endParaRPr lang="en-US" sz="1400" b="1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2257D5A-6374-441E-C2EA-82253C900A40}"/>
              </a:ext>
            </a:extLst>
          </p:cNvPr>
          <p:cNvSpPr/>
          <p:nvPr/>
        </p:nvSpPr>
        <p:spPr>
          <a:xfrm>
            <a:off x="2125663" y="505382"/>
            <a:ext cx="3799523" cy="157901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excluir</a:t>
            </a:r>
          </a:p>
        </p:txBody>
      </p:sp>
    </p:spTree>
    <p:extLst>
      <p:ext uri="{BB962C8B-B14F-4D97-AF65-F5344CB8AC3E}">
        <p14:creationId xmlns:p14="http://schemas.microsoft.com/office/powerpoint/2010/main" val="190902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7A1779-9DFD-8C7B-2479-B64342DD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7273FD63-F4A7-67F1-B19D-100A6B8E0395}"/>
              </a:ext>
            </a:extLst>
          </p:cNvPr>
          <p:cNvSpPr/>
          <p:nvPr/>
        </p:nvSpPr>
        <p:spPr>
          <a:xfrm>
            <a:off x="179408" y="839164"/>
            <a:ext cx="11674455" cy="5913327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5E55840-8C11-8802-E7AD-4D5F994088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B6FFDE9-14FC-0183-D088-7B57BF013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B77AC3D-FB9D-8664-C6AD-96C8B9525C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97190C2F-2790-EEE7-27D8-45659EB70FD7}"/>
              </a:ext>
            </a:extLst>
          </p:cNvPr>
          <p:cNvSpPr txBox="1"/>
          <p:nvPr/>
        </p:nvSpPr>
        <p:spPr>
          <a:xfrm>
            <a:off x="477633" y="1015939"/>
            <a:ext cx="336302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CRIAÇÃO DE PI’S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33AD90-8A0F-5AAE-D11F-12B2F134C4CB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E475F02-5737-1949-E7CA-76534D138E54}"/>
              </a:ext>
            </a:extLst>
          </p:cNvPr>
          <p:cNvGrpSpPr/>
          <p:nvPr/>
        </p:nvGrpSpPr>
        <p:grpSpPr>
          <a:xfrm>
            <a:off x="409100" y="1584404"/>
            <a:ext cx="5119504" cy="3775388"/>
            <a:chOff x="3903985" y="1327590"/>
            <a:chExt cx="7745935" cy="1022194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8BB30EE1-6BC9-0299-B525-876A46E98F98}"/>
                </a:ext>
              </a:extLst>
            </p:cNvPr>
            <p:cNvSpPr/>
            <p:nvPr/>
          </p:nvSpPr>
          <p:spPr>
            <a:xfrm>
              <a:off x="3929606" y="1327590"/>
              <a:ext cx="7720314" cy="10221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5B121B3E-E701-CE31-6B1C-DD8D0E204283}"/>
                </a:ext>
              </a:extLst>
            </p:cNvPr>
            <p:cNvSpPr/>
            <p:nvPr/>
          </p:nvSpPr>
          <p:spPr>
            <a:xfrm>
              <a:off x="3903985" y="1327590"/>
              <a:ext cx="76622" cy="102219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00924467-E119-98F4-D5D7-D18BCD556D31}"/>
                </a:ext>
              </a:extLst>
            </p:cNvPr>
            <p:cNvSpPr/>
            <p:nvPr/>
          </p:nvSpPr>
          <p:spPr>
            <a:xfrm>
              <a:off x="4328137" y="1696202"/>
              <a:ext cx="68407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lvl="0">
                <a:lnSpc>
                  <a:spcPct val="115000"/>
                </a:lnSpc>
              </a:pPr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OBRIGATÓRIO: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Peça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Formato (se faltar algum formato pedir para o suporte)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Título (TV, se não tiver o </a:t>
              </a:r>
              <a:r>
                <a:rPr lang="pt-BR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checking</a:t>
              </a: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 não pode ser feito)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Mneumônico</a:t>
              </a: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 oficial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Tipo de negociação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Nome da campanha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endParaRPr lang="pt-BR" sz="1200" b="1">
                <a:solidFill>
                  <a:srgbClr val="475569"/>
                </a:solidFill>
                <a:latin typeface="Unilever Desire" pitchFamily="2" charset="77"/>
              </a:endParaRPr>
            </a:p>
            <a:p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PONTOS DE ATENÇÃO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Não pode ter MR depois do dia 20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Não criar </a:t>
              </a:r>
              <a:r>
                <a:rPr lang="pt-BR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PI’s</a:t>
              </a: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 com valores em centavos;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Nao</a:t>
              </a: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 criar o PI com outra natureza</a:t>
              </a:r>
            </a:p>
            <a:p>
              <a:endParaRPr lang="pt-BR" sz="1200" b="1">
                <a:latin typeface="Unilever Desire" pitchFamily="2" charset="77"/>
              </a:endParaRPr>
            </a:p>
            <a:p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CAMPO DE OBSERVAÇÃO AP/PI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latin typeface="Unilever Desire Light" pitchFamily="2" charset="77"/>
                </a:rPr>
                <a:t>Casos de </a:t>
              </a:r>
              <a:r>
                <a:rPr lang="pt-BR" sz="1200" err="1">
                  <a:latin typeface="Unilever Desire Light" pitchFamily="2" charset="77"/>
                </a:rPr>
                <a:t>pagto</a:t>
              </a:r>
              <a:r>
                <a:rPr lang="pt-BR" sz="1200">
                  <a:latin typeface="Unilever Desire Light" pitchFamily="2" charset="77"/>
                </a:rPr>
                <a:t> antecipado: período, programa, evento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latin typeface="Unilever Desire Light" pitchFamily="2" charset="77"/>
                </a:rPr>
                <a:t>Reaplicação/Bonificação: origem dessa reaplicação ou Bonificação</a:t>
              </a:r>
            </a:p>
            <a:p>
              <a:pPr marL="228600" indent="-228600">
                <a:buFont typeface="+mj-lt"/>
                <a:buAutoNum type="alphaLcParenR"/>
              </a:pPr>
              <a:endParaRPr lang="pt-BR" sz="1200" b="1">
                <a:latin typeface="Unilever Desire" pitchFamily="2" charset="77"/>
              </a:endParaRP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endParaRPr lang="pt-BR" sz="12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4B2E465-5FBC-FD35-FB44-F8E9690744FF}"/>
              </a:ext>
            </a:extLst>
          </p:cNvPr>
          <p:cNvGrpSpPr/>
          <p:nvPr/>
        </p:nvGrpSpPr>
        <p:grpSpPr>
          <a:xfrm>
            <a:off x="6016635" y="1584404"/>
            <a:ext cx="5119504" cy="3775388"/>
            <a:chOff x="3903985" y="1327590"/>
            <a:chExt cx="7745935" cy="102219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255454C-4525-5CE7-0BAC-8BBFF878A577}"/>
                </a:ext>
              </a:extLst>
            </p:cNvPr>
            <p:cNvSpPr/>
            <p:nvPr/>
          </p:nvSpPr>
          <p:spPr>
            <a:xfrm>
              <a:off x="3929606" y="1327590"/>
              <a:ext cx="7720314" cy="10221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82B6055-E398-9261-ED1C-E2C9EC3B76C9}"/>
                </a:ext>
              </a:extLst>
            </p:cNvPr>
            <p:cNvSpPr/>
            <p:nvPr/>
          </p:nvSpPr>
          <p:spPr>
            <a:xfrm>
              <a:off x="3903985" y="1327590"/>
              <a:ext cx="76622" cy="102219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96B5EF0A-532B-7E57-66A4-1EB21976D6AB}"/>
                </a:ext>
              </a:extLst>
            </p:cNvPr>
            <p:cNvSpPr/>
            <p:nvPr/>
          </p:nvSpPr>
          <p:spPr>
            <a:xfrm>
              <a:off x="4328137" y="1696202"/>
              <a:ext cx="68407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lvl="0">
                <a:lnSpc>
                  <a:spcPct val="115000"/>
                </a:lnSpc>
              </a:pPr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OBRIGATÓRIO: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Peça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Formato (se faltar algum formato pedir para o suporte)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Título (Geralmente nome da campanha)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Portal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Canal/Posição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Tipo de negociação</a:t>
              </a:r>
            </a:p>
            <a:p>
              <a:pPr marL="228600" indent="-228600">
                <a:buFont typeface="+mj-lt"/>
                <a:buAutoNum type="alphaLcParenR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Nome da campanha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endParaRPr lang="pt-BR" sz="1200" b="1">
                <a:solidFill>
                  <a:srgbClr val="475569"/>
                </a:solidFill>
                <a:latin typeface="Unilever Desire" pitchFamily="2" charset="77"/>
              </a:endParaRPr>
            </a:p>
            <a:p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PRAZOS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2 dias úteis para alterações simples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5 dias úteis para alterações com estudos ou conferências de bases</a:t>
              </a:r>
            </a:p>
            <a:p>
              <a:endParaRPr lang="pt-BR" sz="1200" b="1">
                <a:latin typeface="Unilever Desire" pitchFamily="2" charset="77"/>
              </a:endParaRPr>
            </a:p>
            <a:p>
              <a:r>
                <a:rPr lang="pt-BR" sz="1400" b="1">
                  <a:solidFill>
                    <a:srgbClr val="4F7FF2"/>
                  </a:solidFill>
                  <a:effectLst>
                    <a:outerShdw blurRad="38100" dir="2700000" algn="tl">
                      <a:srgbClr val="000000">
                        <a:alpha val="43137"/>
                      </a:srgbClr>
                    </a:outerShdw>
                  </a:effectLst>
                  <a:latin typeface="Unilever Desire" pitchFamily="2" charset="77"/>
                </a:rPr>
                <a:t>CONTRATOS</a:t>
              </a:r>
            </a:p>
            <a:p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Responsável</a:t>
              </a:r>
            </a:p>
            <a:p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Marca pagante</a:t>
              </a:r>
            </a:p>
            <a:p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Auxílio dos </a:t>
              </a:r>
              <a:r>
                <a:rPr lang="pt-BR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Controllers</a:t>
              </a:r>
              <a:r>
                <a:rPr lang="pt-BR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Unilever Desire Light" pitchFamily="2" charset="77"/>
                </a:rPr>
                <a:t> em relação ao saldo</a:t>
              </a:r>
            </a:p>
            <a:p>
              <a:endParaRPr lang="pt-BR" sz="1200" b="1">
                <a:latin typeface="Unilever Desire" pitchFamily="2" charset="77"/>
              </a:endParaRP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endParaRPr lang="pt-BR" sz="12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</p:grpSp>
      <p:sp>
        <p:nvSpPr>
          <p:cNvPr id="23" name="TextBox 14">
            <a:extLst>
              <a:ext uri="{FF2B5EF4-FFF2-40B4-BE49-F238E27FC236}">
                <a16:creationId xmlns:a16="http://schemas.microsoft.com/office/drawing/2014/main" id="{6FD2E84F-DF72-1AA3-D672-4360C8E739FE}"/>
              </a:ext>
            </a:extLst>
          </p:cNvPr>
          <p:cNvSpPr txBox="1"/>
          <p:nvPr/>
        </p:nvSpPr>
        <p:spPr>
          <a:xfrm>
            <a:off x="6165747" y="1015939"/>
            <a:ext cx="510256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CRIAÇÃO DE </a:t>
            </a:r>
            <a:r>
              <a:rPr lang="pt-BR" sz="2400" b="1" err="1">
                <a:solidFill>
                  <a:srgbClr val="0F172A"/>
                </a:solidFill>
                <a:latin typeface="Unilever Desire" pitchFamily="2" charset="77"/>
              </a:rPr>
              <a:t>PIs</a:t>
            </a:r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 – DIGITAL GLOBO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9F33BDD-5235-1925-A4DB-A3913D48003E}"/>
              </a:ext>
            </a:extLst>
          </p:cNvPr>
          <p:cNvSpPr txBox="1"/>
          <p:nvPr/>
        </p:nvSpPr>
        <p:spPr>
          <a:xfrm>
            <a:off x="408148" y="5480226"/>
            <a:ext cx="107270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>
                <a:solidFill>
                  <a:srgbClr val="4F7FF2"/>
                </a:solidFill>
                <a:latin typeface="Unilever Desire" pitchFamily="2" charset="77"/>
              </a:rPr>
              <a:t>NOTAS FISCAIS</a:t>
            </a:r>
          </a:p>
          <a:p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Pasta unificadora das Notas – SHAREPOINT (validar com os </a:t>
            </a:r>
            <a:r>
              <a:rPr lang="pt-BR" sz="1200" err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midias</a:t>
            </a:r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)</a:t>
            </a:r>
          </a:p>
          <a:p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Email que precisa receber as notas: </a:t>
            </a:r>
            <a:b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</a:b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  <a:hlinkClick r:id="rId3" tooltip="https://notafiscal.mbww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https://notafiscal.mbww.com</a:t>
            </a:r>
            <a:endParaRPr lang="pt-BR" sz="1200">
              <a:solidFill>
                <a:schemeClr val="tx1">
                  <a:lumMod val="85000"/>
                  <a:lumOff val="15000"/>
                </a:schemeClr>
              </a:solidFill>
              <a:latin typeface="Unilever Desire Light" pitchFamily="2" charset="77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E437CE-DD0D-8EA7-BFEC-CAE1F49CD8F9}"/>
              </a:ext>
            </a:extLst>
          </p:cNvPr>
          <p:cNvSpPr/>
          <p:nvPr/>
        </p:nvSpPr>
        <p:spPr>
          <a:xfrm>
            <a:off x="2125663" y="505382"/>
            <a:ext cx="3799523" cy="157901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excluir</a:t>
            </a:r>
          </a:p>
        </p:txBody>
      </p:sp>
    </p:spTree>
    <p:extLst>
      <p:ext uri="{BB962C8B-B14F-4D97-AF65-F5344CB8AC3E}">
        <p14:creationId xmlns:p14="http://schemas.microsoft.com/office/powerpoint/2010/main" val="2473714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84028D-03E7-59E8-2B03-881E0B0AC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19A021A-2FCC-6048-B454-2B27E80E1B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Analytics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AD5D8A6-8211-52E6-50C7-1AD9A5BD10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do RROI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F117CE-38D1-BAEB-B9F6-A7E68E97FE2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073BC37-A822-C64E-D6CB-58BD0C2EC5ED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4C905ABA-E32B-1985-40D4-6113854F6D60}"/>
              </a:ext>
            </a:extLst>
          </p:cNvPr>
          <p:cNvSpPr txBox="1">
            <a:spLocks/>
          </p:cNvSpPr>
          <p:nvPr/>
        </p:nvSpPr>
        <p:spPr>
          <a:xfrm>
            <a:off x="1564910" y="2639494"/>
            <a:ext cx="7413391" cy="1579013"/>
          </a:xfrm>
        </p:spPr>
        <p:txBody>
          <a:bodyPr tIns="137160" anchor="t"/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DATA DE PAGAMENTO</a:t>
            </a:r>
          </a:p>
          <a:p>
            <a:pPr>
              <a:lnSpc>
                <a:spcPct val="100000"/>
              </a:lnSpc>
            </a:pP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CLIENTES</a:t>
            </a:r>
            <a:endParaRPr lang="en-US" sz="1400" b="1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A3E92B9-C9AD-090B-31B5-E1131C8B810B}"/>
              </a:ext>
            </a:extLst>
          </p:cNvPr>
          <p:cNvSpPr/>
          <p:nvPr/>
        </p:nvSpPr>
        <p:spPr>
          <a:xfrm>
            <a:off x="2125663" y="505382"/>
            <a:ext cx="3799523" cy="157901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excluir</a:t>
            </a:r>
          </a:p>
        </p:txBody>
      </p:sp>
    </p:spTree>
    <p:extLst>
      <p:ext uri="{BB962C8B-B14F-4D97-AF65-F5344CB8AC3E}">
        <p14:creationId xmlns:p14="http://schemas.microsoft.com/office/powerpoint/2010/main" val="1575917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9E71AE-84CA-98DA-C559-1F09191A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071E3F6-3AD4-8FE7-17FD-0EF0BD06D5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8BBDCFC-0C08-8CCF-5C4F-9C149C560A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17C18F89-304D-DEA1-0616-778D73563C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B782A71A-BE29-BFCE-FC31-FC1F79D8A334}"/>
              </a:ext>
            </a:extLst>
          </p:cNvPr>
          <p:cNvSpPr/>
          <p:nvPr/>
        </p:nvSpPr>
        <p:spPr>
          <a:xfrm>
            <a:off x="335280" y="1124947"/>
            <a:ext cx="11518583" cy="5258268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8F427967-A68A-CF9D-0C5D-3086451F2DCD}"/>
              </a:ext>
            </a:extLst>
          </p:cNvPr>
          <p:cNvSpPr txBox="1"/>
          <p:nvPr/>
        </p:nvSpPr>
        <p:spPr>
          <a:xfrm>
            <a:off x="605754" y="1269127"/>
            <a:ext cx="10684546" cy="3754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0"/>
            <a:r>
              <a:rPr lang="pt-BR" b="1">
                <a:solidFill>
                  <a:srgbClr val="4F7FF2"/>
                </a:solidFill>
                <a:effectLst/>
                <a:latin typeface="Unilever Desire" pitchFamily="2" charset="77"/>
              </a:rPr>
              <a:t>UNILEVER</a:t>
            </a:r>
          </a:p>
          <a:p>
            <a:pPr rtl="0"/>
            <a:endParaRPr lang="pt-BR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lever Desire" pitchFamily="2" charset="77"/>
            </a:endParaRP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O Faturamento de tudo o que vai vencer no dia 15 está sendo realizado por Estimativa e realizado até o dia 5 de cada mês. Faturamento de tudo o que vai vencer no dia 30, podemos realizar até o dia 15 como Comprovado.</a:t>
            </a: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endParaRPr lang="pt-BR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Unilever Desire Light" pitchFamily="2" charset="77"/>
            </a:endParaRP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Envio é via portal e sujeito a rejeição do cliente</a:t>
            </a: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endParaRPr lang="pt-BR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Unilever Desire Light" pitchFamily="2" charset="77"/>
            </a:endParaRP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Pagamento é realizado conforme data que colocamos nas </a:t>
            </a:r>
            <a:r>
              <a:rPr lang="pt-BR" sz="160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NF´s</a:t>
            </a: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.</a:t>
            </a:r>
          </a:p>
          <a:p>
            <a:pPr marL="171450" indent="-171450" rtl="0">
              <a:buSzPts val="2000"/>
              <a:buFont typeface="Wingdings" panose="05000000000000000000" pitchFamily="2" charset="2"/>
              <a:buChar char="§"/>
            </a:pPr>
            <a:endParaRPr lang="pt-BR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Unilever Desire Light" pitchFamily="2" charset="77"/>
            </a:endParaRPr>
          </a:p>
          <a:p>
            <a:pPr rtl="0"/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 </a:t>
            </a:r>
          </a:p>
          <a:p>
            <a:pPr rtl="0"/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*****Lembrando que essas datas já são as finais e que após as liberações realizados pelos mídias, temos todo o processo de </a:t>
            </a:r>
            <a:r>
              <a:rPr lang="pt-BR" sz="160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Checking</a:t>
            </a: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 e Faturamento para ser realizado, então pedimos que nos liberem os processo com 2 dias de antecedência dessas datas e o que fugir, será apenas exceção.</a:t>
            </a:r>
          </a:p>
          <a:p>
            <a:endParaRPr lang="pt-BR" sz="1600" u="none">
              <a:solidFill>
                <a:srgbClr val="475569"/>
              </a:solidFill>
              <a:effectLst/>
              <a:latin typeface="Unilever Desire" pitchFamily="2" charset="77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03B81B5A-D06C-5550-DCBD-0697C0423966}"/>
              </a:ext>
            </a:extLst>
          </p:cNvPr>
          <p:cNvSpPr txBox="1"/>
          <p:nvPr/>
        </p:nvSpPr>
        <p:spPr>
          <a:xfrm>
            <a:off x="613125" y="604069"/>
            <a:ext cx="9975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DATAS DE PAGAMENTO DO CLIENTE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0F92F6-B90B-063A-015C-85A34C037EA7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920BBE-EC0B-8921-07C3-7E1C37DC80FD}"/>
              </a:ext>
            </a:extLst>
          </p:cNvPr>
          <p:cNvSpPr/>
          <p:nvPr/>
        </p:nvSpPr>
        <p:spPr>
          <a:xfrm>
            <a:off x="2125663" y="505382"/>
            <a:ext cx="3799523" cy="157901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excluir</a:t>
            </a:r>
          </a:p>
        </p:txBody>
      </p:sp>
    </p:spTree>
    <p:extLst>
      <p:ext uri="{BB962C8B-B14F-4D97-AF65-F5344CB8AC3E}">
        <p14:creationId xmlns:p14="http://schemas.microsoft.com/office/powerpoint/2010/main" val="439563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B474A862-76EC-0228-C36E-49438AC84657}"/>
              </a:ext>
            </a:extLst>
          </p:cNvPr>
          <p:cNvGrpSpPr/>
          <p:nvPr/>
        </p:nvGrpSpPr>
        <p:grpSpPr>
          <a:xfrm>
            <a:off x="335280" y="1124947"/>
            <a:ext cx="11518583" cy="5258268"/>
            <a:chOff x="397239" y="2366905"/>
            <a:chExt cx="2566941" cy="205755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2440990-4EE1-37F4-7B5D-567F0D0E5AD0}"/>
                </a:ext>
              </a:extLst>
            </p:cNvPr>
            <p:cNvSpPr/>
            <p:nvPr/>
          </p:nvSpPr>
          <p:spPr>
            <a:xfrm>
              <a:off x="397239" y="2366905"/>
              <a:ext cx="2566941" cy="2057559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3BDB681-A900-00F7-C434-1C4C3BBC1BEE}"/>
                </a:ext>
              </a:extLst>
            </p:cNvPr>
            <p:cNvSpPr/>
            <p:nvPr/>
          </p:nvSpPr>
          <p:spPr>
            <a:xfrm>
              <a:off x="397239" y="2366905"/>
              <a:ext cx="40233" cy="2057559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rgbClr val="00B050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0265D85-47EB-6EED-D37A-AE37B26792FB}"/>
              </a:ext>
            </a:extLst>
          </p:cNvPr>
          <p:cNvSpPr txBox="1">
            <a:spLocks/>
          </p:cNvSpPr>
          <p:nvPr/>
        </p:nvSpPr>
        <p:spPr>
          <a:xfrm>
            <a:off x="723218" y="1170703"/>
            <a:ext cx="11042061" cy="5212511"/>
          </a:xfrm>
          <a:prstGeom prst="rect">
            <a:avLst/>
          </a:prstGeom>
        </p:spPr>
        <p:txBody>
          <a:bodyPr vert="horz" lIns="0" tIns="45720" rIns="91440" bIns="45720" numCol="2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STATUS DE PI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MR: até o dia 15, tem que estar tudo convertido</a:t>
            </a: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Todos os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devem estar com o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 Emitido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 ou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Liberado para Faturamento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Para os casos de digital emitir o PI conforme o plano, respeitando a competência e com o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 Emitido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de utilização de pagamento antecipado atrelados a contratos, veiculação de pagamento direto, bonificação e reaplicação devem estar com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Não Faturável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 de utilização foram faturados - não atrelaram a um pacote de utilização: gera pagamento do cliente e devolução de crédito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CRIAÇÃO DE Pis DENTRO DO VALOR DE COMPETÊNCIA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Não criar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com valores em centavos;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Nao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criar o PI com outra natureza</a:t>
            </a:r>
          </a:p>
          <a:p>
            <a:pPr algn="l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DETALHES DO PI</a:t>
            </a:r>
          </a:p>
          <a:p>
            <a:pPr algn="l">
              <a:lnSpc>
                <a:spcPct val="100000"/>
              </a:lnSpc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Iniciamos também a obrigatoriedade de inclusão de peça/Titulo/Formato nos </a:t>
            </a:r>
            <a:r>
              <a:rPr lang="pt-BR" sz="900" err="1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 de TV ( alguns de vocês já receberam </a:t>
            </a:r>
            <a:r>
              <a:rPr lang="pt-BR" sz="900" err="1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email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 sobre isso ) para alterarem a informação de “Indeterminado “ para a Peça/Titulo/Formato “correto “, isso também se estendera para os demais meios.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Também estamos checando os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minemônicos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( também já enviamos alguns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emails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sobre isso ), onde a informação é necessária para cruzamento com o IBOPE e tabela JOVE e o nosso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Checking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eletrônico.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Outra obrigatoriedade será o detalhamento na observação da AP/PI, hoje vemos que muitos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não constam nenhuma observação/indicação sobre a veiculação:</a:t>
            </a:r>
          </a:p>
          <a:p>
            <a:pPr marL="914400" lvl="1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casos de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pagto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antencipado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, ( período, programa, evento ),</a:t>
            </a:r>
          </a:p>
          <a:p>
            <a:pPr marL="914400" lvl="1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reaplicação/Bonificação ( origem dessa reaplicação/Bonificação ).</a:t>
            </a:r>
          </a:p>
          <a:p>
            <a:pPr algn="l" fontAlgn="base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CONTRATO: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Responsável pelo fechamento do pacote vai ser da marca pagante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Apenas para PO: hoje MR desconta, mas vai ser ajustado para não descontar (MR, não pode mais existir)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PRAZO FATURAMENTO/VENCIMENTO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Se atentem ao prazo de faturamento de cada cliente, precisamos receber do clientes para poder pagar os veículos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Negociação de pagamento de veículos: precisa ser 30 a 60 dias</a:t>
            </a:r>
          </a:p>
          <a:p>
            <a:pPr marL="742950" lvl="1" indent="-285750" algn="l" fontAlgn="base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exceto Globo</a:t>
            </a:r>
          </a:p>
          <a:p>
            <a:pPr marL="742950" lvl="1" indent="-285750" algn="l" fontAlgn="base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atenção para veículos novos</a:t>
            </a: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NOTAS FISCAIS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Caso recebam notas de veículos, por favor encaminhar para o e-mail </a:t>
            </a:r>
            <a:r>
              <a:rPr lang="pt-BR" sz="900" u="sng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info.nfe@mbww.com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 ou </a:t>
            </a:r>
            <a:r>
              <a:rPr lang="pt-BR" sz="900" u="sng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checkingbr@mbww.com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, para que não tenhamos problema ao faturar clientes por comprovação.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Sempre verifiquem se há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emitidos e que precisam ser excluídos do sistema para evitar pendências ou faturamento indevido.</a:t>
            </a: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28575" algn="l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DE PARA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Já iniciamos a implementação de De/Para junto ao time.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Nesse caso o processo que antes era feito através de PI de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Pagto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antecipado e a criação de PI de utilização para ajuste de grade não poderão mais existir.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Um outro exemplo para os casos dos clientes que realizamos o faturamento via estimado ( faturamento sobre o valor do PI e que muitos ocorrem dentro do próprio mês de veiculação ) em caso de corte de verba essa informação além de constar no DE/PARA também deverá ser mencionado na observação do PI.</a:t>
            </a:r>
          </a:p>
          <a:p>
            <a:pPr algn="l">
              <a:lnSpc>
                <a:spcPct val="100000"/>
              </a:lnSpc>
            </a:pP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algn="l">
              <a:lnSpc>
                <a:spcPct val="100000"/>
              </a:lnSpc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28575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DCEDE800-4243-2041-AC4F-A8F10EA4516C}"/>
              </a:ext>
            </a:extLst>
          </p:cNvPr>
          <p:cNvSpPr txBox="1"/>
          <p:nvPr/>
        </p:nvSpPr>
        <p:spPr>
          <a:xfrm>
            <a:off x="672418" y="426269"/>
            <a:ext cx="99757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>
                <a:latin typeface="Unilever Desire" pitchFamily="2" charset="77"/>
              </a:rPr>
              <a:t>AD | REVISÃO ONE PAGE</a:t>
            </a:r>
            <a:endParaRPr lang="pt-BR" sz="3200" b="1">
              <a:solidFill>
                <a:srgbClr val="0F172A"/>
              </a:solidFill>
              <a:latin typeface="Unilever Desire" pitchFamily="2" charset="77"/>
            </a:endParaRPr>
          </a:p>
        </p:txBody>
      </p:sp>
      <p:pic>
        <p:nvPicPr>
          <p:cNvPr id="4" name="Imagem 3" descr="Kontakt - Ihr direkter Draht zu Initiative Media Österreich">
            <a:extLst>
              <a:ext uri="{FF2B5EF4-FFF2-40B4-BE49-F238E27FC236}">
                <a16:creationId xmlns:a16="http://schemas.microsoft.com/office/drawing/2014/main" id="{DAC50616-8D42-04FA-5560-9D92A6DF799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49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B2E0-B58F-C542-F572-6CDDBC78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0A84655-1F77-68D2-1CEB-4878C88A0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C923527-DBA3-E5B4-F314-CAE7A2792F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6B214B8-3CDD-0BF3-CA1A-2EF4310306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47279CF7-2336-36AB-2A76-BE51847C596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6C706C13-536D-05CB-716A-3AAF47E914D4}"/>
              </a:ext>
            </a:extLst>
          </p:cNvPr>
          <p:cNvSpPr txBox="1">
            <a:spLocks/>
          </p:cNvSpPr>
          <p:nvPr/>
        </p:nvSpPr>
        <p:spPr>
          <a:xfrm>
            <a:off x="1467180" y="676809"/>
            <a:ext cx="8938577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>
                <a:latin typeface="Unilever Desire" pitchFamily="2" charset="77"/>
              </a:rPr>
              <a:t>Enviamos 2 bases para o estudo. </a:t>
            </a:r>
            <a:endParaRPr lang="pt-BR" sz="4000" b="1">
              <a:solidFill>
                <a:srgbClr val="4F7FF2"/>
              </a:solidFill>
              <a:latin typeface="Unilever Desire" pitchFamily="2" charset="77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37B24AB-E1E5-2EDD-443A-A025E13342A7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bg1">
              <a:lumMod val="95000"/>
            </a:schemeClr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90CA7B0C-30BE-78CD-C5B3-22340F7D7F9E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8844C1DC-C696-D2E7-298D-C0D8DA9AEFE6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2D37398A-2053-F1FF-479C-206D71092C73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35B1AA19-7074-4F18-0B97-92D967A1CB2A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E8A59E60-83D3-52C4-6FEC-492ED861848B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22F2BD1-97AC-EC76-165F-2CFCE148309E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AC1D4319-2C39-72AE-DBB7-F50227CB23D2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A890B154-76FC-743C-D7CC-194610F82813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AA3BE15D-F380-0C94-09CE-59FC742FB730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1C8DA617-DDB7-2940-A3A2-EDEF1FA8E3B6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7EB037CD-559D-4271-77DB-32A71655EDB8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317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725A-DF12-BFB1-9107-E1DAF5D8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tângulo Arredondado 166">
            <a:extLst>
              <a:ext uri="{FF2B5EF4-FFF2-40B4-BE49-F238E27FC236}">
                <a16:creationId xmlns:a16="http://schemas.microsoft.com/office/drawing/2014/main" id="{28B14B56-BA01-9B4D-FAF6-C8F8486A9D09}"/>
              </a:ext>
            </a:extLst>
          </p:cNvPr>
          <p:cNvSpPr/>
          <p:nvPr/>
        </p:nvSpPr>
        <p:spPr>
          <a:xfrm>
            <a:off x="3516626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Retângulo Arredondado 164">
            <a:extLst>
              <a:ext uri="{FF2B5EF4-FFF2-40B4-BE49-F238E27FC236}">
                <a16:creationId xmlns:a16="http://schemas.microsoft.com/office/drawing/2014/main" id="{229EEE21-1CF2-B3D6-1E26-4C20B057A52E}"/>
              </a:ext>
            </a:extLst>
          </p:cNvPr>
          <p:cNvSpPr/>
          <p:nvPr/>
        </p:nvSpPr>
        <p:spPr>
          <a:xfrm>
            <a:off x="229609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14A024E-AD1B-E893-9F5D-0B28DBF41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3192603-2837-D49C-3B9F-B5E0E78859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D13FADA-CEA9-288F-C931-85E10EBA53A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AC75D578-3C39-C903-749A-F2CC12A930DD}"/>
              </a:ext>
            </a:extLst>
          </p:cNvPr>
          <p:cNvSpPr txBox="1">
            <a:spLocks/>
          </p:cNvSpPr>
          <p:nvPr/>
        </p:nvSpPr>
        <p:spPr>
          <a:xfrm>
            <a:off x="140914" y="708625"/>
            <a:ext cx="774817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4F7FF2"/>
                </a:solidFill>
                <a:latin typeface="Unilever Desire" pitchFamily="2" charset="77"/>
              </a:rPr>
              <a:t>Como funciona o fluxo de dados online?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1ACBEA-0BC5-B831-475E-44FB2374E3AB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6" name="Straight Arrow Connector 1023">
            <a:extLst>
              <a:ext uri="{FF2B5EF4-FFF2-40B4-BE49-F238E27FC236}">
                <a16:creationId xmlns:a16="http://schemas.microsoft.com/office/drawing/2014/main" id="{F2883F1C-5625-C697-3606-D3B2893BCC34}"/>
              </a:ext>
            </a:extLst>
          </p:cNvPr>
          <p:cNvCxnSpPr>
            <a:cxnSpLocks/>
          </p:cNvCxnSpPr>
          <p:nvPr/>
        </p:nvCxnSpPr>
        <p:spPr>
          <a:xfrm flipV="1">
            <a:off x="2337860" y="3571572"/>
            <a:ext cx="1074823" cy="15500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dash"/>
            <a:miter lim="800000"/>
            <a:tailEnd type="triangle"/>
          </a:ln>
          <a:effectLst/>
          <a:sp3d/>
        </p:spPr>
      </p:cxn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7B1025E8-BA0F-DE6B-DD2F-33BA661083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E6C5FEAC-AC8E-1223-ECCA-BC9F0110DF6B}"/>
              </a:ext>
            </a:extLst>
          </p:cNvPr>
          <p:cNvGrpSpPr/>
          <p:nvPr/>
        </p:nvGrpSpPr>
        <p:grpSpPr>
          <a:xfrm>
            <a:off x="5627507" y="2819667"/>
            <a:ext cx="3091973" cy="1519311"/>
            <a:chOff x="3245389" y="3204235"/>
            <a:chExt cx="3091973" cy="1519311"/>
          </a:xfrm>
        </p:grpSpPr>
        <p:sp>
          <p:nvSpPr>
            <p:cNvPr id="168" name="Retângulo Arredondado 167">
              <a:extLst>
                <a:ext uri="{FF2B5EF4-FFF2-40B4-BE49-F238E27FC236}">
                  <a16:creationId xmlns:a16="http://schemas.microsoft.com/office/drawing/2014/main" id="{9192FC77-575D-C469-83B2-7712755B4988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9" name="Straight Arrow Connector 1023">
              <a:extLst>
                <a:ext uri="{FF2B5EF4-FFF2-40B4-BE49-F238E27FC236}">
                  <a16:creationId xmlns:a16="http://schemas.microsoft.com/office/drawing/2014/main" id="{3F8B9D9D-8013-DAC0-95D2-A5FBDBBD8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FAA4AA3F-B093-3F99-030F-7116F5AC2874}"/>
              </a:ext>
            </a:extLst>
          </p:cNvPr>
          <p:cNvGrpSpPr/>
          <p:nvPr/>
        </p:nvGrpSpPr>
        <p:grpSpPr>
          <a:xfrm>
            <a:off x="7384095" y="2938535"/>
            <a:ext cx="757562" cy="1197065"/>
            <a:chOff x="7546039" y="3302445"/>
            <a:chExt cx="757562" cy="1197065"/>
          </a:xfrm>
        </p:grpSpPr>
        <p:grpSp>
          <p:nvGrpSpPr>
            <p:cNvPr id="174" name="Group 1">
              <a:extLst>
                <a:ext uri="{FF2B5EF4-FFF2-40B4-BE49-F238E27FC236}">
                  <a16:creationId xmlns:a16="http://schemas.microsoft.com/office/drawing/2014/main" id="{6AF222BB-2482-86CC-227E-607002134786}"/>
                </a:ext>
              </a:extLst>
            </p:cNvPr>
            <p:cNvGrpSpPr/>
            <p:nvPr/>
          </p:nvGrpSpPr>
          <p:grpSpPr>
            <a:xfrm>
              <a:off x="7652878" y="3906048"/>
              <a:ext cx="543885" cy="593462"/>
              <a:chOff x="4001595" y="1437606"/>
              <a:chExt cx="3874225" cy="3873108"/>
            </a:xfrm>
          </p:grpSpPr>
          <p:sp>
            <p:nvSpPr>
              <p:cNvPr id="177" name="Cube 36">
                <a:extLst>
                  <a:ext uri="{FF2B5EF4-FFF2-40B4-BE49-F238E27FC236}">
                    <a16:creationId xmlns:a16="http://schemas.microsoft.com/office/drawing/2014/main" id="{B7BD8271-94CC-2CF5-D4CD-77EAF68B81BF}"/>
                  </a:ext>
                </a:extLst>
              </p:cNvPr>
              <p:cNvSpPr/>
              <p:nvPr/>
            </p:nvSpPr>
            <p:spPr>
              <a:xfrm>
                <a:off x="4646169" y="3378392"/>
                <a:ext cx="1153447" cy="1153447"/>
              </a:xfrm>
              <a:prstGeom prst="cube">
                <a:avLst/>
              </a:prstGeom>
              <a:solidFill>
                <a:srgbClr val="E11E28">
                  <a:lumMod val="40000"/>
                  <a:lumOff val="60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8" name="Cube 37">
                <a:extLst>
                  <a:ext uri="{FF2B5EF4-FFF2-40B4-BE49-F238E27FC236}">
                    <a16:creationId xmlns:a16="http://schemas.microsoft.com/office/drawing/2014/main" id="{CBCD36B7-E7AB-1B7F-B117-6F0A0B725063}"/>
                  </a:ext>
                </a:extLst>
              </p:cNvPr>
              <p:cNvSpPr/>
              <p:nvPr/>
            </p:nvSpPr>
            <p:spPr>
              <a:xfrm>
                <a:off x="5684271" y="3378392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9" name="Cube 38">
                <a:extLst>
                  <a:ext uri="{FF2B5EF4-FFF2-40B4-BE49-F238E27FC236}">
                    <a16:creationId xmlns:a16="http://schemas.microsoft.com/office/drawing/2014/main" id="{69280739-8129-E274-C803-DC63B1522C5F}"/>
                  </a:ext>
                </a:extLst>
              </p:cNvPr>
              <p:cNvSpPr/>
              <p:nvPr/>
            </p:nvSpPr>
            <p:spPr>
              <a:xfrm>
                <a:off x="6722373" y="3378392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0" name="Cube 39">
                <a:extLst>
                  <a:ext uri="{FF2B5EF4-FFF2-40B4-BE49-F238E27FC236}">
                    <a16:creationId xmlns:a16="http://schemas.microsoft.com/office/drawing/2014/main" id="{720DDED5-9665-F00C-73A5-190A8E71F3AF}"/>
                  </a:ext>
                </a:extLst>
              </p:cNvPr>
              <p:cNvSpPr/>
              <p:nvPr/>
            </p:nvSpPr>
            <p:spPr>
              <a:xfrm>
                <a:off x="4646169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1" name="Cube 40">
                <a:extLst>
                  <a:ext uri="{FF2B5EF4-FFF2-40B4-BE49-F238E27FC236}">
                    <a16:creationId xmlns:a16="http://schemas.microsoft.com/office/drawing/2014/main" id="{7CAF2C8F-02AF-A057-1DCD-0D82457F0A85}"/>
                  </a:ext>
                </a:extLst>
              </p:cNvPr>
              <p:cNvSpPr/>
              <p:nvPr/>
            </p:nvSpPr>
            <p:spPr>
              <a:xfrm>
                <a:off x="5684271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2" name="Cube 41">
                <a:extLst>
                  <a:ext uri="{FF2B5EF4-FFF2-40B4-BE49-F238E27FC236}">
                    <a16:creationId xmlns:a16="http://schemas.microsoft.com/office/drawing/2014/main" id="{6854527B-53CF-BE7F-AE4D-91119A6D4A23}"/>
                  </a:ext>
                </a:extLst>
              </p:cNvPr>
              <p:cNvSpPr/>
              <p:nvPr/>
            </p:nvSpPr>
            <p:spPr>
              <a:xfrm>
                <a:off x="6722373" y="2401213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3" name="Cube 42">
                <a:extLst>
                  <a:ext uri="{FF2B5EF4-FFF2-40B4-BE49-F238E27FC236}">
                    <a16:creationId xmlns:a16="http://schemas.microsoft.com/office/drawing/2014/main" id="{685BD88F-52DA-68C6-0A33-273CDC995E2A}"/>
                  </a:ext>
                </a:extLst>
              </p:cNvPr>
              <p:cNvSpPr/>
              <p:nvPr/>
            </p:nvSpPr>
            <p:spPr>
              <a:xfrm>
                <a:off x="4646169" y="1437606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4" name="Cube 43">
                <a:extLst>
                  <a:ext uri="{FF2B5EF4-FFF2-40B4-BE49-F238E27FC236}">
                    <a16:creationId xmlns:a16="http://schemas.microsoft.com/office/drawing/2014/main" id="{24D71134-B9B7-1615-48F1-7BB1044CCA18}"/>
                  </a:ext>
                </a:extLst>
              </p:cNvPr>
              <p:cNvSpPr/>
              <p:nvPr/>
            </p:nvSpPr>
            <p:spPr>
              <a:xfrm>
                <a:off x="5684271" y="1437606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5" name="Cube 44">
                <a:extLst>
                  <a:ext uri="{FF2B5EF4-FFF2-40B4-BE49-F238E27FC236}">
                    <a16:creationId xmlns:a16="http://schemas.microsoft.com/office/drawing/2014/main" id="{639FABAE-9B25-B385-9386-64033F3F8ADA}"/>
                  </a:ext>
                </a:extLst>
              </p:cNvPr>
              <p:cNvSpPr/>
              <p:nvPr/>
            </p:nvSpPr>
            <p:spPr>
              <a:xfrm>
                <a:off x="6722373" y="1437606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6" name="Cube 45">
                <a:extLst>
                  <a:ext uri="{FF2B5EF4-FFF2-40B4-BE49-F238E27FC236}">
                    <a16:creationId xmlns:a16="http://schemas.microsoft.com/office/drawing/2014/main" id="{1DD502CF-EA66-AE39-1E7A-546CEF752265}"/>
                  </a:ext>
                </a:extLst>
              </p:cNvPr>
              <p:cNvSpPr/>
              <p:nvPr/>
            </p:nvSpPr>
            <p:spPr>
              <a:xfrm>
                <a:off x="4279779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7" name="Cube 46">
                <a:extLst>
                  <a:ext uri="{FF2B5EF4-FFF2-40B4-BE49-F238E27FC236}">
                    <a16:creationId xmlns:a16="http://schemas.microsoft.com/office/drawing/2014/main" id="{80B859E0-28AE-D134-DDBD-B218781F5BAC}"/>
                  </a:ext>
                </a:extLst>
              </p:cNvPr>
              <p:cNvSpPr/>
              <p:nvPr/>
            </p:nvSpPr>
            <p:spPr>
              <a:xfrm>
                <a:off x="5317882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8" name="Cube 47">
                <a:extLst>
                  <a:ext uri="{FF2B5EF4-FFF2-40B4-BE49-F238E27FC236}">
                    <a16:creationId xmlns:a16="http://schemas.microsoft.com/office/drawing/2014/main" id="{5CE81CC9-5CD0-28FA-E811-F2D2052D58D9}"/>
                  </a:ext>
                </a:extLst>
              </p:cNvPr>
              <p:cNvSpPr/>
              <p:nvPr/>
            </p:nvSpPr>
            <p:spPr>
              <a:xfrm>
                <a:off x="6355984" y="3765275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9" name="Cube 48">
                <a:extLst>
                  <a:ext uri="{FF2B5EF4-FFF2-40B4-BE49-F238E27FC236}">
                    <a16:creationId xmlns:a16="http://schemas.microsoft.com/office/drawing/2014/main" id="{C8E86D44-181D-9B9D-D07C-988125786C94}"/>
                  </a:ext>
                </a:extLst>
              </p:cNvPr>
              <p:cNvSpPr/>
              <p:nvPr/>
            </p:nvSpPr>
            <p:spPr>
              <a:xfrm>
                <a:off x="4279780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0" name="Cube 49">
                <a:extLst>
                  <a:ext uri="{FF2B5EF4-FFF2-40B4-BE49-F238E27FC236}">
                    <a16:creationId xmlns:a16="http://schemas.microsoft.com/office/drawing/2014/main" id="{D80B270E-01E2-88C4-F17E-C6E83F6BEE00}"/>
                  </a:ext>
                </a:extLst>
              </p:cNvPr>
              <p:cNvSpPr/>
              <p:nvPr/>
            </p:nvSpPr>
            <p:spPr>
              <a:xfrm>
                <a:off x="5317882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1" name="Cube 50">
                <a:extLst>
                  <a:ext uri="{FF2B5EF4-FFF2-40B4-BE49-F238E27FC236}">
                    <a16:creationId xmlns:a16="http://schemas.microsoft.com/office/drawing/2014/main" id="{BAA6400D-A117-6C5C-42D6-C8C80A8E979D}"/>
                  </a:ext>
                </a:extLst>
              </p:cNvPr>
              <p:cNvSpPr/>
              <p:nvPr/>
            </p:nvSpPr>
            <p:spPr>
              <a:xfrm>
                <a:off x="6355984" y="278809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2" name="Cube 51">
                <a:extLst>
                  <a:ext uri="{FF2B5EF4-FFF2-40B4-BE49-F238E27FC236}">
                    <a16:creationId xmlns:a16="http://schemas.microsoft.com/office/drawing/2014/main" id="{1C594302-1D40-A4F6-84B2-600276F63E32}"/>
                  </a:ext>
                </a:extLst>
              </p:cNvPr>
              <p:cNvSpPr/>
              <p:nvPr/>
            </p:nvSpPr>
            <p:spPr>
              <a:xfrm>
                <a:off x="4279780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3" name="Cube 52">
                <a:extLst>
                  <a:ext uri="{FF2B5EF4-FFF2-40B4-BE49-F238E27FC236}">
                    <a16:creationId xmlns:a16="http://schemas.microsoft.com/office/drawing/2014/main" id="{D52A4DB9-012F-23DC-A918-8336EA429AF0}"/>
                  </a:ext>
                </a:extLst>
              </p:cNvPr>
              <p:cNvSpPr/>
              <p:nvPr/>
            </p:nvSpPr>
            <p:spPr>
              <a:xfrm>
                <a:off x="5317882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4" name="Cube 53">
                <a:extLst>
                  <a:ext uri="{FF2B5EF4-FFF2-40B4-BE49-F238E27FC236}">
                    <a16:creationId xmlns:a16="http://schemas.microsoft.com/office/drawing/2014/main" id="{F3C49EF8-5922-93A9-6CFB-57A208FBBFD6}"/>
                  </a:ext>
                </a:extLst>
              </p:cNvPr>
              <p:cNvSpPr/>
              <p:nvPr/>
            </p:nvSpPr>
            <p:spPr>
              <a:xfrm>
                <a:off x="6355984" y="1824489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5" name="Cube 54">
                <a:extLst>
                  <a:ext uri="{FF2B5EF4-FFF2-40B4-BE49-F238E27FC236}">
                    <a16:creationId xmlns:a16="http://schemas.microsoft.com/office/drawing/2014/main" id="{097ABDBA-B734-960E-F8D9-7BCE51115BD7}"/>
                  </a:ext>
                </a:extLst>
              </p:cNvPr>
              <p:cNvSpPr/>
              <p:nvPr/>
            </p:nvSpPr>
            <p:spPr>
              <a:xfrm>
                <a:off x="4001595" y="415726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6" name="Cube 55">
                <a:extLst>
                  <a:ext uri="{FF2B5EF4-FFF2-40B4-BE49-F238E27FC236}">
                    <a16:creationId xmlns:a16="http://schemas.microsoft.com/office/drawing/2014/main" id="{8AA68E33-9F5B-F003-FD0C-A10A4871AE30}"/>
                  </a:ext>
                </a:extLst>
              </p:cNvPr>
              <p:cNvSpPr/>
              <p:nvPr/>
            </p:nvSpPr>
            <p:spPr>
              <a:xfrm>
                <a:off x="4965063" y="415215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7" name="Cube 56">
                <a:extLst>
                  <a:ext uri="{FF2B5EF4-FFF2-40B4-BE49-F238E27FC236}">
                    <a16:creationId xmlns:a16="http://schemas.microsoft.com/office/drawing/2014/main" id="{8BC12F42-6571-EB22-6D13-DE9B7349DB02}"/>
                  </a:ext>
                </a:extLst>
              </p:cNvPr>
              <p:cNvSpPr/>
              <p:nvPr/>
            </p:nvSpPr>
            <p:spPr>
              <a:xfrm>
                <a:off x="6003165" y="4152159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8" name="Cube 57">
                <a:extLst>
                  <a:ext uri="{FF2B5EF4-FFF2-40B4-BE49-F238E27FC236}">
                    <a16:creationId xmlns:a16="http://schemas.microsoft.com/office/drawing/2014/main" id="{F527042E-54D8-2F4A-FD6E-E709A97BAE6F}"/>
                  </a:ext>
                </a:extLst>
              </p:cNvPr>
              <p:cNvSpPr/>
              <p:nvPr/>
            </p:nvSpPr>
            <p:spPr>
              <a:xfrm>
                <a:off x="4001595" y="3180088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9" name="Cube 58">
                <a:extLst>
                  <a:ext uri="{FF2B5EF4-FFF2-40B4-BE49-F238E27FC236}">
                    <a16:creationId xmlns:a16="http://schemas.microsoft.com/office/drawing/2014/main" id="{B056C9CA-C111-940C-D45C-1DB590872EDA}"/>
                  </a:ext>
                </a:extLst>
              </p:cNvPr>
              <p:cNvSpPr/>
              <p:nvPr/>
            </p:nvSpPr>
            <p:spPr>
              <a:xfrm>
                <a:off x="4965063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0" name="Cube 59">
                <a:extLst>
                  <a:ext uri="{FF2B5EF4-FFF2-40B4-BE49-F238E27FC236}">
                    <a16:creationId xmlns:a16="http://schemas.microsoft.com/office/drawing/2014/main" id="{CEDC0ED3-B64E-447F-DBA7-B1F834F591C4}"/>
                  </a:ext>
                </a:extLst>
              </p:cNvPr>
              <p:cNvSpPr/>
              <p:nvPr/>
            </p:nvSpPr>
            <p:spPr>
              <a:xfrm>
                <a:off x="6003165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1" name="Cube 60">
                <a:extLst>
                  <a:ext uri="{FF2B5EF4-FFF2-40B4-BE49-F238E27FC236}">
                    <a16:creationId xmlns:a16="http://schemas.microsoft.com/office/drawing/2014/main" id="{E253766B-2586-AA83-212F-E58535F5E3FD}"/>
                  </a:ext>
                </a:extLst>
              </p:cNvPr>
              <p:cNvSpPr/>
              <p:nvPr/>
            </p:nvSpPr>
            <p:spPr>
              <a:xfrm>
                <a:off x="4001595" y="2216481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2" name="Cube 61">
                <a:extLst>
                  <a:ext uri="{FF2B5EF4-FFF2-40B4-BE49-F238E27FC236}">
                    <a16:creationId xmlns:a16="http://schemas.microsoft.com/office/drawing/2014/main" id="{AD7785AA-B671-8052-9325-29E2A3741FB0}"/>
                  </a:ext>
                </a:extLst>
              </p:cNvPr>
              <p:cNvSpPr/>
              <p:nvPr/>
            </p:nvSpPr>
            <p:spPr>
              <a:xfrm>
                <a:off x="4965063" y="2211373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3" name="Cube 62">
                <a:extLst>
                  <a:ext uri="{FF2B5EF4-FFF2-40B4-BE49-F238E27FC236}">
                    <a16:creationId xmlns:a16="http://schemas.microsoft.com/office/drawing/2014/main" id="{9A3E91CC-3167-D93A-3F3D-8BD1DFED7FBE}"/>
                  </a:ext>
                </a:extLst>
              </p:cNvPr>
              <p:cNvSpPr/>
              <p:nvPr/>
            </p:nvSpPr>
            <p:spPr>
              <a:xfrm>
                <a:off x="6003165" y="221137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</p:grpSp>
        <p:pic>
          <p:nvPicPr>
            <p:cNvPr id="175" name="Picture 2" descr="Google Big Query Logo PNG Vector (SVG) Free Download">
              <a:extLst>
                <a:ext uri="{FF2B5EF4-FFF2-40B4-BE49-F238E27FC236}">
                  <a16:creationId xmlns:a16="http://schemas.microsoft.com/office/drawing/2014/main" id="{2188397B-B36B-121B-94C3-2603BB1870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6039" y="3509194"/>
              <a:ext cx="757562" cy="260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6" descr="Google Cloud Logo – PNG e Vetor – Download de Logo">
              <a:extLst>
                <a:ext uri="{FF2B5EF4-FFF2-40B4-BE49-F238E27FC236}">
                  <a16:creationId xmlns:a16="http://schemas.microsoft.com/office/drawing/2014/main" id="{B3485DA4-EB46-958F-E09C-F1FF63C1A0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576"/>
            <a:stretch>
              <a:fillRect/>
            </a:stretch>
          </p:blipFill>
          <p:spPr bwMode="auto">
            <a:xfrm>
              <a:off x="7636397" y="3302445"/>
              <a:ext cx="576847" cy="225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002122E3-3C39-D922-9F75-CC5EF83FCA26}"/>
              </a:ext>
            </a:extLst>
          </p:cNvPr>
          <p:cNvGrpSpPr/>
          <p:nvPr/>
        </p:nvGrpSpPr>
        <p:grpSpPr>
          <a:xfrm>
            <a:off x="8916807" y="2819667"/>
            <a:ext cx="3091973" cy="1519311"/>
            <a:chOff x="3245389" y="3204235"/>
            <a:chExt cx="3091973" cy="1519311"/>
          </a:xfrm>
        </p:grpSpPr>
        <p:sp>
          <p:nvSpPr>
            <p:cNvPr id="206" name="Retângulo Arredondado 205">
              <a:extLst>
                <a:ext uri="{FF2B5EF4-FFF2-40B4-BE49-F238E27FC236}">
                  <a16:creationId xmlns:a16="http://schemas.microsoft.com/office/drawing/2014/main" id="{640B42CE-B0D1-1297-F4D0-B8A05C0DEE99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7" name="Straight Arrow Connector 1023">
              <a:extLst>
                <a:ext uri="{FF2B5EF4-FFF2-40B4-BE49-F238E27FC236}">
                  <a16:creationId xmlns:a16="http://schemas.microsoft.com/office/drawing/2014/main" id="{3AAD6725-F39F-97A0-C440-43066421BA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16299B88-239D-EB03-4901-618637C62ED9}"/>
              </a:ext>
            </a:extLst>
          </p:cNvPr>
          <p:cNvGrpSpPr/>
          <p:nvPr/>
        </p:nvGrpSpPr>
        <p:grpSpPr>
          <a:xfrm>
            <a:off x="10231821" y="3221279"/>
            <a:ext cx="1606373" cy="716087"/>
            <a:chOff x="10350901" y="3737892"/>
            <a:chExt cx="1606373" cy="716087"/>
          </a:xfrm>
        </p:grpSpPr>
        <p:pic>
          <p:nvPicPr>
            <p:cNvPr id="160" name="Picture 8" descr="Data visualization - Free computer icons">
              <a:extLst>
                <a:ext uri="{FF2B5EF4-FFF2-40B4-BE49-F238E27FC236}">
                  <a16:creationId xmlns:a16="http://schemas.microsoft.com/office/drawing/2014/main" id="{33C34149-3343-DA9D-B9F5-D8CBF4F4E5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0901" y="3737892"/>
              <a:ext cx="663748" cy="716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6" descr="Power BI - California Institute of Applied Technology">
              <a:extLst>
                <a:ext uri="{FF2B5EF4-FFF2-40B4-BE49-F238E27FC236}">
                  <a16:creationId xmlns:a16="http://schemas.microsoft.com/office/drawing/2014/main" id="{E2EDF9E8-90BB-58A9-6716-D7B210AAC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1441" y="3769291"/>
              <a:ext cx="805833" cy="230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>
              <a:extLst>
                <a:ext uri="{FF2B5EF4-FFF2-40B4-BE49-F238E27FC236}">
                  <a16:creationId xmlns:a16="http://schemas.microsoft.com/office/drawing/2014/main" id="{F4CBE22C-EC86-4CF3-DFD9-7C8CEE30B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8422" y="4167194"/>
              <a:ext cx="725525" cy="144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9" name="Retângulo Arredondado 208">
            <a:extLst>
              <a:ext uri="{FF2B5EF4-FFF2-40B4-BE49-F238E27FC236}">
                <a16:creationId xmlns:a16="http://schemas.microsoft.com/office/drawing/2014/main" id="{AADA5E38-A795-5BFC-0E09-E74CB317CBC9}"/>
              </a:ext>
            </a:extLst>
          </p:cNvPr>
          <p:cNvSpPr/>
          <p:nvPr/>
        </p:nvSpPr>
        <p:spPr>
          <a:xfrm>
            <a:off x="307187" y="4632480"/>
            <a:ext cx="11706837" cy="33050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i="1">
                <a:solidFill>
                  <a:schemeClr val="tx1"/>
                </a:solidFill>
                <a:latin typeface="Unilever Desire" pitchFamily="2" charset="77"/>
              </a:rPr>
              <a:t>Envio diário para a Unilever</a:t>
            </a:r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30EA84B5-CD31-EA6F-6CA3-AAA0E31A9F67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>
              <a:latin typeface="Unilever Desire" pitchFamily="2" charset="77"/>
            </a:endParaRPr>
          </a:p>
        </p:txBody>
      </p:sp>
      <p:sp>
        <p:nvSpPr>
          <p:cNvPr id="211" name="Text Placeholder 37">
            <a:extLst>
              <a:ext uri="{FF2B5EF4-FFF2-40B4-BE49-F238E27FC236}">
                <a16:creationId xmlns:a16="http://schemas.microsoft.com/office/drawing/2014/main" id="{E74718F1-0894-3F9A-4D1F-56FAF37DB178}"/>
              </a:ext>
            </a:extLst>
          </p:cNvPr>
          <p:cNvSpPr txBox="1">
            <a:spLocks/>
          </p:cNvSpPr>
          <p:nvPr/>
        </p:nvSpPr>
        <p:spPr>
          <a:xfrm>
            <a:off x="478275" y="2515516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Unilever Desire" pitchFamily="2" charset="77"/>
              </a:rPr>
              <a:t>Fontes de dados</a:t>
            </a:r>
          </a:p>
        </p:txBody>
      </p:sp>
      <p:sp>
        <p:nvSpPr>
          <p:cNvPr id="212" name="Text Placeholder 37">
            <a:extLst>
              <a:ext uri="{FF2B5EF4-FFF2-40B4-BE49-F238E27FC236}">
                <a16:creationId xmlns:a16="http://schemas.microsoft.com/office/drawing/2014/main" id="{BF8E3A64-57B1-7D84-75B3-C402D48473B9}"/>
              </a:ext>
            </a:extLst>
          </p:cNvPr>
          <p:cNvSpPr txBox="1">
            <a:spLocks/>
          </p:cNvSpPr>
          <p:nvPr/>
        </p:nvSpPr>
        <p:spPr>
          <a:xfrm>
            <a:off x="3767563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Integração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3" name="Text Placeholder 37">
            <a:extLst>
              <a:ext uri="{FF2B5EF4-FFF2-40B4-BE49-F238E27FC236}">
                <a16:creationId xmlns:a16="http://schemas.microsoft.com/office/drawing/2014/main" id="{3C3CD592-BB0A-800E-8905-B79C7C280E13}"/>
              </a:ext>
            </a:extLst>
          </p:cNvPr>
          <p:cNvSpPr txBox="1">
            <a:spLocks/>
          </p:cNvSpPr>
          <p:nvPr/>
        </p:nvSpPr>
        <p:spPr>
          <a:xfrm>
            <a:off x="7078478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Processamento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4" name="Text Placeholder 37">
            <a:extLst>
              <a:ext uri="{FF2B5EF4-FFF2-40B4-BE49-F238E27FC236}">
                <a16:creationId xmlns:a16="http://schemas.microsoft.com/office/drawing/2014/main" id="{AAEA7218-F6ED-21D6-EBD1-D01B0EFCF65B}"/>
              </a:ext>
            </a:extLst>
          </p:cNvPr>
          <p:cNvSpPr txBox="1">
            <a:spLocks/>
          </p:cNvSpPr>
          <p:nvPr/>
        </p:nvSpPr>
        <p:spPr>
          <a:xfrm>
            <a:off x="10359812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Disponibilização</a:t>
            </a:r>
            <a:endParaRPr lang="en-US" sz="1400">
              <a:latin typeface="Unilever Desire" pitchFamily="2" charset="77"/>
            </a:endParaRP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1D4780DB-7676-1B28-0E18-7F7BE2AF7A20}"/>
              </a:ext>
            </a:extLst>
          </p:cNvPr>
          <p:cNvGrpSpPr/>
          <p:nvPr/>
        </p:nvGrpSpPr>
        <p:grpSpPr>
          <a:xfrm>
            <a:off x="418051" y="3103323"/>
            <a:ext cx="1433192" cy="932326"/>
            <a:chOff x="873689" y="2143879"/>
            <a:chExt cx="1605907" cy="968327"/>
          </a:xfrm>
        </p:grpSpPr>
        <p:grpSp>
          <p:nvGrpSpPr>
            <p:cNvPr id="7" name="Group 34">
              <a:extLst>
                <a:ext uri="{FF2B5EF4-FFF2-40B4-BE49-F238E27FC236}">
                  <a16:creationId xmlns:a16="http://schemas.microsoft.com/office/drawing/2014/main" id="{BEEAA137-EA07-CEDC-8256-A476193E17AF}"/>
                </a:ext>
              </a:extLst>
            </p:cNvPr>
            <p:cNvGrpSpPr/>
            <p:nvPr/>
          </p:nvGrpSpPr>
          <p:grpSpPr>
            <a:xfrm>
              <a:off x="873689" y="2143879"/>
              <a:ext cx="799039" cy="968327"/>
              <a:chOff x="924335" y="4631310"/>
              <a:chExt cx="1141060" cy="1382806"/>
            </a:xfrm>
          </p:grpSpPr>
          <p:grpSp>
            <p:nvGrpSpPr>
              <p:cNvPr id="11" name="Group 40">
                <a:extLst>
                  <a:ext uri="{FF2B5EF4-FFF2-40B4-BE49-F238E27FC236}">
                    <a16:creationId xmlns:a16="http://schemas.microsoft.com/office/drawing/2014/main" id="{3758BDA2-86BE-2FA0-3DD6-0AABD2E80CC6}"/>
                  </a:ext>
                </a:extLst>
              </p:cNvPr>
              <p:cNvGrpSpPr/>
              <p:nvPr/>
            </p:nvGrpSpPr>
            <p:grpSpPr>
              <a:xfrm>
                <a:off x="924335" y="4631310"/>
                <a:ext cx="1093214" cy="991929"/>
                <a:chOff x="266346" y="1765862"/>
                <a:chExt cx="1093291" cy="991999"/>
              </a:xfrm>
            </p:grpSpPr>
            <p:pic>
              <p:nvPicPr>
                <p:cNvPr id="15" name="Google Shape;2695;p278">
                  <a:extLst>
                    <a:ext uri="{FF2B5EF4-FFF2-40B4-BE49-F238E27FC236}">
                      <a16:creationId xmlns:a16="http://schemas.microsoft.com/office/drawing/2014/main" id="{04B1D4BA-53F0-F604-E9B4-A17CF8BB691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266346" y="1765862"/>
                  <a:ext cx="677450" cy="6225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" name="Google Shape;2696;p278" descr="twitter-ads-800x390.png">
                  <a:extLst>
                    <a:ext uri="{FF2B5EF4-FFF2-40B4-BE49-F238E27FC236}">
                      <a16:creationId xmlns:a16="http://schemas.microsoft.com/office/drawing/2014/main" id="{B3A0B7FC-4D7C-47E3-FB59-83A8A0BC8C4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l="11388" r="20699"/>
                <a:stretch/>
              </p:blipFill>
              <p:spPr>
                <a:xfrm>
                  <a:off x="306747" y="2343108"/>
                  <a:ext cx="577745" cy="4147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" name="Google Shape;2697;p278">
                  <a:extLst>
                    <a:ext uri="{FF2B5EF4-FFF2-40B4-BE49-F238E27FC236}">
                      <a16:creationId xmlns:a16="http://schemas.microsoft.com/office/drawing/2014/main" id="{8B61CB83-42DF-5D78-24F6-1B2B7D3ACCB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/>
                <a:stretch/>
              </p:blipFill>
              <p:spPr>
                <a:xfrm>
                  <a:off x="1049058" y="1867608"/>
                  <a:ext cx="310579" cy="3462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2" name="Picture 4" descr="new-tiktok-logo-png-vertical-full-colour – International Museum of Surgical  Science">
                <a:extLst>
                  <a:ext uri="{FF2B5EF4-FFF2-40B4-BE49-F238E27FC236}">
                    <a16:creationId xmlns:a16="http://schemas.microsoft.com/office/drawing/2014/main" id="{F5F5B1B4-DEC5-C17D-AF6C-6B646D2AC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1395" y="5647179"/>
                <a:ext cx="299981" cy="3318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6" descr="pinterest-logo-transparent-png-4 - Show Pony Creative">
                <a:extLst>
                  <a:ext uri="{FF2B5EF4-FFF2-40B4-BE49-F238E27FC236}">
                    <a16:creationId xmlns:a16="http://schemas.microsoft.com/office/drawing/2014/main" id="{401B4BEE-35FA-E9AE-A5B8-3D10305F26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6244" y="5647179"/>
                <a:ext cx="589151" cy="3669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Meta logo transparent PNG - StickPNG">
                <a:extLst>
                  <a:ext uri="{FF2B5EF4-FFF2-40B4-BE49-F238E27FC236}">
                    <a16:creationId xmlns:a16="http://schemas.microsoft.com/office/drawing/2014/main" id="{1CCD3A23-BE06-CBA7-7C46-2E491F0537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56" y="5263651"/>
                <a:ext cx="570727" cy="3210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Group 35">
              <a:extLst>
                <a:ext uri="{FF2B5EF4-FFF2-40B4-BE49-F238E27FC236}">
                  <a16:creationId xmlns:a16="http://schemas.microsoft.com/office/drawing/2014/main" id="{80BEF4FA-9AFC-3978-35F0-FF485E6C951E}"/>
                </a:ext>
              </a:extLst>
            </p:cNvPr>
            <p:cNvGrpSpPr/>
            <p:nvPr/>
          </p:nvGrpSpPr>
          <p:grpSpPr>
            <a:xfrm>
              <a:off x="1666277" y="2175648"/>
              <a:ext cx="813319" cy="586562"/>
              <a:chOff x="2639446" y="4316330"/>
              <a:chExt cx="1095111" cy="789791"/>
            </a:xfrm>
          </p:grpSpPr>
          <p:pic>
            <p:nvPicPr>
              <p:cNvPr id="9" name="Picture 2" descr="Google Display &amp; Video 360 (DV360) Advertising - Viden | Digital Marketing  Consultancy | Google Certified">
                <a:extLst>
                  <a:ext uri="{FF2B5EF4-FFF2-40B4-BE49-F238E27FC236}">
                    <a16:creationId xmlns:a16="http://schemas.microsoft.com/office/drawing/2014/main" id="{862118A9-4A97-2A86-5A8E-0F92F557AB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9446" y="4316330"/>
                <a:ext cx="1058812" cy="402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4" descr="ELT with Amazon Ads">
                <a:extLst>
                  <a:ext uri="{FF2B5EF4-FFF2-40B4-BE49-F238E27FC236}">
                    <a16:creationId xmlns:a16="http://schemas.microsoft.com/office/drawing/2014/main" id="{515B8B96-DFAD-C8E8-8836-AE50628C0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2472" y="4842530"/>
                <a:ext cx="1022085" cy="2635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9" name="Picture 10" descr="Microsoft office 365 excel logo - Social media &amp; Logos Icons">
            <a:extLst>
              <a:ext uri="{FF2B5EF4-FFF2-40B4-BE49-F238E27FC236}">
                <a16:creationId xmlns:a16="http://schemas.microsoft.com/office/drawing/2014/main" id="{E490424F-8B79-3DB6-D356-FA5D7B3FB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02" y="3802973"/>
            <a:ext cx="220243" cy="23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 descr="Flashtalking by Mediaocean anuncia novas parcerias internacionais exclusivas abrangendo 89 mercados">
            <a:extLst>
              <a:ext uri="{FF2B5EF4-FFF2-40B4-BE49-F238E27FC236}">
                <a16:creationId xmlns:a16="http://schemas.microsoft.com/office/drawing/2014/main" id="{EAECAC3C-4988-E51B-72D8-39522FE9A3D3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1672" y="3787372"/>
            <a:ext cx="498312" cy="249156"/>
          </a:xfrm>
          <a:prstGeom prst="rect">
            <a:avLst/>
          </a:prstGeom>
        </p:spPr>
      </p:pic>
      <p:pic>
        <p:nvPicPr>
          <p:cNvPr id="21" name="Picture 6" descr="Api - Free ui icons">
            <a:extLst>
              <a:ext uri="{FF2B5EF4-FFF2-40B4-BE49-F238E27FC236}">
                <a16:creationId xmlns:a16="http://schemas.microsoft.com/office/drawing/2014/main" id="{58027359-1BC3-0ED9-A27E-5243BDEA0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duotone>
              <a:srgbClr val="535353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009" y="3361044"/>
            <a:ext cx="541591" cy="58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adverity-logo - DATAVERSITY">
            <a:extLst>
              <a:ext uri="{FF2B5EF4-FFF2-40B4-BE49-F238E27FC236}">
                <a16:creationId xmlns:a16="http://schemas.microsoft.com/office/drawing/2014/main" id="{50A79C15-88E8-4442-B765-D341D2009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48" y="2967406"/>
            <a:ext cx="1318469" cy="39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E6E5B73D-20A4-AF99-869D-7BA3361FECDD}"/>
              </a:ext>
            </a:extLst>
          </p:cNvPr>
          <p:cNvSpPr txBox="1"/>
          <p:nvPr/>
        </p:nvSpPr>
        <p:spPr>
          <a:xfrm>
            <a:off x="148350" y="1151673"/>
            <a:ext cx="69301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Diariamente, diferentes fontes de mídia são integradas, processadas e disponibilizadas para acompanhamento dos investimentos e resultados das campanhas.</a:t>
            </a:r>
          </a:p>
        </p:txBody>
      </p:sp>
    </p:spTree>
    <p:extLst>
      <p:ext uri="{BB962C8B-B14F-4D97-AF65-F5344CB8AC3E}">
        <p14:creationId xmlns:p14="http://schemas.microsoft.com/office/powerpoint/2010/main" val="2749100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F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65C20-8CF1-1E08-7383-E40C8F6A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2864CE21-4BF9-29DE-9A35-042941230705}"/>
              </a:ext>
            </a:extLst>
          </p:cNvPr>
          <p:cNvSpPr/>
          <p:nvPr/>
        </p:nvSpPr>
        <p:spPr>
          <a:xfrm>
            <a:off x="5335905" y="2308438"/>
            <a:ext cx="6700838" cy="191283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0A57720-5FE8-968C-2E38-626F57AC21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B407690-75F3-5910-1265-EFC33E1F4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2850CC1-4617-A860-BDEA-894D661D51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089FF51B-A421-62FF-CBE5-E8B71151D339}"/>
              </a:ext>
            </a:extLst>
          </p:cNvPr>
          <p:cNvSpPr txBox="1">
            <a:spLocks/>
          </p:cNvSpPr>
          <p:nvPr/>
        </p:nvSpPr>
        <p:spPr>
          <a:xfrm>
            <a:off x="140914" y="708625"/>
            <a:ext cx="774817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4F7FF2"/>
                </a:solidFill>
                <a:latin typeface="Unilever Desire" pitchFamily="2" charset="77"/>
              </a:rPr>
              <a:t>Como funciona o fluxo de dados online?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CD667C7-7C24-0F92-4C37-53D8C4D406A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5EFF5F06-31DA-0A5D-823F-AB5C0CC26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01EBF93-E7A4-CCE6-75EB-9CF3A9D1CD49}"/>
              </a:ext>
            </a:extLst>
          </p:cNvPr>
          <p:cNvSpPr txBox="1"/>
          <p:nvPr/>
        </p:nvSpPr>
        <p:spPr>
          <a:xfrm>
            <a:off x="283952" y="2308438"/>
            <a:ext cx="6930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100">
                <a:solidFill>
                  <a:schemeClr val="bg1"/>
                </a:solidFill>
                <a:latin typeface="Unilever Desire" pitchFamily="2" charset="77"/>
              </a:rPr>
              <a:t>Mas existe um ponto crítico para que todo esse processo funcione.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D73949D-A08D-22B4-E575-128DC7542881}"/>
              </a:ext>
            </a:extLst>
          </p:cNvPr>
          <p:cNvSpPr txBox="1"/>
          <p:nvPr/>
        </p:nvSpPr>
        <p:spPr>
          <a:xfrm>
            <a:off x="283952" y="2489415"/>
            <a:ext cx="47360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>
                <a:solidFill>
                  <a:schemeClr val="bg1"/>
                </a:solidFill>
                <a:latin typeface="Unilever Desire" pitchFamily="2" charset="77"/>
              </a:rPr>
              <a:t>Os dados precisam estar corretamente classificados desde a origem.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1702B89-31FC-FDB4-814A-8B52CE050CA9}"/>
              </a:ext>
            </a:extLst>
          </p:cNvPr>
          <p:cNvSpPr txBox="1"/>
          <p:nvPr/>
        </p:nvSpPr>
        <p:spPr>
          <a:xfrm>
            <a:off x="5570221" y="2666962"/>
            <a:ext cx="61007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>
                <a:solidFill>
                  <a:schemeClr val="bg1"/>
                </a:solidFill>
                <a:latin typeface="Unilever Desire" pitchFamily="2" charset="77"/>
              </a:rPr>
              <a:t>A taxonomia é a base para a qualidade dos nossos dados.</a:t>
            </a:r>
          </a:p>
        </p:txBody>
      </p:sp>
    </p:spTree>
    <p:extLst>
      <p:ext uri="{BB962C8B-B14F-4D97-AF65-F5344CB8AC3E}">
        <p14:creationId xmlns:p14="http://schemas.microsoft.com/office/powerpoint/2010/main" val="1838077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FC58-5AE2-733B-56AF-986AD1FF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AD3A545-E99C-E48C-FFD0-2655D1A0A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75823C-D7E2-1912-0F9E-E6C6804C4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Processo</a:t>
            </a:r>
            <a:r>
              <a:rPr lang="en-US" dirty="0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C644EA1A-43B5-CA89-AF76-BA8F71867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A0F60C38-FC6C-01F0-3FAE-BCAE75CB5CFB}"/>
              </a:ext>
            </a:extLst>
          </p:cNvPr>
          <p:cNvSpPr txBox="1">
            <a:spLocks/>
          </p:cNvSpPr>
          <p:nvPr/>
        </p:nvSpPr>
        <p:spPr>
          <a:xfrm>
            <a:off x="214919" y="687019"/>
            <a:ext cx="3798796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 dirty="0">
                <a:latin typeface="Unilever Desire" pitchFamily="2" charset="77"/>
              </a:rPr>
              <a:t>Em 2026 tem uma média de erros de taxonomia acima do que permitido pela auditoria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0F7729-C5D9-C2EB-64A6-7638BC0A44F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2DA98879-9FBB-611A-683E-1CF789554B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205FFF5D-1659-73C6-4DB0-99977EA77E89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6826F9F-B9B6-E2E4-152D-3F5782F81F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1165529"/>
              </p:ext>
            </p:extLst>
          </p:nvPr>
        </p:nvGraphicFramePr>
        <p:xfrm>
          <a:off x="4268232" y="2743606"/>
          <a:ext cx="7347837" cy="361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" name="Agrupar 4">
            <a:extLst>
              <a:ext uri="{FF2B5EF4-FFF2-40B4-BE49-F238E27FC236}">
                <a16:creationId xmlns:a16="http://schemas.microsoft.com/office/drawing/2014/main" id="{8E833B8F-C4CD-87C4-1295-8D87E4E97FE9}"/>
              </a:ext>
            </a:extLst>
          </p:cNvPr>
          <p:cNvGrpSpPr/>
          <p:nvPr/>
        </p:nvGrpSpPr>
        <p:grpSpPr>
          <a:xfrm>
            <a:off x="5643319" y="753102"/>
            <a:ext cx="4301632" cy="1735479"/>
            <a:chOff x="5406621" y="848852"/>
            <a:chExt cx="3411017" cy="1377261"/>
          </a:xfrm>
        </p:grpSpPr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846E0CB2-AD1E-0001-C0F5-F59090EEB5C6}"/>
                </a:ext>
              </a:extLst>
            </p:cNvPr>
            <p:cNvSpPr/>
            <p:nvPr/>
          </p:nvSpPr>
          <p:spPr>
            <a:xfrm>
              <a:off x="7253326" y="848852"/>
              <a:ext cx="1564312" cy="1142303"/>
            </a:xfrm>
            <a:prstGeom prst="roundRect">
              <a:avLst>
                <a:gd name="adj" fmla="val 8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276A8733-5438-70C4-63C4-E760B73DB983}"/>
                </a:ext>
              </a:extLst>
            </p:cNvPr>
            <p:cNvGrpSpPr/>
            <p:nvPr/>
          </p:nvGrpSpPr>
          <p:grpSpPr>
            <a:xfrm>
              <a:off x="5406621" y="858331"/>
              <a:ext cx="3411016" cy="1367782"/>
              <a:chOff x="5406621" y="858331"/>
              <a:chExt cx="3411016" cy="1367782"/>
            </a:xfrm>
          </p:grpSpPr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DD4D57D5-6B1F-30CC-DDB4-69D18C66BAC6}"/>
                  </a:ext>
                </a:extLst>
              </p:cNvPr>
              <p:cNvGrpSpPr/>
              <p:nvPr/>
            </p:nvGrpSpPr>
            <p:grpSpPr>
              <a:xfrm>
                <a:off x="5406621" y="858331"/>
                <a:ext cx="3411016" cy="1142303"/>
                <a:chOff x="8289927" y="763436"/>
                <a:chExt cx="4257082" cy="1428750"/>
              </a:xfrm>
            </p:grpSpPr>
            <p:sp>
              <p:nvSpPr>
                <p:cNvPr id="29" name="Rounded Rectangle 5">
                  <a:extLst>
                    <a:ext uri="{FF2B5EF4-FFF2-40B4-BE49-F238E27FC236}">
                      <a16:creationId xmlns:a16="http://schemas.microsoft.com/office/drawing/2014/main" id="{4886CB37-C89C-A455-F1D0-6835EF51A148}"/>
                    </a:ext>
                  </a:extLst>
                </p:cNvPr>
                <p:cNvSpPr/>
                <p:nvPr/>
              </p:nvSpPr>
              <p:spPr>
                <a:xfrm>
                  <a:off x="8289927" y="763436"/>
                  <a:ext cx="1944936" cy="142875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0FDF4"/>
                </a:solidFill>
                <a:ln w="9525">
                  <a:solidFill>
                    <a:srgbClr val="BBF7D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Unilever Desire" pitchFamily="2" charset="77"/>
                  </a:endParaRPr>
                </a:p>
              </p:txBody>
            </p:sp>
            <p:sp>
              <p:nvSpPr>
                <p:cNvPr id="30" name="TextBox 18">
                  <a:extLst>
                    <a:ext uri="{FF2B5EF4-FFF2-40B4-BE49-F238E27FC236}">
                      <a16:creationId xmlns:a16="http://schemas.microsoft.com/office/drawing/2014/main" id="{A0C9DFD5-E8CA-7D50-006B-FE7B63864245}"/>
                    </a:ext>
                  </a:extLst>
                </p:cNvPr>
                <p:cNvSpPr txBox="1"/>
                <p:nvPr/>
              </p:nvSpPr>
              <p:spPr>
                <a:xfrm>
                  <a:off x="8528052" y="1310449"/>
                  <a:ext cx="2105562" cy="511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ts val="3300"/>
                    </a:lnSpc>
                  </a:pPr>
                  <a:r>
                    <a:rPr lang="pt-BR" sz="5400" b="1" u="none" dirty="0">
                      <a:solidFill>
                        <a:srgbClr val="15803D"/>
                      </a:solidFill>
                      <a:latin typeface="Unilever Desire" pitchFamily="2" charset="77"/>
                    </a:rPr>
                    <a:t>66%</a:t>
                  </a:r>
                  <a:endParaRPr sz="5400" b="1" u="none" dirty="0">
                    <a:solidFill>
                      <a:srgbClr val="15803D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1" name="TextBox 19">
                  <a:extLst>
                    <a:ext uri="{FF2B5EF4-FFF2-40B4-BE49-F238E27FC236}">
                      <a16:creationId xmlns:a16="http://schemas.microsoft.com/office/drawing/2014/main" id="{45980962-FE23-E6B1-6186-B2E2DBE00E5C}"/>
                    </a:ext>
                  </a:extLst>
                </p:cNvPr>
                <p:cNvSpPr txBox="1"/>
                <p:nvPr/>
              </p:nvSpPr>
              <p:spPr>
                <a:xfrm>
                  <a:off x="8528052" y="1630212"/>
                  <a:ext cx="1736547" cy="185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endParaRPr sz="1050" b="0" i="0" u="none" dirty="0">
                    <a:solidFill>
                      <a:srgbClr val="166534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2" name="TextBox 22">
                  <a:extLst>
                    <a:ext uri="{FF2B5EF4-FFF2-40B4-BE49-F238E27FC236}">
                      <a16:creationId xmlns:a16="http://schemas.microsoft.com/office/drawing/2014/main" id="{4C13B784-971B-A1A2-FA50-05A98676F646}"/>
                    </a:ext>
                  </a:extLst>
                </p:cNvPr>
                <p:cNvSpPr txBox="1"/>
                <p:nvPr/>
              </p:nvSpPr>
              <p:spPr>
                <a:xfrm>
                  <a:off x="8565958" y="909206"/>
                  <a:ext cx="1112603" cy="2021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lang="pt-BR" sz="1050" i="0" u="none" dirty="0">
                      <a:solidFill>
                        <a:srgbClr val="15803D"/>
                      </a:solidFill>
                      <a:latin typeface="Unilever Desire" pitchFamily="2" charset="77"/>
                    </a:rPr>
                    <a:t>YTD</a:t>
                  </a:r>
                  <a:endParaRPr sz="1050" i="0" u="none" dirty="0">
                    <a:solidFill>
                      <a:srgbClr val="15803D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3" name="TextBox 18">
                  <a:extLst>
                    <a:ext uri="{FF2B5EF4-FFF2-40B4-BE49-F238E27FC236}">
                      <a16:creationId xmlns:a16="http://schemas.microsoft.com/office/drawing/2014/main" id="{0D6BB1B5-2594-F5DB-304E-12790F1D905A}"/>
                    </a:ext>
                  </a:extLst>
                </p:cNvPr>
                <p:cNvSpPr txBox="1"/>
                <p:nvPr/>
              </p:nvSpPr>
              <p:spPr>
                <a:xfrm>
                  <a:off x="10564952" y="1320516"/>
                  <a:ext cx="1982057" cy="511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ts val="3300"/>
                    </a:lnSpc>
                  </a:pPr>
                  <a:r>
                    <a:rPr lang="pt-BR" sz="5400" b="1" u="none" dirty="0">
                      <a:solidFill>
                        <a:srgbClr val="C00000"/>
                      </a:solidFill>
                      <a:latin typeface="Unilever Desire" pitchFamily="2" charset="77"/>
                    </a:rPr>
                    <a:t>34%</a:t>
                  </a:r>
                  <a:endParaRPr sz="5400" b="1" u="none" dirty="0">
                    <a:solidFill>
                      <a:srgbClr val="C00000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4" name="TextBox 22">
                  <a:extLst>
                    <a:ext uri="{FF2B5EF4-FFF2-40B4-BE49-F238E27FC236}">
                      <a16:creationId xmlns:a16="http://schemas.microsoft.com/office/drawing/2014/main" id="{31DF89DE-09E2-9FF1-76F0-53A855158AB8}"/>
                    </a:ext>
                  </a:extLst>
                </p:cNvPr>
                <p:cNvSpPr txBox="1"/>
                <p:nvPr/>
              </p:nvSpPr>
              <p:spPr>
                <a:xfrm>
                  <a:off x="10886438" y="941418"/>
                  <a:ext cx="1112603" cy="2021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lang="pt-BR" sz="1050" i="0" u="none" dirty="0">
                      <a:solidFill>
                        <a:srgbClr val="C00000"/>
                      </a:solidFill>
                      <a:latin typeface="Unilever Desire" pitchFamily="2" charset="77"/>
                    </a:rPr>
                    <a:t>YTD</a:t>
                  </a:r>
                  <a:endParaRPr sz="1050" i="0" u="none" dirty="0">
                    <a:solidFill>
                      <a:srgbClr val="C00000"/>
                    </a:solidFill>
                    <a:latin typeface="Unilever Desire" pitchFamily="2" charset="77"/>
                  </a:endParaRP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3A0F3B7-CAE0-32D9-48AE-25BF6E93CC59}"/>
                  </a:ext>
                </a:extLst>
              </p:cNvPr>
              <p:cNvSpPr txBox="1"/>
              <p:nvPr/>
            </p:nvSpPr>
            <p:spPr>
              <a:xfrm>
                <a:off x="5806949" y="1624700"/>
                <a:ext cx="788041" cy="601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050" i="0" u="none" dirty="0">
                    <a:solidFill>
                      <a:srgbClr val="15803D"/>
                    </a:solidFill>
                    <a:latin typeface="Unilever Desire" pitchFamily="2" charset="77"/>
                  </a:rPr>
                  <a:t>Correta</a:t>
                </a:r>
                <a:r>
                  <a:rPr lang="pt-BR" sz="1050" dirty="0">
                    <a:solidFill>
                      <a:srgbClr val="15803D"/>
                    </a:solidFill>
                    <a:latin typeface="Unilever Desire" pitchFamily="2" charset="77"/>
                  </a:rPr>
                  <a:t>s</a:t>
                </a:r>
              </a:p>
              <a:p>
                <a:endParaRPr lang="pt-BR" dirty="0"/>
              </a:p>
            </p:txBody>
          </p:sp>
        </p:grp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CD698DA-D2E3-37AE-15CB-62685ACEDC9C}"/>
                </a:ext>
              </a:extLst>
            </p:cNvPr>
            <p:cNvSpPr txBox="1"/>
            <p:nvPr/>
          </p:nvSpPr>
          <p:spPr>
            <a:xfrm>
              <a:off x="7394980" y="1619266"/>
              <a:ext cx="1169140" cy="20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50" i="0" u="none" dirty="0">
                  <a:solidFill>
                    <a:srgbClr val="C00000"/>
                  </a:solidFill>
                  <a:latin typeface="Unilever Desire" pitchFamily="2" charset="77"/>
                </a:rPr>
                <a:t>Erradas</a:t>
              </a:r>
              <a:endParaRPr lang="pt-BR" sz="1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521EEE7-DADE-1E18-B2DF-13C959D382C3}"/>
              </a:ext>
            </a:extLst>
          </p:cNvPr>
          <p:cNvSpPr txBox="1"/>
          <p:nvPr/>
        </p:nvSpPr>
        <p:spPr>
          <a:xfrm>
            <a:off x="229609" y="3068156"/>
            <a:ext cx="35806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Todas as vezes que a taxonomia não entra da maneira correta ou não é corrigida dentro do prazo, é contabilizado um erro que pode impactar também no RROI.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23E0B7-803C-B693-9638-1CD5447675F0}"/>
              </a:ext>
            </a:extLst>
          </p:cNvPr>
          <p:cNvSpPr/>
          <p:nvPr/>
        </p:nvSpPr>
        <p:spPr>
          <a:xfrm>
            <a:off x="7046485" y="2488581"/>
            <a:ext cx="965047" cy="965047"/>
          </a:xfrm>
          <a:prstGeom prst="ellipse">
            <a:avLst/>
          </a:prstGeom>
          <a:noFill/>
          <a:ln w="28575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1289A736-0F21-2BBE-6B66-CB628B1CEED5}"/>
              </a:ext>
            </a:extLst>
          </p:cNvPr>
          <p:cNvSpPr txBox="1">
            <a:spLocks/>
          </p:cNvSpPr>
          <p:nvPr/>
        </p:nvSpPr>
        <p:spPr>
          <a:xfrm>
            <a:off x="8064938" y="2909548"/>
            <a:ext cx="159323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Impacto da nova </a:t>
            </a:r>
            <a:r>
              <a:rPr lang="en-US" dirty="0" err="1"/>
              <a:t>documentação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160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C08A-E5FB-B161-7EAD-C40A30F7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9C1D74F-6FBC-9557-76BF-1568ED56A0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5BE1D0B-C4B5-EFEB-5E0E-343E6E0FAC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ECB6ECFE-A95F-DE8C-16C2-AE0CE18263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A444D8-68FB-8D57-45FB-9BEDBEA2860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F166DF00-7E67-5AF6-8B99-F6D496C44F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44B9BE70-B59D-8FBF-6389-BABCE2DDEC15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88CE6F6-E633-9565-1672-4CE0C84CADD2}"/>
              </a:ext>
            </a:extLst>
          </p:cNvPr>
          <p:cNvGrpSpPr/>
          <p:nvPr/>
        </p:nvGrpSpPr>
        <p:grpSpPr>
          <a:xfrm>
            <a:off x="2484633" y="816024"/>
            <a:ext cx="9369071" cy="5699864"/>
            <a:chOff x="3367238" y="1707356"/>
            <a:chExt cx="8467920" cy="4598312"/>
          </a:xfrm>
        </p:grpSpPr>
        <p:graphicFrame>
          <p:nvGraphicFramePr>
            <p:cNvPr id="6" name="Gráfico 5">
              <a:extLst>
                <a:ext uri="{FF2B5EF4-FFF2-40B4-BE49-F238E27FC236}">
                  <a16:creationId xmlns:a16="http://schemas.microsoft.com/office/drawing/2014/main" id="{6D511C4A-68D4-9C1C-626B-51FE7AD3155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83095861"/>
                </p:ext>
              </p:extLst>
            </p:nvPr>
          </p:nvGraphicFramePr>
          <p:xfrm>
            <a:off x="3367238" y="1985964"/>
            <a:ext cx="4076700" cy="19223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68786AC-0C4E-2D34-F028-1BE7405D2F32}"/>
                </a:ext>
              </a:extLst>
            </p:cNvPr>
            <p:cNvSpPr/>
            <p:nvPr/>
          </p:nvSpPr>
          <p:spPr>
            <a:xfrm>
              <a:off x="3367238" y="1707356"/>
              <a:ext cx="4076700" cy="2762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pt-BR" sz="1400" b="1">
                  <a:solidFill>
                    <a:schemeClr val="tx1"/>
                  </a:solidFill>
                  <a:latin typeface="Unilever Desire" pitchFamily="2" charset="77"/>
                  <a:ea typeface="Roboto Lt" panose="02000000000000000000" pitchFamily="2" charset="0"/>
                  <a:cs typeface="Arial" panose="020B0604020202020204" pitchFamily="34" charset="0"/>
                </a:rPr>
                <a:t>B&amp;W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9D5CE26-1191-A21B-970D-ED181882F1C2}"/>
                </a:ext>
              </a:extLst>
            </p:cNvPr>
            <p:cNvSpPr/>
            <p:nvPr/>
          </p:nvSpPr>
          <p:spPr>
            <a:xfrm>
              <a:off x="7738712" y="1707356"/>
              <a:ext cx="4076700" cy="2762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pt-BR" sz="1400" b="1">
                  <a:solidFill>
                    <a:schemeClr val="tx1"/>
                  </a:solidFill>
                  <a:latin typeface="Unilever Desire" pitchFamily="2" charset="77"/>
                  <a:ea typeface="Roboto Lt" panose="02000000000000000000" pitchFamily="2" charset="0"/>
                  <a:cs typeface="Arial" panose="020B0604020202020204" pitchFamily="34" charset="0"/>
                </a:rPr>
                <a:t>NT/IC</a:t>
              </a:r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2297EE92-2152-C8B0-0A89-4098B2F600D0}"/>
                </a:ext>
              </a:extLst>
            </p:cNvPr>
            <p:cNvGrpSpPr/>
            <p:nvPr/>
          </p:nvGrpSpPr>
          <p:grpSpPr>
            <a:xfrm>
              <a:off x="3367238" y="4105976"/>
              <a:ext cx="8448174" cy="276227"/>
              <a:chOff x="3367238" y="1803230"/>
              <a:chExt cx="8448174" cy="332773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742167D1-BC8B-1216-0D67-BEB8457FFCBE}"/>
                  </a:ext>
                </a:extLst>
              </p:cNvPr>
              <p:cNvSpPr/>
              <p:nvPr/>
            </p:nvSpPr>
            <p:spPr>
              <a:xfrm>
                <a:off x="3367238" y="1803230"/>
                <a:ext cx="4076700" cy="3327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pt-BR" sz="1400" b="1">
                    <a:solidFill>
                      <a:schemeClr val="tx1"/>
                    </a:solidFill>
                    <a:latin typeface="Unilever Desire" pitchFamily="2" charset="77"/>
                    <a:ea typeface="Roboto Lt" panose="02000000000000000000" pitchFamily="2" charset="0"/>
                    <a:cs typeface="Arial" panose="020B0604020202020204" pitchFamily="34" charset="0"/>
                  </a:rPr>
                  <a:t>HC</a:t>
                </a: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7C07D0C4-70E2-890A-8840-8B7D59F11211}"/>
                  </a:ext>
                </a:extLst>
              </p:cNvPr>
              <p:cNvSpPr/>
              <p:nvPr/>
            </p:nvSpPr>
            <p:spPr>
              <a:xfrm>
                <a:off x="7738712" y="1803230"/>
                <a:ext cx="4076700" cy="3327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pt-BR" sz="1400" b="1">
                    <a:solidFill>
                      <a:schemeClr val="tx1"/>
                    </a:solidFill>
                    <a:latin typeface="Unilever Desire" pitchFamily="2" charset="77"/>
                    <a:ea typeface="Roboto Lt" panose="02000000000000000000" pitchFamily="2" charset="0"/>
                    <a:cs typeface="Arial" panose="020B0604020202020204" pitchFamily="34" charset="0"/>
                  </a:rPr>
                  <a:t>PC</a:t>
                </a:r>
              </a:p>
            </p:txBody>
          </p:sp>
        </p:grpSp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4EB2E04B-CAD1-175D-F040-E389899DC87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32262943"/>
                </p:ext>
              </p:extLst>
            </p:nvPr>
          </p:nvGraphicFramePr>
          <p:xfrm>
            <a:off x="7756358" y="1985964"/>
            <a:ext cx="4078800" cy="19223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3" name="Gráfico 12">
              <a:extLst>
                <a:ext uri="{FF2B5EF4-FFF2-40B4-BE49-F238E27FC236}">
                  <a16:creationId xmlns:a16="http://schemas.microsoft.com/office/drawing/2014/main" id="{ACE9461D-0CD9-61CC-4FAD-F512DBEF89F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24548554"/>
                </p:ext>
              </p:extLst>
            </p:nvPr>
          </p:nvGraphicFramePr>
          <p:xfrm>
            <a:off x="7736613" y="4382841"/>
            <a:ext cx="4078799" cy="191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CF300B9F-6C26-5EA2-8D98-2959CB76E1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70879903"/>
                </p:ext>
              </p:extLst>
            </p:nvPr>
          </p:nvGraphicFramePr>
          <p:xfrm>
            <a:off x="3367238" y="4386868"/>
            <a:ext cx="4060800" cy="191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2" name="Título 27">
            <a:extLst>
              <a:ext uri="{FF2B5EF4-FFF2-40B4-BE49-F238E27FC236}">
                <a16:creationId xmlns:a16="http://schemas.microsoft.com/office/drawing/2014/main" id="{6AD8260F-4A68-FCA9-AAB9-4CED6F49FB34}"/>
              </a:ext>
            </a:extLst>
          </p:cNvPr>
          <p:cNvSpPr txBox="1">
            <a:spLocks/>
          </p:cNvSpPr>
          <p:nvPr/>
        </p:nvSpPr>
        <p:spPr>
          <a:xfrm>
            <a:off x="229609" y="828927"/>
            <a:ext cx="2080646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>
                <a:latin typeface="Unilever Desire" pitchFamily="2" charset="77"/>
              </a:rPr>
              <a:t>Evolução Mensal </a:t>
            </a:r>
          </a:p>
          <a:p>
            <a:pPr algn="l"/>
            <a:r>
              <a:rPr lang="pt-BR" sz="2400" b="1">
                <a:solidFill>
                  <a:srgbClr val="4F7FF2"/>
                </a:solidFill>
                <a:latin typeface="Unilever Desire" pitchFamily="2" charset="77"/>
              </a:rPr>
              <a:t>Erros por BU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2B1E0-811F-E4BA-1A0B-5D642FB8CBBD}"/>
              </a:ext>
            </a:extLst>
          </p:cNvPr>
          <p:cNvSpPr txBox="1"/>
          <p:nvPr/>
        </p:nvSpPr>
        <p:spPr>
          <a:xfrm>
            <a:off x="229609" y="2032030"/>
            <a:ext cx="1928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O </a:t>
            </a:r>
            <a:r>
              <a:rPr lang="pt-BR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Analytics</a:t>
            </a: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 da BU pode dar um suporte para revisar a RM antes de ser pedido pra </a:t>
            </a:r>
            <a:r>
              <a:rPr lang="pt-BR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StormX</a:t>
            </a: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338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5960-18A4-8BF3-EA95-C4B7B9DD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6747143-23D3-F51D-903D-B65ADD1CCC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7D47724-2361-A4FA-6847-18A72C843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B8E4E8DB-9699-126A-6CD2-3DCA5A00DBE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637577B-1DDC-CD65-3981-5F671512ADA8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E9255973-3811-078E-EBC2-57BC77BD31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DE6FE125-A17F-DB72-A635-444149551C22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62F3DF5-B86D-CBEA-0E19-C91057B9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951" y="899710"/>
            <a:ext cx="11569912" cy="614765"/>
          </a:xfrm>
        </p:spPr>
        <p:txBody>
          <a:bodyPr/>
          <a:lstStyle/>
          <a:p>
            <a:r>
              <a:rPr lang="en-US" sz="3600" b="1" dirty="0">
                <a:latin typeface="Unilever Desire" pitchFamily="2" charset="77"/>
              </a:rPr>
              <a:t>DV, META E TIKTOK </a:t>
            </a:r>
            <a:r>
              <a:rPr lang="en-US" sz="3600" b="1" dirty="0" err="1">
                <a:latin typeface="Unilever Desire" pitchFamily="2" charset="77"/>
              </a:rPr>
              <a:t>são</a:t>
            </a:r>
            <a:r>
              <a:rPr lang="en-US" sz="3600" b="1" dirty="0">
                <a:latin typeface="Unilever Desire" pitchFamily="2" charset="77"/>
              </a:rPr>
              <a:t> as </a:t>
            </a:r>
            <a:r>
              <a:rPr lang="en-US" sz="3600" b="1" dirty="0" err="1">
                <a:latin typeface="Unilever Desire" pitchFamily="2" charset="77"/>
              </a:rPr>
              <a:t>plataformas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que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mais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temos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errado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taxonomia</a:t>
            </a:r>
            <a:endParaRPr lang="en-US" sz="3600" b="1" dirty="0">
              <a:latin typeface="Unilever Desire" pitchFamily="2" charset="77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0499CC36-F4CB-9DB2-A45B-C84596114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466961"/>
              </p:ext>
            </p:extLst>
          </p:nvPr>
        </p:nvGraphicFramePr>
        <p:xfrm>
          <a:off x="567903" y="2398383"/>
          <a:ext cx="10920200" cy="3773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5679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02A3-48C6-1552-5DC9-45E9AC16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D24DEE0-BB30-D29E-2BC9-46352CC266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D6B02FF-816A-4328-2F7E-56CB389D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EADFBDA-E328-75C0-1A7B-076177ABFEA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A759264-4E9C-4980-7C57-3F434CF2C5CA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3FDFC8F9-DB2E-8987-3641-4539BA9CE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D7B8317B-466D-0B98-B6C3-EBAA99B983F0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16C99F1-9998-F490-E3A9-EF2344A0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Título 27">
            <a:extLst>
              <a:ext uri="{FF2B5EF4-FFF2-40B4-BE49-F238E27FC236}">
                <a16:creationId xmlns:a16="http://schemas.microsoft.com/office/drawing/2014/main" id="{4D391F47-35E0-96E4-FDB9-4FDC9B37F322}"/>
              </a:ext>
            </a:extLst>
          </p:cNvPr>
          <p:cNvSpPr txBox="1">
            <a:spLocks/>
          </p:cNvSpPr>
          <p:nvPr/>
        </p:nvSpPr>
        <p:spPr>
          <a:xfrm>
            <a:off x="283952" y="2705055"/>
            <a:ext cx="413352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b="1" dirty="0">
                <a:latin typeface="Unilever Desire" pitchFamily="2" charset="77"/>
              </a:rPr>
              <a:t>O que temos errado? </a:t>
            </a:r>
            <a:endParaRPr lang="pt-BR" sz="4000" b="1" dirty="0">
              <a:solidFill>
                <a:srgbClr val="4F7FF2"/>
              </a:solidFill>
              <a:latin typeface="Unilever Desire" pitchFamily="2" charset="77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FD5674AF-73B3-7CF8-358F-73799D1B31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611712"/>
              </p:ext>
            </p:extLst>
          </p:nvPr>
        </p:nvGraphicFramePr>
        <p:xfrm>
          <a:off x="2600840" y="1145695"/>
          <a:ext cx="9307208" cy="5364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ítulo 27">
            <a:extLst>
              <a:ext uri="{FF2B5EF4-FFF2-40B4-BE49-F238E27FC236}">
                <a16:creationId xmlns:a16="http://schemas.microsoft.com/office/drawing/2014/main" id="{24E7056B-FB4F-667F-E3A4-4D001FB66D82}"/>
              </a:ext>
            </a:extLst>
          </p:cNvPr>
          <p:cNvSpPr txBox="1">
            <a:spLocks/>
          </p:cNvSpPr>
          <p:nvPr/>
        </p:nvSpPr>
        <p:spPr>
          <a:xfrm>
            <a:off x="243496" y="6621201"/>
            <a:ext cx="413352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100" i="1" dirty="0">
                <a:solidFill>
                  <a:schemeClr val="bg1">
                    <a:lumMod val="75000"/>
                  </a:schemeClr>
                </a:solidFill>
                <a:latin typeface="Unilever Desire" pitchFamily="2" charset="77"/>
              </a:rPr>
              <a:t>Dados considerados do Ad </a:t>
            </a:r>
            <a:r>
              <a:rPr lang="pt-BR" sz="1100" i="1" dirty="0" err="1">
                <a:solidFill>
                  <a:schemeClr val="bg1">
                    <a:lumMod val="75000"/>
                  </a:schemeClr>
                </a:solidFill>
                <a:latin typeface="Unilever Desire" pitchFamily="2" charset="77"/>
              </a:rPr>
              <a:t>Name</a:t>
            </a:r>
            <a:endParaRPr lang="pt-BR" sz="1100" i="1" dirty="0">
              <a:solidFill>
                <a:schemeClr val="bg1">
                  <a:lumMod val="75000"/>
                </a:schemeClr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6191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609600" y="1158240"/>
            <a:ext cx="10972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Treinamento Operação Unilever 2026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09600" y="1706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300"/>
            </a:pPr>
            <a:r>
              <a:rPr lang="en-US" sz="17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Agência, Stormx e </a:t>
            </a:r>
            <a:r>
              <a:rPr lang="en-US" sz="1733">
                <a:solidFill>
                  <a:schemeClr val="lt1"/>
                </a:solidFill>
              </a:rPr>
              <a:t>Innovid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Taxonomia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0960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755904" y="1536192"/>
            <a:ext cx="324307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que é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55904" y="1877568"/>
            <a:ext cx="324307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Sistema de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nomenclatura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padronizado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de Campaign, Ad Group e Ad Name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veículos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digitais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para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qualquer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pessoa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entender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o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representa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32816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474464" y="1536192"/>
            <a:ext cx="324307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Por que importa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474464" y="1877568"/>
            <a:ext cx="324307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Quebra de estrutura, confusão entre plataformas ou campo fora do padrão da UL Brasil podem tirar investimento, impressões e cliques do dashboard e do RROI.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4672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8193024" y="1511808"/>
            <a:ext cx="32430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1"/>
              </a:buClr>
              <a:buSzPts val="2600"/>
            </a:pPr>
            <a:r>
              <a:rPr lang="en-US" sz="3467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30 dias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8193024" y="2121408"/>
            <a:ext cx="32430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lt1"/>
              </a:buClr>
              <a:buSzPts val="950"/>
            </a:pPr>
            <a:r>
              <a:rPr lang="en-US" sz="1200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 janela para corrigir na plataforma e no banco de dados e contabilizar no dashboard e no RROI.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9600" y="2987040"/>
            <a:ext cx="10972800" cy="3194304"/>
          </a:xfrm>
          <a:prstGeom prst="roundRect">
            <a:avLst>
              <a:gd name="adj" fmla="val 381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853440" y="3072384"/>
            <a:ext cx="104851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Estrutura da taxonomia: dois tipos de campos obrigatórios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53440" y="3486912"/>
            <a:ext cx="3779520" cy="341376"/>
          </a:xfrm>
          <a:prstGeom prst="roundRect">
            <a:avLst>
              <a:gd name="adj" fmla="val 35714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Campos Galileo (mandatórios Global)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853440" y="3889248"/>
            <a:ext cx="499872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Padronizados pela Unilever, para consistência e governança internacional. Separados por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“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_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”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Não podem ser adicionados, removidos ou alterados sem autorização da UL Global.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96000" y="3486912"/>
            <a:ext cx="3779520" cy="341376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Campos Freetext (mandatórios Brasil)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096000" y="3889248"/>
            <a:ext cx="5242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Definidos localmente, para complementar o mercado brasileiro. Separados por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“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|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”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Dropdown novo não espera a UL Global, mas se alinha com a UL Brasil antes.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53440" y="4608576"/>
            <a:ext cx="48768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Exemplo de taxonomia de Meta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53440" y="4901184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097024" y="4901184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194560" y="4901184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cn010790-legacy-(hellmann's-world)_mayo_hellmann's_opauc_nocollab_awa_legacy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|brdlft-y|promo|na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53440" y="5315712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097024" y="5315712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194560" y="5315712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no1pd_int-fodrk-recipes_ad_25-55_legacy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|reach|meta|cpm|nacional|nac|behav|advantage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53440" y="5730240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097024" y="5730240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194560" y="5730240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legacy-promo-4x5-meta-15s_vid_brand_nshop_15s_na_bsay_na_fed-stor-reel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|brd|na|promo-15-SX00010803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ADP, CN Code e Campaign Name</a:t>
            </a:r>
            <a:endParaRPr>
              <a:latin typeface="Unilever Desire" pitchFamily="2" charset="77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09600" y="140208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Rotina semanal do ADP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960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79248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Segunda, 7h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79248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UL Global aprova as solicitações.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3950208" y="2414016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5" name="Google Shape;115;p4"/>
          <p:cNvSpPr/>
          <p:nvPr/>
        </p:nvSpPr>
        <p:spPr>
          <a:xfrm>
            <a:off x="445008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463296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Sexta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63296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Global envia a atualização do Galileo e do UNCC. A Stormx inclui as novidades no ADP.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7790688" y="2414016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4"/>
          <p:cNvSpPr/>
          <p:nvPr/>
        </p:nvSpPr>
        <p:spPr>
          <a:xfrm>
            <a:off x="829056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47344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 seguinte até 17h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47344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envia aos times o novo ADP (Galileo e FreeText) e atualiza a RM online no SharePoint.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09600" y="3267456"/>
            <a:ext cx="85344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 fora da lista do Global (CN Code)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0960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3152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Pedido à UL Global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73152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Feito pelo time da Unilever responsável (marketing ou mídia da BU).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258470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7" name="Google Shape;127;p4"/>
          <p:cNvSpPr/>
          <p:nvPr/>
        </p:nvSpPr>
        <p:spPr>
          <a:xfrm>
            <a:off x="286512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98704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Aguardar ou consultar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98704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Esperar a próxima atualização da UL Global ou consultar a UL Brasil.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484022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4"/>
          <p:cNvSpPr/>
          <p:nvPr/>
        </p:nvSpPr>
        <p:spPr>
          <a:xfrm>
            <a:off x="512064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24256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 Brasil autoriza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24256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CN Code e o Campaign, idênticos aos do UNCC.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709574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" name="Google Shape;135;p4"/>
          <p:cNvSpPr/>
          <p:nvPr/>
        </p:nvSpPr>
        <p:spPr>
          <a:xfrm>
            <a:off x="737616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49808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formaliza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49808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E-mail para a Stormx, com o print da autorização da UL Brasil.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935126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" name="Google Shape;139;p4"/>
          <p:cNvSpPr/>
          <p:nvPr/>
        </p:nvSpPr>
        <p:spPr>
          <a:xfrm>
            <a:off x="963168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75360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cadastra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975360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CN Code e Campaign na RM versão 6.0.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9600" y="5364480"/>
            <a:ext cx="10972800" cy="853440"/>
          </a:xfrm>
          <a:prstGeom prst="roundRect">
            <a:avLst>
              <a:gd name="adj" fmla="val 14286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53440" y="5364480"/>
            <a:ext cx="1048512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1000"/>
            </a:pPr>
            <a:r>
              <a:rPr lang="en-US" sz="1333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Name: 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nome da campanha global, definido pelo Global da Unilever. O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</a:rPr>
              <a:t>s DMCs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solicitam diretamente à Unilever, que aprova e envia a atualização à Stormx às sextas. A Stormx inclui no ADP enviado aos mídias toda segunda.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Plano de Mídia | Camphouse</a:t>
            </a:r>
            <a:endParaRPr>
              <a:latin typeface="Unilever Desire" pitchFamily="2" charset="77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09600" y="1402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200"/>
            </a:pP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Sistema online onde os planos de mídia são cadastrados e aprovados, com acesso da agência e da Unilever.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96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315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cadastra o plano e envia para aprovação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2192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30967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" name="Google Shape;155;p5"/>
          <p:cNvSpPr/>
          <p:nvPr/>
        </p:nvSpPr>
        <p:spPr>
          <a:xfrm>
            <a:off x="34544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5763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 aprova a linha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0640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59415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5"/>
          <p:cNvSpPr/>
          <p:nvPr/>
        </p:nvSpPr>
        <p:spPr>
          <a:xfrm>
            <a:off x="62992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4211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exporta o plano e preenche a RM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9088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87863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3" name="Google Shape;163;p5"/>
          <p:cNvSpPr/>
          <p:nvPr/>
        </p:nvSpPr>
        <p:spPr>
          <a:xfrm>
            <a:off x="91440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92659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cria a taxonomia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7536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0960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9248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UL Brasil controla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79248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controla o Camphouse é a UL Brasil: ajusta as informações e inclui novas opções de dropdown.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816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451104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Regras e definições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451104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Traz as regras do UNCC Global e da documentação da UL Brasil. O mídia preenche tudo de acordo com elas. Informação errada no Camphouse fica errada na RM e chega errada para a Stormx, podendo ser repassada para a taxonomia.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04672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22960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no fluxo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22960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Nas campanhas digitais, a Stormx também entra no fluxo, para ver o que foi pedido e já incluir as novidades no ADP e no dicionário. Se algo novo chega ao mídia e não é repassado, é preciso consultar a UL, o que atrasa a demanda.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09600" y="5791200"/>
            <a:ext cx="10972800" cy="426720"/>
          </a:xfrm>
          <a:prstGeom prst="roundRect">
            <a:avLst>
              <a:gd name="adj" fmla="val 2857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53440" y="5791200"/>
            <a:ext cx="104851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a linha aprovada, o mídia já pode exportar o plano e preencher a RM.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RM | O que é, atualizações e versionamento</a:t>
            </a:r>
            <a:endParaRPr>
              <a:latin typeface="Unilever Desire" pitchFamily="2" charset="77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09600" y="1463040"/>
            <a:ext cx="5364480" cy="2133600"/>
          </a:xfrm>
          <a:prstGeom prst="roundRect">
            <a:avLst>
              <a:gd name="adj" fmla="val 5714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792480" y="1548384"/>
            <a:ext cx="24384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que é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91840" y="1548384"/>
            <a:ext cx="249936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00"/>
            </a:pPr>
            <a:r>
              <a:rPr lang="en-US" sz="1200" b="1" dirty="0">
                <a:solidFill>
                  <a:schemeClr val="lt1"/>
                </a:solidFill>
                <a:latin typeface="Unilever Desire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RM_Stormx_2026_v6.0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92480" y="1975104"/>
            <a:ext cx="4998720" cy="158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Documento online enviado pelos mídias, com o briefing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,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o plano de mídia e todas as informações para a Stormx desenvolver a taxonomia. </a:t>
            </a:r>
            <a:endParaRPr sz="1267">
              <a:solidFill>
                <a:schemeClr val="dk2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endParaRPr sz="1267">
              <a:solidFill>
                <a:schemeClr val="dk2"/>
              </a:solidFill>
              <a:latin typeface="Unilever Desire" pitchFamily="2" charset="77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Centraliza as informações e controla o status das solicitações. </a:t>
            </a:r>
            <a:endParaRPr sz="1267">
              <a:solidFill>
                <a:schemeClr val="dk2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endParaRPr sz="1267">
              <a:solidFill>
                <a:schemeClr val="dk2"/>
              </a:solidFill>
              <a:latin typeface="Unilever Desire" pitchFamily="2" charset="77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Toda solicitação é registrada na RM e sinalizada na task do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217920" y="1463040"/>
            <a:ext cx="5364480" cy="2133600"/>
          </a:xfrm>
          <a:prstGeom prst="roundRect">
            <a:avLst>
              <a:gd name="adj" fmla="val 5714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400800" y="1548384"/>
            <a:ext cx="49987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atualiza a estrutura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6400800" y="1926336"/>
            <a:ext cx="49987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é a única responsável pelos dados estruturais da RM: novos campos, regras, listas suspensas (dropdowns) e lógica. Isso muda conforme: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400800" y="2682240"/>
            <a:ext cx="14630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Galileo semanal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961376" y="2682240"/>
            <a:ext cx="97536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FreeText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034272" y="2682240"/>
            <a:ext cx="152400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Novos dropdowns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00800" y="3096768"/>
            <a:ext cx="195072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Novos planos de mídia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449056" y="3096768"/>
            <a:ext cx="280416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técnicos de padronização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609600" y="377952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Versionamento e uso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0960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75590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Só a Stormx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75590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 novas versões da RM e faz as alterações estruturais.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41376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356006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cópia por campanha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356006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mídia usa sempre a versão mais recente e cria apenas uma cópia dela, nunca uma nova versão.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21792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36422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RM ativa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36422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 solicitação ou ajuste vão na RM ativa. Não criar RM adicional: gera duplicidade e compromete o controle de status.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02208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16838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Migrar de versão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16838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aberta é usada até o encerramento. Se for migrar, a RM anterior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deve ser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desativada.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09600" y="5852160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Faltou uma opção de dropdown na RM? </a:t>
            </a:r>
            <a:r>
              <a:rPr lang="en-US" sz="14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Solicitar a inclusão à Carolina (Stormx).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RM | Preenchimento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0960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9248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36550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Exportar o plano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9248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 Camphouse, opção "Export Stormx - feito por Alexandre Parma". O sistema gera um arquivo Excel.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3938016" y="249936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0" name="Google Shape;220;p7"/>
          <p:cNvSpPr/>
          <p:nvPr/>
        </p:nvSpPr>
        <p:spPr>
          <a:xfrm>
            <a:off x="438912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57200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14502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Colar na aba Plano - Camphouse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57200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Copiar todos os dados do arquivo e colar a partir da célula C3, com Colar Especial, Valores, para evitar conflitos de formatação.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>
            <a:off x="7717536" y="249936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5" name="Google Shape;225;p7"/>
          <p:cNvSpPr/>
          <p:nvPr/>
        </p:nvSpPr>
        <p:spPr>
          <a:xfrm>
            <a:off x="816864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35152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892454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Abrir a aba do veículo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35152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Google, Programmatic, YouTube, Meta e TikTok, Pinterest, Snapchat e Twitter,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Informar o número da linha na coluna Linha, para os dados virem automaticamente.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609600" y="3681984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Alguns campos não são preenchidos automaticamente e exigem atenção manual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0960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8731C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Roxo: dropdown, obrigatório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41376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F7D777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Amarelo: livre,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sem</a:t>
            </a: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caracteres</a:t>
            </a: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especiais</a:t>
            </a:r>
            <a:endParaRPr sz="1250" dirty="0" err="1">
              <a:solidFill>
                <a:schemeClr val="dk1"/>
              </a:solidFill>
              <a:latin typeface="Unilever Desire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21792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B1CCE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Azul claro: automático, não editar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02208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D3BDFF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Roxo claro: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AdOps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(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taxonomia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, ID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Stormx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ou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pt-BR" sz="1250" b="1" err="1">
                <a:solidFill>
                  <a:schemeClr val="dk1"/>
                </a:solidFill>
                <a:latin typeface="Unilever Desire"/>
              </a:rPr>
              <a:t>Innovid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, URL e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contadores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)</a:t>
            </a:r>
            <a:endParaRPr lang="pt-BR" sz="1250">
              <a:solidFill>
                <a:schemeClr val="dk1"/>
              </a:solidFill>
              <a:latin typeface="Unilever Desire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09600" y="5120640"/>
            <a:ext cx="7193280" cy="1097280"/>
          </a:xfrm>
          <a:prstGeom prst="roundRect">
            <a:avLst>
              <a:gd name="adj" fmla="val 1111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92480" y="5120640"/>
            <a:ext cx="682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Novas linhas no Camphouse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Exportar de novo o plano, copiar só as novas linhas e colar logo abaixo da última linha já preenchida, com Colar Especial, Valores.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046720" y="5120640"/>
            <a:ext cx="3535680" cy="1097280"/>
          </a:xfrm>
          <a:prstGeom prst="roundRect">
            <a:avLst>
              <a:gd name="adj" fmla="val 1111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229600" y="5120640"/>
            <a:ext cx="31699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incompleta: o AdOps está autorizado a recusar seguir com a demanda.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RM | Status e prorrogação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0960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79248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 pedido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79248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9248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Solicitado para Stormx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79248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79248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Preencher todas as colunas da linha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Criar a task no Jira e incluir o link da RM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41376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59664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Pedido de alteração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59664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59664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Alterar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359664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359664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Destacar em amarelo as células alteradas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na task do Jira qual linha e coluna foi alterada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21792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640080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Cancelamento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640080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40080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Cancelar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40080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40080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na task do Jira qual linha deve ser cancelada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02208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920496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Prorrogação da data de implementação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920496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920496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Prorrogado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920496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920496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Atualizar a data de início, em amarelo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na task do Jira qual linha sofreu prorrogação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faz o QA da linha após a implementação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Jira e SLA</a:t>
            </a:r>
            <a:endParaRPr>
              <a:latin typeface="Unilever Desire" pitchFamily="2" charset="77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09600" y="1463040"/>
            <a:ext cx="548640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853440" y="1584960"/>
            <a:ext cx="49987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Jira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53440" y="207264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1402080" y="2048256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cria a task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1402080" y="2377440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todas as informações da solicitação e o link da RM (com o plano de mídia integrado) na descrição. Se a implementação for via tag, enviar também as peças, por link de drive, dropbox ou wetransfer.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53440" y="3438144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1402080" y="3413760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Task pai da campanha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1402080" y="3742944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Fica Em andamento até o encerramento. Novas solicitações, alterações, cancelamentos e prorrogações são sinalizados nela e atualizados na RM.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853440" y="4803648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1402080" y="4779264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Initiative ou Stormx criam as </a:t>
            </a:r>
            <a:r>
              <a:rPr lang="en-US" sz="14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subtarefas</a:t>
            </a:r>
            <a:endParaRPr lang="pt-BR" sz="1450" err="1">
              <a:solidFill>
                <a:schemeClr val="dk1"/>
              </a:solidFill>
              <a:latin typeface="Unilever Desire"/>
              <a:ea typeface="Arial"/>
              <a:cs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402080" y="5108448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Internas, para controle das demandas, desenvolvimento das taxonomias e QA, a validação após a implementação feita pelos mídias da Initiative.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339840" y="1463040"/>
            <a:ext cx="524256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6583680" y="1584960"/>
            <a:ext cx="475488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SLA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6583680" y="1975104"/>
            <a:ext cx="4754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atendimento e a operação funcionam das 9h30 às 18h30, de segunda a sexta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583680" y="2535936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6705600" y="2535936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Até 16h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atendidas no mesmo dia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997696" y="2535936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9119616" y="2535936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Após 16h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atendidas no dia seguinte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583680" y="3291840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705600" y="3291840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highlight>
                  <a:srgbClr val="FFFF00"/>
                </a:highlight>
                <a:latin typeface="Unilever Desire" pitchFamily="2" charset="77"/>
                <a:ea typeface="Arial"/>
                <a:cs typeface="Arial"/>
                <a:sym typeface="Arial"/>
              </a:rPr>
              <a:t>Urgência</a:t>
            </a:r>
            <a:endParaRPr sz="1467">
              <a:solidFill>
                <a:schemeClr val="dk1"/>
              </a:solidFill>
              <a:highlight>
                <a:srgbClr val="FFFF00"/>
              </a:highlight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até 12h do dia vigente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8997696" y="3291840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119616" y="3291840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War Room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com 3 dias úteis de antecedência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graphicFrame>
        <p:nvGraphicFramePr>
          <p:cNvPr id="296" name="Google Shape;296;p9"/>
          <p:cNvGraphicFramePr/>
          <p:nvPr/>
        </p:nvGraphicFramePr>
        <p:xfrm>
          <a:off x="6583680" y="4120896"/>
          <a:ext cx="4754899" cy="1646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1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Inserções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Criação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Alt.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10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40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100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Acima de 100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" name="Google Shape;297;p9"/>
          <p:cNvSpPr txBox="1"/>
          <p:nvPr/>
        </p:nvSpPr>
        <p:spPr>
          <a:xfrm>
            <a:off x="6583680" y="5827776"/>
            <a:ext cx="47548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*Não contempla SLA de criação de rastreadores da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Jira | Como acessar</a:t>
            </a:r>
            <a:endParaRPr>
              <a:latin typeface="Unilever Desire" pitchFamily="2" charset="77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096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5605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7559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Planilha de acesso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7924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Consulte na Planilha de acesso ao Jira Stormx qual e-mail corresponde ao seu time.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0"/>
          <p:cNvCxnSpPr/>
          <p:nvPr/>
        </p:nvCxnSpPr>
        <p:spPr>
          <a:xfrm>
            <a:off x="30967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9" name="Google Shape;309;p10"/>
          <p:cNvSpPr/>
          <p:nvPr/>
        </p:nvSpPr>
        <p:spPr>
          <a:xfrm>
            <a:off x="34544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4053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36007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1Password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36372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Acesse o link do 1Password correspondente ao seu time.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10"/>
          <p:cNvCxnSpPr/>
          <p:nvPr/>
        </p:nvCxnSpPr>
        <p:spPr>
          <a:xfrm>
            <a:off x="59415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" name="Google Shape;314;p10"/>
          <p:cNvSpPr/>
          <p:nvPr/>
        </p:nvSpPr>
        <p:spPr>
          <a:xfrm>
            <a:off x="62992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2501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64455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Login no Google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64820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 accounts.google.com, use o e-mail, a senha e o token disponíveis no 1Password.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0"/>
          <p:cNvCxnSpPr/>
          <p:nvPr/>
        </p:nvCxnSpPr>
        <p:spPr>
          <a:xfrm>
            <a:off x="87863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" name="Google Shape;319;p10"/>
          <p:cNvSpPr/>
          <p:nvPr/>
        </p:nvSpPr>
        <p:spPr>
          <a:xfrm>
            <a:off x="91440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00949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92903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Jira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93268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Acesse o Jira e clique em Continuar com o Google. Não informe e-mail e senha diretamente na plataforma.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09600" y="4693920"/>
            <a:ext cx="10972800" cy="1463040"/>
          </a:xfrm>
          <a:prstGeom prst="roundRect">
            <a:avLst>
              <a:gd name="adj" fmla="val 83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914400" y="4693920"/>
            <a:ext cx="1036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1300"/>
            </a:pPr>
            <a:r>
              <a:rPr lang="en-US" sz="1733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Atenção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lt1"/>
              </a:buClr>
              <a:buSzPts val="1100"/>
            </a:pPr>
            <a:r>
              <a:rPr lang="en-US" sz="1467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Qualquer pessoa com acesso ao 1Password consegue acessar o Jira. Como os logins são separados por time, confirme que está usando o e-mail correto do seu time antes de abrir uma tarefa, para a demanda não ser criada em nome de outro time.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Produção e entrega das taxonomias</a:t>
            </a:r>
            <a:endParaRPr>
              <a:latin typeface="Unilever Desire" pitchFamily="2" charset="77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0960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3152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19481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Online e Jira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73152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solicitação chega pela RM e pela task no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1"/>
          <p:cNvCxnSpPr/>
          <p:nvPr/>
        </p:nvCxnSpPr>
        <p:spPr>
          <a:xfrm>
            <a:off x="258470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11"/>
          <p:cNvSpPr/>
          <p:nvPr/>
        </p:nvSpPr>
        <p:spPr>
          <a:xfrm>
            <a:off x="286512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298704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345033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AdOps cria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298704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base na RM, no plano de mídia e nas regras da UL Brasil e da UL Global.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1"/>
          <p:cNvCxnSpPr/>
          <p:nvPr/>
        </p:nvCxnSpPr>
        <p:spPr>
          <a:xfrm>
            <a:off x="484022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11"/>
          <p:cNvSpPr/>
          <p:nvPr/>
        </p:nvSpPr>
        <p:spPr>
          <a:xfrm>
            <a:off x="512064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24256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570585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Validador automático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524256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Verifica estrutura e campos, garantindo padronização e qualidade dos dados.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11"/>
          <p:cNvCxnSpPr/>
          <p:nvPr/>
        </p:nvCxnSpPr>
        <p:spPr>
          <a:xfrm>
            <a:off x="709574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6" name="Google Shape;346;p11"/>
          <p:cNvSpPr/>
          <p:nvPr/>
        </p:nvSpPr>
        <p:spPr>
          <a:xfrm>
            <a:off x="737616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749808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796137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749808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atualizado para Concluído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11"/>
          <p:cNvCxnSpPr/>
          <p:nvPr/>
        </p:nvCxnSpPr>
        <p:spPr>
          <a:xfrm>
            <a:off x="935126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1" name="Google Shape;351;p11"/>
          <p:cNvSpPr/>
          <p:nvPr/>
        </p:nvSpPr>
        <p:spPr>
          <a:xfrm>
            <a:off x="963168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975360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5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1021689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implementa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975360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Exatamente como entregue, sem alterações. Ajustes via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609600" y="3389376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50"/>
            </a:pPr>
            <a:r>
              <a:rPr lang="en-US" sz="14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Por isso, a RM precisa estar preenchida corretamente, de acordo com a documentação da UL Brasil e as regras da UL Global.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609600" y="377952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por veículo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0960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75590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TikTok, Meta e YouTube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75590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As taxonomias são incluídas na RM e o status é atualizado para Concluído Stormx.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32816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447446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Pinterest, Twitter, Compra Direta, Amazon DSP e Programática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447446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Pode ser necessário solicitar tags ou contadores à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com prazo de 48 horas. Com envelopamento, o mídia inclui o link das peças na RM.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04672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819302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Destinatários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819302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Kinesso: incluímos taxonomias e contadores na RM. Veículos externos: só as taxonomias, e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envia as informações aos destinatários.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09600" y="5669280"/>
            <a:ext cx="10972800" cy="548640"/>
          </a:xfrm>
          <a:prstGeom prst="roundRect">
            <a:avLst>
              <a:gd name="adj" fmla="val 22222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792480" y="56692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950"/>
            </a:pPr>
            <a:r>
              <a:rPr lang="en-US" sz="1267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Pontos de atenção: </a:t>
            </a:r>
            <a:r>
              <a:rPr lang="en-US" sz="1267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a taxonomia exatamente como entregue, ajustes só via Jira, e conferir se ela corresponde à plataforma e à linha do plano antes de implementar.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IDs e </a:t>
            </a:r>
            <a:r>
              <a:rPr lang="en-US" err="1">
                <a:latin typeface="Unilever Desire" pitchFamily="2" charset="77"/>
              </a:rPr>
              <a:t>relacionamento</a:t>
            </a:r>
            <a:r>
              <a:rPr lang="en-US">
                <a:latin typeface="Unilever Desire" pitchFamily="2" charset="77"/>
              </a:rPr>
              <a:t> das </a:t>
            </a:r>
            <a:r>
              <a:rPr lang="en-US" err="1">
                <a:latin typeface="Unilever Desire" pitchFamily="2" charset="77"/>
              </a:rPr>
              <a:t>linhas</a:t>
            </a:r>
            <a:endParaRPr>
              <a:latin typeface="Unilever Desire" pitchFamily="2" charset="77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609600" y="146304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Meta, TikTok e YouTube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09600" y="2011680"/>
            <a:ext cx="1524000" cy="10972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609600" y="2011680"/>
            <a:ext cx="1524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da RM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2"/>
          <p:cNvCxnSpPr/>
          <p:nvPr/>
        </p:nvCxnSpPr>
        <p:spPr>
          <a:xfrm>
            <a:off x="2170176" y="256032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8" name="Google Shape;378;p12"/>
          <p:cNvSpPr/>
          <p:nvPr/>
        </p:nvSpPr>
        <p:spPr>
          <a:xfrm>
            <a:off x="2621280" y="2011680"/>
            <a:ext cx="1402080" cy="1097280"/>
          </a:xfrm>
          <a:prstGeom prst="roundRect">
            <a:avLst>
              <a:gd name="adj" fmla="val 1111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2621280" y="2011680"/>
            <a:ext cx="1402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50"/>
            </a:pPr>
            <a:r>
              <a:rPr lang="en-US" sz="15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único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2"/>
          <p:cNvCxnSpPr/>
          <p:nvPr/>
        </p:nvCxnSpPr>
        <p:spPr>
          <a:xfrm>
            <a:off x="4059936" y="256032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1" name="Google Shape;381;p12"/>
          <p:cNvSpPr/>
          <p:nvPr/>
        </p:nvSpPr>
        <p:spPr>
          <a:xfrm>
            <a:off x="4511040" y="1828800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4511040" y="182880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ou IO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511040" y="2340864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4511040" y="234086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511040" y="2852928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4511040" y="285292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609600" y="329184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exclusivo, sem reutilização. Campaign ou IO, Ad Group e Ad Name no mesmo ID, ligado também ao Line Item.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609600" y="377952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Mesmo anúncio em campanhas, IOs ou Ad Groups diferentes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609600" y="4267200"/>
            <a:ext cx="1524000" cy="585216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12"/>
          <p:cNvCxnSpPr/>
          <p:nvPr/>
        </p:nvCxnSpPr>
        <p:spPr>
          <a:xfrm>
            <a:off x="2170176" y="455980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1" name="Google Shape;391;p12"/>
          <p:cNvSpPr/>
          <p:nvPr/>
        </p:nvSpPr>
        <p:spPr>
          <a:xfrm>
            <a:off x="2621280" y="4267200"/>
            <a:ext cx="1402080" cy="585216"/>
          </a:xfrm>
          <a:prstGeom prst="roundRect">
            <a:avLst>
              <a:gd name="adj" fmla="val 208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2"/>
          <p:cNvCxnSpPr/>
          <p:nvPr/>
        </p:nvCxnSpPr>
        <p:spPr>
          <a:xfrm>
            <a:off x="4059936" y="455980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3" name="Google Shape;393;p12"/>
          <p:cNvSpPr/>
          <p:nvPr/>
        </p:nvSpPr>
        <p:spPr>
          <a:xfrm>
            <a:off x="4511040" y="4267200"/>
            <a:ext cx="2926080" cy="58521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09600" y="5059680"/>
            <a:ext cx="1524000" cy="585216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12"/>
          <p:cNvCxnSpPr/>
          <p:nvPr/>
        </p:nvCxnSpPr>
        <p:spPr>
          <a:xfrm>
            <a:off x="2170176" y="535228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6" name="Google Shape;396;p12"/>
          <p:cNvSpPr/>
          <p:nvPr/>
        </p:nvSpPr>
        <p:spPr>
          <a:xfrm>
            <a:off x="2621280" y="5059680"/>
            <a:ext cx="1402080" cy="585216"/>
          </a:xfrm>
          <a:prstGeom prst="roundRect">
            <a:avLst>
              <a:gd name="adj" fmla="val 208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2"/>
          <p:cNvCxnSpPr/>
          <p:nvPr/>
        </p:nvCxnSpPr>
        <p:spPr>
          <a:xfrm>
            <a:off x="4059936" y="535228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8" name="Google Shape;398;p12"/>
          <p:cNvSpPr/>
          <p:nvPr/>
        </p:nvSpPr>
        <p:spPr>
          <a:xfrm>
            <a:off x="4511040" y="5059680"/>
            <a:ext cx="2926080" cy="58521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B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609600" y="5913120"/>
            <a:ext cx="68275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linha é solicitada individualmente na RM, para ter um ID específico.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7924800" y="1463040"/>
            <a:ext cx="3657600" cy="469392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8168640" y="1706880"/>
            <a:ext cx="31699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50"/>
            </a:pPr>
            <a:r>
              <a:rPr lang="en-US" sz="16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Pinterest, Twitter, Amazon DSP, Programática e Compra Direta</a:t>
            </a:r>
            <a:endParaRPr sz="16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8168640" y="2682240"/>
            <a:ext cx="316992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</a:t>
            </a:r>
            <a:r>
              <a:rPr lang="en-US" sz="1467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também gera um ID único para cada Placement, que deve ser respeitado na implementação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1067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linha precisa estar vinculada ao seu ID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1067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Não reutilizar IDs nem misturar informações de linhas diferentes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AdServer e Grupos Teams</a:t>
            </a:r>
            <a:endParaRPr>
              <a:latin typeface="Unilever Desire" pitchFamily="2" charset="77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0960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75590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128016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ADP por e-mail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>
            <a:off x="755904" y="2072640"/>
            <a:ext cx="2999232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ADP é enviado à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em uma thread, com instruções e solicitação dos rastreadores.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43840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850"/>
            </a:pPr>
            <a:r>
              <a:rPr lang="en-US" sz="11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13"/>
          <p:cNvCxnSpPr/>
          <p:nvPr/>
        </p:nvCxnSpPr>
        <p:spPr>
          <a:xfrm>
            <a:off x="3950208" y="2316480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5" name="Google Shape;415;p13"/>
          <p:cNvSpPr/>
          <p:nvPr/>
        </p:nvSpPr>
        <p:spPr>
          <a:xfrm>
            <a:off x="445008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59638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512064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e confirmação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4596384" y="2072640"/>
            <a:ext cx="2999232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são feitos conforme o AdServer pede. Após confirmação, ele envia o ADP atualizado.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27888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850"/>
            </a:pPr>
            <a:r>
              <a:rPr lang="en-US" sz="1133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13"/>
          <p:cNvCxnSpPr/>
          <p:nvPr/>
        </p:nvCxnSpPr>
        <p:spPr>
          <a:xfrm>
            <a:off x="7790688" y="2316480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1" name="Google Shape;421;p13"/>
          <p:cNvSpPr/>
          <p:nvPr/>
        </p:nvSpPr>
        <p:spPr>
          <a:xfrm>
            <a:off x="829056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843686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896112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ADP no Jira e RM pree</a:t>
            </a:r>
            <a:r>
              <a:rPr lang="en-US" sz="1400" b="1">
                <a:solidFill>
                  <a:schemeClr val="dk1"/>
                </a:solidFill>
                <a:latin typeface="Unilever Desire" pitchFamily="2" charset="77"/>
              </a:rPr>
              <a:t>nchida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8436867" y="2072633"/>
            <a:ext cx="3084400" cy="7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adiciona o ADP na tarefa principal do Jira e avisa os mídias para darem continuidade. Além diss</a:t>
            </a:r>
            <a:r>
              <a:rPr lang="en-US" sz="1133">
                <a:solidFill>
                  <a:schemeClr val="dk2"/>
                </a:solidFill>
                <a:latin typeface="Unilever Desire" pitchFamily="2" charset="77"/>
              </a:rPr>
              <a:t>o, adiciona as taxonomias e os contadores na RM.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1011936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850"/>
            </a:pPr>
            <a:r>
              <a:rPr lang="en-US" sz="11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609600" y="3352800"/>
            <a:ext cx="5364480" cy="12192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792480" y="3352800"/>
            <a:ext cx="49987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entra na thread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Todos os envolvidos da campanha: mídias, Kinesso e, se for via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o responsável do veículo, por exemplo Globo. Exemplo de thread: ADP | Brilhante | Diamond | 2026 |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217920" y="3352800"/>
            <a:ext cx="5364480" cy="12192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6400800" y="3352800"/>
            <a:ext cx="49987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Mudanças no meio do processo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Alteração de taxonomia, de peça (se via contador) ou de período: enviar à Stormx via Jira ou Teams. O responsável da BU na Stormx envia a alteração na thread e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segue com a nova solicitação.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09600" y="4754880"/>
            <a:ext cx="10972800" cy="146304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31" name="Google Shape;431;p13"/>
          <p:cNvSpPr txBox="1"/>
          <p:nvPr/>
        </p:nvSpPr>
        <p:spPr>
          <a:xfrm>
            <a:off x="792480" y="48402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Grupos Teams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792480" y="5205984"/>
            <a:ext cx="34137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exclusivamente para alinhamentos entre Stormx, Initiative e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para todos acompanharem as definições da operação.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4450080" y="4840224"/>
            <a:ext cx="1463040" cy="292608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Utilize para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4450080" y="5205984"/>
            <a:ext cx="32918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Alinhamentos que envolvam a </a:t>
            </a:r>
            <a:r>
              <a:rPr lang="en-US" sz="1200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Dúvidas e definições técnicas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7985760" y="4840224"/>
            <a:ext cx="1706880" cy="292608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00"/>
            </a:pPr>
            <a:r>
              <a:rPr lang="en-US" sz="12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Não utilize para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7985760" y="5205984"/>
            <a:ext cx="35356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Solicitações que envolvam a taxonomia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Alterações na RM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Cancelamentos ou prorrogações de linhas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Solicitação de TAGs e Trackings</a:t>
            </a:r>
            <a:endParaRPr>
              <a:latin typeface="Unilever Desire" pitchFamily="2" charset="77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609600" y="1463040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TAGs (CS/Ops e Creative/QA são times da </a:t>
            </a:r>
            <a:r>
              <a:rPr lang="en-US" sz="1600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)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21792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85088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694944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ADP e as peças da campanha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21792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</a:rPr>
              <a:t>S</a:t>
            </a: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tormx/A</a:t>
            </a:r>
            <a:r>
              <a:rPr lang="en-US" sz="1200" b="1">
                <a:solidFill>
                  <a:schemeClr val="dk1"/>
                </a:solidFill>
                <a:latin typeface="Unilever Desire" pitchFamily="2" charset="77"/>
              </a:rPr>
              <a:t>gência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4"/>
          <p:cNvCxnSpPr/>
          <p:nvPr/>
        </p:nvCxnSpPr>
        <p:spPr>
          <a:xfrm>
            <a:off x="2011680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9" name="Google Shape;449;p14"/>
          <p:cNvSpPr/>
          <p:nvPr/>
        </p:nvSpPr>
        <p:spPr>
          <a:xfrm>
            <a:off x="2218944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2682240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2292096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 ADP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2218944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4"/>
          <p:cNvCxnSpPr/>
          <p:nvPr/>
        </p:nvCxnSpPr>
        <p:spPr>
          <a:xfrm>
            <a:off x="3608832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4" name="Google Shape;454;p14"/>
          <p:cNvSpPr/>
          <p:nvPr/>
        </p:nvSpPr>
        <p:spPr>
          <a:xfrm>
            <a:off x="3816096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4279392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3889248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as peças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3816096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Creative/QA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14"/>
          <p:cNvCxnSpPr/>
          <p:nvPr/>
        </p:nvCxnSpPr>
        <p:spPr>
          <a:xfrm>
            <a:off x="5205984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9" name="Google Shape;459;p14"/>
          <p:cNvSpPr/>
          <p:nvPr/>
        </p:nvSpPr>
        <p:spPr>
          <a:xfrm>
            <a:off x="5413248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876544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5486400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Peças validadas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413248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Creative/QA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4"/>
          <p:cNvCxnSpPr/>
          <p:nvPr/>
        </p:nvCxnSpPr>
        <p:spPr>
          <a:xfrm>
            <a:off x="6803136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4" name="Google Shape;464;p14"/>
          <p:cNvSpPr/>
          <p:nvPr/>
        </p:nvSpPr>
        <p:spPr>
          <a:xfrm>
            <a:off x="7010400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7473696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7083552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 a campanha, associa as peças e envia os previews para a validação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7010400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14"/>
          <p:cNvCxnSpPr/>
          <p:nvPr/>
        </p:nvCxnSpPr>
        <p:spPr>
          <a:xfrm>
            <a:off x="8400288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9" name="Google Shape;469;p14"/>
          <p:cNvSpPr/>
          <p:nvPr/>
        </p:nvSpPr>
        <p:spPr>
          <a:xfrm>
            <a:off x="8607552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9070848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8680704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os previews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8607552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Agência/Stormx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14"/>
          <p:cNvCxnSpPr/>
          <p:nvPr/>
        </p:nvCxnSpPr>
        <p:spPr>
          <a:xfrm>
            <a:off x="9997440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4" name="Google Shape;474;p14"/>
          <p:cNvSpPr/>
          <p:nvPr/>
        </p:nvSpPr>
        <p:spPr>
          <a:xfrm>
            <a:off x="10204704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10668000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10277856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Libera as TAGs, verifica as contabilizações e as discrepâncias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10204704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609600" y="4815840"/>
            <a:ext cx="4876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Trackings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609600" y="5218176"/>
            <a:ext cx="316992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755904" y="548640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1280160" y="5218176"/>
            <a:ext cx="23164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ADP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1889760" y="5852160"/>
            <a:ext cx="1706880" cy="268224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800"/>
            </a:pPr>
            <a:r>
              <a:rPr lang="en-US" sz="1067" b="1">
                <a:solidFill>
                  <a:schemeClr val="dk1"/>
                </a:solidFill>
                <a:latin typeface="Unilever Desire" pitchFamily="2" charset="77"/>
              </a:rPr>
              <a:t>S</a:t>
            </a:r>
            <a:r>
              <a:rPr lang="en-US" sz="10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tormx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14"/>
          <p:cNvCxnSpPr/>
          <p:nvPr/>
        </p:nvCxnSpPr>
        <p:spPr>
          <a:xfrm>
            <a:off x="3828288" y="5705856"/>
            <a:ext cx="4998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4" name="Google Shape;484;p14"/>
          <p:cNvSpPr/>
          <p:nvPr/>
        </p:nvSpPr>
        <p:spPr>
          <a:xfrm>
            <a:off x="4389120" y="5218176"/>
            <a:ext cx="719328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4535424" y="548640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5059680" y="5218176"/>
            <a:ext cx="64008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 ADP, cria a campanha, libera os contadores e verifica as contabilizações e as discrepâncias. Os contadores de social são inseridos no ADP e implementados pela agência.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Atendimento e prazos</a:t>
            </a:r>
            <a:endParaRPr>
              <a:latin typeface="Unilever Desire" pitchFamily="2" charset="77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60960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0" name="Google Shape;640;p17"/>
          <p:cNvSpPr txBox="1"/>
          <p:nvPr/>
        </p:nvSpPr>
        <p:spPr>
          <a:xfrm>
            <a:off x="79248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10h às 19h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7"/>
          <p:cNvSpPr txBox="1"/>
          <p:nvPr/>
        </p:nvSpPr>
        <p:spPr>
          <a:xfrm>
            <a:off x="79248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Horário de funcionamento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7"/>
          <p:cNvSpPr txBox="1"/>
          <p:nvPr/>
        </p:nvSpPr>
        <p:spPr>
          <a:xfrm>
            <a:off x="79248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 a sexta. Pedidos entre 17h e 19h são analisados no mesmo dia ou no 1º horário do dia seguinte, conforme a fila. Em urgências, sinalizar com a maior antecedência possível.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432816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4" name="Google Shape;644;p17"/>
          <p:cNvSpPr txBox="1"/>
          <p:nvPr/>
        </p:nvSpPr>
        <p:spPr>
          <a:xfrm>
            <a:off x="451104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48h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 txBox="1"/>
          <p:nvPr/>
        </p:nvSpPr>
        <p:spPr>
          <a:xfrm>
            <a:off x="451104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e upload de peças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451104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Peças dentro das specs técnicas e de arte, e do site onde veicula. Correções voltam para a agência e cada novo envio reinicia o prazo. Viabilidade e prazo final saem após a análise.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804672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8" name="Google Shape;648;p17"/>
          <p:cNvSpPr txBox="1"/>
          <p:nvPr/>
        </p:nvSpPr>
        <p:spPr>
          <a:xfrm>
            <a:off x="822960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 a 48h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7"/>
          <p:cNvSpPr txBox="1"/>
          <p:nvPr/>
        </p:nvSpPr>
        <p:spPr>
          <a:xfrm>
            <a:off x="822960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Tráfego, execução e envio de tags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 txBox="1"/>
          <p:nvPr/>
        </p:nvSpPr>
        <p:spPr>
          <a:xfrm>
            <a:off x="822960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Execução do ADP, attachment de peças e URLs, tráfego e envio de tags, com ADP correto e peças dentro das specs. Se não, o tempo aumenta e impacta todo o processo.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2468884" y="3901440"/>
            <a:ext cx="3535600" cy="22556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52" name="Google Shape;652;p17"/>
          <p:cNvSpPr txBox="1"/>
          <p:nvPr/>
        </p:nvSpPr>
        <p:spPr>
          <a:xfrm>
            <a:off x="2651764" y="3998976"/>
            <a:ext cx="31700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72h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"/>
          <p:cNvSpPr txBox="1"/>
          <p:nvPr/>
        </p:nvSpPr>
        <p:spPr>
          <a:xfrm>
            <a:off x="2651764" y="4535424"/>
            <a:ext cx="317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Diárias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 txBox="1"/>
          <p:nvPr/>
        </p:nvSpPr>
        <p:spPr>
          <a:xfrm>
            <a:off x="2651764" y="4901184"/>
            <a:ext cx="3170000" cy="11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todas as diárias no ADP, para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priorizar validação, programação e envio da tag. Peças com no mínimo 72h úteis de antecedência, para testes e ajustes do publisher.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6187444" y="3901440"/>
            <a:ext cx="3535600" cy="22556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56" name="Google Shape;656;p17"/>
          <p:cNvSpPr txBox="1"/>
          <p:nvPr/>
        </p:nvSpPr>
        <p:spPr>
          <a:xfrm>
            <a:off x="6370324" y="3998976"/>
            <a:ext cx="31700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10%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7"/>
          <p:cNvSpPr txBox="1"/>
          <p:nvPr/>
        </p:nvSpPr>
        <p:spPr>
          <a:xfrm>
            <a:off x="6370324" y="4535424"/>
            <a:ext cx="317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Discrepâncias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 txBox="1"/>
          <p:nvPr/>
        </p:nvSpPr>
        <p:spPr>
          <a:xfrm>
            <a:off x="6370324" y="4901184"/>
            <a:ext cx="3170000" cy="11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 compra direta e programática,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realiza a comparação dos dados.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Acima de 10%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de discrepância entre os dados é realizada uma análise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O início depende do portal/plataforma, normalmente 48h.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Pontos importantes</a:t>
            </a:r>
            <a:endParaRPr>
              <a:latin typeface="Unilever Desire" pitchFamily="2" charset="77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112017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260993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Thread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260993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thread por campanha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8"/>
          <p:cNvSpPr txBox="1"/>
          <p:nvPr/>
        </p:nvSpPr>
        <p:spPr>
          <a:xfrm>
            <a:off x="260993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campanha tem uma thread do ADP, e todas as solicitações dela vão na respectiva thread, para organização e histórico.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3141208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3290185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Tag ou Tracking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8"/>
          <p:cNvSpPr txBox="1"/>
          <p:nvPr/>
        </p:nvSpPr>
        <p:spPr>
          <a:xfrm>
            <a:off x="3290185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 spec seguir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8"/>
          <p:cNvSpPr txBox="1"/>
          <p:nvPr/>
        </p:nvSpPr>
        <p:spPr>
          <a:xfrm>
            <a:off x="3290185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por Tag: as peças seguem as specs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Entrega por Tracking: seguem as specs do publisher. Na dúvida, perguntar ao CS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170400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6319376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Social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8"/>
          <p:cNvSpPr txBox="1"/>
          <p:nvPr/>
        </p:nvSpPr>
        <p:spPr>
          <a:xfrm>
            <a:off x="6319376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Contadores no social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"/>
          <p:cNvSpPr txBox="1"/>
          <p:nvPr/>
        </p:nvSpPr>
        <p:spPr>
          <a:xfrm>
            <a:off x="6319376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Para social só são aceitos contadores. Nas demais veiculações, priorizar a veiculação via TAG.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112017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260993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Autorização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8"/>
          <p:cNvSpPr txBox="1"/>
          <p:nvPr/>
        </p:nvSpPr>
        <p:spPr>
          <a:xfrm>
            <a:off x="260993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Nada no ar sem tag ou contador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8"/>
          <p:cNvSpPr txBox="1"/>
          <p:nvPr/>
        </p:nvSpPr>
        <p:spPr>
          <a:xfrm>
            <a:off x="260993" y="4660584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 a TAG ou o contador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só com autorização do cliente, porque 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entrega os dados auditados para o cliente.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3141208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3290185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E-mail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3290185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Sempre o mesmo e-mail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8"/>
          <p:cNvSpPr txBox="1"/>
          <p:nvPr/>
        </p:nvSpPr>
        <p:spPr>
          <a:xfrm>
            <a:off x="3290185" y="4660584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Manter unilever.as@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miqdigital.com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em todas as solicitações, para toda a equipe de CS ficar em cópia.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170400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6319376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Double Verify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6319376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 campanha na Double Verify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8"/>
          <p:cNvSpPr txBox="1"/>
          <p:nvPr/>
        </p:nvSpPr>
        <p:spPr>
          <a:xfrm>
            <a:off x="6319376" y="4660581"/>
            <a:ext cx="2582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cada nova campanha criada do lado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a agência cria uma na Double Verify, com o mesmo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Campaign Name (cabeçalho do ADP),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ID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(cabeçalho do ADP) e todos os publishers.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9199576" y="1799767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9348553" y="1948741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</a:rPr>
              <a:t>Custo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8"/>
          <p:cNvSpPr txBox="1"/>
          <p:nvPr/>
        </p:nvSpPr>
        <p:spPr>
          <a:xfrm>
            <a:off x="9348553" y="2346011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</a:rPr>
              <a:t>Alteração de custo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8"/>
          <p:cNvSpPr txBox="1"/>
          <p:nvPr/>
        </p:nvSpPr>
        <p:spPr>
          <a:xfrm>
            <a:off x="9348553" y="2673756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Se houver alteração nos dados de custo nas campanhas, esses dados também devem ser 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9199576" y="3786536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9348553" y="3935511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</a:rPr>
              <a:t>Globo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9348553" y="4332779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</a:rPr>
              <a:t>Taxonomia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8"/>
          <p:cNvSpPr txBox="1"/>
          <p:nvPr/>
        </p:nvSpPr>
        <p:spPr>
          <a:xfrm>
            <a:off x="9348553" y="4660523"/>
            <a:ext cx="2582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Na plataforma GloboAds deve ser inserida a taxonomia que temos para a Globo. Isso nos ajuda ao validar de forma ágil os relatórios enviados pela Globo.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err="1">
                <a:latin typeface="Unilever Desire" pitchFamily="2" charset="77"/>
              </a:rPr>
              <a:t>Processo</a:t>
            </a:r>
            <a:r>
              <a:rPr lang="en-US">
                <a:latin typeface="Unilever Desire" pitchFamily="2" charset="77"/>
              </a:rPr>
              <a:t> e </a:t>
            </a:r>
            <a:r>
              <a:rPr lang="en-US" err="1">
                <a:latin typeface="Unilever Desire" pitchFamily="2" charset="77"/>
              </a:rPr>
              <a:t>Escopo</a:t>
            </a:r>
            <a:endParaRPr>
              <a:latin typeface="Unilever Desire" pitchFamily="2" charset="77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09600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01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901952" y="1645920"/>
            <a:ext cx="451104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02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632448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03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924800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04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217152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05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0509504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06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96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217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tasks pelo Jira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1694688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" name="Google Shape;42;p2"/>
          <p:cNvSpPr/>
          <p:nvPr/>
        </p:nvSpPr>
        <p:spPr>
          <a:xfrm>
            <a:off x="1901952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914144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e distribuição de tasks Jira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0480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30601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Preenchimento do Galileo e Freetext (conforme o ADP)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94048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206240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Criação da taxonomia e URL parametrizada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40096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352288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automatizada da taxonomia criada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6425184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" name="Google Shape;51;p2"/>
          <p:cNvSpPr/>
          <p:nvPr/>
        </p:nvSpPr>
        <p:spPr>
          <a:xfrm>
            <a:off x="6632448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644640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Criação de contadores e tags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7717536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Google Shape;54;p2"/>
          <p:cNvSpPr/>
          <p:nvPr/>
        </p:nvSpPr>
        <p:spPr>
          <a:xfrm>
            <a:off x="79248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9369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9009888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Google Shape;57;p2"/>
          <p:cNvSpPr/>
          <p:nvPr/>
        </p:nvSpPr>
        <p:spPr>
          <a:xfrm>
            <a:off x="9217152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9229344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Implementação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10302240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Google Shape;60;p2"/>
          <p:cNvSpPr/>
          <p:nvPr/>
        </p:nvSpPr>
        <p:spPr>
          <a:xfrm>
            <a:off x="10509504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0521696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Report diário + QA automatizado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 descr="Logo Initiativ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" y="4389120"/>
            <a:ext cx="755904" cy="2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 descr="Cadast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288" y="4706112"/>
            <a:ext cx="731520" cy="10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 descr="Logo Stormx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7872" y="4389120"/>
            <a:ext cx="121920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 descr="Logo Stormx 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3568" y="4389120"/>
            <a:ext cx="975360" cy="17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 descr="Logo Initiativ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648" y="4389120"/>
            <a:ext cx="755904" cy="2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 descr="Cadast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7840" y="4706112"/>
            <a:ext cx="731520" cy="10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 descr="Logo Stormx 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8272" y="4389120"/>
            <a:ext cx="975360" cy="1706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2"/>
          <p:cNvCxnSpPr/>
          <p:nvPr/>
        </p:nvCxnSpPr>
        <p:spPr>
          <a:xfrm>
            <a:off x="1901952" y="4498848"/>
            <a:ext cx="158496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4828032" y="4498848"/>
            <a:ext cx="158496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2"/>
          <p:cNvSpPr txBox="1"/>
          <p:nvPr/>
        </p:nvSpPr>
        <p:spPr>
          <a:xfrm>
            <a:off x="609600" y="5425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200"/>
            </a:pPr>
            <a:r>
              <a:rPr lang="en-US" sz="1600" b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Stormx: </a:t>
            </a: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time de AdOps responsável pela criação e distribuição das taxonomias.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algn="ctr">
              <a:buClr>
                <a:schemeClr val="dk2"/>
              </a:buClr>
              <a:buSzPts val="1200"/>
            </a:pPr>
            <a:r>
              <a:rPr lang="en-US" sz="1600" b="1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600" b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: </a:t>
            </a: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AdServer responsável pela criação de rastreadores.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3019" y="4347867"/>
            <a:ext cx="911733" cy="30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1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Regras e Erros | Gerais</a:t>
            </a:r>
            <a:endParaRPr>
              <a:latin typeface="Unilever Desire" pitchFamily="2" charset="77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60960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79248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1"/>
          <p:cNvSpPr txBox="1"/>
          <p:nvPr/>
        </p:nvSpPr>
        <p:spPr>
          <a:xfrm>
            <a:off x="79248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Taxonomia por plataforma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1"/>
          <p:cNvSpPr txBox="1"/>
          <p:nvPr/>
        </p:nvSpPr>
        <p:spPr>
          <a:xfrm>
            <a:off x="79248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a taxonomia de uma plataforma em outra. Cada plataforma tem estrutura própria, e misturar compromete o banco.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1"/>
          <p:cNvSpPr/>
          <p:nvPr/>
        </p:nvSpPr>
        <p:spPr>
          <a:xfrm>
            <a:off x="432816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451104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1"/>
          <p:cNvSpPr txBox="1"/>
          <p:nvPr/>
        </p:nvSpPr>
        <p:spPr>
          <a:xfrm>
            <a:off x="451104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 duplicado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1"/>
          <p:cNvSpPr txBox="1"/>
          <p:nvPr/>
        </p:nvSpPr>
        <p:spPr>
          <a:xfrm>
            <a:off x="451104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Mesmo asset exige um Ad Name diferente por Ad Group. ID único, solicitado individualmente à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1"/>
          <p:cNvSpPr/>
          <p:nvPr/>
        </p:nvSpPr>
        <p:spPr>
          <a:xfrm>
            <a:off x="804672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822960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1"/>
          <p:cNvSpPr txBox="1"/>
          <p:nvPr/>
        </p:nvSpPr>
        <p:spPr>
          <a:xfrm>
            <a:off x="822960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Cópia na plataforma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1"/>
          <p:cNvSpPr txBox="1"/>
          <p:nvPr/>
        </p:nvSpPr>
        <p:spPr>
          <a:xfrm>
            <a:off x="822960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Duplicar Ad Group ou Ad Name direto na plataforma. Sufixos cópia ou copy quebram a taxonomia. Sempre solicitar nova taxonomia à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60960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63" name="Google Shape;763;p21"/>
          <p:cNvSpPr/>
          <p:nvPr/>
        </p:nvSpPr>
        <p:spPr>
          <a:xfrm>
            <a:off x="79248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1"/>
          <p:cNvSpPr txBox="1"/>
          <p:nvPr/>
        </p:nvSpPr>
        <p:spPr>
          <a:xfrm>
            <a:off x="79248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Caracteres especiais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1"/>
          <p:cNvSpPr txBox="1"/>
          <p:nvPr/>
        </p:nvSpPr>
        <p:spPr>
          <a:xfrm>
            <a:off x="792480" y="48768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Acentos, apóstrofo ('), travessão (—), underscore (_) e pipe (|). Usar apenas letras, números e hífen (-).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432816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67" name="Google Shape;767;p21"/>
          <p:cNvSpPr/>
          <p:nvPr/>
        </p:nvSpPr>
        <p:spPr>
          <a:xfrm>
            <a:off x="451104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Exceção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1"/>
          <p:cNvSpPr txBox="1"/>
          <p:nvPr/>
        </p:nvSpPr>
        <p:spPr>
          <a:xfrm>
            <a:off x="451104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Taxonomia genérica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1"/>
          <p:cNvSpPr txBox="1"/>
          <p:nvPr/>
        </p:nvSpPr>
        <p:spPr>
          <a:xfrm>
            <a:off x="4511040" y="48768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Criativo ainda não chegou e a implementação será em feriado ou fora do horário comercial. Segue a estrutura correta, com algumas informações genéricas. O time tem 24h para solicitar o ajuste com os dados corretos.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1"/>
          <p:cNvSpPr/>
          <p:nvPr/>
        </p:nvSpPr>
        <p:spPr>
          <a:xfrm>
            <a:off x="804672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822960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Regra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1"/>
          <p:cNvSpPr txBox="1"/>
          <p:nvPr/>
        </p:nvSpPr>
        <p:spPr>
          <a:xfrm>
            <a:off x="822960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Name e Local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1"/>
          <p:cNvSpPr txBox="1"/>
          <p:nvPr/>
        </p:nvSpPr>
        <p:spPr>
          <a:xfrm>
            <a:off x="8229600" y="4876800"/>
            <a:ext cx="31700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O Campaign Local (Brasil) deve sempre ser igual ao Campaign Name (global). É permitido adicionar informações extras no Campaign Local Extra, que deve ser solicitado pelo mídia para que a Stormx crie e cadastre no ADP.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Regras e Erros | Por plataforma</a:t>
            </a:r>
            <a:endParaRPr>
              <a:latin typeface="Unilever Desire" pitchFamily="2" charset="77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609600" y="1463040"/>
            <a:ext cx="621792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81" name="Google Shape;781;p22"/>
          <p:cNvSpPr txBox="1"/>
          <p:nvPr/>
        </p:nvSpPr>
        <p:spPr>
          <a:xfrm>
            <a:off x="853440" y="1584960"/>
            <a:ext cx="573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8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TikTok Shop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2"/>
          <p:cNvSpPr txBox="1"/>
          <p:nvPr/>
        </p:nvSpPr>
        <p:spPr>
          <a:xfrm>
            <a:off x="853440" y="2011680"/>
            <a:ext cx="57302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Só é permitido preencher o Campaign, sem Ad Group nem Ad Name. Como a campanha não é extraída via API, o mídia preenche a planilha manual de Compra Direta, e o BI criou uma regra para ler como TikTok, com a estrutura normal da plataforma.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2"/>
          <p:cNvSpPr txBox="1"/>
          <p:nvPr/>
        </p:nvSpPr>
        <p:spPr>
          <a:xfrm>
            <a:off x="853440" y="3108960"/>
            <a:ext cx="316992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Primeiras colunas de taxonomia da RM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853440" y="341376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853440" y="390144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853440" y="438912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787" name="Google Shape;787;p22"/>
          <p:cNvCxnSpPr/>
          <p:nvPr/>
        </p:nvCxnSpPr>
        <p:spPr>
          <a:xfrm>
            <a:off x="2682240" y="3901440"/>
            <a:ext cx="5120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8" name="Google Shape;788;p22"/>
          <p:cNvSpPr/>
          <p:nvPr/>
        </p:nvSpPr>
        <p:spPr>
          <a:xfrm>
            <a:off x="3230880" y="3413760"/>
            <a:ext cx="3352800" cy="1365504"/>
          </a:xfrm>
          <a:prstGeom prst="roundRect">
            <a:avLst>
              <a:gd name="adj" fmla="val 89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89" name="Google Shape;789;p22"/>
          <p:cNvSpPr txBox="1"/>
          <p:nvPr/>
        </p:nvSpPr>
        <p:spPr>
          <a:xfrm>
            <a:off x="3413760" y="3413760"/>
            <a:ext cx="3048000" cy="1365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Planilha de Compra Direta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Preenchida manualmente pelo mídia.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2"/>
          <p:cNvSpPr txBox="1"/>
          <p:nvPr/>
        </p:nvSpPr>
        <p:spPr>
          <a:xfrm>
            <a:off x="853440" y="4937760"/>
            <a:ext cx="316992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Mais ao final da RM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2"/>
          <p:cNvSpPr/>
          <p:nvPr/>
        </p:nvSpPr>
        <p:spPr>
          <a:xfrm>
            <a:off x="853440" y="5266944"/>
            <a:ext cx="1767840" cy="7315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TikTok Shop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22"/>
          <p:cNvCxnSpPr/>
          <p:nvPr/>
        </p:nvCxnSpPr>
        <p:spPr>
          <a:xfrm>
            <a:off x="2682240" y="5632704"/>
            <a:ext cx="5120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3" name="Google Shape;793;p22"/>
          <p:cNvSpPr/>
          <p:nvPr/>
        </p:nvSpPr>
        <p:spPr>
          <a:xfrm>
            <a:off x="3230880" y="5242560"/>
            <a:ext cx="3352800" cy="780288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4" name="Google Shape;794;p22"/>
          <p:cNvSpPr txBox="1"/>
          <p:nvPr/>
        </p:nvSpPr>
        <p:spPr>
          <a:xfrm>
            <a:off x="3413760" y="5242560"/>
            <a:ext cx="3048000" cy="78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Plataforma TikTok Shop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7071360" y="146304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6" name="Google Shape;796;p22"/>
          <p:cNvSpPr txBox="1"/>
          <p:nvPr/>
        </p:nvSpPr>
        <p:spPr>
          <a:xfrm>
            <a:off x="7254240" y="153619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 | PMax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2"/>
          <p:cNvSpPr txBox="1"/>
          <p:nvPr/>
        </p:nvSpPr>
        <p:spPr>
          <a:xfrm>
            <a:off x="7254240" y="181660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 Ad Group: quebra extra de Format Type Local no Campaign (valor: pmax). Publisher = google-pmax.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7071360" y="242316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9" name="Google Shape;799;p22"/>
          <p:cNvSpPr txBox="1"/>
          <p:nvPr/>
        </p:nvSpPr>
        <p:spPr>
          <a:xfrm>
            <a:off x="7254240" y="249631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 | Search e Demand Gen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2"/>
          <p:cNvSpPr txBox="1"/>
          <p:nvPr/>
        </p:nvSpPr>
        <p:spPr>
          <a:xfrm>
            <a:off x="7254240" y="277672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Search: Publisher = google-search. Demand Gen: google-ads (Google) ou youtube (YouTube).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2"/>
          <p:cNvSpPr/>
          <p:nvPr/>
        </p:nvSpPr>
        <p:spPr>
          <a:xfrm>
            <a:off x="7071360" y="338328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2" name="Google Shape;802;p22"/>
          <p:cNvSpPr txBox="1"/>
          <p:nvPr/>
        </p:nvSpPr>
        <p:spPr>
          <a:xfrm>
            <a:off x="7254240" y="345643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Twitter | Amplify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2"/>
          <p:cNvSpPr txBox="1"/>
          <p:nvPr/>
        </p:nvSpPr>
        <p:spPr>
          <a:xfrm>
            <a:off x="7254240" y="373684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Campanhas Amplify não têm Ad Name. Publisher na RM = Twitter-Amplify.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2"/>
          <p:cNvSpPr/>
          <p:nvPr/>
        </p:nvSpPr>
        <p:spPr>
          <a:xfrm>
            <a:off x="7071360" y="434340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5" name="Google Shape;805;p22"/>
          <p:cNvSpPr txBox="1"/>
          <p:nvPr/>
        </p:nvSpPr>
        <p:spPr>
          <a:xfrm>
            <a:off x="7254240" y="441655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YouTube | Masthead CPH</a:t>
            </a:r>
            <a:endParaRPr lang="en-US"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2"/>
          <p:cNvSpPr txBox="1"/>
          <p:nvPr/>
        </p:nvSpPr>
        <p:spPr>
          <a:xfrm>
            <a:off x="7254240" y="469696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Preencher na planilha de Compra Direta com Buying Type cph.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7071360" y="530352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8" name="Google Shape;808;p22"/>
          <p:cNvSpPr txBox="1"/>
          <p:nvPr/>
        </p:nvSpPr>
        <p:spPr>
          <a:xfrm>
            <a:off x="7254240" y="537667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via API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2"/>
          <p:cNvSpPr txBox="1"/>
          <p:nvPr/>
        </p:nvSpPr>
        <p:spPr>
          <a:xfrm>
            <a:off x="7254240" y="565708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e Ad Name unificados em Placement Name.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5" hasCustomPrompt="1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 Erros | Mercado Livre (Programática)</a:t>
            </a:r>
            <a:endParaRPr lang="en-US" sz="2933" dirty="0"/>
          </a:p>
        </p:txBody>
      </p:sp>
      <p:sp>
        <p:nvSpPr>
          <p:cNvPr id="4" name="Intro"/>
          <p:cNvSpPr txBox="1"/>
          <p:nvPr/>
        </p:nvSpPr>
        <p:spPr>
          <a:xfrm>
            <a:off x="609600" y="140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Programática: o Ad Name tem limite de 50 caracteres, e os campos que não cabem passam para o IO e o Line Item.</a:t>
            </a:r>
            <a:endParaRPr lang="en-US" sz="1600" dirty="0"/>
          </a:p>
        </p:txBody>
      </p:sp>
      <p:sp>
        <p:nvSpPr>
          <p:cNvPr id="5" name="Coluna 1 etiqueta"/>
          <p:cNvSpPr/>
          <p:nvPr/>
        </p:nvSpPr>
        <p:spPr>
          <a:xfrm>
            <a:off x="60960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endParaRPr lang="en-US" sz="1467" dirty="0"/>
          </a:p>
        </p:txBody>
      </p:sp>
      <p:sp>
        <p:nvSpPr>
          <p:cNvPr id="6" name="Coluna 1 cartão"/>
          <p:cNvSpPr/>
          <p:nvPr/>
        </p:nvSpPr>
        <p:spPr>
          <a:xfrm>
            <a:off x="60960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7" name="Coluna 1 título"/>
          <p:cNvSpPr txBox="1"/>
          <p:nvPr/>
        </p:nvSpPr>
        <p:spPr>
          <a:xfrm>
            <a:off x="79248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 de Landing Page Type e Retailer</a:t>
            </a:r>
            <a:endParaRPr lang="en-US" sz="1533" dirty="0"/>
          </a:p>
        </p:txBody>
      </p:sp>
      <p:sp>
        <p:nvSpPr>
          <p:cNvPr id="8" name="Coluna 1 texto"/>
          <p:cNvSpPr txBox="1"/>
          <p:nvPr/>
        </p:nvSpPr>
        <p:spPr>
          <a:xfrm>
            <a:off x="79248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campos, que antes ficavam no Ad Name, passam a compor o IO.</a:t>
            </a:r>
            <a:endParaRPr lang="en-US" sz="1333" dirty="0"/>
          </a:p>
        </p:txBody>
      </p:sp>
      <p:sp>
        <p:nvSpPr>
          <p:cNvPr id="9" name="Coluna 2 etiqueta"/>
          <p:cNvSpPr/>
          <p:nvPr/>
        </p:nvSpPr>
        <p:spPr>
          <a:xfrm>
            <a:off x="432816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</a:t>
            </a:r>
            <a:endParaRPr lang="en-US" sz="1467" dirty="0"/>
          </a:p>
        </p:txBody>
      </p:sp>
      <p:sp>
        <p:nvSpPr>
          <p:cNvPr id="10" name="Coluna 2 cartão"/>
          <p:cNvSpPr/>
          <p:nvPr/>
        </p:nvSpPr>
        <p:spPr>
          <a:xfrm>
            <a:off x="432816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1" name="Coluna 2 título"/>
          <p:cNvSpPr txBox="1"/>
          <p:nvPr/>
        </p:nvSpPr>
        <p:spPr>
          <a:xfrm>
            <a:off x="451104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Unificação com o Ad Name</a:t>
            </a:r>
            <a:endParaRPr lang="en-US" sz="1533" dirty="0"/>
          </a:p>
        </p:txBody>
      </p:sp>
      <p:sp>
        <p:nvSpPr>
          <p:cNvPr id="12" name="Coluna 2 texto"/>
          <p:cNvSpPr txBox="1"/>
          <p:nvPr/>
        </p:nvSpPr>
        <p:spPr>
          <a:xfrm>
            <a:off x="451104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Influencer, FormatGroup, Position, InfluencerorBrand, InfluencerName, TipodeTag e MidiaAdName-Extra.</a:t>
            </a:r>
            <a:endParaRPr lang="en-US" sz="1333" dirty="0"/>
          </a:p>
        </p:txBody>
      </p:sp>
      <p:sp>
        <p:nvSpPr>
          <p:cNvPr id="13" name="Coluna 3 etiqueta"/>
          <p:cNvSpPr/>
          <p:nvPr/>
        </p:nvSpPr>
        <p:spPr>
          <a:xfrm>
            <a:off x="804672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</a:t>
            </a:r>
            <a:endParaRPr lang="en-US" sz="1467" dirty="0"/>
          </a:p>
        </p:txBody>
      </p:sp>
      <p:sp>
        <p:nvSpPr>
          <p:cNvPr id="14" name="Coluna 3 cartão"/>
          <p:cNvSpPr/>
          <p:nvPr/>
        </p:nvSpPr>
        <p:spPr>
          <a:xfrm>
            <a:off x="804672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5" name="Coluna 3 título"/>
          <p:cNvSpPr txBox="1"/>
          <p:nvPr/>
        </p:nvSpPr>
        <p:spPr>
          <a:xfrm>
            <a:off x="822960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Reduzido de 12 para 3 campos</a:t>
            </a:r>
            <a:endParaRPr lang="en-US" sz="1533" dirty="0"/>
          </a:p>
        </p:txBody>
      </p:sp>
      <p:sp>
        <p:nvSpPr>
          <p:cNvPr id="16" name="Coluna 3 texto"/>
          <p:cNvSpPr txBox="1"/>
          <p:nvPr/>
        </p:nvSpPr>
        <p:spPr>
          <a:xfrm>
            <a:off x="822960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apenas com Placement-Type, CreativeName e Seconds.</a:t>
            </a:r>
            <a:endParaRPr lang="en-US" sz="1333" dirty="0"/>
          </a:p>
        </p:txBody>
      </p:sp>
      <p:sp>
        <p:nvSpPr>
          <p:cNvPr id="17" name="Ad Name resultado fundo"/>
          <p:cNvSpPr/>
          <p:nvPr/>
        </p:nvSpPr>
        <p:spPr>
          <a:xfrm>
            <a:off x="8229600" y="3901440"/>
            <a:ext cx="3169920" cy="48768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8" name="Ad Name resultado"/>
          <p:cNvSpPr txBox="1"/>
          <p:nvPr/>
        </p:nvSpPr>
        <p:spPr>
          <a:xfrm>
            <a:off x="8229600" y="3901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Placement-Type_CreativeName_Seconds</a:t>
            </a:r>
            <a:endParaRPr lang="en-US" sz="1067" dirty="0"/>
          </a:p>
        </p:txBody>
      </p:sp>
      <p:sp>
        <p:nvSpPr>
          <p:cNvPr id="19" name="Uso rótulo"/>
          <p:cNvSpPr txBox="1"/>
          <p:nvPr/>
        </p:nvSpPr>
        <p:spPr>
          <a:xfrm>
            <a:off x="609600" y="475488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RM existem a taxonomia normal e a reduzida. Cada uma tem o seu uso</a:t>
            </a:r>
            <a:endParaRPr lang="en-US" sz="1600" dirty="0"/>
          </a:p>
        </p:txBody>
      </p:sp>
      <p:sp>
        <p:nvSpPr>
          <p:cNvPr id="20" name="Uso 1 etiqueta"/>
          <p:cNvSpPr/>
          <p:nvPr/>
        </p:nvSpPr>
        <p:spPr>
          <a:xfrm>
            <a:off x="609600" y="5181600"/>
            <a:ext cx="5394960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21" name="Uso 1 cartão"/>
          <p:cNvSpPr/>
          <p:nvPr/>
        </p:nvSpPr>
        <p:spPr>
          <a:xfrm>
            <a:off x="609600" y="5583936"/>
            <a:ext cx="5394960" cy="54864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22" name="Uso 1 texto"/>
          <p:cNvSpPr txBox="1"/>
          <p:nvPr/>
        </p:nvSpPr>
        <p:spPr>
          <a:xfrm>
            <a:off x="792480" y="558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 taxonomia reduzida</a:t>
            </a:r>
            <a:endParaRPr lang="en-US" sz="1600" dirty="0"/>
          </a:p>
        </p:txBody>
      </p:sp>
      <p:sp>
        <p:nvSpPr>
          <p:cNvPr id="23" name="Uso 2 etiqueta"/>
          <p:cNvSpPr/>
          <p:nvPr/>
        </p:nvSpPr>
        <p:spPr>
          <a:xfrm>
            <a:off x="6187440" y="5181600"/>
            <a:ext cx="5394960" cy="365760"/>
          </a:xfrm>
          <a:prstGeom prst="roundRect">
            <a:avLst>
              <a:gd name="adj" fmla="val 33333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Compra Direta</a:t>
            </a:r>
            <a:endParaRPr lang="en-US" sz="1400" dirty="0"/>
          </a:p>
        </p:txBody>
      </p:sp>
      <p:sp>
        <p:nvSpPr>
          <p:cNvPr id="24" name="Uso 2 cartão"/>
          <p:cNvSpPr/>
          <p:nvPr/>
        </p:nvSpPr>
        <p:spPr>
          <a:xfrm>
            <a:off x="6187440" y="5583936"/>
            <a:ext cx="5394960" cy="54864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25" name="Uso 2 texto"/>
          <p:cNvSpPr txBox="1"/>
          <p:nvPr/>
        </p:nvSpPr>
        <p:spPr>
          <a:xfrm>
            <a:off x="6370320" y="558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 taxonomia normal (original)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E5C0DC-FB54-BD6E-EC14-7E4A84548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000" i="1" err="1"/>
              <a:t>Setembro</a:t>
            </a:r>
            <a:r>
              <a:rPr lang="en-US" sz="1000" i="1"/>
              <a:t>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CCDA56-8AF8-4DF2-FB2D-0472B2A7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881763"/>
            <a:ext cx="5599555" cy="1094467"/>
          </a:xfrm>
        </p:spPr>
        <p:txBody>
          <a:bodyPr/>
          <a:lstStyle/>
          <a:p>
            <a:r>
              <a:rPr lang="en-US" sz="3600">
                <a:latin typeface="Unilever Desire Light" pitchFamily="2" charset="77"/>
              </a:rPr>
              <a:t>CRONOGRAMA MENSAL </a:t>
            </a:r>
            <a:r>
              <a:rPr lang="en-US" sz="3600" b="1">
                <a:latin typeface="Unilever Desire" pitchFamily="2" charset="77"/>
              </a:rPr>
              <a:t>RROI</a:t>
            </a:r>
            <a:endParaRPr lang="en-US" sz="2400" b="1">
              <a:latin typeface="Unilever Desire" pitchFamily="2" charset="77"/>
            </a:endParaRPr>
          </a:p>
        </p:txBody>
      </p:sp>
      <p:pic>
        <p:nvPicPr>
          <p:cNvPr id="2" name="Imagem 1" descr="Initiative">
            <a:extLst>
              <a:ext uri="{FF2B5EF4-FFF2-40B4-BE49-F238E27FC236}">
                <a16:creationId xmlns:a16="http://schemas.microsoft.com/office/drawing/2014/main" id="{E1C74DDA-D912-F815-D125-398DD5067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3" y="2409541"/>
            <a:ext cx="872433" cy="2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280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6695-A2BF-4201-DDC2-28DA2E6C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4DEB9-72F2-CEBA-1CBE-573488D9B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008E9-3E8A-7517-FC5A-BFEAA7C909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B278FD-FC48-FFB3-B6AA-54002451551E}"/>
              </a:ext>
            </a:extLst>
          </p:cNvPr>
          <p:cNvSpPr txBox="1"/>
          <p:nvPr/>
        </p:nvSpPr>
        <p:spPr>
          <a:xfrm>
            <a:off x="266700" y="9365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>
                <a:latin typeface="Unilever Desire" pitchFamily="2" charset="77"/>
              </a:rPr>
              <a:t>papéis e responsabilidades</a:t>
            </a:r>
            <a:r>
              <a:rPr lang="pt-BR" sz="2000" b="1">
                <a:solidFill>
                  <a:srgbClr val="4F7FF2"/>
                </a:solidFill>
                <a:latin typeface="Unilever Desire" pitchFamily="2" charset="77"/>
              </a:rPr>
              <a:t>.</a:t>
            </a:r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7F915402-765F-9DF5-C0F0-D21B172F7489}"/>
              </a:ext>
            </a:extLst>
          </p:cNvPr>
          <p:cNvSpPr/>
          <p:nvPr/>
        </p:nvSpPr>
        <p:spPr>
          <a:xfrm>
            <a:off x="609600" y="2012999"/>
            <a:ext cx="10972800" cy="3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400" b="1">
                <a:solidFill>
                  <a:schemeClr val="bg1"/>
                </a:solidFill>
                <a:latin typeface="Unilever Desire" pitchFamily="2" charset="77"/>
                <a:ea typeface="Roboto Lt" panose="02000000000000000000" pitchFamily="2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46E72A-9A5C-4F1E-268B-B40B0543B49B}"/>
              </a:ext>
            </a:extLst>
          </p:cNvPr>
          <p:cNvSpPr/>
          <p:nvPr/>
        </p:nvSpPr>
        <p:spPr>
          <a:xfrm>
            <a:off x="609600" y="2049953"/>
            <a:ext cx="10972800" cy="56944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350" b="1">
                <a:solidFill>
                  <a:schemeClr val="tx1"/>
                </a:solidFill>
                <a:latin typeface="Unilever Desire" pitchFamily="2" charset="77"/>
                <a:ea typeface="Roboto Lt" panose="02000000000000000000" pitchFamily="2" charset="0"/>
                <a:cs typeface="Arial" panose="020B0604020202020204" pitchFamily="34" charset="0"/>
              </a:rPr>
              <a:t>PMO (todas as etapas)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100">
                <a:solidFill>
                  <a:schemeClr val="tx1"/>
                </a:solidFill>
                <a:latin typeface="Unilever Desire Light" pitchFamily="2" charset="77"/>
              </a:rPr>
              <a:t>Coordenar o cronograma, acompanhar prazos e responsáveis, garantir os alinhamentos entre as áreas e sinalizar riscos e pendências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08379E6-0826-AB6D-A70F-E9FDF7CF6FF6}"/>
              </a:ext>
            </a:extLst>
          </p:cNvPr>
          <p:cNvGrpSpPr/>
          <p:nvPr/>
        </p:nvGrpSpPr>
        <p:grpSpPr>
          <a:xfrm>
            <a:off x="609600" y="2905123"/>
            <a:ext cx="10972800" cy="2113931"/>
            <a:chOff x="609600" y="2490786"/>
            <a:chExt cx="11188920" cy="2113931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78828136-E856-1220-9111-C2FF76F91D52}"/>
                </a:ext>
              </a:extLst>
            </p:cNvPr>
            <p:cNvGrpSpPr/>
            <p:nvPr/>
          </p:nvGrpSpPr>
          <p:grpSpPr>
            <a:xfrm>
              <a:off x="2878357" y="2490787"/>
              <a:ext cx="2113893" cy="2113929"/>
              <a:chOff x="3400425" y="2862262"/>
              <a:chExt cx="2600325" cy="2113929"/>
            </a:xfrm>
          </p:grpSpPr>
          <p:sp>
            <p:nvSpPr>
              <p:cNvPr id="36" name="Rounded Rectangle 2">
                <a:extLst>
                  <a:ext uri="{FF2B5EF4-FFF2-40B4-BE49-F238E27FC236}">
                    <a16:creationId xmlns:a16="http://schemas.microsoft.com/office/drawing/2014/main" id="{3045D666-0840-458D-0298-3AD7FB11373C}"/>
                  </a:ext>
                </a:extLst>
              </p:cNvPr>
              <p:cNvSpPr/>
              <p:nvPr/>
            </p:nvSpPr>
            <p:spPr>
              <a:xfrm>
                <a:off x="3400425" y="2862262"/>
                <a:ext cx="2600325" cy="2113929"/>
              </a:xfrm>
              <a:prstGeom prst="roundRect">
                <a:avLst>
                  <a:gd name="adj" fmla="val 5687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37" name="Rectangle 6">
                <a:extLst>
                  <a:ext uri="{FF2B5EF4-FFF2-40B4-BE49-F238E27FC236}">
                    <a16:creationId xmlns:a16="http://schemas.microsoft.com/office/drawing/2014/main" id="{A62BC85F-D619-0D55-4FC4-CE18FDA2546C}"/>
                  </a:ext>
                </a:extLst>
              </p:cNvPr>
              <p:cNvSpPr/>
              <p:nvPr/>
            </p:nvSpPr>
            <p:spPr>
              <a:xfrm>
                <a:off x="3400425" y="2862262"/>
                <a:ext cx="2600325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38" name="TextBox 12">
                <a:extLst>
                  <a:ext uri="{FF2B5EF4-FFF2-40B4-BE49-F238E27FC236}">
                    <a16:creationId xmlns:a16="http://schemas.microsoft.com/office/drawing/2014/main" id="{6FFA41E5-78EC-7405-41CE-6BA365FAC479}"/>
                  </a:ext>
                </a:extLst>
              </p:cNvPr>
              <p:cNvSpPr txBox="1"/>
              <p:nvPr/>
            </p:nvSpPr>
            <p:spPr>
              <a:xfrm>
                <a:off x="3629025" y="3128962"/>
                <a:ext cx="180979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Engenharia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6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</a:p>
            </p:txBody>
          </p:sp>
        </p:grp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ABAA467D-F84C-5130-8C1E-E40E8F1D2D91}"/>
                </a:ext>
              </a:extLst>
            </p:cNvPr>
            <p:cNvGrpSpPr/>
            <p:nvPr/>
          </p:nvGrpSpPr>
          <p:grpSpPr>
            <a:xfrm>
              <a:off x="5147113" y="2490787"/>
              <a:ext cx="2113893" cy="2113929"/>
              <a:chOff x="6191250" y="3109912"/>
              <a:chExt cx="2600325" cy="2113929"/>
            </a:xfrm>
          </p:grpSpPr>
          <p:sp>
            <p:nvSpPr>
              <p:cNvPr id="45" name="Rounded Rectangle 3">
                <a:extLst>
                  <a:ext uri="{FF2B5EF4-FFF2-40B4-BE49-F238E27FC236}">
                    <a16:creationId xmlns:a16="http://schemas.microsoft.com/office/drawing/2014/main" id="{0FBF6E04-1537-CEEA-B884-F99B0D4BB1F0}"/>
                  </a:ext>
                </a:extLst>
              </p:cNvPr>
              <p:cNvSpPr/>
              <p:nvPr/>
            </p:nvSpPr>
            <p:spPr>
              <a:xfrm>
                <a:off x="6191250" y="3109912"/>
                <a:ext cx="2600325" cy="2113929"/>
              </a:xfrm>
              <a:prstGeom prst="roundRect">
                <a:avLst>
                  <a:gd name="adj" fmla="val 7547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46" name="Rectangle 7">
                <a:extLst>
                  <a:ext uri="{FF2B5EF4-FFF2-40B4-BE49-F238E27FC236}">
                    <a16:creationId xmlns:a16="http://schemas.microsoft.com/office/drawing/2014/main" id="{D7E72063-5C1C-B157-CDAC-235EA54177D4}"/>
                  </a:ext>
                </a:extLst>
              </p:cNvPr>
              <p:cNvSpPr/>
              <p:nvPr/>
            </p:nvSpPr>
            <p:spPr>
              <a:xfrm>
                <a:off x="6191250" y="3109912"/>
                <a:ext cx="2600325" cy="381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rgbClr val="FFC000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47" name="TextBox 13">
                <a:extLst>
                  <a:ext uri="{FF2B5EF4-FFF2-40B4-BE49-F238E27FC236}">
                    <a16:creationId xmlns:a16="http://schemas.microsoft.com/office/drawing/2014/main" id="{67ED69BA-A185-1F7B-AE86-C1E9CB3C81CB}"/>
                  </a:ext>
                </a:extLst>
              </p:cNvPr>
              <p:cNvSpPr txBox="1"/>
              <p:nvPr/>
            </p:nvSpPr>
            <p:spPr>
              <a:xfrm>
                <a:off x="6419850" y="3376612"/>
                <a:ext cx="1658837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Mídia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4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</a:p>
            </p:txBody>
          </p:sp>
        </p:grp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8F1B1158-0260-BBB4-C8F4-F349D95ECD9D}"/>
                </a:ext>
              </a:extLst>
            </p:cNvPr>
            <p:cNvGrpSpPr/>
            <p:nvPr/>
          </p:nvGrpSpPr>
          <p:grpSpPr>
            <a:xfrm>
              <a:off x="7415870" y="2490787"/>
              <a:ext cx="2113893" cy="2113929"/>
              <a:chOff x="8982075" y="3357562"/>
              <a:chExt cx="2600325" cy="2113929"/>
            </a:xfrm>
          </p:grpSpPr>
          <p:sp>
            <p:nvSpPr>
              <p:cNvPr id="52" name="Rounded Rectangle 4">
                <a:extLst>
                  <a:ext uri="{FF2B5EF4-FFF2-40B4-BE49-F238E27FC236}">
                    <a16:creationId xmlns:a16="http://schemas.microsoft.com/office/drawing/2014/main" id="{1ACEC5B6-8B46-3EBA-766D-803DA519484D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2113929"/>
              </a:xfrm>
              <a:prstGeom prst="roundRect">
                <a:avLst>
                  <a:gd name="adj" fmla="val 11214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3" name="Rectangle 8">
                <a:extLst>
                  <a:ext uri="{FF2B5EF4-FFF2-40B4-BE49-F238E27FC236}">
                    <a16:creationId xmlns:a16="http://schemas.microsoft.com/office/drawing/2014/main" id="{158D3723-C9E1-B41A-3275-9821D3144A35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38100"/>
              </a:xfrm>
              <a:prstGeom prst="rect">
                <a:avLst/>
              </a:prstGeom>
              <a:solidFill>
                <a:srgbClr val="009A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4" name="TextBox 14">
                <a:extLst>
                  <a:ext uri="{FF2B5EF4-FFF2-40B4-BE49-F238E27FC236}">
                    <a16:creationId xmlns:a16="http://schemas.microsoft.com/office/drawing/2014/main" id="{D8FFEB78-7751-8010-67B0-47F09BF18BAA}"/>
                  </a:ext>
                </a:extLst>
              </p:cNvPr>
              <p:cNvSpPr txBox="1"/>
              <p:nvPr/>
            </p:nvSpPr>
            <p:spPr>
              <a:xfrm>
                <a:off x="9210675" y="3624262"/>
                <a:ext cx="143629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Unilever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1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Etapa)</a:t>
                </a:r>
              </a:p>
            </p:txBody>
          </p:sp>
        </p:grp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CD43E34E-8E77-8795-DC7E-B5F5C348E435}"/>
                </a:ext>
              </a:extLst>
            </p:cNvPr>
            <p:cNvGrpSpPr/>
            <p:nvPr/>
          </p:nvGrpSpPr>
          <p:grpSpPr>
            <a:xfrm>
              <a:off x="609600" y="2490788"/>
              <a:ext cx="2113893" cy="2113929"/>
              <a:chOff x="609600" y="2490787"/>
              <a:chExt cx="2600325" cy="2248619"/>
            </a:xfrm>
          </p:grpSpPr>
          <p:sp>
            <p:nvSpPr>
              <p:cNvPr id="57" name="Rounded Rectangle 1">
                <a:extLst>
                  <a:ext uri="{FF2B5EF4-FFF2-40B4-BE49-F238E27FC236}">
                    <a16:creationId xmlns:a16="http://schemas.microsoft.com/office/drawing/2014/main" id="{B57F9722-7055-3C75-7318-7B34BBD007D6}"/>
                  </a:ext>
                </a:extLst>
              </p:cNvPr>
              <p:cNvSpPr/>
              <p:nvPr/>
            </p:nvSpPr>
            <p:spPr>
              <a:xfrm>
                <a:off x="609600" y="2490787"/>
                <a:ext cx="2600325" cy="2248619"/>
              </a:xfrm>
              <a:prstGeom prst="roundRect">
                <a:avLst>
                  <a:gd name="adj" fmla="val 4395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8D4A7DF9-499F-BD87-148E-9AE595642714}"/>
                  </a:ext>
                </a:extLst>
              </p:cNvPr>
              <p:cNvSpPr/>
              <p:nvPr/>
            </p:nvSpPr>
            <p:spPr>
              <a:xfrm>
                <a:off x="609600" y="2490787"/>
                <a:ext cx="2600325" cy="381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AB4212D7-E710-59FC-EAE7-08F190D23AD4}"/>
                  </a:ext>
                </a:extLst>
              </p:cNvPr>
              <p:cNvSpPr txBox="1"/>
              <p:nvPr/>
            </p:nvSpPr>
            <p:spPr>
              <a:xfrm>
                <a:off x="838201" y="2757487"/>
                <a:ext cx="2165400" cy="22098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Analytics (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10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  <a:endParaRPr lang="pt-BR"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3E8F565-09B2-E3B1-F382-BCD12DDA56EF}"/>
                </a:ext>
              </a:extLst>
            </p:cNvPr>
            <p:cNvSpPr txBox="1"/>
            <p:nvPr/>
          </p:nvSpPr>
          <p:spPr>
            <a:xfrm>
              <a:off x="3064193" y="3128962"/>
              <a:ext cx="1807342" cy="923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pt-BR" sz="1100">
                  <a:latin typeface="Unilever Desire Light" pitchFamily="2" charset="77"/>
                </a:rPr>
                <a:t>Executar ajustes técnicos, incorporar dados e garantir o processamento da base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8E30ADB-6F13-BE77-97B6-1B68143B321B}"/>
                </a:ext>
              </a:extLst>
            </p:cNvPr>
            <p:cNvSpPr txBox="1"/>
            <p:nvPr/>
          </p:nvSpPr>
          <p:spPr>
            <a:xfrm>
              <a:off x="5286490" y="3110169"/>
              <a:ext cx="1888884" cy="923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pt-BR" sz="1100">
                  <a:latin typeface="Unilever Desire Light" pitchFamily="2" charset="77"/>
                </a:rPr>
                <a:t>Auxiliar no entendimentos dos valores. Corrigir informações na origem(taxonomia) e fornecer informações de compra direta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610DA51D-5992-4658-9471-C39A6B3BFA8A}"/>
                </a:ext>
              </a:extLst>
            </p:cNvPr>
            <p:cNvGrpSpPr/>
            <p:nvPr/>
          </p:nvGrpSpPr>
          <p:grpSpPr>
            <a:xfrm>
              <a:off x="9684627" y="2490786"/>
              <a:ext cx="2113893" cy="2113929"/>
              <a:chOff x="8982075" y="3357562"/>
              <a:chExt cx="2600325" cy="2113929"/>
            </a:xfrm>
          </p:grpSpPr>
          <p:sp>
            <p:nvSpPr>
              <p:cNvPr id="12" name="Rounded Rectangle 4">
                <a:extLst>
                  <a:ext uri="{FF2B5EF4-FFF2-40B4-BE49-F238E27FC236}">
                    <a16:creationId xmlns:a16="http://schemas.microsoft.com/office/drawing/2014/main" id="{9FD25F9E-B553-4301-EDC5-6B5C024C2F73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2113929"/>
              </a:xfrm>
              <a:prstGeom prst="roundRect">
                <a:avLst>
                  <a:gd name="adj" fmla="val 11214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7E5E19D0-774D-B8E4-0453-E2CEEF470813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38100"/>
              </a:xfrm>
              <a:prstGeom prst="rect">
                <a:avLst/>
              </a:prstGeom>
              <a:solidFill>
                <a:srgbClr val="9A263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27A11D9-104C-296D-1065-871643132DC6}"/>
                  </a:ext>
                </a:extLst>
              </p:cNvPr>
              <p:cNvSpPr txBox="1"/>
              <p:nvPr/>
            </p:nvSpPr>
            <p:spPr>
              <a:xfrm>
                <a:off x="9210675" y="3624262"/>
                <a:ext cx="169905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StormX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1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Etapa)</a:t>
                </a:r>
              </a:p>
            </p:txBody>
          </p:sp>
          <p:sp>
            <p:nvSpPr>
              <p:cNvPr id="15" name="TextBox 31">
                <a:extLst>
                  <a:ext uri="{FF2B5EF4-FFF2-40B4-BE49-F238E27FC236}">
                    <a16:creationId xmlns:a16="http://schemas.microsoft.com/office/drawing/2014/main" id="{B3160841-239B-9DA5-1067-F5CDB3CE200B}"/>
                  </a:ext>
                </a:extLst>
              </p:cNvPr>
              <p:cNvSpPr txBox="1"/>
              <p:nvPr/>
            </p:nvSpPr>
            <p:spPr>
              <a:xfrm>
                <a:off x="9210677" y="3995737"/>
                <a:ext cx="1926409" cy="48474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buNone/>
                </a:pPr>
                <a:r>
                  <a:rPr lang="pt-BR" sz="1050">
                    <a:latin typeface="Unilever Desire Light" pitchFamily="2" charset="77"/>
                  </a:rPr>
                  <a:t>Apoiar na criação e ajustes necessários das taxonomias</a:t>
                </a:r>
              </a:p>
            </p:txBody>
          </p:sp>
        </p:grp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CC674A3-4765-BB72-E744-B06E535D8A9F}"/>
                </a:ext>
              </a:extLst>
            </p:cNvPr>
            <p:cNvSpPr txBox="1"/>
            <p:nvPr/>
          </p:nvSpPr>
          <p:spPr>
            <a:xfrm>
              <a:off x="7601706" y="3128961"/>
              <a:ext cx="1888884" cy="67710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buNone/>
              </a:pPr>
              <a:r>
                <a:rPr lang="pt-BR" sz="1100">
                  <a:latin typeface="Unilever Desire Light" pitchFamily="2" charset="77"/>
                </a:rPr>
                <a:t>Validar a base final e apontar eventuais ajustes antes do envio a modelagem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6356D85-7FC7-2F01-AB79-132E2108732E}"/>
                </a:ext>
              </a:extLst>
            </p:cNvPr>
            <p:cNvSpPr txBox="1"/>
            <p:nvPr/>
          </p:nvSpPr>
          <p:spPr>
            <a:xfrm>
              <a:off x="808642" y="3093131"/>
              <a:ext cx="1807342" cy="8463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fontAlgn="ctr"/>
              <a:r>
                <a:rPr lang="pt-BR" sz="1100">
                  <a:latin typeface="Unilever Desire Light" pitchFamily="2" charset="77"/>
                </a:rPr>
                <a:t>Orquestrar, investigar, validar, definir regras, analisar divergências e garantir a qualidade final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5157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C526-FC77-D030-66A4-EFBF15DA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221582B-1809-00DD-48CC-86F804956D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A248846-6901-2092-60F2-418245D467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926F94CF-F9C0-9C43-B5FE-7663163629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8189F021-0D0B-FDAE-9834-CACBABF1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E773A51B-E7E3-45D6-0406-50506EC2E41F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BF841F96-9935-9AFC-685A-B3726EB5400D}"/>
              </a:ext>
            </a:extLst>
          </p:cNvPr>
          <p:cNvSpPr txBox="1"/>
          <p:nvPr/>
        </p:nvSpPr>
        <p:spPr>
          <a:xfrm>
            <a:off x="335280" y="887165"/>
            <a:ext cx="19284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FASE 1: PREPARAÇÃO DA BASE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B2BF7F83-8106-ABA2-C05C-E14B46C7D9AE}"/>
              </a:ext>
            </a:extLst>
          </p:cNvPr>
          <p:cNvSpPr txBox="1"/>
          <p:nvPr/>
        </p:nvSpPr>
        <p:spPr>
          <a:xfrm>
            <a:off x="335280" y="1115765"/>
            <a:ext cx="5501506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Extração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Inicial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&amp;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Regras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de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Negócio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01 a 04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F05266B-935E-D9D8-F735-D9E9D140EDDF}"/>
              </a:ext>
            </a:extLst>
          </p:cNvPr>
          <p:cNvSpPr txBox="1"/>
          <p:nvPr/>
        </p:nvSpPr>
        <p:spPr>
          <a:xfrm>
            <a:off x="9739354" y="1249115"/>
            <a:ext cx="10371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: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 i="0" u="none" err="1">
                <a:solidFill>
                  <a:srgbClr val="2563EB"/>
                </a:solidFill>
                <a:latin typeface="Unilever Desire" pitchFamily="2" charset="77"/>
              </a:rPr>
              <a:t>d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ia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16</a:t>
            </a:r>
          </a:p>
        </p:txBody>
      </p: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A6DAC88A-3395-BEDA-5748-9D2C62793937}"/>
              </a:ext>
            </a:extLst>
          </p:cNvPr>
          <p:cNvGrpSpPr/>
          <p:nvPr/>
        </p:nvGrpSpPr>
        <p:grpSpPr>
          <a:xfrm>
            <a:off x="397239" y="2437988"/>
            <a:ext cx="10777491" cy="1986476"/>
            <a:chOff x="397239" y="2437988"/>
            <a:chExt cx="10777491" cy="1986476"/>
          </a:xfrm>
        </p:grpSpPr>
        <p:grpSp>
          <p:nvGrpSpPr>
            <p:cNvPr id="84" name="Agrupar 83">
              <a:extLst>
                <a:ext uri="{FF2B5EF4-FFF2-40B4-BE49-F238E27FC236}">
                  <a16:creationId xmlns:a16="http://schemas.microsoft.com/office/drawing/2014/main" id="{676E5E88-D872-C1E1-2D9C-7D3DDFB04F40}"/>
                </a:ext>
              </a:extLst>
            </p:cNvPr>
            <p:cNvGrpSpPr/>
            <p:nvPr/>
          </p:nvGrpSpPr>
          <p:grpSpPr>
            <a:xfrm>
              <a:off x="8593458" y="2437988"/>
              <a:ext cx="2566941" cy="1981200"/>
              <a:chOff x="397239" y="2443264"/>
              <a:chExt cx="2566941" cy="1981200"/>
            </a:xfrm>
          </p:grpSpPr>
          <p:sp>
            <p:nvSpPr>
              <p:cNvPr id="85" name="Retângulo 84">
                <a:extLst>
                  <a:ext uri="{FF2B5EF4-FFF2-40B4-BE49-F238E27FC236}">
                    <a16:creationId xmlns:a16="http://schemas.microsoft.com/office/drawing/2014/main" id="{24B41CA2-36E3-5DC6-9A2D-88099BECDB1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Retângulo 85">
                <a:extLst>
                  <a:ext uri="{FF2B5EF4-FFF2-40B4-BE49-F238E27FC236}">
                    <a16:creationId xmlns:a16="http://schemas.microsoft.com/office/drawing/2014/main" id="{F63FA0A9-229C-02CF-43B4-CA23019BE864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accent2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80D2215A-A8E8-F6E7-6FBC-CE4D885C78D7}"/>
                </a:ext>
              </a:extLst>
            </p:cNvPr>
            <p:cNvGrpSpPr/>
            <p:nvPr/>
          </p:nvGrpSpPr>
          <p:grpSpPr>
            <a:xfrm>
              <a:off x="5861385" y="2437988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2F76884D-F3BD-8FF1-9D14-13E3005F9800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BA1FFC10-7FBB-6FC0-D220-B485281520C3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07B83896-D35E-52A5-90C1-82ADE0790222}"/>
                </a:ext>
              </a:extLst>
            </p:cNvPr>
            <p:cNvGrpSpPr/>
            <p:nvPr/>
          </p:nvGrpSpPr>
          <p:grpSpPr>
            <a:xfrm>
              <a:off x="397239" y="2443264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F8276566-41C9-DD49-7531-AFC865EC2D12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13D09EE-ADE0-89A0-4E5A-3D2E06415AD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B163C020-3C08-027A-D7F9-5930336FA1AF}"/>
                </a:ext>
              </a:extLst>
            </p:cNvPr>
            <p:cNvGrpSpPr/>
            <p:nvPr/>
          </p:nvGrpSpPr>
          <p:grpSpPr>
            <a:xfrm>
              <a:off x="3129312" y="2443264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EB1265FD-3B67-93AF-6716-2B924BEC126F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408DA1FA-8BE2-4DE5-85E1-433A11BEF450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BC7EDA97-1AEE-D0E3-4C47-8C668D275DC3}"/>
                </a:ext>
              </a:extLst>
            </p:cNvPr>
            <p:cNvSpPr txBox="1"/>
            <p:nvPr/>
          </p:nvSpPr>
          <p:spPr>
            <a:xfrm>
              <a:off x="601980" y="2671864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01</a:t>
              </a: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7708BD43-220E-29BA-BAB3-D9EF0D769079}"/>
                </a:ext>
              </a:extLst>
            </p:cNvPr>
            <p:cNvSpPr txBox="1"/>
            <p:nvPr/>
          </p:nvSpPr>
          <p:spPr>
            <a:xfrm>
              <a:off x="601980" y="2890939"/>
              <a:ext cx="956993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Extração V1</a:t>
              </a: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6B19FD21-83F4-1A2A-5279-354B1F813997}"/>
                </a:ext>
              </a:extLst>
            </p:cNvPr>
            <p:cNvSpPr txBox="1"/>
            <p:nvPr/>
          </p:nvSpPr>
          <p:spPr>
            <a:xfrm>
              <a:off x="601980" y="3250222"/>
              <a:ext cx="2228850" cy="4847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Extração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das bases AD e BQ com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aplicação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das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regras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de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negócio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para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conferência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.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62C8F213-5639-BF68-D44C-0D7C373462FB}"/>
                </a:ext>
              </a:extLst>
            </p:cNvPr>
            <p:cNvSpPr txBox="1"/>
            <p:nvPr/>
          </p:nvSpPr>
          <p:spPr>
            <a:xfrm>
              <a:off x="33832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02</a:t>
              </a: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C15BBFCD-689D-1AFD-4B06-8A132A30FBA7}"/>
                </a:ext>
              </a:extLst>
            </p:cNvPr>
            <p:cNvSpPr txBox="1"/>
            <p:nvPr/>
          </p:nvSpPr>
          <p:spPr>
            <a:xfrm>
              <a:off x="3383280" y="2890939"/>
              <a:ext cx="1065997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Validação V1</a:t>
              </a: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FB9E7E20-F685-3E42-629C-AA6CF800ABA4}"/>
                </a:ext>
              </a:extLst>
            </p:cNvPr>
            <p:cNvSpPr txBox="1"/>
            <p:nvPr/>
          </p:nvSpPr>
          <p:spPr>
            <a:xfrm>
              <a:off x="3383280" y="3250222"/>
              <a:ext cx="2228850" cy="4847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Justificativa de divergências e acionamento dos times responsáveis.</a:t>
              </a: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64974D0B-AD62-F030-336B-9C6D58E5249B}"/>
                </a:ext>
              </a:extLst>
            </p:cNvPr>
            <p:cNvSpPr txBox="1"/>
            <p:nvPr/>
          </p:nvSpPr>
          <p:spPr>
            <a:xfrm>
              <a:off x="61645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03</a:t>
              </a: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AB552BB7-C28D-7FC7-0C54-0A46063EC7BA}"/>
                </a:ext>
              </a:extLst>
            </p:cNvPr>
            <p:cNvSpPr txBox="1"/>
            <p:nvPr/>
          </p:nvSpPr>
          <p:spPr>
            <a:xfrm>
              <a:off x="6164580" y="2890939"/>
              <a:ext cx="1553310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Solicitação Ajustes</a:t>
              </a: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0AFA575A-3668-FCC4-A401-0AF6AEC98022}"/>
                </a:ext>
              </a:extLst>
            </p:cNvPr>
            <p:cNvSpPr txBox="1"/>
            <p:nvPr/>
          </p:nvSpPr>
          <p:spPr>
            <a:xfrm>
              <a:off x="61645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Pedido de exclusão/substituição de dados para apoiar a validação.</a:t>
              </a:r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D9EABBB3-7795-F92D-8C0C-AAC00B08B11A}"/>
                </a:ext>
              </a:extLst>
            </p:cNvPr>
            <p:cNvSpPr txBox="1"/>
            <p:nvPr/>
          </p:nvSpPr>
          <p:spPr>
            <a:xfrm>
              <a:off x="89458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2"/>
                  </a:solidFill>
                  <a:latin typeface="Unilever Desire" pitchFamily="2" charset="77"/>
                </a:rPr>
                <a:t>ETAPA 04</a:t>
              </a:r>
            </a:p>
          </p:txBody>
        </p:sp>
        <p:sp>
          <p:nvSpPr>
            <p:cNvPr id="64" name="TextBox 23">
              <a:extLst>
                <a:ext uri="{FF2B5EF4-FFF2-40B4-BE49-F238E27FC236}">
                  <a16:creationId xmlns:a16="http://schemas.microsoft.com/office/drawing/2014/main" id="{40D56EBD-59FA-EE3E-8C9A-B7BF244A70AD}"/>
                </a:ext>
              </a:extLst>
            </p:cNvPr>
            <p:cNvSpPr txBox="1"/>
            <p:nvPr/>
          </p:nvSpPr>
          <p:spPr>
            <a:xfrm>
              <a:off x="8945880" y="2890939"/>
              <a:ext cx="1275990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Ajustes</a:t>
              </a:r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na</a:t>
              </a:r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 Base</a:t>
              </a:r>
            </a:p>
          </p:txBody>
        </p:sp>
        <p:sp>
          <p:nvSpPr>
            <p:cNvPr id="65" name="TextBox 24">
              <a:extLst>
                <a:ext uri="{FF2B5EF4-FFF2-40B4-BE49-F238E27FC236}">
                  <a16:creationId xmlns:a16="http://schemas.microsoft.com/office/drawing/2014/main" id="{3BD0D49D-0D99-1358-051A-6DD64F6DFFD7}"/>
                </a:ext>
              </a:extLst>
            </p:cNvPr>
            <p:cNvSpPr txBox="1"/>
            <p:nvPr/>
          </p:nvSpPr>
          <p:spPr>
            <a:xfrm>
              <a:off x="89458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Execução no banco dos ajustes solicitados pelo time de Analytics.</a:t>
              </a: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67D40B1F-ACE2-488F-21BB-9570652C146B}"/>
                </a:ext>
              </a:extLst>
            </p:cNvPr>
            <p:cNvSpPr txBox="1"/>
            <p:nvPr/>
          </p:nvSpPr>
          <p:spPr>
            <a:xfrm>
              <a:off x="6019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DD4B7C61-A03F-CFB2-746E-AD7396892835}"/>
                </a:ext>
              </a:extLst>
            </p:cNvPr>
            <p:cNvSpPr txBox="1"/>
            <p:nvPr/>
          </p:nvSpPr>
          <p:spPr>
            <a:xfrm>
              <a:off x="601980" y="4107475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Até o dia 04</a:t>
              </a: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E960E3BC-CF9D-A75A-556C-218418854BDD}"/>
                </a:ext>
              </a:extLst>
            </p:cNvPr>
            <p:cNvSpPr txBox="1"/>
            <p:nvPr/>
          </p:nvSpPr>
          <p:spPr>
            <a:xfrm>
              <a:off x="33832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F017C5D1-A210-96B4-6EA1-DCBC45E4C8F4}"/>
                </a:ext>
              </a:extLst>
            </p:cNvPr>
            <p:cNvSpPr txBox="1"/>
            <p:nvPr/>
          </p:nvSpPr>
          <p:spPr>
            <a:xfrm>
              <a:off x="33832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Até o dia 10</a:t>
              </a: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937398D8-254A-2548-A47F-A6FDFB95C672}"/>
                </a:ext>
              </a:extLst>
            </p:cNvPr>
            <p:cNvSpPr txBox="1"/>
            <p:nvPr/>
          </p:nvSpPr>
          <p:spPr>
            <a:xfrm>
              <a:off x="61645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83D17A45-5F3A-1F3B-E84D-B8B96E2D01A6}"/>
                </a:ext>
              </a:extLst>
            </p:cNvPr>
            <p:cNvSpPr txBox="1"/>
            <p:nvPr/>
          </p:nvSpPr>
          <p:spPr>
            <a:xfrm>
              <a:off x="61645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13</a:t>
              </a:r>
            </a:p>
          </p:txBody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161FA5D9-20C0-EF28-2921-017D6E8192C5}"/>
                </a:ext>
              </a:extLst>
            </p:cNvPr>
            <p:cNvSpPr txBox="1"/>
            <p:nvPr/>
          </p:nvSpPr>
          <p:spPr>
            <a:xfrm>
              <a:off x="8945880" y="3916975"/>
              <a:ext cx="102271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Engenharia</a:t>
              </a:r>
            </a:p>
          </p:txBody>
        </p:sp>
        <p:sp>
          <p:nvSpPr>
            <p:cNvPr id="73" name="TextBox 32">
              <a:extLst>
                <a:ext uri="{FF2B5EF4-FFF2-40B4-BE49-F238E27FC236}">
                  <a16:creationId xmlns:a16="http://schemas.microsoft.com/office/drawing/2014/main" id="{584A6B4D-BF4D-4374-C0DA-3ECE96BD3D37}"/>
                </a:ext>
              </a:extLst>
            </p:cNvPr>
            <p:cNvSpPr txBox="1"/>
            <p:nvPr/>
          </p:nvSpPr>
          <p:spPr>
            <a:xfrm>
              <a:off x="89458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4187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4AB6-0E2D-1F7D-77DC-A0D9FAED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9EA12D-10EE-862D-B298-023925ACF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FE5FE81-D67C-9131-02A8-E9CABA4327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B5FBFD76-FFCC-44C0-9278-A211D9E28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0F611BB9-7DF4-C5C3-B1C0-F7742A0706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81" name="Agrupar 80">
            <a:extLst>
              <a:ext uri="{FF2B5EF4-FFF2-40B4-BE49-F238E27FC236}">
                <a16:creationId xmlns:a16="http://schemas.microsoft.com/office/drawing/2014/main" id="{22DA5CE6-C0C1-40D5-9DDF-3B22DB361845}"/>
              </a:ext>
            </a:extLst>
          </p:cNvPr>
          <p:cNvGrpSpPr/>
          <p:nvPr/>
        </p:nvGrpSpPr>
        <p:grpSpPr>
          <a:xfrm>
            <a:off x="5880770" y="2443742"/>
            <a:ext cx="2566941" cy="1981200"/>
            <a:chOff x="397239" y="2443264"/>
            <a:chExt cx="2566941" cy="1981200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A5B06789-E177-011B-C983-494A7F67B492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4457686C-DB57-C364-FCBD-89D305554735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19FD476-3610-DAE5-F8BE-7A2FC23E0EB7}"/>
              </a:ext>
            </a:extLst>
          </p:cNvPr>
          <p:cNvGrpSpPr/>
          <p:nvPr/>
        </p:nvGrpSpPr>
        <p:grpSpPr>
          <a:xfrm>
            <a:off x="416624" y="2449018"/>
            <a:ext cx="2566941" cy="1981200"/>
            <a:chOff x="397239" y="2443264"/>
            <a:chExt cx="2566941" cy="1981200"/>
          </a:xfrm>
        </p:grpSpPr>
        <p:sp>
          <p:nvSpPr>
            <p:cNvPr id="75" name="Retângulo 74">
              <a:extLst>
                <a:ext uri="{FF2B5EF4-FFF2-40B4-BE49-F238E27FC236}">
                  <a16:creationId xmlns:a16="http://schemas.microsoft.com/office/drawing/2014/main" id="{A587EBEE-FAB0-4C31-E265-F563986C8775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A97438B7-CEE1-14C5-84FB-EB4CD13F90E0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03735FD-76AE-C009-B368-EF6FD00C9A84}"/>
              </a:ext>
            </a:extLst>
          </p:cNvPr>
          <p:cNvGrpSpPr/>
          <p:nvPr/>
        </p:nvGrpSpPr>
        <p:grpSpPr>
          <a:xfrm>
            <a:off x="3148697" y="2449018"/>
            <a:ext cx="2566941" cy="1981200"/>
            <a:chOff x="397239" y="2443264"/>
            <a:chExt cx="2566941" cy="1981200"/>
          </a:xfrm>
        </p:grpSpPr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349866FF-2122-14F3-128D-DB77EB80163F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DD0F7A76-20B5-1438-1D0D-55CBDA116F22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rgbClr val="FFC000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13">
            <a:extLst>
              <a:ext uri="{FF2B5EF4-FFF2-40B4-BE49-F238E27FC236}">
                <a16:creationId xmlns:a16="http://schemas.microsoft.com/office/drawing/2014/main" id="{33675591-B609-3756-12DD-EDDD3B99AE3A}"/>
              </a:ext>
            </a:extLst>
          </p:cNvPr>
          <p:cNvSpPr txBox="1"/>
          <p:nvPr/>
        </p:nvSpPr>
        <p:spPr>
          <a:xfrm>
            <a:off x="6213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C000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rgbClr val="FFC000"/>
                </a:solidFill>
                <a:latin typeface="Unilever Desire" pitchFamily="2" charset="77"/>
              </a:rPr>
              <a:t>5</a:t>
            </a:r>
            <a:endParaRPr sz="900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5C77464D-5DE2-CFCE-9562-37E46804D88C}"/>
              </a:ext>
            </a:extLst>
          </p:cNvPr>
          <p:cNvSpPr txBox="1"/>
          <p:nvPr/>
        </p:nvSpPr>
        <p:spPr>
          <a:xfrm>
            <a:off x="621365" y="2896693"/>
            <a:ext cx="188192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Solicitação Taxonomia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852CAFF8-F7F9-3148-6407-EE71E6890FAC}"/>
              </a:ext>
            </a:extLst>
          </p:cNvPr>
          <p:cNvSpPr txBox="1"/>
          <p:nvPr/>
        </p:nvSpPr>
        <p:spPr>
          <a:xfrm>
            <a:off x="621365" y="3255976"/>
            <a:ext cx="22288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Solicitação de taxonomia à </a:t>
            </a:r>
            <a:r>
              <a:rPr lang="pt-BR" sz="1050" err="1">
                <a:solidFill>
                  <a:srgbClr val="475569"/>
                </a:solidFill>
                <a:latin typeface="Unilever Desire" pitchFamily="2" charset="77"/>
              </a:rPr>
              <a:t>StormX</a:t>
            </a:r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 para valores de compra direta e taxonomias erradas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D860AF4B-969D-2D24-3BAE-A81A4E050349}"/>
              </a:ext>
            </a:extLst>
          </p:cNvPr>
          <p:cNvSpPr txBox="1"/>
          <p:nvPr/>
        </p:nvSpPr>
        <p:spPr>
          <a:xfrm>
            <a:off x="34026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C000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rgbClr val="FFC000"/>
                </a:solidFill>
                <a:latin typeface="Unilever Desire" pitchFamily="2" charset="77"/>
              </a:rPr>
              <a:t>6</a:t>
            </a:r>
            <a:endParaRPr sz="900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7F19B96D-C458-467A-022C-4FEB64C929A1}"/>
              </a:ext>
            </a:extLst>
          </p:cNvPr>
          <p:cNvSpPr txBox="1"/>
          <p:nvPr/>
        </p:nvSpPr>
        <p:spPr>
          <a:xfrm>
            <a:off x="3402665" y="2896693"/>
            <a:ext cx="219290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Inclusão de compra direta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3D9BBC8E-044A-6F9E-49EA-6CE4C6F4E7FC}"/>
              </a:ext>
            </a:extLst>
          </p:cNvPr>
          <p:cNvSpPr txBox="1"/>
          <p:nvPr/>
        </p:nvSpPr>
        <p:spPr>
          <a:xfrm>
            <a:off x="3402665" y="3255976"/>
            <a:ext cx="22288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Inclusão dos valores de compra direta na planilha oficial.</a:t>
            </a:r>
            <a:r>
              <a:rPr sz="1050" u="none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EB9BC9AF-071E-2D14-741E-C89085D200F0}"/>
              </a:ext>
            </a:extLst>
          </p:cNvPr>
          <p:cNvSpPr txBox="1"/>
          <p:nvPr/>
        </p:nvSpPr>
        <p:spPr>
          <a:xfrm>
            <a:off x="61839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chemeClr val="accent2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chemeClr val="accent2"/>
                </a:solidFill>
                <a:latin typeface="Unilever Desire" pitchFamily="2" charset="77"/>
              </a:rPr>
              <a:t>7</a:t>
            </a:r>
            <a:endParaRPr sz="900" b="1" i="0" u="none">
              <a:solidFill>
                <a:schemeClr val="accent2"/>
              </a:solidFill>
              <a:latin typeface="Unilever Desire" pitchFamily="2" charset="77"/>
            </a:endParaRP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39350F42-4BF4-6AB2-80F6-F333F8D3C384}"/>
              </a:ext>
            </a:extLst>
          </p:cNvPr>
          <p:cNvSpPr txBox="1"/>
          <p:nvPr/>
        </p:nvSpPr>
        <p:spPr>
          <a:xfrm>
            <a:off x="6183965" y="2896693"/>
            <a:ext cx="131125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Update da base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80676498-72B9-06BB-08E8-CE89481A1AB6}"/>
              </a:ext>
            </a:extLst>
          </p:cNvPr>
          <p:cNvSpPr txBox="1"/>
          <p:nvPr/>
        </p:nvSpPr>
        <p:spPr>
          <a:xfrm>
            <a:off x="6183965" y="3255976"/>
            <a:ext cx="22288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u="none">
                <a:solidFill>
                  <a:srgbClr val="475569"/>
                </a:solidFill>
                <a:latin typeface="Unilever Desire" pitchFamily="2" charset="77"/>
              </a:rPr>
              <a:t>Upload dos valores de compra direta na base de </a:t>
            </a:r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dados e eventuais ajustes </a:t>
            </a:r>
            <a:r>
              <a:rPr sz="1050" b="0" i="0" u="none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C06F3EC2-530B-A60D-5BC4-18A8FE123AFC}"/>
              </a:ext>
            </a:extLst>
          </p:cNvPr>
          <p:cNvSpPr txBox="1"/>
          <p:nvPr/>
        </p:nvSpPr>
        <p:spPr>
          <a:xfrm>
            <a:off x="621365" y="3922729"/>
            <a:ext cx="67326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>
                <a:solidFill>
                  <a:srgbClr val="0F172A"/>
                </a:solidFill>
                <a:latin typeface="Unilever Desire" pitchFamily="2" charset="77"/>
              </a:rPr>
              <a:t>Mídia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7" name="TextBox 26">
            <a:extLst>
              <a:ext uri="{FF2B5EF4-FFF2-40B4-BE49-F238E27FC236}">
                <a16:creationId xmlns:a16="http://schemas.microsoft.com/office/drawing/2014/main" id="{D2BFA3D1-54A1-BBE4-F466-738882EC8F64}"/>
              </a:ext>
            </a:extLst>
          </p:cNvPr>
          <p:cNvSpPr txBox="1"/>
          <p:nvPr/>
        </p:nvSpPr>
        <p:spPr>
          <a:xfrm>
            <a:off x="6213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</a:t>
            </a:r>
            <a:r>
              <a:rPr lang="pt-BR" sz="975" b="1">
                <a:solidFill>
                  <a:srgbClr val="FFC000"/>
                </a:solidFill>
                <a:latin typeface="Unilever Desire" pitchFamily="2" charset="77"/>
              </a:rPr>
              <a:t>10</a:t>
            </a:r>
            <a:endParaRPr sz="975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68" name="TextBox 27">
            <a:extLst>
              <a:ext uri="{FF2B5EF4-FFF2-40B4-BE49-F238E27FC236}">
                <a16:creationId xmlns:a16="http://schemas.microsoft.com/office/drawing/2014/main" id="{EF59E699-5216-C3A7-C77E-88B3C05D41B5}"/>
              </a:ext>
            </a:extLst>
          </p:cNvPr>
          <p:cNvSpPr txBox="1"/>
          <p:nvPr/>
        </p:nvSpPr>
        <p:spPr>
          <a:xfrm>
            <a:off x="3402665" y="3922729"/>
            <a:ext cx="67326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 b="0" i="0" u="none">
                <a:solidFill>
                  <a:srgbClr val="0F172A"/>
                </a:solidFill>
                <a:latin typeface="Unilever Desire" pitchFamily="2" charset="77"/>
              </a:rPr>
              <a:t>Mídia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9" name="TextBox 28">
            <a:extLst>
              <a:ext uri="{FF2B5EF4-FFF2-40B4-BE49-F238E27FC236}">
                <a16:creationId xmlns:a16="http://schemas.microsoft.com/office/drawing/2014/main" id="{0D13FA0B-F8D8-9F7A-B48F-29577CCAA637}"/>
              </a:ext>
            </a:extLst>
          </p:cNvPr>
          <p:cNvSpPr txBox="1"/>
          <p:nvPr/>
        </p:nvSpPr>
        <p:spPr>
          <a:xfrm>
            <a:off x="34026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1</a:t>
            </a:r>
            <a:r>
              <a:rPr lang="pt-BR" sz="975" b="1" i="0" u="none">
                <a:solidFill>
                  <a:srgbClr val="FFC000"/>
                </a:solidFill>
                <a:latin typeface="Unilever Desire" pitchFamily="2" charset="77"/>
              </a:rPr>
              <a:t>3</a:t>
            </a:r>
            <a:endParaRPr sz="975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70" name="TextBox 29">
            <a:extLst>
              <a:ext uri="{FF2B5EF4-FFF2-40B4-BE49-F238E27FC236}">
                <a16:creationId xmlns:a16="http://schemas.microsoft.com/office/drawing/2014/main" id="{328AFD23-5967-219D-C90A-CC7FACB94724}"/>
              </a:ext>
            </a:extLst>
          </p:cNvPr>
          <p:cNvSpPr txBox="1"/>
          <p:nvPr/>
        </p:nvSpPr>
        <p:spPr>
          <a:xfrm>
            <a:off x="6183965" y="3922729"/>
            <a:ext cx="102271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 b="0" i="0" u="none">
                <a:solidFill>
                  <a:srgbClr val="0F172A"/>
                </a:solidFill>
                <a:latin typeface="Unilever Desire" pitchFamily="2" charset="77"/>
              </a:rPr>
              <a:t>Engenharia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71" name="TextBox 30">
            <a:extLst>
              <a:ext uri="{FF2B5EF4-FFF2-40B4-BE49-F238E27FC236}">
                <a16:creationId xmlns:a16="http://schemas.microsoft.com/office/drawing/2014/main" id="{FFB4B9E3-C940-80D8-71D7-09E5BEE59023}"/>
              </a:ext>
            </a:extLst>
          </p:cNvPr>
          <p:cNvSpPr txBox="1"/>
          <p:nvPr/>
        </p:nvSpPr>
        <p:spPr>
          <a:xfrm>
            <a:off x="61839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chemeClr val="accent2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chemeClr val="accent2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chemeClr val="accent2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chemeClr val="accent2"/>
                </a:solidFill>
                <a:latin typeface="Unilever Desire" pitchFamily="2" charset="77"/>
              </a:rPr>
              <a:t> 1</a:t>
            </a:r>
            <a:r>
              <a:rPr lang="pt-BR" sz="975" b="1" i="0" u="none">
                <a:solidFill>
                  <a:schemeClr val="accent2"/>
                </a:solidFill>
                <a:latin typeface="Unilever Desire" pitchFamily="2" charset="77"/>
              </a:rPr>
              <a:t>6</a:t>
            </a:r>
            <a:endParaRPr sz="975" b="1" i="0" u="none">
              <a:solidFill>
                <a:schemeClr val="accent2"/>
              </a:solidFill>
              <a:latin typeface="Unilever Desire" pitchFamily="2" charset="77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938948E-D76D-2802-A35F-DEC7B9DE9456}"/>
              </a:ext>
            </a:extLst>
          </p:cNvPr>
          <p:cNvGrpSpPr/>
          <p:nvPr/>
        </p:nvGrpSpPr>
        <p:grpSpPr>
          <a:xfrm>
            <a:off x="8612843" y="2426958"/>
            <a:ext cx="2581272" cy="1981200"/>
            <a:chOff x="8593458" y="2437988"/>
            <a:chExt cx="2581272" cy="1981200"/>
          </a:xfrm>
        </p:grpSpPr>
        <p:grpSp>
          <p:nvGrpSpPr>
            <p:cNvPr id="84" name="Agrupar 83">
              <a:extLst>
                <a:ext uri="{FF2B5EF4-FFF2-40B4-BE49-F238E27FC236}">
                  <a16:creationId xmlns:a16="http://schemas.microsoft.com/office/drawing/2014/main" id="{C832FFCA-7BF0-7EC9-A0DD-381A6CECDDAA}"/>
                </a:ext>
              </a:extLst>
            </p:cNvPr>
            <p:cNvGrpSpPr/>
            <p:nvPr/>
          </p:nvGrpSpPr>
          <p:grpSpPr>
            <a:xfrm>
              <a:off x="8593458" y="2437988"/>
              <a:ext cx="2566941" cy="1981200"/>
              <a:chOff x="397239" y="2443264"/>
              <a:chExt cx="2566941" cy="1981200"/>
            </a:xfrm>
          </p:grpSpPr>
          <p:sp>
            <p:nvSpPr>
              <p:cNvPr id="85" name="Retângulo 84">
                <a:extLst>
                  <a:ext uri="{FF2B5EF4-FFF2-40B4-BE49-F238E27FC236}">
                    <a16:creationId xmlns:a16="http://schemas.microsoft.com/office/drawing/2014/main" id="{AA6E5C2A-05B4-023B-72F2-DD99B21DADB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Retângulo 85">
                <a:extLst>
                  <a:ext uri="{FF2B5EF4-FFF2-40B4-BE49-F238E27FC236}">
                    <a16:creationId xmlns:a16="http://schemas.microsoft.com/office/drawing/2014/main" id="{0CD2DF95-CDDE-D7B2-5DD5-FA5A0AC2047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36C5743C-680E-ECAD-0682-797082BB30D0}"/>
                </a:ext>
              </a:extLst>
            </p:cNvPr>
            <p:cNvSpPr txBox="1"/>
            <p:nvPr/>
          </p:nvSpPr>
          <p:spPr>
            <a:xfrm>
              <a:off x="89458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tx2"/>
                  </a:solidFill>
                  <a:latin typeface="Unilever Desire" pitchFamily="2" charset="77"/>
                </a:rPr>
                <a:t>ETAPA 0</a:t>
              </a:r>
              <a:r>
                <a:rPr lang="pt-BR" sz="900" b="1" i="0" u="none">
                  <a:solidFill>
                    <a:schemeClr val="tx2"/>
                  </a:solidFill>
                  <a:latin typeface="Unilever Desire" pitchFamily="2" charset="77"/>
                </a:rPr>
                <a:t>8</a:t>
              </a:r>
              <a:endParaRPr sz="900" b="1" i="0" u="none">
                <a:solidFill>
                  <a:schemeClr val="tx2"/>
                </a:solidFill>
                <a:latin typeface="Unilever Desire" pitchFamily="2" charset="77"/>
              </a:endParaRPr>
            </a:p>
          </p:txBody>
        </p:sp>
        <p:sp>
          <p:nvSpPr>
            <p:cNvPr id="64" name="TextBox 23">
              <a:extLst>
                <a:ext uri="{FF2B5EF4-FFF2-40B4-BE49-F238E27FC236}">
                  <a16:creationId xmlns:a16="http://schemas.microsoft.com/office/drawing/2014/main" id="{9D1C20DF-E8CF-FC09-4039-14F647C4FDE7}"/>
                </a:ext>
              </a:extLst>
            </p:cNvPr>
            <p:cNvSpPr txBox="1"/>
            <p:nvPr/>
          </p:nvSpPr>
          <p:spPr>
            <a:xfrm>
              <a:off x="8945880" y="2890939"/>
              <a:ext cx="2106346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Extração e validação | V2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5" name="TextBox 24">
              <a:extLst>
                <a:ext uri="{FF2B5EF4-FFF2-40B4-BE49-F238E27FC236}">
                  <a16:creationId xmlns:a16="http://schemas.microsoft.com/office/drawing/2014/main" id="{8D7EC6A4-E566-9BF0-C070-03E92E762DAB}"/>
                </a:ext>
              </a:extLst>
            </p:cNvPr>
            <p:cNvSpPr txBox="1"/>
            <p:nvPr/>
          </p:nvSpPr>
          <p:spPr>
            <a:xfrm>
              <a:off x="89458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Execução no banco dos ajustes solicitados pelo time de Analytics.</a:t>
              </a:r>
            </a:p>
          </p:txBody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4DD9F178-66EB-05FF-4C13-71D1711793A6}"/>
                </a:ext>
              </a:extLst>
            </p:cNvPr>
            <p:cNvSpPr txBox="1"/>
            <p:nvPr/>
          </p:nvSpPr>
          <p:spPr>
            <a:xfrm>
              <a:off x="89458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3" name="TextBox 32">
              <a:extLst>
                <a:ext uri="{FF2B5EF4-FFF2-40B4-BE49-F238E27FC236}">
                  <a16:creationId xmlns:a16="http://schemas.microsoft.com/office/drawing/2014/main" id="{5861ECE8-7ED8-4D39-91BB-670966C0FBBC}"/>
                </a:ext>
              </a:extLst>
            </p:cNvPr>
            <p:cNvSpPr txBox="1"/>
            <p:nvPr/>
          </p:nvSpPr>
          <p:spPr>
            <a:xfrm>
              <a:off x="89458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tx2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tx2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tx2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tx2"/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chemeClr val="tx2"/>
                  </a:solidFill>
                  <a:latin typeface="Unilever Desire" pitchFamily="2" charset="77"/>
                </a:rPr>
                <a:t>19</a:t>
              </a:r>
              <a:endParaRPr sz="975" b="1" i="0" u="none">
                <a:solidFill>
                  <a:schemeClr val="tx2"/>
                </a:solidFill>
                <a:latin typeface="Unilever Desire" pitchFamily="2" charset="77"/>
              </a:endParaRPr>
            </a:p>
          </p:txBody>
        </p:sp>
      </p:grpSp>
      <p:sp>
        <p:nvSpPr>
          <p:cNvPr id="3" name="TextBox 10">
            <a:extLst>
              <a:ext uri="{FF2B5EF4-FFF2-40B4-BE49-F238E27FC236}">
                <a16:creationId xmlns:a16="http://schemas.microsoft.com/office/drawing/2014/main" id="{0BD8CBB1-225C-070D-B5C3-D5B07D33C156}"/>
              </a:ext>
            </a:extLst>
          </p:cNvPr>
          <p:cNvSpPr txBox="1"/>
          <p:nvPr/>
        </p:nvSpPr>
        <p:spPr>
          <a:xfrm>
            <a:off x="335280" y="887165"/>
            <a:ext cx="22217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B050"/>
                </a:solidFill>
                <a:latin typeface="Unilever Desire" pitchFamily="2" charset="77"/>
              </a:rPr>
              <a:t>FASE </a:t>
            </a:r>
            <a:r>
              <a:rPr lang="pt-BR" sz="1050" b="1" i="0" u="none">
                <a:solidFill>
                  <a:srgbClr val="00B050"/>
                </a:solidFill>
                <a:latin typeface="Unilever Desire" pitchFamily="2" charset="77"/>
              </a:rPr>
              <a:t>2</a:t>
            </a:r>
            <a:r>
              <a:rPr sz="1050" b="1" i="0" u="none">
                <a:solidFill>
                  <a:srgbClr val="00B050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00B050"/>
                </a:solidFill>
                <a:latin typeface="Unilever Desire" pitchFamily="2" charset="77"/>
              </a:rPr>
              <a:t>CORREÇÃO E TAXONOMIA</a:t>
            </a:r>
            <a:endParaRPr sz="1050" b="1" i="0" u="none">
              <a:solidFill>
                <a:srgbClr val="00B050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CFE62A2F-BF0F-3668-7A3A-648F1C9587C3}"/>
              </a:ext>
            </a:extLst>
          </p:cNvPr>
          <p:cNvSpPr txBox="1"/>
          <p:nvPr/>
        </p:nvSpPr>
        <p:spPr>
          <a:xfrm>
            <a:off x="335280" y="1115765"/>
            <a:ext cx="498373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Inclusão de valores e 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re</a:t>
            </a:r>
            <a:r>
              <a:rPr lang="pt-BR" sz="2400" b="1" err="1">
                <a:solidFill>
                  <a:srgbClr val="0F172A"/>
                </a:solidFill>
                <a:latin typeface="Unilever Desire" pitchFamily="2" charset="77"/>
              </a:rPr>
              <a:t>-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extração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</a:t>
            </a:r>
            <a:r>
              <a:rPr lang="pt-BR" sz="1600" i="0" u="none">
                <a:latin typeface="Unilever Desire" pitchFamily="2" charset="77"/>
              </a:rPr>
              <a:t>5</a:t>
            </a:r>
            <a:r>
              <a:rPr sz="1600" i="0" u="none">
                <a:latin typeface="Unilever Desire" pitchFamily="2" charset="77"/>
              </a:rPr>
              <a:t> a 0</a:t>
            </a:r>
            <a:r>
              <a:rPr lang="pt-BR" sz="1600" i="0" u="none">
                <a:latin typeface="Unilever Desire" pitchFamily="2" charset="77"/>
              </a:rPr>
              <a:t>8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115" name="Rounded Rectangle 1">
            <a:extLst>
              <a:ext uri="{FF2B5EF4-FFF2-40B4-BE49-F238E27FC236}">
                <a16:creationId xmlns:a16="http://schemas.microsoft.com/office/drawing/2014/main" id="{1EB2DF66-5F99-48E3-89F3-FBD4C3EA5C74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2">
            <a:extLst>
              <a:ext uri="{FF2B5EF4-FFF2-40B4-BE49-F238E27FC236}">
                <a16:creationId xmlns:a16="http://schemas.microsoft.com/office/drawing/2014/main" id="{352AC72F-A7C1-7EDF-CB3A-62CAC941F441}"/>
              </a:ext>
            </a:extLst>
          </p:cNvPr>
          <p:cNvSpPr txBox="1"/>
          <p:nvPr/>
        </p:nvSpPr>
        <p:spPr>
          <a:xfrm>
            <a:off x="9739354" y="1249115"/>
            <a:ext cx="10371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: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 i="0" u="none" err="1">
                <a:solidFill>
                  <a:srgbClr val="2563EB"/>
                </a:solidFill>
                <a:latin typeface="Unilever Desire" pitchFamily="2" charset="77"/>
              </a:rPr>
              <a:t>d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ia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1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9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79276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BE6B-FE66-3825-B3F1-FEAAFACC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9E379CD-CD4F-4D82-4C00-A5FEC47D5F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BA3C34E-164E-562A-F1DA-48A603A77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39D664E-EA92-F453-D3E8-FA941B0551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6910A97-CE59-D38B-8320-6042AE522B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6D3AD29-4CE5-38C6-B0C8-06BBD6991E45}"/>
              </a:ext>
            </a:extLst>
          </p:cNvPr>
          <p:cNvGrpSpPr/>
          <p:nvPr/>
        </p:nvGrpSpPr>
        <p:grpSpPr>
          <a:xfrm>
            <a:off x="416624" y="2426958"/>
            <a:ext cx="10777491" cy="2003260"/>
            <a:chOff x="283952" y="2721366"/>
            <a:chExt cx="10777491" cy="2003260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2D88ABFA-A9FF-48F9-5E16-F7436329D380}"/>
                </a:ext>
              </a:extLst>
            </p:cNvPr>
            <p:cNvGrpSpPr/>
            <p:nvPr/>
          </p:nvGrpSpPr>
          <p:grpSpPr>
            <a:xfrm>
              <a:off x="5748098" y="2738150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E4C65366-ABA1-0C9B-7FE6-8E78B324B86B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B5D59743-5B76-4265-EBE0-5346DEE2B3A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D48DB07E-4F9B-2C3F-D434-195C388CA805}"/>
                </a:ext>
              </a:extLst>
            </p:cNvPr>
            <p:cNvGrpSpPr/>
            <p:nvPr/>
          </p:nvGrpSpPr>
          <p:grpSpPr>
            <a:xfrm>
              <a:off x="283952" y="2743426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BC9C32BF-36CE-1997-94FC-370E850161B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80C5074F-3A8F-DB5E-6C93-C79332A66CBA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E1FDBC4D-AD63-1108-AE90-9D1F0AEBD732}"/>
                </a:ext>
              </a:extLst>
            </p:cNvPr>
            <p:cNvGrpSpPr/>
            <p:nvPr/>
          </p:nvGrpSpPr>
          <p:grpSpPr>
            <a:xfrm>
              <a:off x="3016025" y="2743426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0CA6CEBB-F928-97DD-BAA7-877AC52230B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BBA9E4B-A6EC-6B8F-B57E-354A656EAC8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4DC43E53-B6DF-3139-5011-BDEDBF85E89B}"/>
                </a:ext>
              </a:extLst>
            </p:cNvPr>
            <p:cNvSpPr txBox="1"/>
            <p:nvPr/>
          </p:nvSpPr>
          <p:spPr>
            <a:xfrm>
              <a:off x="488693" y="2972026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</a:t>
              </a:r>
              <a:r>
                <a:rPr lang="pt-BR" sz="900" b="1">
                  <a:solidFill>
                    <a:srgbClr val="2563EB"/>
                  </a:solidFill>
                  <a:latin typeface="Unilever Desire" pitchFamily="2" charset="77"/>
                </a:rPr>
                <a:t>9</a:t>
              </a:r>
              <a:endParaRPr sz="900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69154283-0888-994F-22CD-BCA214DAABB8}"/>
                </a:ext>
              </a:extLst>
            </p:cNvPr>
            <p:cNvSpPr txBox="1"/>
            <p:nvPr/>
          </p:nvSpPr>
          <p:spPr>
            <a:xfrm>
              <a:off x="488693" y="3191101"/>
              <a:ext cx="1057982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Data </a:t>
              </a:r>
              <a:r>
                <a:rPr lang="pt-BR"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Quality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FC4E5CC6-78CF-79DC-8141-AE7D66B21D82}"/>
                </a:ext>
              </a:extLst>
            </p:cNvPr>
            <p:cNvSpPr txBox="1"/>
            <p:nvPr/>
          </p:nvSpPr>
          <p:spPr>
            <a:xfrm>
              <a:off x="4886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Análise de qualidade e combinação dos campos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1AE020DD-F12E-F97C-8344-854DEC6967E0}"/>
                </a:ext>
              </a:extLst>
            </p:cNvPr>
            <p:cNvSpPr txBox="1"/>
            <p:nvPr/>
          </p:nvSpPr>
          <p:spPr>
            <a:xfrm>
              <a:off x="32699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FF0066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FF0066"/>
                  </a:solidFill>
                  <a:latin typeface="Unilever Desire" pitchFamily="2" charset="77"/>
                </a:rPr>
                <a:t>10</a:t>
              </a:r>
              <a:endParaRPr sz="900" b="1" i="0" u="none">
                <a:solidFill>
                  <a:srgbClr val="FF0066"/>
                </a:solidFill>
                <a:latin typeface="Unilever Desire" pitchFamily="2" charset="77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938574A9-D6AF-7BED-A628-A2B2E2E2E147}"/>
                </a:ext>
              </a:extLst>
            </p:cNvPr>
            <p:cNvSpPr txBox="1"/>
            <p:nvPr/>
          </p:nvSpPr>
          <p:spPr>
            <a:xfrm>
              <a:off x="3269993" y="3191101"/>
              <a:ext cx="1952458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Ajustes de Data </a:t>
              </a:r>
              <a:r>
                <a:rPr lang="pt-BR"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Quality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F6981818-A68C-5263-043B-8E6D97DFCAC3}"/>
                </a:ext>
              </a:extLst>
            </p:cNvPr>
            <p:cNvSpPr txBox="1"/>
            <p:nvPr/>
          </p:nvSpPr>
          <p:spPr>
            <a:xfrm>
              <a:off x="32699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Alteração de regras no banco ou taxonomias</a:t>
              </a:r>
              <a:endParaRPr sz="105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56DF7657-E73B-42F0-FB9D-4249CCF19480}"/>
                </a:ext>
              </a:extLst>
            </p:cNvPr>
            <p:cNvSpPr txBox="1"/>
            <p:nvPr/>
          </p:nvSpPr>
          <p:spPr>
            <a:xfrm>
              <a:off x="6051293" y="2972026"/>
              <a:ext cx="458459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2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chemeClr val="accent2"/>
                  </a:solidFill>
                  <a:latin typeface="Unilever Desire" pitchFamily="2" charset="77"/>
                </a:rPr>
                <a:t>11</a:t>
              </a:r>
              <a:endParaRPr sz="900" b="1" i="0" u="none">
                <a:solidFill>
                  <a:schemeClr val="accent2"/>
                </a:solidFill>
                <a:latin typeface="Unilever Desire" pitchFamily="2" charset="77"/>
              </a:endParaRP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C828FECE-E32F-E61F-272E-A72050F595E8}"/>
                </a:ext>
              </a:extLst>
            </p:cNvPr>
            <p:cNvSpPr txBox="1"/>
            <p:nvPr/>
          </p:nvSpPr>
          <p:spPr>
            <a:xfrm>
              <a:off x="6051293" y="3191101"/>
              <a:ext cx="1567737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Travar atualização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1738F39A-4974-68B3-C3CA-CBE8FC24EAC4}"/>
                </a:ext>
              </a:extLst>
            </p:cNvPr>
            <p:cNvSpPr txBox="1"/>
            <p:nvPr/>
          </p:nvSpPr>
          <p:spPr>
            <a:xfrm>
              <a:off x="60512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050" b="0" i="0" u="none">
                  <a:solidFill>
                    <a:srgbClr val="475569"/>
                  </a:solidFill>
                  <a:latin typeface="Unilever Desire" pitchFamily="2" charset="77"/>
                </a:rPr>
                <a:t>Bloqueio total de atualizações de dados D-30</a:t>
              </a:r>
              <a:endParaRPr sz="1050" b="0" i="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D0E4785B-0E65-7B75-7A9B-F22760BB0A28}"/>
                </a:ext>
              </a:extLst>
            </p:cNvPr>
            <p:cNvSpPr txBox="1"/>
            <p:nvPr/>
          </p:nvSpPr>
          <p:spPr>
            <a:xfrm>
              <a:off x="488693" y="4217137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1A4F9379-DAD1-99BB-F80F-EE932D4C6A7C}"/>
                </a:ext>
              </a:extLst>
            </p:cNvPr>
            <p:cNvSpPr txBox="1"/>
            <p:nvPr/>
          </p:nvSpPr>
          <p:spPr>
            <a:xfrm>
              <a:off x="488693" y="4407637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rgbClr val="2563EB"/>
                  </a:solidFill>
                  <a:latin typeface="Unilever Desire" pitchFamily="2" charset="77"/>
                </a:rPr>
                <a:t>25</a:t>
              </a:r>
              <a:endParaRPr sz="975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AE1CC494-2343-8253-EB36-8FCB18F9D4E9}"/>
                </a:ext>
              </a:extLst>
            </p:cNvPr>
            <p:cNvSpPr txBox="1"/>
            <p:nvPr/>
          </p:nvSpPr>
          <p:spPr>
            <a:xfrm>
              <a:off x="3269993" y="4217137"/>
              <a:ext cx="219130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r>
                <a:rPr lang="pt-BR" sz="975">
                  <a:solidFill>
                    <a:srgbClr val="0F172A"/>
                  </a:solidFill>
                  <a:latin typeface="Unilever Desire" pitchFamily="2" charset="77"/>
                </a:rPr>
                <a:t> &amp; Engenharia &amp; Mídia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276513DF-ACAB-B86D-04D3-ABDCFC76B6DB}"/>
                </a:ext>
              </a:extLst>
            </p:cNvPr>
            <p:cNvSpPr txBox="1"/>
            <p:nvPr/>
          </p:nvSpPr>
          <p:spPr>
            <a:xfrm>
              <a:off x="3269993" y="4407637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FF0066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FF0066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FF0066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FF0066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rgbClr val="FF0066"/>
                  </a:solidFill>
                  <a:latin typeface="Unilever Desire" pitchFamily="2" charset="77"/>
                </a:rPr>
                <a:t>29</a:t>
              </a:r>
              <a:endParaRPr sz="975" b="1" i="0" u="none">
                <a:solidFill>
                  <a:srgbClr val="FF0066"/>
                </a:solidFill>
                <a:latin typeface="Unilever Desire" pitchFamily="2" charset="77"/>
              </a:endParaRP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8DA6D5E5-C031-80D1-8F81-C23D4832C45F}"/>
                </a:ext>
              </a:extLst>
            </p:cNvPr>
            <p:cNvSpPr txBox="1"/>
            <p:nvPr/>
          </p:nvSpPr>
          <p:spPr>
            <a:xfrm>
              <a:off x="6051293" y="4217137"/>
              <a:ext cx="102271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Engenharia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BC592251-1D32-CC8F-C399-71FABE69269F}"/>
                </a:ext>
              </a:extLst>
            </p:cNvPr>
            <p:cNvSpPr txBox="1"/>
            <p:nvPr/>
          </p:nvSpPr>
          <p:spPr>
            <a:xfrm>
              <a:off x="6051293" y="4407637"/>
              <a:ext cx="37670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975" b="1" err="1">
                  <a:solidFill>
                    <a:schemeClr val="accent2"/>
                  </a:solidFill>
                  <a:latin typeface="Unilever Desire" pitchFamily="2" charset="77"/>
                </a:rPr>
                <a:t>D</a:t>
              </a:r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ia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chemeClr val="accent2"/>
                  </a:solidFill>
                  <a:latin typeface="Unilever Desire" pitchFamily="2" charset="77"/>
                </a:rPr>
                <a:t>30</a:t>
              </a:r>
              <a:endParaRPr sz="975" b="1" i="0" u="none">
                <a:solidFill>
                  <a:schemeClr val="accent2"/>
                </a:solidFill>
                <a:latin typeface="Unilever Desire" pitchFamily="2" charset="77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2596F076-57DA-1F33-AA34-D9F45C026EE7}"/>
                </a:ext>
              </a:extLst>
            </p:cNvPr>
            <p:cNvGrpSpPr/>
            <p:nvPr/>
          </p:nvGrpSpPr>
          <p:grpSpPr>
            <a:xfrm>
              <a:off x="8480171" y="2721366"/>
              <a:ext cx="2581272" cy="1981200"/>
              <a:chOff x="8593458" y="2437988"/>
              <a:chExt cx="2581272" cy="1981200"/>
            </a:xfrm>
          </p:grpSpPr>
          <p:grpSp>
            <p:nvGrpSpPr>
              <p:cNvPr id="84" name="Agrupar 83">
                <a:extLst>
                  <a:ext uri="{FF2B5EF4-FFF2-40B4-BE49-F238E27FC236}">
                    <a16:creationId xmlns:a16="http://schemas.microsoft.com/office/drawing/2014/main" id="{C1842823-CD1E-DBEE-D58B-7A913778826D}"/>
                  </a:ext>
                </a:extLst>
              </p:cNvPr>
              <p:cNvGrpSpPr/>
              <p:nvPr/>
            </p:nvGrpSpPr>
            <p:grpSpPr>
              <a:xfrm>
                <a:off x="8593458" y="2437988"/>
                <a:ext cx="2566941" cy="1981200"/>
                <a:chOff x="397239" y="2443264"/>
                <a:chExt cx="2566941" cy="1981200"/>
              </a:xfrm>
            </p:grpSpPr>
            <p:sp>
              <p:nvSpPr>
                <p:cNvPr id="85" name="Retângulo 84">
                  <a:extLst>
                    <a:ext uri="{FF2B5EF4-FFF2-40B4-BE49-F238E27FC236}">
                      <a16:creationId xmlns:a16="http://schemas.microsoft.com/office/drawing/2014/main" id="{BF7B1667-9D50-76C2-D916-B1280D5C1B53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2566941" cy="1981200"/>
                </a:xfrm>
                <a:prstGeom prst="rect">
                  <a:avLst/>
                </a:prstGeom>
                <a:solidFill>
                  <a:srgbClr val="F9FAF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Retângulo 85">
                  <a:extLst>
                    <a:ext uri="{FF2B5EF4-FFF2-40B4-BE49-F238E27FC236}">
                      <a16:creationId xmlns:a16="http://schemas.microsoft.com/office/drawing/2014/main" id="{B8B512E9-5276-C469-43AB-5F32E7A1CB5C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45719" cy="19812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3" name="TextBox 22">
                <a:extLst>
                  <a:ext uri="{FF2B5EF4-FFF2-40B4-BE49-F238E27FC236}">
                    <a16:creationId xmlns:a16="http://schemas.microsoft.com/office/drawing/2014/main" id="{384486EC-8752-83B7-237D-46767ABB367D}"/>
                  </a:ext>
                </a:extLst>
              </p:cNvPr>
              <p:cNvSpPr txBox="1"/>
              <p:nvPr/>
            </p:nvSpPr>
            <p:spPr>
              <a:xfrm>
                <a:off x="8945880" y="2671864"/>
                <a:ext cx="493725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00" b="1" i="0" u="none">
                    <a:solidFill>
                      <a:schemeClr val="tx2"/>
                    </a:solidFill>
                    <a:latin typeface="Unilever Desire" pitchFamily="2" charset="77"/>
                  </a:rPr>
                  <a:t>ETAPA </a:t>
                </a:r>
                <a:r>
                  <a:rPr lang="pt-BR" sz="900" b="1">
                    <a:solidFill>
                      <a:schemeClr val="tx2"/>
                    </a:solidFill>
                    <a:latin typeface="Unilever Desire" pitchFamily="2" charset="77"/>
                  </a:rPr>
                  <a:t>12</a:t>
                </a:r>
                <a:endParaRPr sz="900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4" name="TextBox 23">
                <a:extLst>
                  <a:ext uri="{FF2B5EF4-FFF2-40B4-BE49-F238E27FC236}">
                    <a16:creationId xmlns:a16="http://schemas.microsoft.com/office/drawing/2014/main" id="{D7DD0B23-95A5-CFFC-1EE2-39F0796728A8}"/>
                  </a:ext>
                </a:extLst>
              </p:cNvPr>
              <p:cNvSpPr txBox="1"/>
              <p:nvPr/>
            </p:nvSpPr>
            <p:spPr>
              <a:xfrm>
                <a:off x="8945880" y="2890939"/>
                <a:ext cx="1957267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Validaç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ã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o final da base</a:t>
                </a:r>
                <a:endParaRPr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5" name="TextBox 24">
                <a:extLst>
                  <a:ext uri="{FF2B5EF4-FFF2-40B4-BE49-F238E27FC236}">
                    <a16:creationId xmlns:a16="http://schemas.microsoft.com/office/drawing/2014/main" id="{F3A5A27A-9CCC-2B0F-58EF-4E305865729D}"/>
                  </a:ext>
                </a:extLst>
              </p:cNvPr>
              <p:cNvSpPr txBox="1"/>
              <p:nvPr/>
            </p:nvSpPr>
            <p:spPr>
              <a:xfrm>
                <a:off x="8945880" y="3250222"/>
                <a:ext cx="222885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050" b="0" i="0" u="none">
                    <a:solidFill>
                      <a:srgbClr val="475569"/>
                    </a:solidFill>
                    <a:latin typeface="Unilever Desire" pitchFamily="2" charset="77"/>
                  </a:rPr>
                  <a:t>Extração e validação do snapshot </a:t>
                </a:r>
                <a:r>
                  <a:rPr lang="pt-BR" sz="1050">
                    <a:solidFill>
                      <a:srgbClr val="475569"/>
                    </a:solidFill>
                    <a:latin typeface="Unilever Desire" pitchFamily="2" charset="77"/>
                  </a:rPr>
                  <a:t>full para envio a aprovação</a:t>
                </a:r>
                <a:endParaRPr sz="1050" b="0" i="0" u="none">
                  <a:solidFill>
                    <a:srgbClr val="475569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2" name="TextBox 31">
                <a:extLst>
                  <a:ext uri="{FF2B5EF4-FFF2-40B4-BE49-F238E27FC236}">
                    <a16:creationId xmlns:a16="http://schemas.microsoft.com/office/drawing/2014/main" id="{473C8F35-6177-F454-4A2E-58F157EED3F2}"/>
                  </a:ext>
                </a:extLst>
              </p:cNvPr>
              <p:cNvSpPr txBox="1"/>
              <p:nvPr/>
            </p:nvSpPr>
            <p:spPr>
              <a:xfrm>
                <a:off x="8945880" y="3916975"/>
                <a:ext cx="892873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75" b="1" i="0" u="none">
                    <a:solidFill>
                      <a:srgbClr val="0F172A"/>
                    </a:solidFill>
                    <a:latin typeface="Unilever Desire" pitchFamily="2" charset="77"/>
                  </a:rPr>
                  <a:t>Resp:</a:t>
                </a:r>
                <a:r>
                  <a:rPr sz="975" b="0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lang="pt-BR" sz="975" b="0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Analytics</a:t>
                </a:r>
                <a:endParaRPr sz="975" b="0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3" name="TextBox 32">
                <a:extLst>
                  <a:ext uri="{FF2B5EF4-FFF2-40B4-BE49-F238E27FC236}">
                    <a16:creationId xmlns:a16="http://schemas.microsoft.com/office/drawing/2014/main" id="{A2C18144-2F25-151F-85C9-6318E4102836}"/>
                  </a:ext>
                </a:extLst>
              </p:cNvPr>
              <p:cNvSpPr txBox="1"/>
              <p:nvPr/>
            </p:nvSpPr>
            <p:spPr>
              <a:xfrm>
                <a:off x="8945880" y="4107475"/>
                <a:ext cx="1045158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975" b="1" i="0" u="none">
                    <a:solidFill>
                      <a:schemeClr val="tx2"/>
                    </a:solidFill>
                    <a:latin typeface="Unilever Desire" pitchFamily="2" charset="77"/>
                  </a:rPr>
                  <a:t>Até o dia 02 (M+1)</a:t>
                </a:r>
                <a:endParaRPr sz="975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4B3804E-0AB1-30ED-E966-BB5D01C2B99E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3BE2EE20-FA05-EE1E-9A00-F69F0118FC93}"/>
              </a:ext>
            </a:extLst>
          </p:cNvPr>
          <p:cNvSpPr txBox="1"/>
          <p:nvPr/>
        </p:nvSpPr>
        <p:spPr>
          <a:xfrm>
            <a:off x="335280" y="887165"/>
            <a:ext cx="255198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Unilever Desire" pitchFamily="2" charset="77"/>
              </a:rPr>
              <a:t>FASE </a:t>
            </a:r>
            <a:r>
              <a:rPr lang="pt-BR" sz="1050" b="1">
                <a:solidFill>
                  <a:srgbClr val="D97706"/>
                </a:solidFill>
                <a:latin typeface="Unilever Desire" pitchFamily="2" charset="77"/>
              </a:rPr>
              <a:t>3</a:t>
            </a:r>
            <a:r>
              <a:rPr sz="1050" b="1" i="0" u="none">
                <a:solidFill>
                  <a:srgbClr val="D97706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D97706"/>
                </a:solidFill>
                <a:latin typeface="Unilever Desire" pitchFamily="2" charset="77"/>
              </a:rPr>
              <a:t>VALIDAÇÃO E CONGELAMENTO</a:t>
            </a:r>
            <a:endParaRPr sz="1050" b="1" i="0" u="none">
              <a:solidFill>
                <a:srgbClr val="D97706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CFBB684-0637-EE06-CC30-0DCAECA93A8A}"/>
              </a:ext>
            </a:extLst>
          </p:cNvPr>
          <p:cNvSpPr txBox="1"/>
          <p:nvPr/>
        </p:nvSpPr>
        <p:spPr>
          <a:xfrm>
            <a:off x="335280" y="1115765"/>
            <a:ext cx="3876061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Auditoria de Data </a:t>
            </a:r>
            <a:r>
              <a:rPr lang="pt-BR" sz="2400" b="1" err="1">
                <a:solidFill>
                  <a:srgbClr val="0F172A"/>
                </a:solidFill>
                <a:latin typeface="Unilever Desire" pitchFamily="2" charset="77"/>
              </a:rPr>
              <a:t>Q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uality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</a:t>
            </a:r>
            <a:r>
              <a:rPr lang="pt-BR" sz="1600" i="0" u="none">
                <a:latin typeface="Unilever Desire" pitchFamily="2" charset="77"/>
              </a:rPr>
              <a:t>9 a 12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D3E35405-75A6-5B1E-A3D7-0F28BF29708C}"/>
              </a:ext>
            </a:extLst>
          </p:cNvPr>
          <p:cNvSpPr txBox="1"/>
          <p:nvPr/>
        </p:nvSpPr>
        <p:spPr>
          <a:xfrm>
            <a:off x="9541383" y="1250455"/>
            <a:ext cx="143789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: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Dia 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02 (M+1)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743301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CD35-2530-4200-2792-0186FF9E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60941E4-97EA-E628-E532-EBEF7075AB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D7245C3-41EA-86C5-1ED2-E257A8B709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9023A44-8CCD-9453-853A-EB10C633D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1CE43DF-6AD6-8E72-C16E-3BC6D48EA14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53" name="Agrupar 52">
            <a:extLst>
              <a:ext uri="{FF2B5EF4-FFF2-40B4-BE49-F238E27FC236}">
                <a16:creationId xmlns:a16="http://schemas.microsoft.com/office/drawing/2014/main" id="{3BEF87E0-B76F-3591-C4A9-0CC001A592CE}"/>
              </a:ext>
            </a:extLst>
          </p:cNvPr>
          <p:cNvGrpSpPr/>
          <p:nvPr/>
        </p:nvGrpSpPr>
        <p:grpSpPr>
          <a:xfrm>
            <a:off x="416624" y="2426958"/>
            <a:ext cx="10777491" cy="2003260"/>
            <a:chOff x="283952" y="2721366"/>
            <a:chExt cx="10777491" cy="2003260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D1CEDF4E-53A9-3B89-0678-FED3B2D316F9}"/>
                </a:ext>
              </a:extLst>
            </p:cNvPr>
            <p:cNvGrpSpPr/>
            <p:nvPr/>
          </p:nvGrpSpPr>
          <p:grpSpPr>
            <a:xfrm>
              <a:off x="5748098" y="2738150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F647C169-8E54-BEBC-96F4-3592CDDFC8C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366BEB55-0B44-905B-708F-524E30906CC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9908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0C674127-3AB1-CC87-8F61-A3460F0EB97C}"/>
                </a:ext>
              </a:extLst>
            </p:cNvPr>
            <p:cNvGrpSpPr/>
            <p:nvPr/>
          </p:nvGrpSpPr>
          <p:grpSpPr>
            <a:xfrm>
              <a:off x="283952" y="2743426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F29FF2D3-26C2-42CF-F315-611602A153B2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FC391EEB-0D95-77D5-1187-7BDC724798F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627C136E-77D7-6684-089B-694C3A7F0C82}"/>
                </a:ext>
              </a:extLst>
            </p:cNvPr>
            <p:cNvGrpSpPr/>
            <p:nvPr/>
          </p:nvGrpSpPr>
          <p:grpSpPr>
            <a:xfrm>
              <a:off x="3016025" y="2743426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3AFB5089-5475-3CAC-7495-FDFE45004A9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65BC42AC-B92A-C023-4C3C-C7A5454714C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009A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29CB0FF3-66DC-8127-A880-022B81336E8E}"/>
                </a:ext>
              </a:extLst>
            </p:cNvPr>
            <p:cNvSpPr txBox="1"/>
            <p:nvPr/>
          </p:nvSpPr>
          <p:spPr>
            <a:xfrm>
              <a:off x="4886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2563EB"/>
                  </a:solidFill>
                  <a:latin typeface="Unilever Desire" pitchFamily="2" charset="77"/>
                </a:rPr>
                <a:t>13</a:t>
              </a:r>
              <a:endParaRPr sz="900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DC1FF865-0FBE-8727-4E28-43D19455B438}"/>
                </a:ext>
              </a:extLst>
            </p:cNvPr>
            <p:cNvSpPr txBox="1"/>
            <p:nvPr/>
          </p:nvSpPr>
          <p:spPr>
            <a:xfrm>
              <a:off x="488693" y="3191101"/>
              <a:ext cx="1832233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Envio para aprovação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A04A51F0-D53E-3540-5B18-4B4987AF0A99}"/>
                </a:ext>
              </a:extLst>
            </p:cNvPr>
            <p:cNvSpPr txBox="1"/>
            <p:nvPr/>
          </p:nvSpPr>
          <p:spPr>
            <a:xfrm>
              <a:off x="4886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Envio da base mensal para aprovação do cliente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6A3FC014-3871-F2C0-AAF2-D00C42D45E56}"/>
                </a:ext>
              </a:extLst>
            </p:cNvPr>
            <p:cNvSpPr txBox="1"/>
            <p:nvPr/>
          </p:nvSpPr>
          <p:spPr>
            <a:xfrm>
              <a:off x="32699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14</a:t>
              </a:r>
              <a:endParaRPr sz="900" b="1" i="0" u="none">
                <a:solidFill>
                  <a:schemeClr val="accent5">
                    <a:lumMod val="1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B7B71CA1-1888-C9A3-9C61-202D198A0F04}"/>
                </a:ext>
              </a:extLst>
            </p:cNvPr>
            <p:cNvSpPr txBox="1"/>
            <p:nvPr/>
          </p:nvSpPr>
          <p:spPr>
            <a:xfrm>
              <a:off x="3269993" y="3191101"/>
              <a:ext cx="1952458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Validação do cliente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680D3B5A-FB31-019D-E7E9-BC07D8E5C4CA}"/>
                </a:ext>
              </a:extLst>
            </p:cNvPr>
            <p:cNvSpPr txBox="1"/>
            <p:nvPr/>
          </p:nvSpPr>
          <p:spPr>
            <a:xfrm>
              <a:off x="32699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Análise do cliente e solicitação de ajustes finais (se houver)</a:t>
              </a:r>
              <a:endParaRPr sz="105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B3E532DE-E53E-EE28-CC7E-6F30894B112A}"/>
                </a:ext>
              </a:extLst>
            </p:cNvPr>
            <p:cNvSpPr txBox="1"/>
            <p:nvPr/>
          </p:nvSpPr>
          <p:spPr>
            <a:xfrm>
              <a:off x="60512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9908BB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9908BB"/>
                  </a:solidFill>
                  <a:latin typeface="Unilever Desire" pitchFamily="2" charset="77"/>
                </a:rPr>
                <a:t>15</a:t>
              </a:r>
              <a:endParaRPr sz="900" b="1" i="0" u="none">
                <a:solidFill>
                  <a:srgbClr val="9908BB"/>
                </a:solidFill>
                <a:latin typeface="Unilever Desire" pitchFamily="2" charset="77"/>
              </a:endParaRP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402D4309-2785-0B09-CE78-79E0D3C2AEA2}"/>
                </a:ext>
              </a:extLst>
            </p:cNvPr>
            <p:cNvSpPr txBox="1"/>
            <p:nvPr/>
          </p:nvSpPr>
          <p:spPr>
            <a:xfrm>
              <a:off x="6051293" y="3191101"/>
              <a:ext cx="597921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Ajustes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28418DC9-29DF-AED8-73F8-98BD0E38BB7E}"/>
                </a:ext>
              </a:extLst>
            </p:cNvPr>
            <p:cNvSpPr txBox="1"/>
            <p:nvPr/>
          </p:nvSpPr>
          <p:spPr>
            <a:xfrm>
              <a:off x="60512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050" b="0" i="0" u="none">
                  <a:solidFill>
                    <a:srgbClr val="475569"/>
                  </a:solidFill>
                  <a:latin typeface="Unilever Desire" pitchFamily="2" charset="77"/>
                </a:rPr>
                <a:t>Correção de eventuais ajustes necessários</a:t>
              </a:r>
              <a:endParaRPr sz="1050" b="0" i="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7441766D-6DEC-F9C2-B927-7095F036A19B}"/>
                </a:ext>
              </a:extLst>
            </p:cNvPr>
            <p:cNvSpPr txBox="1"/>
            <p:nvPr/>
          </p:nvSpPr>
          <p:spPr>
            <a:xfrm>
              <a:off x="488693" y="4217137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B770AD8A-6A7E-E424-DFEE-61B8BF679C32}"/>
                </a:ext>
              </a:extLst>
            </p:cNvPr>
            <p:cNvSpPr txBox="1"/>
            <p:nvPr/>
          </p:nvSpPr>
          <p:spPr>
            <a:xfrm>
              <a:off x="4886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rgbClr val="2563EB"/>
                  </a:solidFill>
                  <a:latin typeface="Unilever Desire" pitchFamily="2" charset="77"/>
                </a:rPr>
                <a:t>04 (M+1)</a:t>
              </a:r>
              <a:endParaRPr sz="975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AB73371D-4E8F-E326-5D3E-A769B5855E72}"/>
                </a:ext>
              </a:extLst>
            </p:cNvPr>
            <p:cNvSpPr txBox="1"/>
            <p:nvPr/>
          </p:nvSpPr>
          <p:spPr>
            <a:xfrm>
              <a:off x="3269993" y="4217137"/>
              <a:ext cx="847989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Unilever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1AD6FD01-2E05-FC7B-C2A6-B5B29CBB6B79}"/>
                </a:ext>
              </a:extLst>
            </p:cNvPr>
            <p:cNvSpPr txBox="1"/>
            <p:nvPr/>
          </p:nvSpPr>
          <p:spPr>
            <a:xfrm>
              <a:off x="32699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06 (M+1)</a:t>
              </a:r>
              <a:endParaRPr sz="975" b="1" i="0" u="none">
                <a:solidFill>
                  <a:schemeClr val="accent5">
                    <a:lumMod val="1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53963A49-75ED-2EB1-C07B-ABDFEFA66B33}"/>
                </a:ext>
              </a:extLst>
            </p:cNvPr>
            <p:cNvSpPr txBox="1"/>
            <p:nvPr/>
          </p:nvSpPr>
          <p:spPr>
            <a:xfrm>
              <a:off x="6051293" y="4217137"/>
              <a:ext cx="1716817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 &amp; Engenharia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835F6E20-4AB5-B212-276D-CFC41C868820}"/>
                </a:ext>
              </a:extLst>
            </p:cNvPr>
            <p:cNvSpPr txBox="1"/>
            <p:nvPr/>
          </p:nvSpPr>
          <p:spPr>
            <a:xfrm>
              <a:off x="60512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975" b="1">
                  <a:solidFill>
                    <a:srgbClr val="9908BB"/>
                  </a:solidFill>
                  <a:latin typeface="Unilever Desire" pitchFamily="2" charset="77"/>
                </a:rPr>
                <a:t>Até o dia 08 (M+1)</a:t>
              </a:r>
              <a:endParaRPr sz="975" b="1" i="0" u="none">
                <a:solidFill>
                  <a:srgbClr val="9908BB"/>
                </a:solidFill>
                <a:latin typeface="Unilever Desire" pitchFamily="2" charset="77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E359ABDC-BBCC-3A35-AE35-8A47C5473A17}"/>
                </a:ext>
              </a:extLst>
            </p:cNvPr>
            <p:cNvGrpSpPr/>
            <p:nvPr/>
          </p:nvGrpSpPr>
          <p:grpSpPr>
            <a:xfrm>
              <a:off x="8480171" y="2721366"/>
              <a:ext cx="2581272" cy="1981200"/>
              <a:chOff x="8593458" y="2437988"/>
              <a:chExt cx="2581272" cy="1981200"/>
            </a:xfrm>
          </p:grpSpPr>
          <p:grpSp>
            <p:nvGrpSpPr>
              <p:cNvPr id="84" name="Agrupar 83">
                <a:extLst>
                  <a:ext uri="{FF2B5EF4-FFF2-40B4-BE49-F238E27FC236}">
                    <a16:creationId xmlns:a16="http://schemas.microsoft.com/office/drawing/2014/main" id="{D9C2EE1D-0226-D411-3EAF-301E8871109B}"/>
                  </a:ext>
                </a:extLst>
              </p:cNvPr>
              <p:cNvGrpSpPr/>
              <p:nvPr/>
            </p:nvGrpSpPr>
            <p:grpSpPr>
              <a:xfrm>
                <a:off x="8593458" y="2437988"/>
                <a:ext cx="2566941" cy="1981200"/>
                <a:chOff x="397239" y="2443264"/>
                <a:chExt cx="2566941" cy="1981200"/>
              </a:xfrm>
            </p:grpSpPr>
            <p:sp>
              <p:nvSpPr>
                <p:cNvPr id="85" name="Retângulo 84">
                  <a:extLst>
                    <a:ext uri="{FF2B5EF4-FFF2-40B4-BE49-F238E27FC236}">
                      <a16:creationId xmlns:a16="http://schemas.microsoft.com/office/drawing/2014/main" id="{AD718874-9200-8124-3449-2F4499931166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2566941" cy="1981200"/>
                </a:xfrm>
                <a:prstGeom prst="rect">
                  <a:avLst/>
                </a:prstGeom>
                <a:solidFill>
                  <a:srgbClr val="F9FAF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Retângulo 85">
                  <a:extLst>
                    <a:ext uri="{FF2B5EF4-FFF2-40B4-BE49-F238E27FC236}">
                      <a16:creationId xmlns:a16="http://schemas.microsoft.com/office/drawing/2014/main" id="{C4A87EFE-F2CE-CD95-F959-58444C917DBC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45719" cy="19812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3" name="TextBox 22">
                <a:extLst>
                  <a:ext uri="{FF2B5EF4-FFF2-40B4-BE49-F238E27FC236}">
                    <a16:creationId xmlns:a16="http://schemas.microsoft.com/office/drawing/2014/main" id="{3BC050C2-9D3B-1445-8739-C98B052A47FE}"/>
                  </a:ext>
                </a:extLst>
              </p:cNvPr>
              <p:cNvSpPr txBox="1"/>
              <p:nvPr/>
            </p:nvSpPr>
            <p:spPr>
              <a:xfrm>
                <a:off x="8945880" y="2671864"/>
                <a:ext cx="493725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00" b="1" i="0" u="none">
                    <a:solidFill>
                      <a:schemeClr val="tx2"/>
                    </a:solidFill>
                    <a:latin typeface="Unilever Desire" pitchFamily="2" charset="77"/>
                  </a:rPr>
                  <a:t>ETAPA </a:t>
                </a:r>
                <a:r>
                  <a:rPr lang="pt-BR" sz="900" b="1">
                    <a:solidFill>
                      <a:schemeClr val="tx2"/>
                    </a:solidFill>
                    <a:latin typeface="Unilever Desire" pitchFamily="2" charset="77"/>
                  </a:rPr>
                  <a:t>16</a:t>
                </a:r>
                <a:endParaRPr sz="900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4" name="TextBox 23">
                <a:extLst>
                  <a:ext uri="{FF2B5EF4-FFF2-40B4-BE49-F238E27FC236}">
                    <a16:creationId xmlns:a16="http://schemas.microsoft.com/office/drawing/2014/main" id="{FE2428F7-9A88-0ED9-0A89-FEAAE2BEBFAD}"/>
                  </a:ext>
                </a:extLst>
              </p:cNvPr>
              <p:cNvSpPr txBox="1"/>
              <p:nvPr/>
            </p:nvSpPr>
            <p:spPr>
              <a:xfrm>
                <a:off x="8945880" y="2890939"/>
                <a:ext cx="1269578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Envio do dados</a:t>
                </a:r>
                <a:endParaRPr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5" name="TextBox 24">
                <a:extLst>
                  <a:ext uri="{FF2B5EF4-FFF2-40B4-BE49-F238E27FC236}">
                    <a16:creationId xmlns:a16="http://schemas.microsoft.com/office/drawing/2014/main" id="{6BC4C7E5-B6B4-0C9D-5ACA-720DDFE8AEF1}"/>
                  </a:ext>
                </a:extLst>
              </p:cNvPr>
              <p:cNvSpPr txBox="1"/>
              <p:nvPr/>
            </p:nvSpPr>
            <p:spPr>
              <a:xfrm>
                <a:off x="8945880" y="3250222"/>
                <a:ext cx="222885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050" b="0" i="0" u="none">
                    <a:solidFill>
                      <a:srgbClr val="475569"/>
                    </a:solidFill>
                    <a:latin typeface="Unilever Desire" pitchFamily="2" charset="77"/>
                  </a:rPr>
                  <a:t>Envio </a:t>
                </a:r>
                <a:r>
                  <a:rPr lang="pt-BR" sz="1050">
                    <a:solidFill>
                      <a:srgbClr val="475569"/>
                    </a:solidFill>
                    <a:latin typeface="Unilever Desire" pitchFamily="2" charset="77"/>
                  </a:rPr>
                  <a:t>do arquivo final para a modelagem</a:t>
                </a:r>
                <a:endParaRPr sz="1050" b="0" i="0" u="none">
                  <a:solidFill>
                    <a:srgbClr val="475569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2" name="TextBox 31">
                <a:extLst>
                  <a:ext uri="{FF2B5EF4-FFF2-40B4-BE49-F238E27FC236}">
                    <a16:creationId xmlns:a16="http://schemas.microsoft.com/office/drawing/2014/main" id="{E241EAD9-4964-B4A3-865B-5C48BFD4FF0E}"/>
                  </a:ext>
                </a:extLst>
              </p:cNvPr>
              <p:cNvSpPr txBox="1"/>
              <p:nvPr/>
            </p:nvSpPr>
            <p:spPr>
              <a:xfrm>
                <a:off x="8945880" y="3916975"/>
                <a:ext cx="1022716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75" b="1" i="0" u="none">
                    <a:solidFill>
                      <a:srgbClr val="0F172A"/>
                    </a:solidFill>
                    <a:latin typeface="Unilever Desire" pitchFamily="2" charset="77"/>
                  </a:rPr>
                  <a:t>Resp:</a:t>
                </a:r>
                <a:r>
                  <a:rPr sz="975" b="0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lang="pt-BR" sz="975">
                    <a:solidFill>
                      <a:srgbClr val="0F172A"/>
                    </a:solidFill>
                    <a:latin typeface="Unilever Desire" pitchFamily="2" charset="77"/>
                  </a:rPr>
                  <a:t>Engenharia</a:t>
                </a:r>
                <a:endParaRPr sz="975" b="0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3" name="TextBox 32">
                <a:extLst>
                  <a:ext uri="{FF2B5EF4-FFF2-40B4-BE49-F238E27FC236}">
                    <a16:creationId xmlns:a16="http://schemas.microsoft.com/office/drawing/2014/main" id="{1CFE7A1D-C881-E95A-A786-D8D0E4F125FA}"/>
                  </a:ext>
                </a:extLst>
              </p:cNvPr>
              <p:cNvSpPr txBox="1"/>
              <p:nvPr/>
            </p:nvSpPr>
            <p:spPr>
              <a:xfrm>
                <a:off x="8945880" y="4107475"/>
                <a:ext cx="665247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975" b="1" i="0" u="none">
                    <a:solidFill>
                      <a:schemeClr val="tx2"/>
                    </a:solidFill>
                    <a:latin typeface="Unilever Desire" pitchFamily="2" charset="77"/>
                  </a:rPr>
                  <a:t>Dia 10 (M+1)</a:t>
                </a:r>
                <a:endParaRPr sz="975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29C34D-2D02-EBAB-623D-F5E3554ACAB5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B07237E2-1243-70BE-515A-8B71930C24FA}"/>
              </a:ext>
            </a:extLst>
          </p:cNvPr>
          <p:cNvSpPr txBox="1"/>
          <p:nvPr/>
        </p:nvSpPr>
        <p:spPr>
          <a:xfrm>
            <a:off x="335280" y="887165"/>
            <a:ext cx="21303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33EA"/>
                </a:solidFill>
                <a:latin typeface="Unilever Desire" pitchFamily="2" charset="77"/>
              </a:rPr>
              <a:t>FASE </a:t>
            </a:r>
            <a:r>
              <a:rPr lang="pt-BR" sz="1050" b="1" i="0" u="none">
                <a:solidFill>
                  <a:srgbClr val="9333EA"/>
                </a:solidFill>
                <a:latin typeface="Unilever Desire" pitchFamily="2" charset="77"/>
              </a:rPr>
              <a:t>4</a:t>
            </a:r>
            <a:r>
              <a:rPr sz="1050" b="1" i="0" u="none">
                <a:solidFill>
                  <a:srgbClr val="9333EA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9333EA"/>
                </a:solidFill>
                <a:latin typeface="Unilever Desire" pitchFamily="2" charset="77"/>
              </a:rPr>
              <a:t>FECHAMENTO E ENTREGA</a:t>
            </a:r>
            <a:endParaRPr sz="1050" b="1" i="0" u="none">
              <a:solidFill>
                <a:srgbClr val="9333EA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093DBF7-0725-AC79-59F6-35F19ED89751}"/>
              </a:ext>
            </a:extLst>
          </p:cNvPr>
          <p:cNvSpPr txBox="1"/>
          <p:nvPr/>
        </p:nvSpPr>
        <p:spPr>
          <a:xfrm>
            <a:off x="335280" y="1115765"/>
            <a:ext cx="4137351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Aprovação </a:t>
            </a:r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Unilever</a:t>
            </a:r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 e envio</a:t>
            </a: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</a:t>
            </a:r>
            <a:r>
              <a:rPr lang="pt-BR" sz="1600" i="0" u="none">
                <a:latin typeface="Unilever Desire" pitchFamily="2" charset="77"/>
              </a:rPr>
              <a:t>13 a 16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EA9D7C4D-A9FE-566F-1B48-0FB543046F08}"/>
              </a:ext>
            </a:extLst>
          </p:cNvPr>
          <p:cNvSpPr txBox="1"/>
          <p:nvPr/>
        </p:nvSpPr>
        <p:spPr>
          <a:xfrm>
            <a:off x="9541383" y="1250455"/>
            <a:ext cx="139621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: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Dia 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10 (M+1)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430544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4486-8A11-1BEF-5DB4-88019CB8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B5E88B-99B1-9227-EB9A-7EAC368FE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000" i="1" err="1"/>
              <a:t>Setembro</a:t>
            </a:r>
            <a:r>
              <a:rPr lang="en-US" sz="1000" i="1"/>
              <a:t>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8FB2C-41CD-2BC2-037F-E80537DA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881763"/>
            <a:ext cx="5599555" cy="1094467"/>
          </a:xfrm>
        </p:spPr>
        <p:txBody>
          <a:bodyPr/>
          <a:lstStyle/>
          <a:p>
            <a:pPr algn="l"/>
            <a:r>
              <a:rPr lang="en-US" sz="3600" b="1" dirty="0">
                <a:latin typeface="Unilever Desire" pitchFamily="2" charset="77"/>
              </a:rPr>
              <a:t>TKS</a:t>
            </a:r>
            <a:endParaRPr lang="en-US" sz="2400" b="1" dirty="0">
              <a:latin typeface="Unilever Desire" pitchFamily="2" charset="77"/>
            </a:endParaRPr>
          </a:p>
        </p:txBody>
      </p:sp>
      <p:pic>
        <p:nvPicPr>
          <p:cNvPr id="2" name="Imagem 1" descr="Initiative">
            <a:extLst>
              <a:ext uri="{FF2B5EF4-FFF2-40B4-BE49-F238E27FC236}">
                <a16:creationId xmlns:a16="http://schemas.microsoft.com/office/drawing/2014/main" id="{63483402-5DFA-39BF-A4E1-B14E625A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3" y="2409541"/>
            <a:ext cx="872433" cy="2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5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8354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0ba277-44c0-4f94-a3de-8bf10e37f2c4" xsi:nil="true"/>
    <lcf76f155ced4ddcb4097134ff3c332f xmlns="b43e4b9c-f16d-475f-8cd3-8e45d3f90e2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68F74E24DD744FBC5DCC652B9F3E83" ma:contentTypeVersion="13" ma:contentTypeDescription="Create a new document." ma:contentTypeScope="" ma:versionID="a1f809eb453ea7c3bd3e7c60023fbaf5">
  <xsd:schema xmlns:xsd="http://www.w3.org/2001/XMLSchema" xmlns:xs="http://www.w3.org/2001/XMLSchema" xmlns:p="http://schemas.microsoft.com/office/2006/metadata/properties" xmlns:ns2="b43e4b9c-f16d-475f-8cd3-8e45d3f90e2d" xmlns:ns3="da0ba277-44c0-4f94-a3de-8bf10e37f2c4" targetNamespace="http://schemas.microsoft.com/office/2006/metadata/properties" ma:root="true" ma:fieldsID="cf4cf7d6dcbd94f6cd45147fce049612" ns2:_="" ns3:_="">
    <xsd:import namespace="b43e4b9c-f16d-475f-8cd3-8e45d3f90e2d"/>
    <xsd:import namespace="da0ba277-44c0-4f94-a3de-8bf10e37f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e4b9c-f16d-475f-8cd3-8e45d3f90e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ba277-44c0-4f94-a3de-8bf10e37f2c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44009b0-eb41-4992-bb04-9daa4c06911c}" ma:internalName="TaxCatchAll" ma:showField="CatchAllData" ma:web="da0ba277-44c0-4f94-a3de-8bf10e37f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36583-09A4-42AC-984F-5C92AC01B69B}">
  <ds:schemaRefs>
    <ds:schemaRef ds:uri="b43e4b9c-f16d-475f-8cd3-8e45d3f90e2d"/>
    <ds:schemaRef ds:uri="da0ba277-44c0-4f94-a3de-8bf10e37f2c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484D6E-AF8F-48FD-903B-74E03C8E76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707043-1E79-450B-A8F0-CF88BA5B89CE}">
  <ds:schemaRefs>
    <ds:schemaRef ds:uri="b43e4b9c-f16d-475f-8cd3-8e45d3f90e2d"/>
    <ds:schemaRef ds:uri="da0ba277-44c0-4f94-a3de-8bf10e37f2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56</Slides>
  <Notes>49</Notes>
  <HiddenSlides>5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57" baseType="lpstr">
      <vt:lpstr>Office Theme</vt:lpstr>
      <vt:lpstr>UPDATES &amp; PROCESSOS UNILEVER</vt:lpstr>
      <vt:lpstr>Cenário da conta</vt:lpstr>
      <vt:lpstr>O que é o RapidROI?</vt:lpstr>
      <vt:lpstr>O que é o RapidROI?</vt:lpstr>
      <vt:lpstr>O que é o RapidROI?</vt:lpstr>
      <vt:lpstr>O que é o RapidROI?</vt:lpstr>
      <vt:lpstr>Apresentação do PowerPoint</vt:lpstr>
      <vt:lpstr>Os dados de mídia é uma das principais fontes do estudo. </vt:lpstr>
      <vt:lpstr>Quais dados de mídia enviamos para RROI?</vt:lpstr>
      <vt:lpstr>Apresentação do PowerPoint</vt:lpstr>
      <vt:lpstr>Apresentação do PowerPoint</vt:lpstr>
      <vt:lpstr>Apresentação do PowerPoint</vt:lpstr>
      <vt:lpstr>AD MEDIA PADRONIZAÇÃO DE PIS BOAS PRÁTICAS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DV, META E TIKTOK são as plataformas que mais temos errado taxonomia</vt:lpstr>
      <vt:lpstr>Apresentação do PowerPoint</vt:lpstr>
      <vt:lpstr>Apresentação do PowerPoint</vt:lpstr>
      <vt:lpstr>Taxonomia</vt:lpstr>
      <vt:lpstr>ADP, CN Code e Campaign Name</vt:lpstr>
      <vt:lpstr>Plano de Mídia | Camphouse</vt:lpstr>
      <vt:lpstr>RM | O que é, atualizações e versionamento</vt:lpstr>
      <vt:lpstr>RM | Preenchimento</vt:lpstr>
      <vt:lpstr>RM | Status e prorrogação</vt:lpstr>
      <vt:lpstr>Jira e SLA</vt:lpstr>
      <vt:lpstr>Jira | Como acessar</vt:lpstr>
      <vt:lpstr>Produção e entrega das taxonomias</vt:lpstr>
      <vt:lpstr>IDs e relacionamento das linhas</vt:lpstr>
      <vt:lpstr>Innovid | AdServer e Grupos Teams</vt:lpstr>
      <vt:lpstr>Innovid | Solicitação de TAGs e Trackings</vt:lpstr>
      <vt:lpstr>Innovid | Atendimento e prazos</vt:lpstr>
      <vt:lpstr>Innovid | Pontos importantes</vt:lpstr>
      <vt:lpstr>Processo e Escopo</vt:lpstr>
      <vt:lpstr>Regras e Erros | Gerais</vt:lpstr>
      <vt:lpstr>Regras e Erros | Por plataforma</vt:lpstr>
      <vt:lpstr>Regras e Erros | Mercado Livre (Programática)</vt:lpstr>
      <vt:lpstr>CRONOGRAMA MENSAL RROI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48</cp:revision>
  <dcterms:created xsi:type="dcterms:W3CDTF">2026-09-13T12:05:25Z</dcterms:created>
  <dcterms:modified xsi:type="dcterms:W3CDTF">2026-10-26T19:56:04Z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0x010100E068F74E24DD744FBC5DCC652B9F3E83</vt:lpwstr>
  </property>
  <property fmtid="{D5CDD505-2E9C-101B-9397-08002B2CF9AE}" pid="3" name="MediaServiceImageTags">
    <vt:lpwstr/>
  </property>
  <property fmtid="{D5CDD505-2E9C-101B-9397-08002B2CF9AE}" pid="4" name="MSIP_Label_a844c618-538c-404a-b2f6-f58b5e4f4fae_Enabled">
    <vt:lpwstr>true</vt:lpwstr>
  </property>
  <property fmtid="{D5CDD505-2E9C-101B-9397-08002B2CF9AE}" pid="5" name="MSIP_Label_a844c618-538c-404a-b2f6-f58b5e4f4fae_SetDate">
    <vt:lpwstr>2026-10-16T19:21:36Z</vt:lpwstr>
  </property>
  <property fmtid="{D5CDD505-2E9C-101B-9397-08002B2CF9AE}" pid="6" name="MSIP_Label_a844c618-538c-404a-b2f6-f58b5e4f4fae_Method">
    <vt:lpwstr>Privileged</vt:lpwstr>
  </property>
  <property fmtid="{D5CDD505-2E9C-101B-9397-08002B2CF9AE}" pid="7" name="MSIP_Label_a844c618-538c-404a-b2f6-f58b5e4f4fae_Name">
    <vt:lpwstr>Public</vt:lpwstr>
  </property>
  <property fmtid="{D5CDD505-2E9C-101B-9397-08002B2CF9AE}" pid="8" name="MSIP_Label_a844c618-538c-404a-b2f6-f58b5e4f4fae_SiteId">
    <vt:lpwstr>41eb501a-f671-4ce0-a5bf-b64168c3705f</vt:lpwstr>
  </property>
  <property fmtid="{D5CDD505-2E9C-101B-9397-08002B2CF9AE}" pid="9" name="MSIP_Label_a844c618-538c-404a-b2f6-f58b5e4f4fae_ActionId">
    <vt:lpwstr>0c9fd059-9094-419c-925a-31a0162d2834</vt:lpwstr>
  </property>
  <property fmtid="{D5CDD505-2E9C-101B-9397-08002B2CF9AE}" pid="10" name="MSIP_Label_a844c618-538c-404a-b2f6-f58b5e4f4fae_ContentBits">
    <vt:lpwstr>0</vt:lpwstr>
  </property>
  <property fmtid="{D5CDD505-2E9C-101B-9397-08002B2CF9AE}" pid="11" name="MSIP_Label_a844c618-538c-404a-b2f6-f58b5e4f4fae_Tag">
    <vt:lpwstr>50, 0, 1, 1</vt:lpwstr>
  </property>
</Properties>
</file>